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Aoao Guo, from University College London, and this is joint work with Xinyi Tao, Huakang Li and Xuewu Dai. We present a lightweight, LLM-driven multi-agent framework for simulating a virtual society, built around a memory feedback loop. Our system is a small town called Valentown, with seven residents who plan their own days, meet each other, remember what happened, and adapt because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simulation is the standard way to model complex systems: social networks, transport, smart cities. But classical agent-based models run on predefined rules. They capture macro patterns well and human behaviour badly — no context, no planning, no memory.
Large language models changed what an agent can do. An LLM agent produces coherent language, keeps context, and imitates parts of human reasoning.
But something is still missing. Most LLM agent systems are reactive: they answer the prompt in front of them. There is no daily structure, and interaction is ad hoc. So behaviour drifts, the dynamics are hard to control, and results are hard to reproduce. That is the gap we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is: how do we design a virtual society where agents are structured, evolving and controllable at the same time?
That breaks into three requirements, and each one is answered by one mechanism. These are also our three contributions.
Temporal structure: behaviour has to be organised as a day. Our answer is a schedule-driven agent design.
Evolution: yesterday has to change tomorrow. Our answer is a memory-based feedback loop.
Controllability: interaction must follow an explicit rule, and a human should be able to step in. Our answer is a deterministic co-location trigger, plus optional human-in-the-loop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has two halves. The backend, in Python, is where the agents think: daily planning, dialogue, reflection and memory management. It is the only part that calls the language model — we use the DeepSeek API. The frontend, in Phaser, renders the town and the conversations, and talks to the backend over REST.
Underneath there are five modules — Agent Manager, Scheduler, Interaction Engine, LLM Interface and Memory Manager — and each can be replaced without touching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mechanisms.
Schedule-driven behaviour. Instead of asking an agent what to do at every moment, the day starts with an explicit schedule. The prompt combines identity, personality and goals with memories retrieved as context, and the model returns activities and the destinations they imply. That is what makes routines coherent over time, and interpretable for us.
Second, interaction. We do not sample conversations at random. Two agents talk when they are in the same place in the same period — plain co-location. The rule is deterministic, so the social dynamics are reproducible; what gets said is still generated by the model.
That is the design principle of the paper: deterministic when, generative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mechanism, and the heart of the paper: memory.
Everything an agent produces goes into one store. Plans are kept as behavioural records, conversations as social experience, reflections as summaries. Every entry has a category, a timestamp and an importance score.
And everything reads from that store. Planning retrieves relevant memories, dialogue retrieves recent history, and reflection summarises the important ones into compact insight and writes it back. That is the loop in the figure.
Retrieval favours recent and high-importance entries, and the store stays bounded, so agents keep what mattered.
Two notes. A person can write feedback directly into memory, through the same channel. And the language model itself is stateless — all continuity lives in the memory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simulation day in the implemented system.
Agents initialise from their profile and their memory. On day one there is nothing to reflect on, so they plan straight from the profile. On every later day they first retrieve and reflect on memory, and that reflection feeds the planning call.
Then: generate the plan, save it, determine the destination, move there, and if another agent is present, they talk. The conversation goes back into memory. Nine steps, and the loop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framework running. Valentown: homes along the top, the café, supermarket and pharmacy below, a park on the left. Those locations are the spatial anchors that make co-location, and therefore interaction, possible.
Seven residents live there, each with their own age, role, personality and goals — a case study, not part of the method.
All generation goes through one LLM interface: prompt construction, the call, and validation before anything enters the simulation. Behaviour is pre-computed asynchronously, so the client never stalls waiting for an API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experiments we instantiate the framework with seven agents: a supermarket owner, a pharmacist, a couple with a seven-year-old, a family teacher and an architect. Their attributes ground everything the model generates.
The environment is the structured town, with co-location as the interaction condition. We run multiple consecutive virtual days, and each day is a full cycle — schedule, movement, interaction, logging, reflection.
Scheduling is deterministic while the generated content is stochastic: a reproducible pipeline with diverse behaviour inside it. And we ask three questions — what interaction does, what memory does, and whether social structure emerges.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is an ablation on interaction.
With interaction on, agents produce richer and more varied behaviour. The reason is mechanical: a conversation puts new context into memory, and memory is an input to the next plan. So what someone said to you yesterday shows up in what you do today. We see agents scheduling follow-ups, returning to the same places, and repeated contact reinforcing specific pairs.
With interaction off, the town goes quiet. No new social information enters the system, agents fall back on their initial goals, and schedules stay static across days.
So interaction is not decoration here — it drives diversity and adaptation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result is about memory over time.
Memory content does not stay the same. Early on it is mostly plans and observations. As the days pass, conversations and reflections become prominent. Later, high-importance interaction and reflection memories form the dominant context for new decisions — the store turns from a log of activity into accumulated experience.
And that content tracks behaviour. Agents with rich interaction and reflection memories adapt more and behave more coherently. Repeated interaction between two agents forms a persistent bond, visible later as repeated co-location. Nobody wrote a friendship rule; it comes out of memory plus retrieval. Where memory influence is limited, adaptation is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the trade-offs.
The framework is lightweight and reproducible, because the pipeline and the interaction triggers are explicit. It is controllable, through schedules, the co-location rule and the human channel. And it is extendable — every module, including the model behind the interface, can be swapped.
The limitations are real. Cost: every plan, conversation and reflection is an API call, and that scales with agents times days. Scale: this is a small study in a simple town. And stochasticity: outputs vary between runs, which is why our current evaluation is qualitative rather than numeric.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presented a schedule-driven multi-agent framework in which planning, interaction and reflection are linked through a memory-centred feedback loop. Importance-based memory keeps what mattered, and reflection turns it into insight that guides the next day.
The experiments show that these simple mechanisms are enough: agents develop consistent routines, form lasting relationships and adapt from experience, with no hand-written behavioural rules.
Three directions ahead. Quantitative evaluation is the most important — network analysis, interaction frequency, plan coherence, plus user studies. Then larger populations and real-time reaction. And finally deeper reasoning, with applications to game NPCs, education and embodied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attention.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74320"/>
          </a:xfrm>
          <a:prstGeom prst="rect">
            <a:avLst/>
          </a:prstGeom>
          <a:noFill/>
          <a:ln/>
        </p:spPr>
        <p:txBody>
          <a:bodyPr wrap="square" lIns="0" tIns="0" rIns="0" bIns="0" rtlCol="0" anchor="ctr"/>
          <a:lstStyle/>
          <a:p>
            <a:pPr indent="0" marL="0">
              <a:buNone/>
            </a:pPr>
            <a:r>
              <a:rPr lang="en-US" sz="1200" b="1" spc="120" kern="0" dirty="0">
                <a:solidFill>
                  <a:srgbClr val="7FB069"/>
                </a:solidFill>
                <a:latin typeface="Calibri" pitchFamily="34" charset="0"/>
                <a:ea typeface="Calibri" pitchFamily="34" charset="-122"/>
                <a:cs typeface="Calibri" pitchFamily="34" charset="-120"/>
              </a:rPr>
              <a:t>ICAC 2026  ·  International Conference on Automation and Computing</a:t>
            </a:r>
            <a:endParaRPr lang="en-US" sz="1200" dirty="0"/>
          </a:p>
        </p:txBody>
      </p:sp>
      <p:sp>
        <p:nvSpPr>
          <p:cNvPr id="3" name="Text 1"/>
          <p:cNvSpPr txBox="1"/>
          <p:nvPr/>
        </p:nvSpPr>
        <p:spPr>
          <a:xfrm>
            <a:off x="640080" y="1143000"/>
            <a:ext cx="10424160" cy="1691640"/>
          </a:xfrm>
          <a:prstGeom prst="rect">
            <a:avLst/>
          </a:prstGeom>
          <a:noFill/>
          <a:ln/>
        </p:spPr>
        <p:txBody>
          <a:bodyPr wrap="square" lIns="0" tIns="0" rIns="0" bIns="0" rtlCol="0" anchor="t"/>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A Lightweight LLM-Driven Multi-Agent Framework for Virtual Society Simulation with Memory Feedback</a:t>
            </a:r>
            <a:endParaRPr lang="en-US" sz="3600" dirty="0"/>
          </a:p>
        </p:txBody>
      </p:sp>
      <p:sp>
        <p:nvSpPr>
          <p:cNvPr id="4" name="Text 2"/>
          <p:cNvSpPr txBox="1"/>
          <p:nvPr/>
        </p:nvSpPr>
        <p:spPr>
          <a:xfrm>
            <a:off x="640080" y="3035808"/>
            <a:ext cx="10911535" cy="310896"/>
          </a:xfrm>
          <a:prstGeom prst="rect">
            <a:avLst/>
          </a:prstGeom>
          <a:noFill/>
          <a:ln/>
        </p:spPr>
        <p:txBody>
          <a:bodyPr wrap="square" lIns="0" tIns="0" rIns="0" bIns="0" rtlCol="0" anchor="ctr"/>
          <a:lstStyle/>
          <a:p>
            <a:pPr indent="0" marL="0">
              <a:buNone/>
            </a:pPr>
            <a:r>
              <a:rPr lang="en-US" sz="1600" b="1" dirty="0">
                <a:solidFill>
                  <a:srgbClr val="EAF2E4"/>
                </a:solidFill>
                <a:latin typeface="Calibri" pitchFamily="34" charset="0"/>
                <a:ea typeface="Calibri" pitchFamily="34" charset="-122"/>
                <a:cs typeface="Calibri" pitchFamily="34" charset="-120"/>
              </a:rPr>
              <a:t>Aoao Guo   ·   Xinyi Tao   ·   Huakang Li   ·   Xuewu Dai</a:t>
            </a:r>
            <a:endParaRPr lang="en-US" sz="1600" dirty="0"/>
          </a:p>
        </p:txBody>
      </p:sp>
      <p:sp>
        <p:nvSpPr>
          <p:cNvPr id="5" name="Text 3"/>
          <p:cNvSpPr txBox="1"/>
          <p:nvPr/>
        </p:nvSpPr>
        <p:spPr>
          <a:xfrm>
            <a:off x="640080" y="3401568"/>
            <a:ext cx="10911535" cy="274320"/>
          </a:xfrm>
          <a:prstGeom prst="rect">
            <a:avLst/>
          </a:prstGeom>
          <a:noFill/>
          <a:ln/>
        </p:spPr>
        <p:txBody>
          <a:bodyPr wrap="square" lIns="0" tIns="0" rIns="0" bIns="0" rtlCol="0" anchor="ctr"/>
          <a:lstStyle/>
          <a:p>
            <a:pPr indent="0" marL="0">
              <a:buNone/>
            </a:pPr>
            <a:r>
              <a:rPr lang="en-US" sz="1150" dirty="0">
                <a:solidFill>
                  <a:srgbClr val="A9BBA9"/>
                </a:solidFill>
                <a:latin typeface="Calibri" pitchFamily="34" charset="0"/>
                <a:ea typeface="Calibri" pitchFamily="34" charset="-122"/>
                <a:cs typeface="Calibri" pitchFamily="34" charset="-120"/>
              </a:rPr>
              <a:t>University College London   |   Xi'an Jiaotong-Liverpool University   |   Northumbria University</a:t>
            </a:r>
            <a:endParaRPr lang="en-US" sz="1150" dirty="0"/>
          </a:p>
        </p:txBody>
      </p:sp>
      <p:sp>
        <p:nvSpPr>
          <p:cNvPr id="6" name="Text 4"/>
          <p:cNvSpPr txBox="1"/>
          <p:nvPr/>
        </p:nvSpPr>
        <p:spPr>
          <a:xfrm>
            <a:off x="640080" y="3913632"/>
            <a:ext cx="10911535" cy="274320"/>
          </a:xfrm>
          <a:prstGeom prst="rect">
            <a:avLst/>
          </a:prstGeom>
          <a:noFill/>
          <a:ln/>
        </p:spPr>
        <p:txBody>
          <a:bodyPr wrap="square" lIns="0" tIns="0" rIns="0" bIns="0" rtlCol="0" anchor="ctr"/>
          <a:lstStyle/>
          <a:p>
            <a:pPr indent="0" marL="0">
              <a:buNone/>
            </a:pPr>
            <a:r>
              <a:rPr lang="en-US" sz="1150" dirty="0">
                <a:solidFill>
                  <a:srgbClr val="C98A24"/>
                </a:solidFill>
                <a:latin typeface="Calibri" pitchFamily="34" charset="0"/>
                <a:ea typeface="Calibri" pitchFamily="34" charset="-122"/>
                <a:cs typeface="Calibri" pitchFamily="34" charset="-120"/>
              </a:rPr>
              <a:t>Paper 108   ·   Parallel Session 3: Robotics &amp; Autonomous Systems   ·   Thursday 27 August 2026</a:t>
            </a:r>
            <a:endParaRPr lang="en-US" sz="1150" dirty="0"/>
          </a:p>
        </p:txBody>
      </p:sp>
      <p:sp>
        <p:nvSpPr>
          <p:cNvPr id="7" name="Shape 5"/>
          <p:cNvSpPr/>
          <p:nvPr/>
        </p:nvSpPr>
        <p:spPr>
          <a:xfrm>
            <a:off x="640080" y="4681728"/>
            <a:ext cx="10911535" cy="1572768"/>
          </a:xfrm>
          <a:prstGeom prst="roundRect">
            <a:avLst>
              <a:gd name="adj" fmla="val 3488"/>
            </a:avLst>
          </a:prstGeom>
          <a:solidFill>
            <a:srgbClr val="EAF2E4"/>
          </a:solidFill>
          <a:ln w="12700">
            <a:solidFill>
              <a:srgbClr val="EAF2E4"/>
            </a:solidFill>
            <a:prstDash val="solid"/>
          </a:ln>
        </p:spPr>
      </p:sp>
      <p:pic>
        <p:nvPicPr>
          <p:cNvPr id="8" name="Image 0" descr="/tmp/claude-0/-home-user-valentown/d6e1bc7b-94ca-5433-b61a-57600741710e/scratchpad/assets/ron.png">    </p:cNvPr>
          <p:cNvPicPr>
            <a:picLocks noChangeAspect="1"/>
          </p:cNvPicPr>
          <p:nvPr/>
        </p:nvPicPr>
        <p:blipFill>
          <a:blip r:embed="rId1"/>
          <a:stretch>
            <a:fillRect/>
          </a:stretch>
        </p:blipFill>
        <p:spPr>
          <a:xfrm>
            <a:off x="1504765" y="4956048"/>
            <a:ext cx="456437" cy="1078992"/>
          </a:xfrm>
          <a:prstGeom prst="rect">
            <a:avLst/>
          </a:prstGeom>
        </p:spPr>
      </p:pic>
      <p:pic>
        <p:nvPicPr>
          <p:cNvPr id="9" name="Image 1" descr="/tmp/claude-0/-home-user-valentown/d6e1bc7b-94ca-5433-b61a-57600741710e/scratchpad/assets/ella.png">    </p:cNvPr>
          <p:cNvPicPr>
            <a:picLocks noChangeAspect="1"/>
          </p:cNvPicPr>
          <p:nvPr/>
        </p:nvPicPr>
        <p:blipFill>
          <a:blip r:embed="rId2"/>
          <a:stretch>
            <a:fillRect/>
          </a:stretch>
        </p:blipFill>
        <p:spPr>
          <a:xfrm>
            <a:off x="2907377" y="4956048"/>
            <a:ext cx="559791" cy="1078992"/>
          </a:xfrm>
          <a:prstGeom prst="rect">
            <a:avLst/>
          </a:prstGeom>
        </p:spPr>
      </p:pic>
      <p:pic>
        <p:nvPicPr>
          <p:cNvPr id="10" name="Image 2" descr="/tmp/claude-0/-home-user-valentown/d6e1bc7b-94ca-5433-b61a-57600741710e/scratchpad/assets/emma.png">    </p:cNvPr>
          <p:cNvPicPr>
            <a:picLocks noChangeAspect="1"/>
          </p:cNvPicPr>
          <p:nvPr/>
        </p:nvPicPr>
        <p:blipFill>
          <a:blip r:embed="rId3"/>
          <a:stretch>
            <a:fillRect/>
          </a:stretch>
        </p:blipFill>
        <p:spPr>
          <a:xfrm>
            <a:off x="4362429" y="4956048"/>
            <a:ext cx="558261" cy="1078992"/>
          </a:xfrm>
          <a:prstGeom prst="rect">
            <a:avLst/>
          </a:prstGeom>
        </p:spPr>
      </p:pic>
      <p:pic>
        <p:nvPicPr>
          <p:cNvPr id="11" name="Image 3" descr="/tmp/claude-0/-home-user-valentown/d6e1bc7b-94ca-5433-b61a-57600741710e/scratchpad/assets/gavin.png">    </p:cNvPr>
          <p:cNvPicPr>
            <a:picLocks noChangeAspect="1"/>
          </p:cNvPicPr>
          <p:nvPr/>
        </p:nvPicPr>
        <p:blipFill>
          <a:blip r:embed="rId4"/>
          <a:stretch>
            <a:fillRect/>
          </a:stretch>
        </p:blipFill>
        <p:spPr>
          <a:xfrm>
            <a:off x="5850833" y="4956048"/>
            <a:ext cx="490029" cy="1078992"/>
          </a:xfrm>
          <a:prstGeom prst="rect">
            <a:avLst/>
          </a:prstGeom>
        </p:spPr>
      </p:pic>
      <p:pic>
        <p:nvPicPr>
          <p:cNvPr id="12" name="Image 4" descr="/tmp/claude-0/-home-user-valentown/d6e1bc7b-94ca-5433-b61a-57600741710e/scratchpad/assets/adam.png">    </p:cNvPr>
          <p:cNvPicPr>
            <a:picLocks noChangeAspect="1"/>
          </p:cNvPicPr>
          <p:nvPr/>
        </p:nvPicPr>
        <p:blipFill>
          <a:blip r:embed="rId5"/>
          <a:stretch>
            <a:fillRect/>
          </a:stretch>
        </p:blipFill>
        <p:spPr>
          <a:xfrm>
            <a:off x="7293152" y="4956048"/>
            <a:ext cx="513968" cy="1078992"/>
          </a:xfrm>
          <a:prstGeom prst="rect">
            <a:avLst/>
          </a:prstGeom>
        </p:spPr>
      </p:pic>
      <p:pic>
        <p:nvPicPr>
          <p:cNvPr id="13" name="Image 5" descr="/tmp/claude-0/-home-user-valentown/d6e1bc7b-94ca-5433-b61a-57600741710e/scratchpad/assets/mia.png">    </p:cNvPr>
          <p:cNvPicPr>
            <a:picLocks noChangeAspect="1"/>
          </p:cNvPicPr>
          <p:nvPr/>
        </p:nvPicPr>
        <p:blipFill>
          <a:blip r:embed="rId6"/>
          <a:stretch>
            <a:fillRect/>
          </a:stretch>
        </p:blipFill>
        <p:spPr>
          <a:xfrm>
            <a:off x="8740079" y="4956048"/>
            <a:ext cx="528689" cy="1078992"/>
          </a:xfrm>
          <a:prstGeom prst="rect">
            <a:avLst/>
          </a:prstGeom>
        </p:spPr>
      </p:pic>
      <p:pic>
        <p:nvPicPr>
          <p:cNvPr id="14" name="Image 6" descr="/tmp/claude-0/-home-user-valentown/d6e1bc7b-94ca-5433-b61a-57600741710e/scratchpad/assets/arthur.png">    </p:cNvPr>
          <p:cNvPicPr>
            <a:picLocks noChangeAspect="1"/>
          </p:cNvPicPr>
          <p:nvPr/>
        </p:nvPicPr>
        <p:blipFill>
          <a:blip r:embed="rId7"/>
          <a:stretch>
            <a:fillRect/>
          </a:stretch>
        </p:blipFill>
        <p:spPr>
          <a:xfrm>
            <a:off x="10175247" y="4956048"/>
            <a:ext cx="566928" cy="1078992"/>
          </a:xfrm>
          <a:prstGeom prst="rect">
            <a:avLst/>
          </a:prstGeom>
        </p:spPr>
      </p:pic>
      <p:sp>
        <p:nvSpPr>
          <p:cNvPr id="15" name="Text 6"/>
          <p:cNvSpPr txBox="1"/>
          <p:nvPr/>
        </p:nvSpPr>
        <p:spPr>
          <a:xfrm>
            <a:off x="640080" y="6382512"/>
            <a:ext cx="10911535" cy="274320"/>
          </a:xfrm>
          <a:prstGeom prst="rect">
            <a:avLst/>
          </a:prstGeom>
          <a:noFill/>
          <a:ln/>
        </p:spPr>
        <p:txBody>
          <a:bodyPr wrap="square" lIns="0" tIns="0" rIns="0" bIns="0" rtlCol="0" anchor="ctr"/>
          <a:lstStyle/>
          <a:p>
            <a:pPr algn="ctr" indent="0" marL="0">
              <a:buNone/>
            </a:pPr>
            <a:r>
              <a:rPr lang="en-US" sz="1100" i="1" dirty="0">
                <a:solidFill>
                  <a:srgbClr val="A9BBA9"/>
                </a:solidFill>
                <a:latin typeface="Calibri" pitchFamily="34" charset="0"/>
                <a:ea typeface="Calibri" pitchFamily="34" charset="-122"/>
                <a:cs typeface="Calibri" pitchFamily="34" charset="-120"/>
              </a:rPr>
              <a:t>Valentown — seven residents who plan, meet, remember and adapt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Two ways to simulate people</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640080" y="1481328"/>
            <a:ext cx="5349240" cy="3035808"/>
          </a:xfrm>
          <a:prstGeom prst="roundRect">
            <a:avLst>
              <a:gd name="adj" fmla="val 180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7" name="Shape 5"/>
          <p:cNvSpPr/>
          <p:nvPr/>
        </p:nvSpPr>
        <p:spPr>
          <a:xfrm>
            <a:off x="932688" y="1755648"/>
            <a:ext cx="384048" cy="384048"/>
          </a:xfrm>
          <a:prstGeom prst="ellipse">
            <a:avLst/>
          </a:prstGeom>
          <a:solidFill>
            <a:srgbClr val="FFFFFF"/>
          </a:solidFill>
          <a:ln w="12700">
            <a:solidFill>
              <a:srgbClr val="2C5F2D"/>
            </a:solidFill>
            <a:prstDash val="solid"/>
          </a:ln>
        </p:spPr>
      </p:sp>
      <p:sp>
        <p:nvSpPr>
          <p:cNvPr id="8" name="Shape 6"/>
          <p:cNvSpPr/>
          <p:nvPr/>
        </p:nvSpPr>
        <p:spPr>
          <a:xfrm>
            <a:off x="932688" y="1755648"/>
            <a:ext cx="384048" cy="384048"/>
          </a:xfrm>
          <a:prstGeom prst="ellipse">
            <a:avLst/>
          </a:prstGeom>
          <a:solidFill>
            <a:srgbClr val="2C5F2D"/>
          </a:solidFill>
          <a:ln/>
        </p:spPr>
      </p:sp>
      <p:sp>
        <p:nvSpPr>
          <p:cNvPr id="9" name="Text 7"/>
          <p:cNvSpPr txBox="1"/>
          <p:nvPr/>
        </p:nvSpPr>
        <p:spPr>
          <a:xfrm>
            <a:off x="932688"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t>
            </a:r>
            <a:endParaRPr lang="en-US" sz="1300" dirty="0"/>
          </a:p>
        </p:txBody>
      </p:sp>
      <p:sp>
        <p:nvSpPr>
          <p:cNvPr id="10" name="Text 8"/>
          <p:cNvSpPr txBox="1"/>
          <p:nvPr/>
        </p:nvSpPr>
        <p:spPr>
          <a:xfrm>
            <a:off x="1481328" y="1801368"/>
            <a:ext cx="4251960"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Rule-based agent models</a:t>
            </a:r>
            <a:endParaRPr lang="en-US" sz="1500" dirty="0"/>
          </a:p>
        </p:txBody>
      </p:sp>
      <p:sp>
        <p:nvSpPr>
          <p:cNvPr id="11" name="Text 9"/>
          <p:cNvSpPr txBox="1"/>
          <p:nvPr/>
        </p:nvSpPr>
        <p:spPr>
          <a:xfrm>
            <a:off x="950976" y="2359152"/>
            <a:ext cx="4727448" cy="2011680"/>
          </a:xfrm>
          <a:prstGeom prst="rect">
            <a:avLst/>
          </a:prstGeom>
          <a:noFill/>
          <a:ln/>
        </p:spPr>
        <p:txBody>
          <a:bodyPr wrap="square" lIns="0" tIns="0" rIns="0" bIns="0" rtlCol="0" anchor="t"/>
          <a:lstStyle/>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The standard tool for social networks, transport, smart cities and large socio-technical systems</a:t>
            </a:r>
            <a:endParaRPr lang="en-US" sz="1200" dirty="0"/>
          </a:p>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Agents follow predefined rules or handcrafted policies</a:t>
            </a:r>
            <a:endParaRPr lang="en-US" sz="1200" dirty="0"/>
          </a:p>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Little contextual reasoning, no long-term planning, no memory</a:t>
            </a:r>
            <a:endParaRPr lang="en-US" sz="1200" dirty="0"/>
          </a:p>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Strong on macro patterns, weak on human-like individual behaviour</a:t>
            </a:r>
            <a:endParaRPr lang="en-US" sz="1200" dirty="0"/>
          </a:p>
        </p:txBody>
      </p:sp>
      <p:sp>
        <p:nvSpPr>
          <p:cNvPr id="12" name="Shape 10"/>
          <p:cNvSpPr/>
          <p:nvPr/>
        </p:nvSpPr>
        <p:spPr>
          <a:xfrm>
            <a:off x="6199632" y="1481328"/>
            <a:ext cx="5349240" cy="3035808"/>
          </a:xfrm>
          <a:prstGeom prst="roundRect">
            <a:avLst>
              <a:gd name="adj" fmla="val 180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3" name="Shape 11"/>
          <p:cNvSpPr/>
          <p:nvPr/>
        </p:nvSpPr>
        <p:spPr>
          <a:xfrm>
            <a:off x="6492240" y="1755648"/>
            <a:ext cx="384048" cy="384048"/>
          </a:xfrm>
          <a:prstGeom prst="ellipse">
            <a:avLst/>
          </a:prstGeom>
          <a:solidFill>
            <a:srgbClr val="FFFFFF"/>
          </a:solidFill>
          <a:ln w="12700">
            <a:solidFill>
              <a:srgbClr val="7FB069"/>
            </a:solidFill>
            <a:prstDash val="solid"/>
          </a:ln>
        </p:spPr>
      </p:sp>
      <p:sp>
        <p:nvSpPr>
          <p:cNvPr id="14" name="Shape 12"/>
          <p:cNvSpPr/>
          <p:nvPr/>
        </p:nvSpPr>
        <p:spPr>
          <a:xfrm>
            <a:off x="6492240" y="1755648"/>
            <a:ext cx="384048" cy="384048"/>
          </a:xfrm>
          <a:prstGeom prst="ellipse">
            <a:avLst/>
          </a:prstGeom>
          <a:solidFill>
            <a:srgbClr val="7FB069"/>
          </a:solidFill>
          <a:ln/>
        </p:spPr>
      </p:sp>
      <p:sp>
        <p:nvSpPr>
          <p:cNvPr id="15" name="Text 13"/>
          <p:cNvSpPr txBox="1"/>
          <p:nvPr/>
        </p:nvSpPr>
        <p:spPr>
          <a:xfrm>
            <a:off x="6492240"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16" name="Text 14"/>
          <p:cNvSpPr txBox="1"/>
          <p:nvPr/>
        </p:nvSpPr>
        <p:spPr>
          <a:xfrm>
            <a:off x="7040880" y="1801368"/>
            <a:ext cx="4251960"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LLM-driven agents</a:t>
            </a:r>
            <a:endParaRPr lang="en-US" sz="1500" dirty="0"/>
          </a:p>
        </p:txBody>
      </p:sp>
      <p:sp>
        <p:nvSpPr>
          <p:cNvPr id="17" name="Text 15"/>
          <p:cNvSpPr txBox="1"/>
          <p:nvPr/>
        </p:nvSpPr>
        <p:spPr>
          <a:xfrm>
            <a:off x="6510528" y="2359152"/>
            <a:ext cx="4727448" cy="2011680"/>
          </a:xfrm>
          <a:prstGeom prst="rect">
            <a:avLst/>
          </a:prstGeom>
          <a:noFill/>
          <a:ln/>
        </p:spPr>
        <p:txBody>
          <a:bodyPr wrap="square" lIns="0" tIns="0" rIns="0" bIns="0" rtlCol="0" anchor="t"/>
          <a:lstStyle/>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Generate coherent language, hold context, imitate aspects of reasoning</a:t>
            </a:r>
            <a:endParaRPr lang="en-US" sz="1200" dirty="0"/>
          </a:p>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Push simulation past rigid rules toward expressive, flexible behaviour</a:t>
            </a:r>
            <a:endParaRPr lang="en-US" sz="1200" dirty="0"/>
          </a:p>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But most systems act reactively — on the immediate prompt only</a:t>
            </a:r>
            <a:endParaRPr lang="en-US" sz="1200" dirty="0"/>
          </a:p>
          <a:p>
            <a:pPr marL="342900" indent="-342900">
              <a:lnSpc>
                <a:spcPts val="1550"/>
              </a:lnSpc>
              <a:spcAft>
                <a:spcPts val="700"/>
              </a:spcAft>
              <a:buSzPct val="100000"/>
              <a:buChar char="•"/>
            </a:pPr>
            <a:r>
              <a:rPr lang="en-US" sz="1200" dirty="0">
                <a:solidFill>
                  <a:srgbClr val="1F2A22"/>
                </a:solidFill>
                <a:latin typeface="Calibri" pitchFamily="34" charset="0"/>
                <a:ea typeface="Calibri" pitchFamily="34" charset="-122"/>
                <a:cs typeface="Calibri" pitchFamily="34" charset="-120"/>
              </a:rPr>
              <a:t>Interaction is often ad hoc or purely stochastic</a:t>
            </a:r>
            <a:endParaRPr lang="en-US" sz="1200" dirty="0"/>
          </a:p>
        </p:txBody>
      </p:sp>
      <p:sp>
        <p:nvSpPr>
          <p:cNvPr id="18" name="Shape 16"/>
          <p:cNvSpPr/>
          <p:nvPr/>
        </p:nvSpPr>
        <p:spPr>
          <a:xfrm>
            <a:off x="640080" y="4828032"/>
            <a:ext cx="10911535" cy="1234440"/>
          </a:xfrm>
          <a:prstGeom prst="roundRect">
            <a:avLst>
              <a:gd name="adj" fmla="val 4444"/>
            </a:avLst>
          </a:prstGeom>
          <a:solidFill>
            <a:srgbClr val="FBF1DC"/>
          </a:solidFill>
          <a:ln w="12700">
            <a:solidFill>
              <a:srgbClr val="EFDFBE"/>
            </a:solidFill>
            <a:prstDash val="solid"/>
          </a:ln>
        </p:spPr>
      </p:sp>
      <p:sp>
        <p:nvSpPr>
          <p:cNvPr id="19" name="Text 17"/>
          <p:cNvSpPr txBox="1"/>
          <p:nvPr/>
        </p:nvSpPr>
        <p:spPr>
          <a:xfrm>
            <a:off x="896112" y="4828032"/>
            <a:ext cx="10399471" cy="1234440"/>
          </a:xfrm>
          <a:prstGeom prst="rect">
            <a:avLst/>
          </a:prstGeom>
          <a:noFill/>
          <a:ln/>
        </p:spPr>
        <p:txBody>
          <a:bodyPr wrap="square" lIns="0" tIns="0" rIns="0" bIns="0" rtlCol="0" anchor="ctr"/>
          <a:lstStyle/>
          <a:p>
            <a:pPr indent="0" marL="0">
              <a:lnSpc>
                <a:spcPts val="1600"/>
              </a:lnSpc>
              <a:buNone/>
            </a:pPr>
            <a:r>
              <a:rPr lang="en-US" sz="1250" dirty="0">
                <a:solidFill>
                  <a:srgbClr val="1B2E23"/>
                </a:solidFill>
                <a:latin typeface="Calibri" pitchFamily="34" charset="0"/>
                <a:ea typeface="Calibri" pitchFamily="34" charset="-122"/>
                <a:cs typeface="Calibri" pitchFamily="34" charset="-120"/>
              </a:rPr>
              <a:t>The gap: no explicit structure for behaviour, interaction and feedback. Over a long run behaviour drifts and becomes inconsistent, emergent dynamics are hard to control, and results are hard to reproduce or analyse systematically.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One question, three requirements</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640080" y="1417320"/>
            <a:ext cx="10911535" cy="1060704"/>
          </a:xfrm>
          <a:prstGeom prst="roundRect">
            <a:avLst>
              <a:gd name="adj" fmla="val 5172"/>
            </a:avLst>
          </a:prstGeom>
          <a:solidFill>
            <a:srgbClr val="1B2E23"/>
          </a:solidFill>
          <a:ln w="12700">
            <a:solidFill>
              <a:srgbClr val="1B2E23"/>
            </a:solidFill>
            <a:prstDash val="solid"/>
          </a:ln>
        </p:spPr>
      </p:sp>
      <p:sp>
        <p:nvSpPr>
          <p:cNvPr id="7" name="Text 5"/>
          <p:cNvSpPr txBox="1"/>
          <p:nvPr/>
        </p:nvSpPr>
        <p:spPr>
          <a:xfrm>
            <a:off x="1024128" y="1417320"/>
            <a:ext cx="10143439" cy="1060704"/>
          </a:xfrm>
          <a:prstGeom prst="rect">
            <a:avLst/>
          </a:prstGeom>
          <a:noFill/>
          <a:ln/>
        </p:spPr>
        <p:txBody>
          <a:bodyPr wrap="square" lIns="0" tIns="0" rIns="0" bIns="0" rtlCol="0" anchor="ctr"/>
          <a:lstStyle/>
          <a:p>
            <a:pPr indent="0" marL="0">
              <a:lnSpc>
                <a:spcPts val="2400"/>
              </a:lnSpc>
              <a:buNone/>
            </a:pPr>
            <a:r>
              <a:rPr lang="en-US" sz="1750" i="1" dirty="0">
                <a:solidFill>
                  <a:srgbClr val="FFFFFF"/>
                </a:solidFill>
                <a:latin typeface="Cambria" pitchFamily="34" charset="0"/>
                <a:ea typeface="Cambria" pitchFamily="34" charset="-122"/>
                <a:cs typeface="Cambria" pitchFamily="34" charset="-120"/>
              </a:rPr>
              <a:t>How can we design a virtual-society simulation in which agents behave in a structured, evolving and controllable way over time?</a:t>
            </a:r>
            <a:endParaRPr lang="en-US" sz="1750" dirty="0"/>
          </a:p>
        </p:txBody>
      </p:sp>
      <p:sp>
        <p:nvSpPr>
          <p:cNvPr id="8" name="Shape 6"/>
          <p:cNvSpPr/>
          <p:nvPr/>
        </p:nvSpPr>
        <p:spPr>
          <a:xfrm>
            <a:off x="640080" y="2761488"/>
            <a:ext cx="3502152" cy="3035808"/>
          </a:xfrm>
          <a:prstGeom prst="roundRect">
            <a:avLst>
              <a:gd name="adj" fmla="val 180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9" name="Shape 7"/>
          <p:cNvSpPr/>
          <p:nvPr/>
        </p:nvSpPr>
        <p:spPr>
          <a:xfrm>
            <a:off x="950976" y="3035808"/>
            <a:ext cx="420624" cy="420624"/>
          </a:xfrm>
          <a:prstGeom prst="ellipse">
            <a:avLst/>
          </a:prstGeom>
          <a:solidFill>
            <a:srgbClr val="FFFFFF"/>
          </a:solidFill>
          <a:ln w="12700">
            <a:solidFill>
              <a:srgbClr val="7FB069"/>
            </a:solidFill>
            <a:prstDash val="solid"/>
          </a:ln>
        </p:spPr>
      </p:sp>
      <p:sp>
        <p:nvSpPr>
          <p:cNvPr id="10" name="Shape 8"/>
          <p:cNvSpPr/>
          <p:nvPr/>
        </p:nvSpPr>
        <p:spPr>
          <a:xfrm>
            <a:off x="950976" y="3035808"/>
            <a:ext cx="420624" cy="420624"/>
          </a:xfrm>
          <a:prstGeom prst="ellipse">
            <a:avLst/>
          </a:prstGeom>
          <a:solidFill>
            <a:srgbClr val="7FB069"/>
          </a:solidFill>
          <a:ln/>
        </p:spPr>
      </p:sp>
      <p:sp>
        <p:nvSpPr>
          <p:cNvPr id="11" name="Text 9"/>
          <p:cNvSpPr txBox="1"/>
          <p:nvPr/>
        </p:nvSpPr>
        <p:spPr>
          <a:xfrm>
            <a:off x="950976" y="3035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499616" y="3099816"/>
            <a:ext cx="2404872" cy="292608"/>
          </a:xfrm>
          <a:prstGeom prst="rect">
            <a:avLst/>
          </a:prstGeom>
          <a:noFill/>
          <a:ln/>
        </p:spPr>
        <p:txBody>
          <a:bodyPr wrap="square" lIns="0" tIns="0" rIns="0" bIns="0" rtlCol="0" anchor="ctr"/>
          <a:lstStyle/>
          <a:p>
            <a:pPr indent="0" marL="0">
              <a:buNone/>
            </a:pPr>
            <a:r>
              <a:rPr lang="en-US" sz="1450" b="1" dirty="0">
                <a:solidFill>
                  <a:srgbClr val="1B2E23"/>
                </a:solidFill>
                <a:latin typeface="Cambria" pitchFamily="34" charset="0"/>
                <a:ea typeface="Cambria" pitchFamily="34" charset="-122"/>
                <a:cs typeface="Cambria" pitchFamily="34" charset="-120"/>
              </a:rPr>
              <a:t>Temporal structure</a:t>
            </a:r>
            <a:endParaRPr lang="en-US" sz="1450" dirty="0"/>
          </a:p>
        </p:txBody>
      </p:sp>
      <p:sp>
        <p:nvSpPr>
          <p:cNvPr id="13" name="Text 11"/>
          <p:cNvSpPr txBox="1"/>
          <p:nvPr/>
        </p:nvSpPr>
        <p:spPr>
          <a:xfrm>
            <a:off x="950976" y="3657600"/>
            <a:ext cx="2880360" cy="914400"/>
          </a:xfrm>
          <a:prstGeom prst="rect">
            <a:avLst/>
          </a:prstGeom>
          <a:noFill/>
          <a:ln/>
        </p:spPr>
        <p:txBody>
          <a:bodyPr wrap="square" lIns="0" tIns="0" rIns="0" bIns="0" rtlCol="0" anchor="t"/>
          <a:lstStyle/>
          <a:p>
            <a:pPr indent="0" marL="0">
              <a:lnSpc>
                <a:spcPts val="1600"/>
              </a:lnSpc>
              <a:buNone/>
            </a:pPr>
            <a:r>
              <a:rPr lang="en-US" sz="1200" dirty="0">
                <a:solidFill>
                  <a:srgbClr val="1F2A22"/>
                </a:solidFill>
                <a:latin typeface="Calibri" pitchFamily="34" charset="0"/>
                <a:ea typeface="Calibri" pitchFamily="34" charset="-122"/>
                <a:cs typeface="Calibri" pitchFamily="34" charset="-120"/>
              </a:rPr>
              <a:t>Behaviour has to be organised as a day, not as a stream of one-off reactions.</a:t>
            </a:r>
            <a:endParaRPr lang="en-US" sz="1200" dirty="0"/>
          </a:p>
        </p:txBody>
      </p:sp>
      <p:sp>
        <p:nvSpPr>
          <p:cNvPr id="14" name="Shape 12"/>
          <p:cNvSpPr/>
          <p:nvPr/>
        </p:nvSpPr>
        <p:spPr>
          <a:xfrm>
            <a:off x="896112" y="4626864"/>
            <a:ext cx="2990088" cy="932688"/>
          </a:xfrm>
          <a:prstGeom prst="roundRect">
            <a:avLst>
              <a:gd name="adj" fmla="val 5882"/>
            </a:avLst>
          </a:prstGeom>
          <a:solidFill>
            <a:srgbClr val="EAF2E4"/>
          </a:solidFill>
          <a:ln w="12700">
            <a:solidFill>
              <a:srgbClr val="EAF2E4"/>
            </a:solidFill>
            <a:prstDash val="solid"/>
          </a:ln>
        </p:spPr>
      </p:sp>
      <p:sp>
        <p:nvSpPr>
          <p:cNvPr id="15" name="Text 13"/>
          <p:cNvSpPr txBox="1"/>
          <p:nvPr/>
        </p:nvSpPr>
        <p:spPr>
          <a:xfrm>
            <a:off x="1060704" y="4700016"/>
            <a:ext cx="2660904" cy="182880"/>
          </a:xfrm>
          <a:prstGeom prst="rect">
            <a:avLst/>
          </a:prstGeom>
          <a:noFill/>
          <a:ln/>
        </p:spPr>
        <p:txBody>
          <a:bodyPr wrap="square" lIns="0" tIns="0" rIns="0" bIns="0" rtlCol="0" anchor="ctr"/>
          <a:lstStyle/>
          <a:p>
            <a:pPr indent="0" marL="0">
              <a:buNone/>
            </a:pPr>
            <a:r>
              <a:rPr lang="en-US" sz="850" b="1" spc="120" kern="0" dirty="0">
                <a:solidFill>
                  <a:srgbClr val="2C5F2D"/>
                </a:solidFill>
                <a:latin typeface="Calibri" pitchFamily="34" charset="0"/>
                <a:ea typeface="Calibri" pitchFamily="34" charset="-122"/>
                <a:cs typeface="Calibri" pitchFamily="34" charset="-120"/>
              </a:rPr>
              <a:t>OUR ANSWER</a:t>
            </a:r>
            <a:endParaRPr lang="en-US" sz="850" dirty="0"/>
          </a:p>
        </p:txBody>
      </p:sp>
      <p:sp>
        <p:nvSpPr>
          <p:cNvPr id="16" name="Text 14"/>
          <p:cNvSpPr txBox="1"/>
          <p:nvPr/>
        </p:nvSpPr>
        <p:spPr>
          <a:xfrm>
            <a:off x="1060704" y="4901184"/>
            <a:ext cx="2660904" cy="566928"/>
          </a:xfrm>
          <a:prstGeom prst="rect">
            <a:avLst/>
          </a:prstGeom>
          <a:noFill/>
          <a:ln/>
        </p:spPr>
        <p:txBody>
          <a:bodyPr wrap="square" lIns="0" tIns="0" rIns="0" bIns="0" rtlCol="0" anchor="t"/>
          <a:lstStyle/>
          <a:p>
            <a:pPr indent="0" marL="0">
              <a:lnSpc>
                <a:spcPts val="1400"/>
              </a:lnSpc>
              <a:buNone/>
            </a:pPr>
            <a:r>
              <a:rPr lang="en-US" sz="1150" b="1" dirty="0">
                <a:solidFill>
                  <a:srgbClr val="1B2E23"/>
                </a:solidFill>
                <a:latin typeface="Calibri" pitchFamily="34" charset="0"/>
                <a:ea typeface="Calibri" pitchFamily="34" charset="-122"/>
                <a:cs typeface="Calibri" pitchFamily="34" charset="-120"/>
              </a:rPr>
              <a:t>Schedule-driven agent design</a:t>
            </a:r>
            <a:endParaRPr lang="en-US" sz="1150" dirty="0"/>
          </a:p>
        </p:txBody>
      </p:sp>
      <p:sp>
        <p:nvSpPr>
          <p:cNvPr id="17" name="Shape 15"/>
          <p:cNvSpPr/>
          <p:nvPr/>
        </p:nvSpPr>
        <p:spPr>
          <a:xfrm>
            <a:off x="4343400" y="2761488"/>
            <a:ext cx="3502152" cy="3035808"/>
          </a:xfrm>
          <a:prstGeom prst="roundRect">
            <a:avLst>
              <a:gd name="adj" fmla="val 180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8" name="Shape 16"/>
          <p:cNvSpPr/>
          <p:nvPr/>
        </p:nvSpPr>
        <p:spPr>
          <a:xfrm>
            <a:off x="4654296" y="3035808"/>
            <a:ext cx="420624" cy="420624"/>
          </a:xfrm>
          <a:prstGeom prst="ellipse">
            <a:avLst/>
          </a:prstGeom>
          <a:solidFill>
            <a:srgbClr val="FFFFFF"/>
          </a:solidFill>
          <a:ln w="12700">
            <a:solidFill>
              <a:srgbClr val="2C5F2D"/>
            </a:solidFill>
            <a:prstDash val="solid"/>
          </a:ln>
        </p:spPr>
      </p:sp>
      <p:sp>
        <p:nvSpPr>
          <p:cNvPr id="19" name="Shape 17"/>
          <p:cNvSpPr/>
          <p:nvPr/>
        </p:nvSpPr>
        <p:spPr>
          <a:xfrm>
            <a:off x="4654296" y="3035808"/>
            <a:ext cx="420624" cy="420624"/>
          </a:xfrm>
          <a:prstGeom prst="ellipse">
            <a:avLst/>
          </a:prstGeom>
          <a:solidFill>
            <a:srgbClr val="2C5F2D"/>
          </a:solidFill>
          <a:ln/>
        </p:spPr>
      </p:sp>
      <p:sp>
        <p:nvSpPr>
          <p:cNvPr id="20" name="Text 18"/>
          <p:cNvSpPr txBox="1"/>
          <p:nvPr/>
        </p:nvSpPr>
        <p:spPr>
          <a:xfrm>
            <a:off x="4654296" y="3035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Text 19"/>
          <p:cNvSpPr txBox="1"/>
          <p:nvPr/>
        </p:nvSpPr>
        <p:spPr>
          <a:xfrm>
            <a:off x="5202936" y="3099816"/>
            <a:ext cx="2404872" cy="292608"/>
          </a:xfrm>
          <a:prstGeom prst="rect">
            <a:avLst/>
          </a:prstGeom>
          <a:noFill/>
          <a:ln/>
        </p:spPr>
        <p:txBody>
          <a:bodyPr wrap="square" lIns="0" tIns="0" rIns="0" bIns="0" rtlCol="0" anchor="ctr"/>
          <a:lstStyle/>
          <a:p>
            <a:pPr indent="0" marL="0">
              <a:buNone/>
            </a:pPr>
            <a:r>
              <a:rPr lang="en-US" sz="1450" b="1" dirty="0">
                <a:solidFill>
                  <a:srgbClr val="1B2E23"/>
                </a:solidFill>
                <a:latin typeface="Cambria" pitchFamily="34" charset="0"/>
                <a:ea typeface="Cambria" pitchFamily="34" charset="-122"/>
                <a:cs typeface="Cambria" pitchFamily="34" charset="-120"/>
              </a:rPr>
              <a:t>Behavioural evolution</a:t>
            </a:r>
            <a:endParaRPr lang="en-US" sz="1450" dirty="0"/>
          </a:p>
        </p:txBody>
      </p:sp>
      <p:sp>
        <p:nvSpPr>
          <p:cNvPr id="22" name="Text 20"/>
          <p:cNvSpPr txBox="1"/>
          <p:nvPr/>
        </p:nvSpPr>
        <p:spPr>
          <a:xfrm>
            <a:off x="4654296" y="3657600"/>
            <a:ext cx="2880360" cy="914400"/>
          </a:xfrm>
          <a:prstGeom prst="rect">
            <a:avLst/>
          </a:prstGeom>
          <a:noFill/>
          <a:ln/>
        </p:spPr>
        <p:txBody>
          <a:bodyPr wrap="square" lIns="0" tIns="0" rIns="0" bIns="0" rtlCol="0" anchor="t"/>
          <a:lstStyle/>
          <a:p>
            <a:pPr indent="0" marL="0">
              <a:lnSpc>
                <a:spcPts val="1600"/>
              </a:lnSpc>
              <a:buNone/>
            </a:pPr>
            <a:r>
              <a:rPr lang="en-US" sz="1200" dirty="0">
                <a:solidFill>
                  <a:srgbClr val="1F2A22"/>
                </a:solidFill>
                <a:latin typeface="Calibri" pitchFamily="34" charset="0"/>
                <a:ea typeface="Calibri" pitchFamily="34" charset="-122"/>
                <a:cs typeface="Calibri" pitchFamily="34" charset="-120"/>
              </a:rPr>
              <a:t>What happened yesterday has to change what an agent does tomorrow.</a:t>
            </a:r>
            <a:endParaRPr lang="en-US" sz="1200" dirty="0"/>
          </a:p>
        </p:txBody>
      </p:sp>
      <p:sp>
        <p:nvSpPr>
          <p:cNvPr id="23" name="Shape 21"/>
          <p:cNvSpPr/>
          <p:nvPr/>
        </p:nvSpPr>
        <p:spPr>
          <a:xfrm>
            <a:off x="4599432" y="4626864"/>
            <a:ext cx="2990088" cy="932688"/>
          </a:xfrm>
          <a:prstGeom prst="roundRect">
            <a:avLst>
              <a:gd name="adj" fmla="val 5882"/>
            </a:avLst>
          </a:prstGeom>
          <a:solidFill>
            <a:srgbClr val="EAF2E4"/>
          </a:solidFill>
          <a:ln w="12700">
            <a:solidFill>
              <a:srgbClr val="EAF2E4"/>
            </a:solidFill>
            <a:prstDash val="solid"/>
          </a:ln>
        </p:spPr>
      </p:sp>
      <p:sp>
        <p:nvSpPr>
          <p:cNvPr id="24" name="Text 22"/>
          <p:cNvSpPr txBox="1"/>
          <p:nvPr/>
        </p:nvSpPr>
        <p:spPr>
          <a:xfrm>
            <a:off x="4764024" y="4700016"/>
            <a:ext cx="2660904" cy="182880"/>
          </a:xfrm>
          <a:prstGeom prst="rect">
            <a:avLst/>
          </a:prstGeom>
          <a:noFill/>
          <a:ln/>
        </p:spPr>
        <p:txBody>
          <a:bodyPr wrap="square" lIns="0" tIns="0" rIns="0" bIns="0" rtlCol="0" anchor="ctr"/>
          <a:lstStyle/>
          <a:p>
            <a:pPr indent="0" marL="0">
              <a:buNone/>
            </a:pPr>
            <a:r>
              <a:rPr lang="en-US" sz="850" b="1" spc="120" kern="0" dirty="0">
                <a:solidFill>
                  <a:srgbClr val="2C5F2D"/>
                </a:solidFill>
                <a:latin typeface="Calibri" pitchFamily="34" charset="0"/>
                <a:ea typeface="Calibri" pitchFamily="34" charset="-122"/>
                <a:cs typeface="Calibri" pitchFamily="34" charset="-120"/>
              </a:rPr>
              <a:t>OUR ANSWER</a:t>
            </a:r>
            <a:endParaRPr lang="en-US" sz="850" dirty="0"/>
          </a:p>
        </p:txBody>
      </p:sp>
      <p:sp>
        <p:nvSpPr>
          <p:cNvPr id="25" name="Text 23"/>
          <p:cNvSpPr txBox="1"/>
          <p:nvPr/>
        </p:nvSpPr>
        <p:spPr>
          <a:xfrm>
            <a:off x="4764024" y="4901184"/>
            <a:ext cx="2660904" cy="566928"/>
          </a:xfrm>
          <a:prstGeom prst="rect">
            <a:avLst/>
          </a:prstGeom>
          <a:noFill/>
          <a:ln/>
        </p:spPr>
        <p:txBody>
          <a:bodyPr wrap="square" lIns="0" tIns="0" rIns="0" bIns="0" rtlCol="0" anchor="t"/>
          <a:lstStyle/>
          <a:p>
            <a:pPr indent="0" marL="0">
              <a:lnSpc>
                <a:spcPts val="1400"/>
              </a:lnSpc>
              <a:buNone/>
            </a:pPr>
            <a:r>
              <a:rPr lang="en-US" sz="1150" b="1" dirty="0">
                <a:solidFill>
                  <a:srgbClr val="1B2E23"/>
                </a:solidFill>
                <a:latin typeface="Calibri" pitchFamily="34" charset="0"/>
                <a:ea typeface="Calibri" pitchFamily="34" charset="-122"/>
                <a:cs typeface="Calibri" pitchFamily="34" charset="-120"/>
              </a:rPr>
              <a:t>Memory-based feedback loop</a:t>
            </a:r>
            <a:endParaRPr lang="en-US" sz="1150" dirty="0"/>
          </a:p>
        </p:txBody>
      </p:sp>
      <p:sp>
        <p:nvSpPr>
          <p:cNvPr id="26" name="Shape 24"/>
          <p:cNvSpPr/>
          <p:nvPr/>
        </p:nvSpPr>
        <p:spPr>
          <a:xfrm>
            <a:off x="8046720" y="2761488"/>
            <a:ext cx="3502152" cy="3035808"/>
          </a:xfrm>
          <a:prstGeom prst="roundRect">
            <a:avLst>
              <a:gd name="adj" fmla="val 180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27" name="Shape 25"/>
          <p:cNvSpPr/>
          <p:nvPr/>
        </p:nvSpPr>
        <p:spPr>
          <a:xfrm>
            <a:off x="8357616" y="3035808"/>
            <a:ext cx="420624" cy="420624"/>
          </a:xfrm>
          <a:prstGeom prst="ellipse">
            <a:avLst/>
          </a:prstGeom>
          <a:solidFill>
            <a:srgbClr val="FFFFFF"/>
          </a:solidFill>
          <a:ln w="12700">
            <a:solidFill>
              <a:srgbClr val="C98A24"/>
            </a:solidFill>
            <a:prstDash val="solid"/>
          </a:ln>
        </p:spPr>
      </p:sp>
      <p:sp>
        <p:nvSpPr>
          <p:cNvPr id="28" name="Shape 26"/>
          <p:cNvSpPr/>
          <p:nvPr/>
        </p:nvSpPr>
        <p:spPr>
          <a:xfrm>
            <a:off x="8357616" y="3035808"/>
            <a:ext cx="420624" cy="420624"/>
          </a:xfrm>
          <a:prstGeom prst="ellipse">
            <a:avLst/>
          </a:prstGeom>
          <a:solidFill>
            <a:srgbClr val="C98A24"/>
          </a:solidFill>
          <a:ln/>
        </p:spPr>
      </p:sp>
      <p:sp>
        <p:nvSpPr>
          <p:cNvPr id="29" name="Text 27"/>
          <p:cNvSpPr txBox="1"/>
          <p:nvPr/>
        </p:nvSpPr>
        <p:spPr>
          <a:xfrm>
            <a:off x="8357616" y="3035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0" name="Text 28"/>
          <p:cNvSpPr txBox="1"/>
          <p:nvPr/>
        </p:nvSpPr>
        <p:spPr>
          <a:xfrm>
            <a:off x="8906256" y="3099816"/>
            <a:ext cx="2404872" cy="292608"/>
          </a:xfrm>
          <a:prstGeom prst="rect">
            <a:avLst/>
          </a:prstGeom>
          <a:noFill/>
          <a:ln/>
        </p:spPr>
        <p:txBody>
          <a:bodyPr wrap="square" lIns="0" tIns="0" rIns="0" bIns="0" rtlCol="0" anchor="ctr"/>
          <a:lstStyle/>
          <a:p>
            <a:pPr indent="0" marL="0">
              <a:buNone/>
            </a:pPr>
            <a:r>
              <a:rPr lang="en-US" sz="1450" b="1" dirty="0">
                <a:solidFill>
                  <a:srgbClr val="1B2E23"/>
                </a:solidFill>
                <a:latin typeface="Cambria" pitchFamily="34" charset="0"/>
                <a:ea typeface="Cambria" pitchFamily="34" charset="-122"/>
                <a:cs typeface="Cambria" pitchFamily="34" charset="-120"/>
              </a:rPr>
              <a:t>Controllability</a:t>
            </a:r>
            <a:endParaRPr lang="en-US" sz="1450" dirty="0"/>
          </a:p>
        </p:txBody>
      </p:sp>
      <p:sp>
        <p:nvSpPr>
          <p:cNvPr id="31" name="Text 29"/>
          <p:cNvSpPr txBox="1"/>
          <p:nvPr/>
        </p:nvSpPr>
        <p:spPr>
          <a:xfrm>
            <a:off x="8357616" y="3657600"/>
            <a:ext cx="2880360" cy="914400"/>
          </a:xfrm>
          <a:prstGeom prst="rect">
            <a:avLst/>
          </a:prstGeom>
          <a:noFill/>
          <a:ln/>
        </p:spPr>
        <p:txBody>
          <a:bodyPr wrap="square" lIns="0" tIns="0" rIns="0" bIns="0" rtlCol="0" anchor="t"/>
          <a:lstStyle/>
          <a:p>
            <a:pPr indent="0" marL="0">
              <a:lnSpc>
                <a:spcPts val="1600"/>
              </a:lnSpc>
              <a:buNone/>
            </a:pPr>
            <a:r>
              <a:rPr lang="en-US" sz="1200" dirty="0">
                <a:solidFill>
                  <a:srgbClr val="1F2A22"/>
                </a:solidFill>
                <a:latin typeface="Calibri" pitchFamily="34" charset="0"/>
                <a:ea typeface="Calibri" pitchFamily="34" charset="-122"/>
                <a:cs typeface="Calibri" pitchFamily="34" charset="-120"/>
              </a:rPr>
              <a:t>Interaction must follow an explicit rule, and a human must be able to step in.</a:t>
            </a:r>
            <a:endParaRPr lang="en-US" sz="1200" dirty="0"/>
          </a:p>
        </p:txBody>
      </p:sp>
      <p:sp>
        <p:nvSpPr>
          <p:cNvPr id="32" name="Shape 30"/>
          <p:cNvSpPr/>
          <p:nvPr/>
        </p:nvSpPr>
        <p:spPr>
          <a:xfrm>
            <a:off x="8302752" y="4626864"/>
            <a:ext cx="2990088" cy="932688"/>
          </a:xfrm>
          <a:prstGeom prst="roundRect">
            <a:avLst>
              <a:gd name="adj" fmla="val 5882"/>
            </a:avLst>
          </a:prstGeom>
          <a:solidFill>
            <a:srgbClr val="EAF2E4"/>
          </a:solidFill>
          <a:ln w="12700">
            <a:solidFill>
              <a:srgbClr val="EAF2E4"/>
            </a:solidFill>
            <a:prstDash val="solid"/>
          </a:ln>
        </p:spPr>
      </p:sp>
      <p:sp>
        <p:nvSpPr>
          <p:cNvPr id="33" name="Text 31"/>
          <p:cNvSpPr txBox="1"/>
          <p:nvPr/>
        </p:nvSpPr>
        <p:spPr>
          <a:xfrm>
            <a:off x="8467344" y="4700016"/>
            <a:ext cx="2660904" cy="182880"/>
          </a:xfrm>
          <a:prstGeom prst="rect">
            <a:avLst/>
          </a:prstGeom>
          <a:noFill/>
          <a:ln/>
        </p:spPr>
        <p:txBody>
          <a:bodyPr wrap="square" lIns="0" tIns="0" rIns="0" bIns="0" rtlCol="0" anchor="ctr"/>
          <a:lstStyle/>
          <a:p>
            <a:pPr indent="0" marL="0">
              <a:buNone/>
            </a:pPr>
            <a:r>
              <a:rPr lang="en-US" sz="850" b="1" spc="120" kern="0" dirty="0">
                <a:solidFill>
                  <a:srgbClr val="2C5F2D"/>
                </a:solidFill>
                <a:latin typeface="Calibri" pitchFamily="34" charset="0"/>
                <a:ea typeface="Calibri" pitchFamily="34" charset="-122"/>
                <a:cs typeface="Calibri" pitchFamily="34" charset="-120"/>
              </a:rPr>
              <a:t>OUR ANSWER</a:t>
            </a:r>
            <a:endParaRPr lang="en-US" sz="850" dirty="0"/>
          </a:p>
        </p:txBody>
      </p:sp>
      <p:sp>
        <p:nvSpPr>
          <p:cNvPr id="34" name="Text 32"/>
          <p:cNvSpPr txBox="1"/>
          <p:nvPr/>
        </p:nvSpPr>
        <p:spPr>
          <a:xfrm>
            <a:off x="8467344" y="4901184"/>
            <a:ext cx="2660904" cy="566928"/>
          </a:xfrm>
          <a:prstGeom prst="rect">
            <a:avLst/>
          </a:prstGeom>
          <a:noFill/>
          <a:ln/>
        </p:spPr>
        <p:txBody>
          <a:bodyPr wrap="square" lIns="0" tIns="0" rIns="0" bIns="0" rtlCol="0" anchor="t"/>
          <a:lstStyle/>
          <a:p>
            <a:pPr indent="0" marL="0">
              <a:lnSpc>
                <a:spcPts val="1400"/>
              </a:lnSpc>
              <a:buNone/>
            </a:pPr>
            <a:r>
              <a:rPr lang="en-US" sz="1150" b="1" dirty="0">
                <a:solidFill>
                  <a:srgbClr val="1B2E23"/>
                </a:solidFill>
                <a:latin typeface="Calibri" pitchFamily="34" charset="0"/>
                <a:ea typeface="Calibri" pitchFamily="34" charset="-122"/>
                <a:cs typeface="Calibri" pitchFamily="34" charset="-120"/>
              </a:rPr>
              <a:t>Co-location trigger + human-in-the-loop</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FRAMEWORK</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A backend that thinks, a frontend that shows</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640080" y="1463040"/>
            <a:ext cx="6309360" cy="1572768"/>
          </a:xfrm>
          <a:prstGeom prst="roundRect">
            <a:avLst>
              <a:gd name="adj" fmla="val 3488"/>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7" name="Shape 5"/>
          <p:cNvSpPr/>
          <p:nvPr/>
        </p:nvSpPr>
        <p:spPr>
          <a:xfrm>
            <a:off x="932688" y="1700784"/>
            <a:ext cx="384048" cy="384048"/>
          </a:xfrm>
          <a:prstGeom prst="ellipse">
            <a:avLst/>
          </a:prstGeom>
          <a:solidFill>
            <a:srgbClr val="FFFFFF"/>
          </a:solidFill>
          <a:ln w="12700">
            <a:solidFill>
              <a:srgbClr val="2C5F2D"/>
            </a:solidFill>
            <a:prstDash val="solid"/>
          </a:ln>
        </p:spPr>
      </p:sp>
      <p:sp>
        <p:nvSpPr>
          <p:cNvPr id="8" name="Shape 6"/>
          <p:cNvSpPr/>
          <p:nvPr/>
        </p:nvSpPr>
        <p:spPr>
          <a:xfrm>
            <a:off x="932688" y="1700784"/>
            <a:ext cx="384048" cy="384048"/>
          </a:xfrm>
          <a:prstGeom prst="ellipse">
            <a:avLst/>
          </a:prstGeom>
          <a:solidFill>
            <a:srgbClr val="2C5F2D"/>
          </a:solidFill>
          <a:ln/>
        </p:spPr>
      </p:sp>
      <p:sp>
        <p:nvSpPr>
          <p:cNvPr id="9" name="Text 7"/>
          <p:cNvSpPr txBox="1"/>
          <p:nvPr/>
        </p:nvSpPr>
        <p:spPr>
          <a:xfrm>
            <a:off x="932688" y="1700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0" name="Text 8"/>
          <p:cNvSpPr txBox="1"/>
          <p:nvPr/>
        </p:nvSpPr>
        <p:spPr>
          <a:xfrm>
            <a:off x="1481328" y="1746504"/>
            <a:ext cx="5212080"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Backend — Python</a:t>
            </a:r>
            <a:endParaRPr lang="en-US" sz="1500" dirty="0"/>
          </a:p>
        </p:txBody>
      </p:sp>
      <p:sp>
        <p:nvSpPr>
          <p:cNvPr id="11" name="Text 9"/>
          <p:cNvSpPr txBox="1"/>
          <p:nvPr/>
        </p:nvSpPr>
        <p:spPr>
          <a:xfrm>
            <a:off x="950976" y="2249424"/>
            <a:ext cx="5687568" cy="749808"/>
          </a:xfrm>
          <a:prstGeom prst="rect">
            <a:avLst/>
          </a:prstGeom>
          <a:noFill/>
          <a:ln/>
        </p:spPr>
        <p:txBody>
          <a:bodyPr wrap="square" lIns="0" tIns="0" rIns="0" bIns="0" rtlCol="0" anchor="t"/>
          <a:lstStyle/>
          <a:p>
            <a:pPr marL="342900" indent="-342900">
              <a:lnSpc>
                <a:spcPts val="1450"/>
              </a:lnSpc>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Agent cognition: daily planning, dialogue, reflective reasoning</a:t>
            </a:r>
            <a:endParaRPr lang="en-US" sz="1150" dirty="0"/>
          </a:p>
          <a:p>
            <a:pPr marL="342900" indent="-342900">
              <a:lnSpc>
                <a:spcPts val="1450"/>
              </a:lnSpc>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Memory management and all calls to the LLM (DeepSeek API)</a:t>
            </a:r>
            <a:endParaRPr lang="en-US" sz="1150" dirty="0"/>
          </a:p>
          <a:p>
            <a:pPr marL="342900" indent="-342900">
              <a:lnSpc>
                <a:spcPts val="1450"/>
              </a:lnSpc>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Modular by design, so parts can be replaced independently</a:t>
            </a:r>
            <a:endParaRPr lang="en-US" sz="1150" dirty="0"/>
          </a:p>
        </p:txBody>
      </p:sp>
      <p:sp>
        <p:nvSpPr>
          <p:cNvPr id="12" name="Shape 10"/>
          <p:cNvSpPr/>
          <p:nvPr/>
        </p:nvSpPr>
        <p:spPr>
          <a:xfrm>
            <a:off x="640080" y="3163824"/>
            <a:ext cx="6309360" cy="1371600"/>
          </a:xfrm>
          <a:prstGeom prst="roundRect">
            <a:avLst>
              <a:gd name="adj" fmla="val 4000"/>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3" name="Shape 11"/>
          <p:cNvSpPr/>
          <p:nvPr/>
        </p:nvSpPr>
        <p:spPr>
          <a:xfrm>
            <a:off x="932688" y="3401568"/>
            <a:ext cx="384048" cy="384048"/>
          </a:xfrm>
          <a:prstGeom prst="ellipse">
            <a:avLst/>
          </a:prstGeom>
          <a:solidFill>
            <a:srgbClr val="FFFFFF"/>
          </a:solidFill>
          <a:ln w="12700">
            <a:solidFill>
              <a:srgbClr val="7FB069"/>
            </a:solidFill>
            <a:prstDash val="solid"/>
          </a:ln>
        </p:spPr>
      </p:sp>
      <p:sp>
        <p:nvSpPr>
          <p:cNvPr id="14" name="Shape 12"/>
          <p:cNvSpPr/>
          <p:nvPr/>
        </p:nvSpPr>
        <p:spPr>
          <a:xfrm>
            <a:off x="932688" y="3401568"/>
            <a:ext cx="384048" cy="384048"/>
          </a:xfrm>
          <a:prstGeom prst="ellipse">
            <a:avLst/>
          </a:prstGeom>
          <a:solidFill>
            <a:srgbClr val="7FB069"/>
          </a:solidFill>
          <a:ln/>
        </p:spPr>
      </p:sp>
      <p:sp>
        <p:nvSpPr>
          <p:cNvPr id="15" name="Text 13"/>
          <p:cNvSpPr txBox="1"/>
          <p:nvPr/>
        </p:nvSpPr>
        <p:spPr>
          <a:xfrm>
            <a:off x="932688" y="3401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6" name="Text 14"/>
          <p:cNvSpPr txBox="1"/>
          <p:nvPr/>
        </p:nvSpPr>
        <p:spPr>
          <a:xfrm>
            <a:off x="1481328" y="3447288"/>
            <a:ext cx="5212080"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Frontend — Phaser</a:t>
            </a:r>
            <a:endParaRPr lang="en-US" sz="1500" dirty="0"/>
          </a:p>
        </p:txBody>
      </p:sp>
      <p:sp>
        <p:nvSpPr>
          <p:cNvPr id="17" name="Text 15"/>
          <p:cNvSpPr txBox="1"/>
          <p:nvPr/>
        </p:nvSpPr>
        <p:spPr>
          <a:xfrm>
            <a:off x="950976" y="3950208"/>
            <a:ext cx="5687568" cy="530352"/>
          </a:xfrm>
          <a:prstGeom prst="rect">
            <a:avLst/>
          </a:prstGeom>
          <a:noFill/>
          <a:ln/>
        </p:spPr>
        <p:txBody>
          <a:bodyPr wrap="square" lIns="0" tIns="0" rIns="0" bIns="0" rtlCol="0" anchor="t"/>
          <a:lstStyle/>
          <a:p>
            <a:pPr marL="342900" indent="-342900">
              <a:lnSpc>
                <a:spcPts val="1450"/>
              </a:lnSpc>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Renders the town, agent movement and interactions</a:t>
            </a:r>
            <a:endParaRPr lang="en-US" sz="1150" dirty="0"/>
          </a:p>
          <a:p>
            <a:pPr marL="342900" indent="-342900">
              <a:lnSpc>
                <a:spcPts val="1450"/>
              </a:lnSpc>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Pulls agent states, plans and events over a REST API</a:t>
            </a:r>
            <a:endParaRPr lang="en-US" sz="1150" dirty="0"/>
          </a:p>
        </p:txBody>
      </p:sp>
      <p:sp>
        <p:nvSpPr>
          <p:cNvPr id="18" name="Shape 16"/>
          <p:cNvSpPr/>
          <p:nvPr/>
        </p:nvSpPr>
        <p:spPr>
          <a:xfrm>
            <a:off x="640080" y="4663440"/>
            <a:ext cx="6309360" cy="1207008"/>
          </a:xfrm>
          <a:prstGeom prst="roundRect">
            <a:avLst>
              <a:gd name="adj" fmla="val 4545"/>
            </a:avLst>
          </a:prstGeom>
          <a:solidFill>
            <a:srgbClr val="EAF2E4"/>
          </a:solidFill>
          <a:ln w="12700">
            <a:solidFill>
              <a:srgbClr val="EAF2E4"/>
            </a:solidFill>
            <a:prstDash val="solid"/>
          </a:ln>
        </p:spPr>
      </p:sp>
      <p:sp>
        <p:nvSpPr>
          <p:cNvPr id="19" name="Text 17"/>
          <p:cNvSpPr txBox="1"/>
          <p:nvPr/>
        </p:nvSpPr>
        <p:spPr>
          <a:xfrm>
            <a:off x="950976" y="4791456"/>
            <a:ext cx="5687568" cy="201168"/>
          </a:xfrm>
          <a:prstGeom prst="rect">
            <a:avLst/>
          </a:prstGeom>
          <a:noFill/>
          <a:ln/>
        </p:spPr>
        <p:txBody>
          <a:bodyPr wrap="square" lIns="0" tIns="0" rIns="0" bIns="0" rtlCol="0" anchor="ctr"/>
          <a:lstStyle/>
          <a:p>
            <a:pPr indent="0" marL="0">
              <a:buNone/>
            </a:pPr>
            <a:r>
              <a:rPr lang="en-US" sz="900" b="1" spc="120" kern="0" dirty="0">
                <a:solidFill>
                  <a:srgbClr val="2C5F2D"/>
                </a:solidFill>
                <a:latin typeface="Calibri" pitchFamily="34" charset="0"/>
                <a:ea typeface="Calibri" pitchFamily="34" charset="-122"/>
                <a:cs typeface="Calibri" pitchFamily="34" charset="-120"/>
              </a:rPr>
              <a:t>FIVE IMPLEMENTATION MODULES</a:t>
            </a:r>
            <a:endParaRPr lang="en-US" sz="900" dirty="0"/>
          </a:p>
        </p:txBody>
      </p:sp>
      <p:sp>
        <p:nvSpPr>
          <p:cNvPr id="20" name="Text 18"/>
          <p:cNvSpPr txBox="1"/>
          <p:nvPr/>
        </p:nvSpPr>
        <p:spPr>
          <a:xfrm>
            <a:off x="950976" y="5047488"/>
            <a:ext cx="5687568" cy="822960"/>
          </a:xfrm>
          <a:prstGeom prst="rect">
            <a:avLst/>
          </a:prstGeom>
          <a:noFill/>
          <a:ln/>
        </p:spPr>
        <p:txBody>
          <a:bodyPr wrap="square" lIns="0" tIns="0" rIns="0" bIns="0" rtlCol="0" anchor="t"/>
          <a:lstStyle/>
          <a:p>
            <a:pPr indent="0" marL="0">
              <a:lnSpc>
                <a:spcPts val="1900"/>
              </a:lnSpc>
              <a:buNone/>
            </a:pPr>
            <a:r>
              <a:rPr lang="en-US" sz="1300" b="1" dirty="0">
                <a:solidFill>
                  <a:srgbClr val="1B2E23"/>
                </a:solidFill>
                <a:latin typeface="Calibri" pitchFamily="34" charset="0"/>
                <a:ea typeface="Calibri" pitchFamily="34" charset="-122"/>
                <a:cs typeface="Calibri" pitchFamily="34" charset="-120"/>
              </a:rPr>
              <a:t>Agent Manager  ·  Scheduler  ·  Interaction Engine  ·  LLM Interface  ·  Memory Manager</a:t>
            </a:r>
            <a:endParaRPr lang="en-US" sz="1300" dirty="0"/>
          </a:p>
        </p:txBody>
      </p:sp>
      <p:sp>
        <p:nvSpPr>
          <p:cNvPr id="21" name="Shape 19"/>
          <p:cNvSpPr/>
          <p:nvPr/>
        </p:nvSpPr>
        <p:spPr>
          <a:xfrm>
            <a:off x="7406640" y="1463040"/>
            <a:ext cx="4144975" cy="4572000"/>
          </a:xfrm>
          <a:prstGeom prst="roundRect">
            <a:avLst>
              <a:gd name="adj" fmla="val 1324"/>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pic>
        <p:nvPicPr>
          <p:cNvPr id="22" name="Image 0" descr="/tmp/claude-0/-home-user-valentown/d6e1bc7b-94ca-5433-b61a-57600741710e/scratchpad/assets/fig1_architecture.png">    </p:cNvPr>
          <p:cNvPicPr>
            <a:picLocks noChangeAspect="1"/>
          </p:cNvPicPr>
          <p:nvPr/>
        </p:nvPicPr>
        <p:blipFill>
          <a:blip r:embed="rId1"/>
          <a:stretch>
            <a:fillRect/>
          </a:stretch>
        </p:blipFill>
        <p:spPr>
          <a:xfrm>
            <a:off x="7686904" y="1645920"/>
            <a:ext cx="3584448" cy="3727614"/>
          </a:xfrm>
          <a:prstGeom prst="rect">
            <a:avLst/>
          </a:prstGeom>
        </p:spPr>
      </p:pic>
      <p:sp>
        <p:nvSpPr>
          <p:cNvPr id="23" name="Text 20"/>
          <p:cNvSpPr txBox="1"/>
          <p:nvPr/>
        </p:nvSpPr>
        <p:spPr>
          <a:xfrm>
            <a:off x="7406640" y="5614416"/>
            <a:ext cx="4144975" cy="256032"/>
          </a:xfrm>
          <a:prstGeom prst="rect">
            <a:avLst/>
          </a:prstGeom>
          <a:noFill/>
          <a:ln/>
        </p:spPr>
        <p:txBody>
          <a:bodyPr wrap="square" lIns="0" tIns="0" rIns="0" bIns="0" rtlCol="0" anchor="ctr"/>
          <a:lstStyle/>
          <a:p>
            <a:pPr algn="ctr" indent="0" marL="0">
              <a:buNone/>
            </a:pPr>
            <a:r>
              <a:rPr lang="en-US" sz="1000" i="1" dirty="0">
                <a:solidFill>
                  <a:srgbClr val="5F6B60"/>
                </a:solidFill>
                <a:latin typeface="Calibri" pitchFamily="34" charset="0"/>
                <a:ea typeface="Calibri" pitchFamily="34" charset="-122"/>
                <a:cs typeface="Calibri" pitchFamily="34" charset="-120"/>
              </a:rPr>
              <a:t>Fig. 1  Overview of the proposed framework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MECHANISM 1 &amp; 2</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Plan the day, then let the town decide who meets</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640080" y="1444752"/>
            <a:ext cx="5349240" cy="3291840"/>
          </a:xfrm>
          <a:prstGeom prst="roundRect">
            <a:avLst>
              <a:gd name="adj" fmla="val 166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7" name="Shape 5"/>
          <p:cNvSpPr/>
          <p:nvPr/>
        </p:nvSpPr>
        <p:spPr>
          <a:xfrm>
            <a:off x="932688" y="1700784"/>
            <a:ext cx="402336" cy="402336"/>
          </a:xfrm>
          <a:prstGeom prst="ellipse">
            <a:avLst/>
          </a:prstGeom>
          <a:solidFill>
            <a:srgbClr val="FFFFFF"/>
          </a:solidFill>
          <a:ln w="12700">
            <a:solidFill>
              <a:srgbClr val="7FB069"/>
            </a:solidFill>
            <a:prstDash val="solid"/>
          </a:ln>
        </p:spPr>
      </p:sp>
      <p:sp>
        <p:nvSpPr>
          <p:cNvPr id="8" name="Shape 6"/>
          <p:cNvSpPr/>
          <p:nvPr/>
        </p:nvSpPr>
        <p:spPr>
          <a:xfrm>
            <a:off x="932688" y="1700784"/>
            <a:ext cx="402336" cy="402336"/>
          </a:xfrm>
          <a:prstGeom prst="ellipse">
            <a:avLst/>
          </a:prstGeom>
          <a:solidFill>
            <a:srgbClr val="7FB069"/>
          </a:solidFill>
          <a:ln/>
        </p:spPr>
      </p:sp>
      <p:sp>
        <p:nvSpPr>
          <p:cNvPr id="9" name="Text 7"/>
          <p:cNvSpPr txBox="1"/>
          <p:nvPr/>
        </p:nvSpPr>
        <p:spPr>
          <a:xfrm>
            <a:off x="932688" y="1700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499616" y="1755648"/>
            <a:ext cx="4251960"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Schedule-driven behaviour</a:t>
            </a:r>
            <a:endParaRPr lang="en-US" sz="1500" dirty="0"/>
          </a:p>
        </p:txBody>
      </p:sp>
      <p:sp>
        <p:nvSpPr>
          <p:cNvPr id="11" name="Text 9"/>
          <p:cNvSpPr txBox="1"/>
          <p:nvPr/>
        </p:nvSpPr>
        <p:spPr>
          <a:xfrm>
            <a:off x="950976" y="2286000"/>
            <a:ext cx="4727448" cy="173736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Each day begins with an explicit schedule, not a reactive step</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Prompt = identity, personality, goals + memories retrieved for context</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The LLM returns structured activities and their implied destinations</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Routines become temporally coherent, and readable to us</a:t>
            </a:r>
            <a:endParaRPr lang="en-US" sz="1150" dirty="0"/>
          </a:p>
        </p:txBody>
      </p:sp>
      <p:sp>
        <p:nvSpPr>
          <p:cNvPr id="12" name="Shape 10"/>
          <p:cNvSpPr/>
          <p:nvPr/>
        </p:nvSpPr>
        <p:spPr>
          <a:xfrm>
            <a:off x="950976" y="4114800"/>
            <a:ext cx="1113282" cy="457200"/>
          </a:xfrm>
          <a:prstGeom prst="roundRect">
            <a:avLst>
              <a:gd name="adj" fmla="val 12000"/>
            </a:avLst>
          </a:prstGeom>
          <a:solidFill>
            <a:srgbClr val="FBF1DC"/>
          </a:solidFill>
          <a:ln w="12700">
            <a:solidFill>
              <a:srgbClr val="EFDFBE"/>
            </a:solidFill>
            <a:prstDash val="solid"/>
          </a:ln>
        </p:spPr>
      </p:sp>
      <p:sp>
        <p:nvSpPr>
          <p:cNvPr id="13" name="Text 11"/>
          <p:cNvSpPr txBox="1"/>
          <p:nvPr/>
        </p:nvSpPr>
        <p:spPr>
          <a:xfrm>
            <a:off x="950976" y="4114800"/>
            <a:ext cx="1113282" cy="457200"/>
          </a:xfrm>
          <a:prstGeom prst="rect">
            <a:avLst/>
          </a:prstGeom>
          <a:noFill/>
          <a:ln/>
        </p:spPr>
        <p:txBody>
          <a:bodyPr wrap="square" lIns="0" tIns="0" rIns="0" bIns="0" rtlCol="0" anchor="ctr"/>
          <a:lstStyle/>
          <a:p>
            <a:pPr algn="ctr" indent="0" marL="0">
              <a:buNone/>
            </a:pPr>
            <a:r>
              <a:rPr lang="en-US" sz="950" dirty="0">
                <a:solidFill>
                  <a:srgbClr val="1B2E23"/>
                </a:solidFill>
                <a:latin typeface="Calibri" pitchFamily="34" charset="0"/>
                <a:ea typeface="Calibri" pitchFamily="34" charset="-122"/>
                <a:cs typeface="Calibri" pitchFamily="34" charset="-120"/>
              </a:rPr>
              <a:t>Morning · home</a:t>
            </a:r>
            <a:endParaRPr lang="en-US" sz="950" dirty="0"/>
          </a:p>
        </p:txBody>
      </p:sp>
      <p:sp>
        <p:nvSpPr>
          <p:cNvPr id="14" name="Shape 12"/>
          <p:cNvSpPr/>
          <p:nvPr/>
        </p:nvSpPr>
        <p:spPr>
          <a:xfrm>
            <a:off x="2155698" y="4114800"/>
            <a:ext cx="1113282" cy="457200"/>
          </a:xfrm>
          <a:prstGeom prst="roundRect">
            <a:avLst>
              <a:gd name="adj" fmla="val 12000"/>
            </a:avLst>
          </a:prstGeom>
          <a:solidFill>
            <a:srgbClr val="FBF1DC"/>
          </a:solidFill>
          <a:ln w="12700">
            <a:solidFill>
              <a:srgbClr val="EFDFBE"/>
            </a:solidFill>
            <a:prstDash val="solid"/>
          </a:ln>
        </p:spPr>
      </p:sp>
      <p:sp>
        <p:nvSpPr>
          <p:cNvPr id="15" name="Text 13"/>
          <p:cNvSpPr txBox="1"/>
          <p:nvPr/>
        </p:nvSpPr>
        <p:spPr>
          <a:xfrm>
            <a:off x="2155698" y="4114800"/>
            <a:ext cx="1113282" cy="457200"/>
          </a:xfrm>
          <a:prstGeom prst="rect">
            <a:avLst/>
          </a:prstGeom>
          <a:noFill/>
          <a:ln/>
        </p:spPr>
        <p:txBody>
          <a:bodyPr wrap="square" lIns="0" tIns="0" rIns="0" bIns="0" rtlCol="0" anchor="ctr"/>
          <a:lstStyle/>
          <a:p>
            <a:pPr algn="ctr" indent="0" marL="0">
              <a:buNone/>
            </a:pPr>
            <a:r>
              <a:rPr lang="en-US" sz="950" dirty="0">
                <a:solidFill>
                  <a:srgbClr val="1B2E23"/>
                </a:solidFill>
                <a:latin typeface="Calibri" pitchFamily="34" charset="0"/>
                <a:ea typeface="Calibri" pitchFamily="34" charset="-122"/>
                <a:cs typeface="Calibri" pitchFamily="34" charset="-120"/>
              </a:rPr>
              <a:t>Midday · café</a:t>
            </a:r>
            <a:endParaRPr lang="en-US" sz="950" dirty="0"/>
          </a:p>
        </p:txBody>
      </p:sp>
      <p:sp>
        <p:nvSpPr>
          <p:cNvPr id="16" name="Shape 14"/>
          <p:cNvSpPr/>
          <p:nvPr/>
        </p:nvSpPr>
        <p:spPr>
          <a:xfrm>
            <a:off x="3360420" y="4114800"/>
            <a:ext cx="1113282" cy="457200"/>
          </a:xfrm>
          <a:prstGeom prst="roundRect">
            <a:avLst>
              <a:gd name="adj" fmla="val 12000"/>
            </a:avLst>
          </a:prstGeom>
          <a:solidFill>
            <a:srgbClr val="FBF1DC"/>
          </a:solidFill>
          <a:ln w="12700">
            <a:solidFill>
              <a:srgbClr val="EFDFBE"/>
            </a:solidFill>
            <a:prstDash val="solid"/>
          </a:ln>
        </p:spPr>
      </p:sp>
      <p:sp>
        <p:nvSpPr>
          <p:cNvPr id="17" name="Text 15"/>
          <p:cNvSpPr txBox="1"/>
          <p:nvPr/>
        </p:nvSpPr>
        <p:spPr>
          <a:xfrm>
            <a:off x="3360420" y="4114800"/>
            <a:ext cx="1113282" cy="457200"/>
          </a:xfrm>
          <a:prstGeom prst="rect">
            <a:avLst/>
          </a:prstGeom>
          <a:noFill/>
          <a:ln/>
        </p:spPr>
        <p:txBody>
          <a:bodyPr wrap="square" lIns="0" tIns="0" rIns="0" bIns="0" rtlCol="0" anchor="ctr"/>
          <a:lstStyle/>
          <a:p>
            <a:pPr algn="ctr" indent="0" marL="0">
              <a:buNone/>
            </a:pPr>
            <a:r>
              <a:rPr lang="en-US" sz="950" dirty="0">
                <a:solidFill>
                  <a:srgbClr val="1B2E23"/>
                </a:solidFill>
                <a:latin typeface="Calibri" pitchFamily="34" charset="0"/>
                <a:ea typeface="Calibri" pitchFamily="34" charset="-122"/>
                <a:cs typeface="Calibri" pitchFamily="34" charset="-120"/>
              </a:rPr>
              <a:t>Afternoon · park</a:t>
            </a:r>
            <a:endParaRPr lang="en-US" sz="950" dirty="0"/>
          </a:p>
        </p:txBody>
      </p:sp>
      <p:sp>
        <p:nvSpPr>
          <p:cNvPr id="18" name="Shape 16"/>
          <p:cNvSpPr/>
          <p:nvPr/>
        </p:nvSpPr>
        <p:spPr>
          <a:xfrm>
            <a:off x="4565142" y="4114800"/>
            <a:ext cx="1113282" cy="457200"/>
          </a:xfrm>
          <a:prstGeom prst="roundRect">
            <a:avLst>
              <a:gd name="adj" fmla="val 12000"/>
            </a:avLst>
          </a:prstGeom>
          <a:solidFill>
            <a:srgbClr val="FBF1DC"/>
          </a:solidFill>
          <a:ln w="12700">
            <a:solidFill>
              <a:srgbClr val="EFDFBE"/>
            </a:solidFill>
            <a:prstDash val="solid"/>
          </a:ln>
        </p:spPr>
      </p:sp>
      <p:sp>
        <p:nvSpPr>
          <p:cNvPr id="19" name="Text 17"/>
          <p:cNvSpPr txBox="1"/>
          <p:nvPr/>
        </p:nvSpPr>
        <p:spPr>
          <a:xfrm>
            <a:off x="4565142" y="4114800"/>
            <a:ext cx="1113282" cy="457200"/>
          </a:xfrm>
          <a:prstGeom prst="rect">
            <a:avLst/>
          </a:prstGeom>
          <a:noFill/>
          <a:ln/>
        </p:spPr>
        <p:txBody>
          <a:bodyPr wrap="square" lIns="0" tIns="0" rIns="0" bIns="0" rtlCol="0" anchor="ctr"/>
          <a:lstStyle/>
          <a:p>
            <a:pPr algn="ctr" indent="0" marL="0">
              <a:buNone/>
            </a:pPr>
            <a:r>
              <a:rPr lang="en-US" sz="950" dirty="0">
                <a:solidFill>
                  <a:srgbClr val="1B2E23"/>
                </a:solidFill>
                <a:latin typeface="Calibri" pitchFamily="34" charset="0"/>
                <a:ea typeface="Calibri" pitchFamily="34" charset="-122"/>
                <a:cs typeface="Calibri" pitchFamily="34" charset="-120"/>
              </a:rPr>
              <a:t>Evening · home</a:t>
            </a:r>
            <a:endParaRPr lang="en-US" sz="950" dirty="0"/>
          </a:p>
        </p:txBody>
      </p:sp>
      <p:sp>
        <p:nvSpPr>
          <p:cNvPr id="20" name="Shape 18"/>
          <p:cNvSpPr/>
          <p:nvPr/>
        </p:nvSpPr>
        <p:spPr>
          <a:xfrm>
            <a:off x="6199632" y="1444752"/>
            <a:ext cx="5349240" cy="3291840"/>
          </a:xfrm>
          <a:prstGeom prst="roundRect">
            <a:avLst>
              <a:gd name="adj" fmla="val 166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21" name="Shape 19"/>
          <p:cNvSpPr/>
          <p:nvPr/>
        </p:nvSpPr>
        <p:spPr>
          <a:xfrm>
            <a:off x="6492240" y="1700784"/>
            <a:ext cx="402336" cy="402336"/>
          </a:xfrm>
          <a:prstGeom prst="ellipse">
            <a:avLst/>
          </a:prstGeom>
          <a:solidFill>
            <a:srgbClr val="FFFFFF"/>
          </a:solidFill>
          <a:ln w="12700">
            <a:solidFill>
              <a:srgbClr val="2C5F2D"/>
            </a:solidFill>
            <a:prstDash val="solid"/>
          </a:ln>
        </p:spPr>
      </p:sp>
      <p:sp>
        <p:nvSpPr>
          <p:cNvPr id="22" name="Shape 20"/>
          <p:cNvSpPr/>
          <p:nvPr/>
        </p:nvSpPr>
        <p:spPr>
          <a:xfrm>
            <a:off x="6492240" y="1700784"/>
            <a:ext cx="402336" cy="402336"/>
          </a:xfrm>
          <a:prstGeom prst="ellipse">
            <a:avLst/>
          </a:prstGeom>
          <a:solidFill>
            <a:srgbClr val="2C5F2D"/>
          </a:solidFill>
          <a:ln/>
        </p:spPr>
      </p:sp>
      <p:sp>
        <p:nvSpPr>
          <p:cNvPr id="23" name="Text 21"/>
          <p:cNvSpPr txBox="1"/>
          <p:nvPr/>
        </p:nvSpPr>
        <p:spPr>
          <a:xfrm>
            <a:off x="6492240" y="1700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2"/>
          <p:cNvSpPr txBox="1"/>
          <p:nvPr/>
        </p:nvSpPr>
        <p:spPr>
          <a:xfrm>
            <a:off x="7059168" y="1755648"/>
            <a:ext cx="4251960"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Spatio-temporal interaction</a:t>
            </a:r>
            <a:endParaRPr lang="en-US" sz="1500" dirty="0"/>
          </a:p>
        </p:txBody>
      </p:sp>
      <p:sp>
        <p:nvSpPr>
          <p:cNvPr id="25" name="Text 23"/>
          <p:cNvSpPr txBox="1"/>
          <p:nvPr/>
        </p:nvSpPr>
        <p:spPr>
          <a:xfrm>
            <a:off x="6510528" y="2286000"/>
            <a:ext cx="4727448" cy="173736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A conversation fires when two agents share a location in the same period</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The trigger is deterministic — controllable, repeatable, easy to analyse</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What is said is generated by the LLM from context and recent history</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Interaction is grounded in the shared environment, not sampled at random</a:t>
            </a:r>
            <a:endParaRPr lang="en-US" sz="1150" dirty="0"/>
          </a:p>
        </p:txBody>
      </p:sp>
      <p:sp>
        <p:nvSpPr>
          <p:cNvPr id="26" name="Shape 24"/>
          <p:cNvSpPr/>
          <p:nvPr/>
        </p:nvSpPr>
        <p:spPr>
          <a:xfrm>
            <a:off x="6510528" y="4114800"/>
            <a:ext cx="4727448" cy="457200"/>
          </a:xfrm>
          <a:prstGeom prst="roundRect">
            <a:avLst>
              <a:gd name="adj" fmla="val 12000"/>
            </a:avLst>
          </a:prstGeom>
          <a:solidFill>
            <a:srgbClr val="EAF2E4"/>
          </a:solidFill>
          <a:ln w="12700">
            <a:solidFill>
              <a:srgbClr val="EAF2E4"/>
            </a:solidFill>
            <a:prstDash val="solid"/>
          </a:ln>
        </p:spPr>
      </p:sp>
      <p:sp>
        <p:nvSpPr>
          <p:cNvPr id="27" name="Text 25"/>
          <p:cNvSpPr txBox="1"/>
          <p:nvPr/>
        </p:nvSpPr>
        <p:spPr>
          <a:xfrm>
            <a:off x="6510528" y="4114800"/>
            <a:ext cx="4727448" cy="457200"/>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same place  +  same period   →   they talk</a:t>
            </a:r>
            <a:endParaRPr lang="en-US" sz="1150" dirty="0"/>
          </a:p>
        </p:txBody>
      </p:sp>
      <p:sp>
        <p:nvSpPr>
          <p:cNvPr id="28" name="Shape 26"/>
          <p:cNvSpPr/>
          <p:nvPr/>
        </p:nvSpPr>
        <p:spPr>
          <a:xfrm>
            <a:off x="640080" y="5047488"/>
            <a:ext cx="10911535" cy="960120"/>
          </a:xfrm>
          <a:prstGeom prst="roundRect">
            <a:avLst>
              <a:gd name="adj" fmla="val 5714"/>
            </a:avLst>
          </a:prstGeom>
          <a:solidFill>
            <a:srgbClr val="FBF1DC"/>
          </a:solidFill>
          <a:ln w="12700">
            <a:solidFill>
              <a:srgbClr val="EFDFBE"/>
            </a:solidFill>
            <a:prstDash val="solid"/>
          </a:ln>
        </p:spPr>
      </p:sp>
      <p:sp>
        <p:nvSpPr>
          <p:cNvPr id="29" name="Text 27"/>
          <p:cNvSpPr txBox="1"/>
          <p:nvPr/>
        </p:nvSpPr>
        <p:spPr>
          <a:xfrm>
            <a:off x="896112" y="5047488"/>
            <a:ext cx="10399471" cy="960120"/>
          </a:xfrm>
          <a:prstGeom prst="rect">
            <a:avLst/>
          </a:prstGeom>
          <a:noFill/>
          <a:ln/>
        </p:spPr>
        <p:txBody>
          <a:bodyPr wrap="square" lIns="0" tIns="0" rIns="0" bIns="0" rtlCol="0" anchor="ctr"/>
          <a:lstStyle/>
          <a:p>
            <a:pPr indent="0" marL="0">
              <a:lnSpc>
                <a:spcPts val="1600"/>
              </a:lnSpc>
              <a:buNone/>
            </a:pPr>
            <a:r>
              <a:rPr lang="en-US" sz="1250" dirty="0">
                <a:solidFill>
                  <a:srgbClr val="1B2E23"/>
                </a:solidFill>
                <a:latin typeface="Calibri" pitchFamily="34" charset="0"/>
                <a:ea typeface="Calibri" pitchFamily="34" charset="-122"/>
                <a:cs typeface="Calibri" pitchFamily="34" charset="-120"/>
              </a:rPr>
              <a:t>Deterministic when, generative what — the framework keeps control of the dynamics while the language model supplies the diversity.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MECHANISM 3</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Memory is where the days connect</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640080" y="1444752"/>
            <a:ext cx="5806440" cy="2999232"/>
          </a:xfrm>
          <a:prstGeom prst="roundRect">
            <a:avLst>
              <a:gd name="adj" fmla="val 1829"/>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7" name="Shape 5"/>
          <p:cNvSpPr/>
          <p:nvPr/>
        </p:nvSpPr>
        <p:spPr>
          <a:xfrm>
            <a:off x="932688" y="1700784"/>
            <a:ext cx="402336" cy="402336"/>
          </a:xfrm>
          <a:prstGeom prst="ellipse">
            <a:avLst/>
          </a:prstGeom>
          <a:solidFill>
            <a:srgbClr val="FFFFFF"/>
          </a:solidFill>
          <a:ln w="12700">
            <a:solidFill>
              <a:srgbClr val="C98A24"/>
            </a:solidFill>
            <a:prstDash val="solid"/>
          </a:ln>
        </p:spPr>
      </p:sp>
      <p:sp>
        <p:nvSpPr>
          <p:cNvPr id="8" name="Shape 6"/>
          <p:cNvSpPr/>
          <p:nvPr/>
        </p:nvSpPr>
        <p:spPr>
          <a:xfrm>
            <a:off x="932688" y="1700784"/>
            <a:ext cx="402336" cy="402336"/>
          </a:xfrm>
          <a:prstGeom prst="ellipse">
            <a:avLst/>
          </a:prstGeom>
          <a:solidFill>
            <a:srgbClr val="C98A24"/>
          </a:solidFill>
          <a:ln/>
        </p:spPr>
      </p:sp>
      <p:sp>
        <p:nvSpPr>
          <p:cNvPr id="9" name="Text 7"/>
          <p:cNvSpPr txBox="1"/>
          <p:nvPr/>
        </p:nvSpPr>
        <p:spPr>
          <a:xfrm>
            <a:off x="932688" y="1700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0" name="Text 8"/>
          <p:cNvSpPr txBox="1"/>
          <p:nvPr/>
        </p:nvSpPr>
        <p:spPr>
          <a:xfrm>
            <a:off x="1499616" y="1755648"/>
            <a:ext cx="4709160"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Memory-based feedback loop</a:t>
            </a:r>
            <a:endParaRPr lang="en-US" sz="1500" dirty="0"/>
          </a:p>
        </p:txBody>
      </p:sp>
      <p:sp>
        <p:nvSpPr>
          <p:cNvPr id="11" name="Text 9"/>
          <p:cNvSpPr txBox="1"/>
          <p:nvPr/>
        </p:nvSpPr>
        <p:spPr>
          <a:xfrm>
            <a:off x="950976" y="2286000"/>
            <a:ext cx="5184648" cy="201168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Plans are stored as behavioural records, conversations as social experience, reflections as high-level summaries</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Every entry carries a category, a timestamp and an importance score</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Retrieval favours recent and high-importance entries; the store stays bounded by prioritisation</a:t>
            </a:r>
            <a:endParaRPr lang="en-US" sz="1150" dirty="0"/>
          </a:p>
          <a:p>
            <a:pPr marL="342900" indent="-342900">
              <a:lnSpc>
                <a:spcPts val="1500"/>
              </a:lnSpc>
              <a:spcAft>
                <a:spcPts val="600"/>
              </a:spcAft>
              <a:buSzPct val="100000"/>
              <a:buChar char="•"/>
            </a:pPr>
            <a:r>
              <a:rPr lang="en-US" sz="1150" dirty="0">
                <a:solidFill>
                  <a:srgbClr val="1F2A22"/>
                </a:solidFill>
                <a:latin typeface="Calibri" pitchFamily="34" charset="0"/>
                <a:ea typeface="Calibri" pitchFamily="34" charset="-122"/>
                <a:cs typeface="Calibri" pitchFamily="34" charset="-120"/>
              </a:rPr>
              <a:t>Reflection compresses raw experience into insight, written back for the next planning cycle</a:t>
            </a:r>
            <a:endParaRPr lang="en-US" sz="1150" dirty="0"/>
          </a:p>
        </p:txBody>
      </p:sp>
      <p:sp>
        <p:nvSpPr>
          <p:cNvPr id="12" name="Shape 10"/>
          <p:cNvSpPr/>
          <p:nvPr/>
        </p:nvSpPr>
        <p:spPr>
          <a:xfrm>
            <a:off x="640080" y="4590288"/>
            <a:ext cx="5806440" cy="1417320"/>
          </a:xfrm>
          <a:prstGeom prst="roundRect">
            <a:avLst>
              <a:gd name="adj" fmla="val 3871"/>
            </a:avLst>
          </a:prstGeom>
          <a:solidFill>
            <a:srgbClr val="FBF1DC"/>
          </a:solidFill>
          <a:ln w="12700">
            <a:solidFill>
              <a:srgbClr val="EFDFBE"/>
            </a:solidFill>
            <a:prstDash val="solid"/>
          </a:ln>
        </p:spPr>
      </p:sp>
      <p:sp>
        <p:nvSpPr>
          <p:cNvPr id="13" name="Text 11"/>
          <p:cNvSpPr txBox="1"/>
          <p:nvPr/>
        </p:nvSpPr>
        <p:spPr>
          <a:xfrm>
            <a:off x="950976" y="4718304"/>
            <a:ext cx="5184648" cy="201168"/>
          </a:xfrm>
          <a:prstGeom prst="rect">
            <a:avLst/>
          </a:prstGeom>
          <a:noFill/>
          <a:ln/>
        </p:spPr>
        <p:txBody>
          <a:bodyPr wrap="square" lIns="0" tIns="0" rIns="0" bIns="0" rtlCol="0" anchor="ctr"/>
          <a:lstStyle/>
          <a:p>
            <a:pPr indent="0" marL="0">
              <a:buNone/>
            </a:pPr>
            <a:r>
              <a:rPr lang="en-US" sz="900" b="1" spc="120" kern="0" dirty="0">
                <a:solidFill>
                  <a:srgbClr val="C98A24"/>
                </a:solidFill>
                <a:latin typeface="Calibri" pitchFamily="34" charset="0"/>
                <a:ea typeface="Calibri" pitchFamily="34" charset="-122"/>
                <a:cs typeface="Calibri" pitchFamily="34" charset="-120"/>
              </a:rPr>
              <a:t>OPTIONAL: HUMAN IN THE LOOP</a:t>
            </a:r>
            <a:endParaRPr lang="en-US" sz="900" dirty="0"/>
          </a:p>
        </p:txBody>
      </p:sp>
      <p:sp>
        <p:nvSpPr>
          <p:cNvPr id="14" name="Text 12"/>
          <p:cNvSpPr txBox="1"/>
          <p:nvPr/>
        </p:nvSpPr>
        <p:spPr>
          <a:xfrm>
            <a:off x="950976" y="4956048"/>
            <a:ext cx="5184648" cy="914400"/>
          </a:xfrm>
          <a:prstGeom prst="rect">
            <a:avLst/>
          </a:prstGeom>
          <a:noFill/>
          <a:ln/>
        </p:spPr>
        <p:txBody>
          <a:bodyPr wrap="square" lIns="0" tIns="0" rIns="0" bIns="0" rtlCol="0" anchor="t"/>
          <a:lstStyle/>
          <a:p>
            <a:pPr indent="0" marL="0">
              <a:lnSpc>
                <a:spcPts val="1500"/>
              </a:lnSpc>
              <a:buNone/>
            </a:pPr>
            <a:r>
              <a:rPr lang="en-US" sz="1150" dirty="0">
                <a:solidFill>
                  <a:srgbClr val="1B2E23"/>
                </a:solidFill>
                <a:latin typeface="Calibri" pitchFamily="34" charset="0"/>
                <a:ea typeface="Calibri" pitchFamily="34" charset="-122"/>
                <a:cs typeface="Calibri" pitchFamily="34" charset="-120"/>
              </a:rPr>
              <a:t>A person can write feedback straight into an agent's memory — the same channel the agent's own experience uses. Extra controllability, never required for baseline operation.</a:t>
            </a:r>
            <a:endParaRPr lang="en-US" sz="1150" dirty="0"/>
          </a:p>
        </p:txBody>
      </p:sp>
      <p:sp>
        <p:nvSpPr>
          <p:cNvPr id="15" name="Shape 13"/>
          <p:cNvSpPr/>
          <p:nvPr/>
        </p:nvSpPr>
        <p:spPr>
          <a:xfrm>
            <a:off x="6858000" y="1444752"/>
            <a:ext cx="4693615" cy="2999232"/>
          </a:xfrm>
          <a:prstGeom prst="roundRect">
            <a:avLst>
              <a:gd name="adj" fmla="val 1829"/>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pic>
        <p:nvPicPr>
          <p:cNvPr id="16" name="Image 0" descr="/tmp/claude-0/-home-user-valentown/d6e1bc7b-94ca-5433-b61a-57600741710e/scratchpad/assets/fig3_memory.png">    </p:cNvPr>
          <p:cNvPicPr>
            <a:picLocks noChangeAspect="1"/>
          </p:cNvPicPr>
          <p:nvPr/>
        </p:nvPicPr>
        <p:blipFill>
          <a:blip r:embed="rId1"/>
          <a:stretch>
            <a:fillRect/>
          </a:stretch>
        </p:blipFill>
        <p:spPr>
          <a:xfrm>
            <a:off x="6958584" y="1743127"/>
            <a:ext cx="4492447" cy="2402483"/>
          </a:xfrm>
          <a:prstGeom prst="rect">
            <a:avLst/>
          </a:prstGeom>
        </p:spPr>
      </p:pic>
      <p:sp>
        <p:nvSpPr>
          <p:cNvPr id="17" name="Text 14"/>
          <p:cNvSpPr txBox="1"/>
          <p:nvPr/>
        </p:nvSpPr>
        <p:spPr>
          <a:xfrm>
            <a:off x="6858000" y="4480560"/>
            <a:ext cx="4693615" cy="256032"/>
          </a:xfrm>
          <a:prstGeom prst="rect">
            <a:avLst/>
          </a:prstGeom>
          <a:noFill/>
          <a:ln/>
        </p:spPr>
        <p:txBody>
          <a:bodyPr wrap="square" lIns="0" tIns="0" rIns="0" bIns="0" rtlCol="0" anchor="ctr"/>
          <a:lstStyle/>
          <a:p>
            <a:pPr algn="ctr" indent="0" marL="0">
              <a:buNone/>
            </a:pPr>
            <a:r>
              <a:rPr lang="en-US" sz="1000" i="1" dirty="0">
                <a:solidFill>
                  <a:srgbClr val="5F6B60"/>
                </a:solidFill>
                <a:latin typeface="Calibri" pitchFamily="34" charset="0"/>
                <a:ea typeface="Calibri" pitchFamily="34" charset="-122"/>
                <a:cs typeface="Calibri" pitchFamily="34" charset="-120"/>
              </a:rPr>
              <a:t>Fig. 3  Memory-centred feedback loop</a:t>
            </a:r>
            <a:endParaRPr lang="en-US" sz="1000" dirty="0"/>
          </a:p>
        </p:txBody>
      </p:sp>
      <p:sp>
        <p:nvSpPr>
          <p:cNvPr id="18" name="Shape 15"/>
          <p:cNvSpPr/>
          <p:nvPr/>
        </p:nvSpPr>
        <p:spPr>
          <a:xfrm>
            <a:off x="6858000" y="4901184"/>
            <a:ext cx="4693615" cy="1106424"/>
          </a:xfrm>
          <a:prstGeom prst="roundRect">
            <a:avLst>
              <a:gd name="adj" fmla="val 4959"/>
            </a:avLst>
          </a:prstGeom>
          <a:solidFill>
            <a:srgbClr val="EAF2E4"/>
          </a:solidFill>
          <a:ln w="12700">
            <a:solidFill>
              <a:srgbClr val="E2E7DD"/>
            </a:solidFill>
            <a:prstDash val="solid"/>
          </a:ln>
        </p:spPr>
      </p:sp>
      <p:sp>
        <p:nvSpPr>
          <p:cNvPr id="19" name="Text 16"/>
          <p:cNvSpPr txBox="1"/>
          <p:nvPr/>
        </p:nvSpPr>
        <p:spPr>
          <a:xfrm>
            <a:off x="7114032" y="4901184"/>
            <a:ext cx="4181551" cy="1106424"/>
          </a:xfrm>
          <a:prstGeom prst="rect">
            <a:avLst/>
          </a:prstGeom>
          <a:noFill/>
          <a:ln/>
        </p:spPr>
        <p:txBody>
          <a:bodyPr wrap="square" lIns="0" tIns="0" rIns="0" bIns="0" rtlCol="0" anchor="ctr"/>
          <a:lstStyle/>
          <a:p>
            <a:pPr indent="0" marL="0">
              <a:lnSpc>
                <a:spcPts val="1600"/>
              </a:lnSpc>
              <a:buNone/>
            </a:pPr>
            <a:r>
              <a:rPr lang="en-US" sz="1200" dirty="0">
                <a:solidFill>
                  <a:srgbClr val="1B2E23"/>
                </a:solidFill>
                <a:latin typeface="Calibri" pitchFamily="34" charset="0"/>
                <a:ea typeface="Calibri" pitchFamily="34" charset="-122"/>
                <a:cs typeface="Calibri" pitchFamily="34" charset="-120"/>
              </a:rPr>
              <a:t>The language model itself stays stateless. Every bit of continuity lives in the memory system — which is exactly what makes agent state inspectable and replaceable.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EXECUTION</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One simulation day, end to end</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1619860" y="1207008"/>
            <a:ext cx="8951976" cy="4370792"/>
          </a:xfrm>
          <a:prstGeom prst="roundRect">
            <a:avLst>
              <a:gd name="adj" fmla="val 1255"/>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pic>
        <p:nvPicPr>
          <p:cNvPr id="7" name="Image 0" descr="/tmp/claude-0/-home-user-valentown/d6e1bc7b-94ca-5433-b61a-57600741710e/scratchpad/assets/fig2_pipeline.png">    </p:cNvPr>
          <p:cNvPicPr>
            <a:picLocks noChangeAspect="1"/>
          </p:cNvPicPr>
          <p:nvPr/>
        </p:nvPicPr>
        <p:blipFill>
          <a:blip r:embed="rId1"/>
          <a:stretch>
            <a:fillRect/>
          </a:stretch>
        </p:blipFill>
        <p:spPr>
          <a:xfrm>
            <a:off x="1757020" y="1298448"/>
            <a:ext cx="8677656" cy="4187912"/>
          </a:xfrm>
          <a:prstGeom prst="rect">
            <a:avLst/>
          </a:prstGeom>
        </p:spPr>
      </p:pic>
      <p:sp>
        <p:nvSpPr>
          <p:cNvPr id="8" name="Shape 5"/>
          <p:cNvSpPr/>
          <p:nvPr/>
        </p:nvSpPr>
        <p:spPr>
          <a:xfrm>
            <a:off x="640080" y="5760720"/>
            <a:ext cx="10911535" cy="512064"/>
          </a:xfrm>
          <a:prstGeom prst="roundRect">
            <a:avLst>
              <a:gd name="adj" fmla="val 10714"/>
            </a:avLst>
          </a:prstGeom>
          <a:solidFill>
            <a:srgbClr val="FBF1DC"/>
          </a:solidFill>
          <a:ln w="12700">
            <a:solidFill>
              <a:srgbClr val="EFDFBE"/>
            </a:solidFill>
            <a:prstDash val="solid"/>
          </a:ln>
        </p:spPr>
      </p:sp>
      <p:sp>
        <p:nvSpPr>
          <p:cNvPr id="9" name="Text 6"/>
          <p:cNvSpPr txBox="1"/>
          <p:nvPr/>
        </p:nvSpPr>
        <p:spPr>
          <a:xfrm>
            <a:off x="896112" y="5760720"/>
            <a:ext cx="10399471" cy="512064"/>
          </a:xfrm>
          <a:prstGeom prst="rect">
            <a:avLst/>
          </a:prstGeom>
          <a:noFill/>
          <a:ln/>
        </p:spPr>
        <p:txBody>
          <a:bodyPr wrap="square" lIns="0" tIns="0" rIns="0" bIns="0" rtlCol="0" anchor="ctr"/>
          <a:lstStyle/>
          <a:p>
            <a:pPr indent="0" marL="0">
              <a:lnSpc>
                <a:spcPts val="1600"/>
              </a:lnSpc>
              <a:buNone/>
            </a:pPr>
            <a:r>
              <a:rPr lang="en-US" sz="1200" dirty="0">
                <a:solidFill>
                  <a:srgbClr val="1B2E23"/>
                </a:solidFill>
                <a:latin typeface="Calibri" pitchFamily="34" charset="0"/>
                <a:ea typeface="Calibri" pitchFamily="34" charset="-122"/>
                <a:cs typeface="Calibri" pitchFamily="34" charset="-120"/>
              </a:rPr>
              <a:t>Fig. 2 · Day 1: agents plan straight from their profile. Every later day: retrieve and reflect on memory first, then plan — the loop is closed.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IMPLEMENTATION</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Valentown: the framework, running</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640080" y="1444752"/>
            <a:ext cx="7086600" cy="3986213"/>
          </a:xfrm>
          <a:prstGeom prst="roundRect">
            <a:avLst>
              <a:gd name="adj" fmla="val 1376"/>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pic>
        <p:nvPicPr>
          <p:cNvPr id="7" name="Image 0" descr="/tmp/claude-0/-home-user-valentown/d6e1bc7b-94ca-5433-b61a-57600741710e/scratchpad/assets/screenshot.jpg">    </p:cNvPr>
          <p:cNvPicPr>
            <a:picLocks noChangeAspect="1"/>
          </p:cNvPicPr>
          <p:nvPr/>
        </p:nvPicPr>
        <p:blipFill>
          <a:blip r:embed="rId1"/>
          <a:stretch>
            <a:fillRect/>
          </a:stretch>
        </p:blipFill>
        <p:spPr>
          <a:xfrm>
            <a:off x="713232" y="1517904"/>
            <a:ext cx="6940296" cy="3903917"/>
          </a:xfrm>
          <a:prstGeom prst="rect">
            <a:avLst/>
          </a:prstGeom>
        </p:spPr>
      </p:pic>
      <p:sp>
        <p:nvSpPr>
          <p:cNvPr id="8" name="Text 5"/>
          <p:cNvSpPr txBox="1"/>
          <p:nvPr/>
        </p:nvSpPr>
        <p:spPr>
          <a:xfrm>
            <a:off x="640080" y="5541264"/>
            <a:ext cx="7086600" cy="457200"/>
          </a:xfrm>
          <a:prstGeom prst="rect">
            <a:avLst/>
          </a:prstGeom>
          <a:noFill/>
          <a:ln/>
        </p:spPr>
        <p:txBody>
          <a:bodyPr wrap="square" lIns="0" tIns="0" rIns="0" bIns="0" rtlCol="0" anchor="t"/>
          <a:lstStyle/>
          <a:p>
            <a:pPr indent="0" marL="0">
              <a:lnSpc>
                <a:spcPts val="1400"/>
              </a:lnSpc>
              <a:buNone/>
            </a:pPr>
            <a:r>
              <a:rPr lang="en-US" sz="1050" i="1" dirty="0">
                <a:solidFill>
                  <a:srgbClr val="5F6B60"/>
                </a:solidFill>
                <a:latin typeface="Calibri" pitchFamily="34" charset="0"/>
                <a:ea typeface="Calibri" pitchFamily="34" charset="-122"/>
                <a:cs typeface="Calibri" pitchFamily="34" charset="-120"/>
              </a:rPr>
              <a:t>The running client: the whole town on one plane, each resident's current action and internal state, and the day's conversation log.</a:t>
            </a:r>
            <a:endParaRPr lang="en-US" sz="1050" dirty="0"/>
          </a:p>
        </p:txBody>
      </p:sp>
      <p:sp>
        <p:nvSpPr>
          <p:cNvPr id="9" name="Shape 6"/>
          <p:cNvSpPr/>
          <p:nvPr/>
        </p:nvSpPr>
        <p:spPr>
          <a:xfrm>
            <a:off x="8092440" y="1444752"/>
            <a:ext cx="3459175" cy="1042416"/>
          </a:xfrm>
          <a:prstGeom prst="roundRect">
            <a:avLst>
              <a:gd name="adj" fmla="val 526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0" name="Text 7"/>
          <p:cNvSpPr txBox="1"/>
          <p:nvPr/>
        </p:nvSpPr>
        <p:spPr>
          <a:xfrm>
            <a:off x="8330184" y="1554480"/>
            <a:ext cx="2983687"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Valentown</a:t>
            </a:r>
            <a:endParaRPr lang="en-US" sz="1350" dirty="0"/>
          </a:p>
        </p:txBody>
      </p:sp>
      <p:sp>
        <p:nvSpPr>
          <p:cNvPr id="11" name="Text 8"/>
          <p:cNvSpPr txBox="1"/>
          <p:nvPr/>
        </p:nvSpPr>
        <p:spPr>
          <a:xfrm>
            <a:off x="8330184" y="1847088"/>
            <a:ext cx="2983687" cy="566928"/>
          </a:xfrm>
          <a:prstGeom prst="rect">
            <a:avLst/>
          </a:prstGeom>
          <a:noFill/>
          <a:ln/>
        </p:spPr>
        <p:txBody>
          <a:bodyPr wrap="square" lIns="0" tIns="0" rIns="0" bIns="0" rtlCol="0" anchor="t"/>
          <a:lstStyle/>
          <a:p>
            <a:pPr indent="0" marL="0">
              <a:lnSpc>
                <a:spcPts val="1350"/>
              </a:lnSpc>
              <a:buNone/>
            </a:pPr>
            <a:r>
              <a:rPr lang="en-US" sz="1050" dirty="0">
                <a:solidFill>
                  <a:srgbClr val="1F2A22"/>
                </a:solidFill>
                <a:latin typeface="Calibri" pitchFamily="34" charset="0"/>
                <a:ea typeface="Calibri" pitchFamily="34" charset="-122"/>
                <a:cs typeface="Calibri" pitchFamily="34" charset="-120"/>
              </a:rPr>
              <a:t>The case-study town: homes, supermarket, pharmacy, café and park as spatial anchors</a:t>
            </a:r>
            <a:endParaRPr lang="en-US" sz="1050" dirty="0"/>
          </a:p>
        </p:txBody>
      </p:sp>
      <p:sp>
        <p:nvSpPr>
          <p:cNvPr id="12" name="Shape 9"/>
          <p:cNvSpPr/>
          <p:nvPr/>
        </p:nvSpPr>
        <p:spPr>
          <a:xfrm>
            <a:off x="8092440" y="2615184"/>
            <a:ext cx="3459175" cy="1042416"/>
          </a:xfrm>
          <a:prstGeom prst="roundRect">
            <a:avLst>
              <a:gd name="adj" fmla="val 526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3" name="Text 10"/>
          <p:cNvSpPr txBox="1"/>
          <p:nvPr/>
        </p:nvSpPr>
        <p:spPr>
          <a:xfrm>
            <a:off x="8330184" y="2724912"/>
            <a:ext cx="2983687" cy="274320"/>
          </a:xfrm>
          <a:prstGeom prst="rect">
            <a:avLst/>
          </a:prstGeom>
          <a:noFill/>
          <a:ln/>
        </p:spPr>
        <p:txBody>
          <a:bodyPr wrap="square" lIns="0" tIns="0" rIns="0" bIns="0" rtlCol="0" anchor="ctr"/>
          <a:lstStyle/>
          <a:p>
            <a:pPr indent="0" marL="0">
              <a:buNone/>
            </a:pPr>
            <a:r>
              <a:rPr lang="en-US" sz="1350" b="1" dirty="0">
                <a:solidFill>
                  <a:srgbClr val="2C5F2D"/>
                </a:solidFill>
                <a:latin typeface="Cambria" pitchFamily="34" charset="0"/>
                <a:ea typeface="Cambria" pitchFamily="34" charset="-122"/>
                <a:cs typeface="Cambria" pitchFamily="34" charset="-120"/>
              </a:rPr>
              <a:t>7 residents</a:t>
            </a:r>
            <a:endParaRPr lang="en-US" sz="1350" dirty="0"/>
          </a:p>
        </p:txBody>
      </p:sp>
      <p:sp>
        <p:nvSpPr>
          <p:cNvPr id="14" name="Text 11"/>
          <p:cNvSpPr txBox="1"/>
          <p:nvPr/>
        </p:nvSpPr>
        <p:spPr>
          <a:xfrm>
            <a:off x="8330184" y="3017520"/>
            <a:ext cx="2983687" cy="566928"/>
          </a:xfrm>
          <a:prstGeom prst="rect">
            <a:avLst/>
          </a:prstGeom>
          <a:noFill/>
          <a:ln/>
        </p:spPr>
        <p:txBody>
          <a:bodyPr wrap="square" lIns="0" tIns="0" rIns="0" bIns="0" rtlCol="0" anchor="t"/>
          <a:lstStyle/>
          <a:p>
            <a:pPr indent="0" marL="0">
              <a:lnSpc>
                <a:spcPts val="1350"/>
              </a:lnSpc>
              <a:buNone/>
            </a:pPr>
            <a:r>
              <a:rPr lang="en-US" sz="1050" dirty="0">
                <a:solidFill>
                  <a:srgbClr val="1F2A22"/>
                </a:solidFill>
                <a:latin typeface="Calibri" pitchFamily="34" charset="0"/>
                <a:ea typeface="Calibri" pitchFamily="34" charset="-122"/>
                <a:cs typeface="Calibri" pitchFamily="34" charset="-120"/>
              </a:rPr>
              <a:t>Heterogeneous age, role, personality, goals and description — the framework is not tied to them</a:t>
            </a:r>
            <a:endParaRPr lang="en-US" sz="1050" dirty="0"/>
          </a:p>
        </p:txBody>
      </p:sp>
      <p:sp>
        <p:nvSpPr>
          <p:cNvPr id="15" name="Shape 12"/>
          <p:cNvSpPr/>
          <p:nvPr/>
        </p:nvSpPr>
        <p:spPr>
          <a:xfrm>
            <a:off x="8092440" y="3785616"/>
            <a:ext cx="3459175" cy="1042416"/>
          </a:xfrm>
          <a:prstGeom prst="roundRect">
            <a:avLst>
              <a:gd name="adj" fmla="val 526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6" name="Text 13"/>
          <p:cNvSpPr txBox="1"/>
          <p:nvPr/>
        </p:nvSpPr>
        <p:spPr>
          <a:xfrm>
            <a:off x="8330184" y="3895344"/>
            <a:ext cx="2983687"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DeepSeek API</a:t>
            </a:r>
            <a:endParaRPr lang="en-US" sz="1350" dirty="0"/>
          </a:p>
        </p:txBody>
      </p:sp>
      <p:sp>
        <p:nvSpPr>
          <p:cNvPr id="17" name="Text 14"/>
          <p:cNvSpPr txBox="1"/>
          <p:nvPr/>
        </p:nvSpPr>
        <p:spPr>
          <a:xfrm>
            <a:off x="8330184" y="4187952"/>
            <a:ext cx="2983687" cy="566928"/>
          </a:xfrm>
          <a:prstGeom prst="rect">
            <a:avLst/>
          </a:prstGeom>
          <a:noFill/>
          <a:ln/>
        </p:spPr>
        <p:txBody>
          <a:bodyPr wrap="square" lIns="0" tIns="0" rIns="0" bIns="0" rtlCol="0" anchor="t"/>
          <a:lstStyle/>
          <a:p>
            <a:pPr indent="0" marL="0">
              <a:lnSpc>
                <a:spcPts val="1350"/>
              </a:lnSpc>
              <a:buNone/>
            </a:pPr>
            <a:r>
              <a:rPr lang="en-US" sz="1050" dirty="0">
                <a:solidFill>
                  <a:srgbClr val="1F2A22"/>
                </a:solidFill>
                <a:latin typeface="Calibri" pitchFamily="34" charset="0"/>
                <a:ea typeface="Calibri" pitchFamily="34" charset="-122"/>
                <a:cs typeface="Calibri" pitchFamily="34" charset="-120"/>
              </a:rPr>
              <a:t>One interface for schedules, dialogue and reflection: prompt construction, calls, response validation</a:t>
            </a:r>
            <a:endParaRPr lang="en-US" sz="1050" dirty="0"/>
          </a:p>
        </p:txBody>
      </p:sp>
      <p:sp>
        <p:nvSpPr>
          <p:cNvPr id="18" name="Shape 15"/>
          <p:cNvSpPr/>
          <p:nvPr/>
        </p:nvSpPr>
        <p:spPr>
          <a:xfrm>
            <a:off x="8092440" y="4956048"/>
            <a:ext cx="3459175" cy="1042416"/>
          </a:xfrm>
          <a:prstGeom prst="roundRect">
            <a:avLst>
              <a:gd name="adj" fmla="val 526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9" name="Text 16"/>
          <p:cNvSpPr txBox="1"/>
          <p:nvPr/>
        </p:nvSpPr>
        <p:spPr>
          <a:xfrm>
            <a:off x="8330184" y="5065776"/>
            <a:ext cx="2983687" cy="274320"/>
          </a:xfrm>
          <a:prstGeom prst="rect">
            <a:avLst/>
          </a:prstGeom>
          <a:noFill/>
          <a:ln/>
        </p:spPr>
        <p:txBody>
          <a:bodyPr wrap="square" lIns="0" tIns="0" rIns="0" bIns="0" rtlCol="0" anchor="ctr"/>
          <a:lstStyle/>
          <a:p>
            <a:pPr indent="0" marL="0">
              <a:buNone/>
            </a:pPr>
            <a:r>
              <a:rPr lang="en-US" sz="1350" b="1" dirty="0">
                <a:solidFill>
                  <a:srgbClr val="2C5F2D"/>
                </a:solidFill>
                <a:latin typeface="Cambria" pitchFamily="34" charset="0"/>
                <a:ea typeface="Cambria" pitchFamily="34" charset="-122"/>
                <a:cs typeface="Cambria" pitchFamily="34" charset="-120"/>
              </a:rPr>
              <a:t>Python + Phaser</a:t>
            </a:r>
            <a:endParaRPr lang="en-US" sz="1350" dirty="0"/>
          </a:p>
        </p:txBody>
      </p:sp>
      <p:sp>
        <p:nvSpPr>
          <p:cNvPr id="20" name="Text 17"/>
          <p:cNvSpPr txBox="1"/>
          <p:nvPr/>
        </p:nvSpPr>
        <p:spPr>
          <a:xfrm>
            <a:off x="8330184" y="5358384"/>
            <a:ext cx="2983687" cy="566928"/>
          </a:xfrm>
          <a:prstGeom prst="rect">
            <a:avLst/>
          </a:prstGeom>
          <a:noFill/>
          <a:ln/>
        </p:spPr>
        <p:txBody>
          <a:bodyPr wrap="square" lIns="0" tIns="0" rIns="0" bIns="0" rtlCol="0" anchor="t"/>
          <a:lstStyle/>
          <a:p>
            <a:pPr indent="0" marL="0">
              <a:lnSpc>
                <a:spcPts val="1350"/>
              </a:lnSpc>
              <a:buNone/>
            </a:pPr>
            <a:r>
              <a:rPr lang="en-US" sz="1050" dirty="0">
                <a:solidFill>
                  <a:srgbClr val="1F2A22"/>
                </a:solidFill>
                <a:latin typeface="Calibri" pitchFamily="34" charset="0"/>
                <a:ea typeface="Calibri" pitchFamily="34" charset="-122"/>
                <a:cs typeface="Calibri" pitchFamily="34" charset="-120"/>
              </a:rPr>
              <a:t>Backend pre-computes behaviour asynchronously; the client replays it smoothly over REST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EXPERIMENTS</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What we ran, and what we looked for</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640080" y="1417320"/>
            <a:ext cx="10911535" cy="1975104"/>
          </a:xfrm>
          <a:prstGeom prst="roundRect">
            <a:avLst>
              <a:gd name="adj" fmla="val 2778"/>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pic>
        <p:nvPicPr>
          <p:cNvPr id="7" name="Image 0" descr="/tmp/claude-0/-home-user-valentown/d6e1bc7b-94ca-5433-b61a-57600741710e/scratchpad/assets/ron.png">    </p:cNvPr>
          <p:cNvPicPr>
            <a:picLocks noChangeAspect="1"/>
          </p:cNvPicPr>
          <p:nvPr/>
        </p:nvPicPr>
        <p:blipFill>
          <a:blip r:embed="rId1"/>
          <a:stretch>
            <a:fillRect/>
          </a:stretch>
        </p:blipFill>
        <p:spPr>
          <a:xfrm>
            <a:off x="1470872" y="1856232"/>
            <a:ext cx="367470" cy="868680"/>
          </a:xfrm>
          <a:prstGeom prst="rect">
            <a:avLst/>
          </a:prstGeom>
        </p:spPr>
      </p:pic>
      <p:sp>
        <p:nvSpPr>
          <p:cNvPr id="8" name="Text 5"/>
          <p:cNvSpPr txBox="1"/>
          <p:nvPr/>
        </p:nvSpPr>
        <p:spPr>
          <a:xfrm>
            <a:off x="914400" y="2779776"/>
            <a:ext cx="1480414" cy="201168"/>
          </a:xfrm>
          <a:prstGeom prst="rect">
            <a:avLst/>
          </a:prstGeom>
          <a:noFill/>
          <a:ln/>
        </p:spPr>
        <p:txBody>
          <a:bodyPr wrap="square" lIns="0" tIns="0" rIns="0" bIns="0" rtlCol="0" anchor="ctr"/>
          <a:lstStyle/>
          <a:p>
            <a:pPr algn="ctr" indent="0" marL="0">
              <a:buNone/>
            </a:pPr>
            <a:r>
              <a:rPr lang="en-US" sz="1050" b="1" dirty="0">
                <a:solidFill>
                  <a:srgbClr val="1B2E23"/>
                </a:solidFill>
                <a:latin typeface="Calibri" pitchFamily="34" charset="0"/>
                <a:ea typeface="Calibri" pitchFamily="34" charset="-122"/>
                <a:cs typeface="Calibri" pitchFamily="34" charset="-120"/>
              </a:rPr>
              <a:t>Ron Parker</a:t>
            </a:r>
            <a:endParaRPr lang="en-US" sz="1050" dirty="0"/>
          </a:p>
        </p:txBody>
      </p:sp>
      <p:sp>
        <p:nvSpPr>
          <p:cNvPr id="9" name="Text 6"/>
          <p:cNvSpPr txBox="1"/>
          <p:nvPr/>
        </p:nvSpPr>
        <p:spPr>
          <a:xfrm>
            <a:off x="914400" y="2980944"/>
            <a:ext cx="1480414" cy="182880"/>
          </a:xfrm>
          <a:prstGeom prst="rect">
            <a:avLst/>
          </a:prstGeom>
          <a:noFill/>
          <a:ln/>
        </p:spPr>
        <p:txBody>
          <a:bodyPr wrap="square" lIns="0" tIns="0" rIns="0" bIns="0" rtlCol="0" anchor="ctr"/>
          <a:lstStyle/>
          <a:p>
            <a:pPr algn="ctr" indent="0" marL="0">
              <a:buNone/>
            </a:pPr>
            <a:r>
              <a:rPr lang="en-US" sz="900" dirty="0">
                <a:solidFill>
                  <a:srgbClr val="5F6B60"/>
                </a:solidFill>
                <a:latin typeface="Calibri" pitchFamily="34" charset="0"/>
                <a:ea typeface="Calibri" pitchFamily="34" charset="-122"/>
                <a:cs typeface="Calibri" pitchFamily="34" charset="-120"/>
              </a:rPr>
              <a:t>60 · supermarket owner</a:t>
            </a:r>
            <a:endParaRPr lang="en-US" sz="900" dirty="0"/>
          </a:p>
        </p:txBody>
      </p:sp>
      <p:pic>
        <p:nvPicPr>
          <p:cNvPr id="10" name="Image 1" descr="/tmp/claude-0/-home-user-valentown/d6e1bc7b-94ca-5433-b61a-57600741710e/scratchpad/assets/ella.png">    </p:cNvPr>
          <p:cNvPicPr>
            <a:picLocks noChangeAspect="1"/>
          </p:cNvPicPr>
          <p:nvPr/>
        </p:nvPicPr>
        <p:blipFill>
          <a:blip r:embed="rId2"/>
          <a:stretch>
            <a:fillRect/>
          </a:stretch>
        </p:blipFill>
        <p:spPr>
          <a:xfrm>
            <a:off x="2909681" y="1856232"/>
            <a:ext cx="450679" cy="868680"/>
          </a:xfrm>
          <a:prstGeom prst="rect">
            <a:avLst/>
          </a:prstGeom>
        </p:spPr>
      </p:pic>
      <p:sp>
        <p:nvSpPr>
          <p:cNvPr id="11" name="Text 7"/>
          <p:cNvSpPr txBox="1"/>
          <p:nvPr/>
        </p:nvSpPr>
        <p:spPr>
          <a:xfrm>
            <a:off x="2394814" y="2779776"/>
            <a:ext cx="1480414" cy="201168"/>
          </a:xfrm>
          <a:prstGeom prst="rect">
            <a:avLst/>
          </a:prstGeom>
          <a:noFill/>
          <a:ln/>
        </p:spPr>
        <p:txBody>
          <a:bodyPr wrap="square" lIns="0" tIns="0" rIns="0" bIns="0" rtlCol="0" anchor="ctr"/>
          <a:lstStyle/>
          <a:p>
            <a:pPr algn="ctr" indent="0" marL="0">
              <a:buNone/>
            </a:pPr>
            <a:r>
              <a:rPr lang="en-US" sz="1050" b="1" dirty="0">
                <a:solidFill>
                  <a:srgbClr val="1B2E23"/>
                </a:solidFill>
                <a:latin typeface="Calibri" pitchFamily="34" charset="0"/>
                <a:ea typeface="Calibri" pitchFamily="34" charset="-122"/>
                <a:cs typeface="Calibri" pitchFamily="34" charset="-120"/>
              </a:rPr>
              <a:t>Ella Parker</a:t>
            </a:r>
            <a:endParaRPr lang="en-US" sz="1050" dirty="0"/>
          </a:p>
        </p:txBody>
      </p:sp>
      <p:sp>
        <p:nvSpPr>
          <p:cNvPr id="12" name="Text 8"/>
          <p:cNvSpPr txBox="1"/>
          <p:nvPr/>
        </p:nvSpPr>
        <p:spPr>
          <a:xfrm>
            <a:off x="2394814" y="2980944"/>
            <a:ext cx="1480414" cy="182880"/>
          </a:xfrm>
          <a:prstGeom prst="rect">
            <a:avLst/>
          </a:prstGeom>
          <a:noFill/>
          <a:ln/>
        </p:spPr>
        <p:txBody>
          <a:bodyPr wrap="square" lIns="0" tIns="0" rIns="0" bIns="0" rtlCol="0" anchor="ctr"/>
          <a:lstStyle/>
          <a:p>
            <a:pPr algn="ctr" indent="0" marL="0">
              <a:buNone/>
            </a:pPr>
            <a:r>
              <a:rPr lang="en-US" sz="900" dirty="0">
                <a:solidFill>
                  <a:srgbClr val="5F6B60"/>
                </a:solidFill>
                <a:latin typeface="Calibri" pitchFamily="34" charset="0"/>
                <a:ea typeface="Calibri" pitchFamily="34" charset="-122"/>
                <a:cs typeface="Calibri" pitchFamily="34" charset="-120"/>
              </a:rPr>
              <a:t>58 · pharmacy owner</a:t>
            </a:r>
            <a:endParaRPr lang="en-US" sz="900" dirty="0"/>
          </a:p>
        </p:txBody>
      </p:sp>
      <p:pic>
        <p:nvPicPr>
          <p:cNvPr id="13" name="Image 2" descr="/tmp/claude-0/-home-user-valentown/d6e1bc7b-94ca-5433-b61a-57600741710e/scratchpad/assets/emma.png">    </p:cNvPr>
          <p:cNvPicPr>
            <a:picLocks noChangeAspect="1"/>
          </p:cNvPicPr>
          <p:nvPr/>
        </p:nvPicPr>
        <p:blipFill>
          <a:blip r:embed="rId3"/>
          <a:stretch>
            <a:fillRect/>
          </a:stretch>
        </p:blipFill>
        <p:spPr>
          <a:xfrm>
            <a:off x="4390710" y="1856232"/>
            <a:ext cx="449447" cy="868680"/>
          </a:xfrm>
          <a:prstGeom prst="rect">
            <a:avLst/>
          </a:prstGeom>
        </p:spPr>
      </p:pic>
      <p:sp>
        <p:nvSpPr>
          <p:cNvPr id="14" name="Text 9"/>
          <p:cNvSpPr txBox="1"/>
          <p:nvPr/>
        </p:nvSpPr>
        <p:spPr>
          <a:xfrm>
            <a:off x="3875227" y="2779776"/>
            <a:ext cx="1480414" cy="201168"/>
          </a:xfrm>
          <a:prstGeom prst="rect">
            <a:avLst/>
          </a:prstGeom>
          <a:noFill/>
          <a:ln/>
        </p:spPr>
        <p:txBody>
          <a:bodyPr wrap="square" lIns="0" tIns="0" rIns="0" bIns="0" rtlCol="0" anchor="ctr"/>
          <a:lstStyle/>
          <a:p>
            <a:pPr algn="ctr" indent="0" marL="0">
              <a:buNone/>
            </a:pPr>
            <a:r>
              <a:rPr lang="en-US" sz="1050" b="1" dirty="0">
                <a:solidFill>
                  <a:srgbClr val="1B2E23"/>
                </a:solidFill>
                <a:latin typeface="Calibri" pitchFamily="34" charset="0"/>
                <a:ea typeface="Calibri" pitchFamily="34" charset="-122"/>
                <a:cs typeface="Calibri" pitchFamily="34" charset="-120"/>
              </a:rPr>
              <a:t>Emma Harris</a:t>
            </a:r>
            <a:endParaRPr lang="en-US" sz="1050" dirty="0"/>
          </a:p>
        </p:txBody>
      </p:sp>
      <p:sp>
        <p:nvSpPr>
          <p:cNvPr id="15" name="Text 10"/>
          <p:cNvSpPr txBox="1"/>
          <p:nvPr/>
        </p:nvSpPr>
        <p:spPr>
          <a:xfrm>
            <a:off x="3875227" y="2980944"/>
            <a:ext cx="1480414" cy="182880"/>
          </a:xfrm>
          <a:prstGeom prst="rect">
            <a:avLst/>
          </a:prstGeom>
          <a:noFill/>
          <a:ln/>
        </p:spPr>
        <p:txBody>
          <a:bodyPr wrap="square" lIns="0" tIns="0" rIns="0" bIns="0" rtlCol="0" anchor="ctr"/>
          <a:lstStyle/>
          <a:p>
            <a:pPr algn="ctr" indent="0" marL="0">
              <a:buNone/>
            </a:pPr>
            <a:r>
              <a:rPr lang="en-US" sz="900" dirty="0">
                <a:solidFill>
                  <a:srgbClr val="5F6B60"/>
                </a:solidFill>
                <a:latin typeface="Calibri" pitchFamily="34" charset="0"/>
                <a:ea typeface="Calibri" pitchFamily="34" charset="-122"/>
                <a:cs typeface="Calibri" pitchFamily="34" charset="-120"/>
              </a:rPr>
              <a:t>30 · mother</a:t>
            </a:r>
            <a:endParaRPr lang="en-US" sz="900" dirty="0"/>
          </a:p>
        </p:txBody>
      </p:sp>
      <p:pic>
        <p:nvPicPr>
          <p:cNvPr id="16" name="Image 3" descr="/tmp/claude-0/-home-user-valentown/d6e1bc7b-94ca-5433-b61a-57600741710e/scratchpad/assets/gavin.png">    </p:cNvPr>
          <p:cNvPicPr>
            <a:picLocks noChangeAspect="1"/>
          </p:cNvPicPr>
          <p:nvPr/>
        </p:nvPicPr>
        <p:blipFill>
          <a:blip r:embed="rId4"/>
          <a:stretch>
            <a:fillRect/>
          </a:stretch>
        </p:blipFill>
        <p:spPr>
          <a:xfrm>
            <a:off x="5898590" y="1856232"/>
            <a:ext cx="394515" cy="868680"/>
          </a:xfrm>
          <a:prstGeom prst="rect">
            <a:avLst/>
          </a:prstGeom>
        </p:spPr>
      </p:pic>
      <p:sp>
        <p:nvSpPr>
          <p:cNvPr id="17" name="Text 11"/>
          <p:cNvSpPr txBox="1"/>
          <p:nvPr/>
        </p:nvSpPr>
        <p:spPr>
          <a:xfrm>
            <a:off x="5355641" y="2779776"/>
            <a:ext cx="1480414" cy="201168"/>
          </a:xfrm>
          <a:prstGeom prst="rect">
            <a:avLst/>
          </a:prstGeom>
          <a:noFill/>
          <a:ln/>
        </p:spPr>
        <p:txBody>
          <a:bodyPr wrap="square" lIns="0" tIns="0" rIns="0" bIns="0" rtlCol="0" anchor="ctr"/>
          <a:lstStyle/>
          <a:p>
            <a:pPr algn="ctr" indent="0" marL="0">
              <a:buNone/>
            </a:pPr>
            <a:r>
              <a:rPr lang="en-US" sz="1050" b="1" dirty="0">
                <a:solidFill>
                  <a:srgbClr val="1B2E23"/>
                </a:solidFill>
                <a:latin typeface="Calibri" pitchFamily="34" charset="0"/>
                <a:ea typeface="Calibri" pitchFamily="34" charset="-122"/>
                <a:cs typeface="Calibri" pitchFamily="34" charset="-120"/>
              </a:rPr>
              <a:t>Gavin Harris</a:t>
            </a:r>
            <a:endParaRPr lang="en-US" sz="1050" dirty="0"/>
          </a:p>
        </p:txBody>
      </p:sp>
      <p:sp>
        <p:nvSpPr>
          <p:cNvPr id="18" name="Text 12"/>
          <p:cNvSpPr txBox="1"/>
          <p:nvPr/>
        </p:nvSpPr>
        <p:spPr>
          <a:xfrm>
            <a:off x="5355641" y="2980944"/>
            <a:ext cx="1480414" cy="182880"/>
          </a:xfrm>
          <a:prstGeom prst="rect">
            <a:avLst/>
          </a:prstGeom>
          <a:noFill/>
          <a:ln/>
        </p:spPr>
        <p:txBody>
          <a:bodyPr wrap="square" lIns="0" tIns="0" rIns="0" bIns="0" rtlCol="0" anchor="ctr"/>
          <a:lstStyle/>
          <a:p>
            <a:pPr algn="ctr" indent="0" marL="0">
              <a:buNone/>
            </a:pPr>
            <a:r>
              <a:rPr lang="en-US" sz="900" dirty="0">
                <a:solidFill>
                  <a:srgbClr val="5F6B60"/>
                </a:solidFill>
                <a:latin typeface="Calibri" pitchFamily="34" charset="0"/>
                <a:ea typeface="Calibri" pitchFamily="34" charset="-122"/>
                <a:cs typeface="Calibri" pitchFamily="34" charset="-120"/>
              </a:rPr>
              <a:t>32 · father</a:t>
            </a:r>
            <a:endParaRPr lang="en-US" sz="900" dirty="0"/>
          </a:p>
        </p:txBody>
      </p:sp>
      <p:pic>
        <p:nvPicPr>
          <p:cNvPr id="19" name="Image 4" descr="/tmp/claude-0/-home-user-valentown/d6e1bc7b-94ca-5433-b61a-57600741710e/scratchpad/assets/adam.png">    </p:cNvPr>
          <p:cNvPicPr>
            <a:picLocks noChangeAspect="1"/>
          </p:cNvPicPr>
          <p:nvPr/>
        </p:nvPicPr>
        <p:blipFill>
          <a:blip r:embed="rId5"/>
          <a:stretch>
            <a:fillRect/>
          </a:stretch>
        </p:blipFill>
        <p:spPr>
          <a:xfrm>
            <a:off x="7369367" y="1856232"/>
            <a:ext cx="413788" cy="868680"/>
          </a:xfrm>
          <a:prstGeom prst="rect">
            <a:avLst/>
          </a:prstGeom>
        </p:spPr>
      </p:pic>
      <p:sp>
        <p:nvSpPr>
          <p:cNvPr id="20" name="Text 13"/>
          <p:cNvSpPr txBox="1"/>
          <p:nvPr/>
        </p:nvSpPr>
        <p:spPr>
          <a:xfrm>
            <a:off x="6836054" y="2779776"/>
            <a:ext cx="1480414" cy="201168"/>
          </a:xfrm>
          <a:prstGeom prst="rect">
            <a:avLst/>
          </a:prstGeom>
          <a:noFill/>
          <a:ln/>
        </p:spPr>
        <p:txBody>
          <a:bodyPr wrap="square" lIns="0" tIns="0" rIns="0" bIns="0" rtlCol="0" anchor="ctr"/>
          <a:lstStyle/>
          <a:p>
            <a:pPr algn="ctr" indent="0" marL="0">
              <a:buNone/>
            </a:pPr>
            <a:r>
              <a:rPr lang="en-US" sz="1050" b="1" dirty="0">
                <a:solidFill>
                  <a:srgbClr val="1B2E23"/>
                </a:solidFill>
                <a:latin typeface="Calibri" pitchFamily="34" charset="0"/>
                <a:ea typeface="Calibri" pitchFamily="34" charset="-122"/>
                <a:cs typeface="Calibri" pitchFamily="34" charset="-120"/>
              </a:rPr>
              <a:t>Adam Harris</a:t>
            </a:r>
            <a:endParaRPr lang="en-US" sz="1050" dirty="0"/>
          </a:p>
        </p:txBody>
      </p:sp>
      <p:sp>
        <p:nvSpPr>
          <p:cNvPr id="21" name="Text 14"/>
          <p:cNvSpPr txBox="1"/>
          <p:nvPr/>
        </p:nvSpPr>
        <p:spPr>
          <a:xfrm>
            <a:off x="6836054" y="2980944"/>
            <a:ext cx="1480414" cy="182880"/>
          </a:xfrm>
          <a:prstGeom prst="rect">
            <a:avLst/>
          </a:prstGeom>
          <a:noFill/>
          <a:ln/>
        </p:spPr>
        <p:txBody>
          <a:bodyPr wrap="square" lIns="0" tIns="0" rIns="0" bIns="0" rtlCol="0" anchor="ctr"/>
          <a:lstStyle/>
          <a:p>
            <a:pPr algn="ctr" indent="0" marL="0">
              <a:buNone/>
            </a:pPr>
            <a:r>
              <a:rPr lang="en-US" sz="900" dirty="0">
                <a:solidFill>
                  <a:srgbClr val="5F6B60"/>
                </a:solidFill>
                <a:latin typeface="Calibri" pitchFamily="34" charset="0"/>
                <a:ea typeface="Calibri" pitchFamily="34" charset="-122"/>
                <a:cs typeface="Calibri" pitchFamily="34" charset="-120"/>
              </a:rPr>
              <a:t>7 · child</a:t>
            </a:r>
            <a:endParaRPr lang="en-US" sz="900" dirty="0"/>
          </a:p>
        </p:txBody>
      </p:sp>
      <p:pic>
        <p:nvPicPr>
          <p:cNvPr id="22" name="Image 5" descr="/tmp/claude-0/-home-user-valentown/d6e1bc7b-94ca-5433-b61a-57600741710e/scratchpad/assets/mia.png">    </p:cNvPr>
          <p:cNvPicPr>
            <a:picLocks noChangeAspect="1"/>
          </p:cNvPicPr>
          <p:nvPr/>
        </p:nvPicPr>
        <p:blipFill>
          <a:blip r:embed="rId6"/>
          <a:stretch>
            <a:fillRect/>
          </a:stretch>
        </p:blipFill>
        <p:spPr>
          <a:xfrm>
            <a:off x="8843855" y="1856232"/>
            <a:ext cx="425640" cy="868680"/>
          </a:xfrm>
          <a:prstGeom prst="rect">
            <a:avLst/>
          </a:prstGeom>
        </p:spPr>
      </p:pic>
      <p:sp>
        <p:nvSpPr>
          <p:cNvPr id="23" name="Text 15"/>
          <p:cNvSpPr txBox="1"/>
          <p:nvPr/>
        </p:nvSpPr>
        <p:spPr>
          <a:xfrm>
            <a:off x="8316468" y="2779776"/>
            <a:ext cx="1480414" cy="201168"/>
          </a:xfrm>
          <a:prstGeom prst="rect">
            <a:avLst/>
          </a:prstGeom>
          <a:noFill/>
          <a:ln/>
        </p:spPr>
        <p:txBody>
          <a:bodyPr wrap="square" lIns="0" tIns="0" rIns="0" bIns="0" rtlCol="0" anchor="ctr"/>
          <a:lstStyle/>
          <a:p>
            <a:pPr algn="ctr" indent="0" marL="0">
              <a:buNone/>
            </a:pPr>
            <a:r>
              <a:rPr lang="en-US" sz="1050" b="1" dirty="0">
                <a:solidFill>
                  <a:srgbClr val="1B2E23"/>
                </a:solidFill>
                <a:latin typeface="Calibri" pitchFamily="34" charset="0"/>
                <a:ea typeface="Calibri" pitchFamily="34" charset="-122"/>
                <a:cs typeface="Calibri" pitchFamily="34" charset="-120"/>
              </a:rPr>
              <a:t>Mia Thompson</a:t>
            </a:r>
            <a:endParaRPr lang="en-US" sz="1050" dirty="0"/>
          </a:p>
        </p:txBody>
      </p:sp>
      <p:sp>
        <p:nvSpPr>
          <p:cNvPr id="24" name="Text 16"/>
          <p:cNvSpPr txBox="1"/>
          <p:nvPr/>
        </p:nvSpPr>
        <p:spPr>
          <a:xfrm>
            <a:off x="8316468" y="2980944"/>
            <a:ext cx="1480414" cy="182880"/>
          </a:xfrm>
          <a:prstGeom prst="rect">
            <a:avLst/>
          </a:prstGeom>
          <a:noFill/>
          <a:ln/>
        </p:spPr>
        <p:txBody>
          <a:bodyPr wrap="square" lIns="0" tIns="0" rIns="0" bIns="0" rtlCol="0" anchor="ctr"/>
          <a:lstStyle/>
          <a:p>
            <a:pPr algn="ctr" indent="0" marL="0">
              <a:buNone/>
            </a:pPr>
            <a:r>
              <a:rPr lang="en-US" sz="900" dirty="0">
                <a:solidFill>
                  <a:srgbClr val="5F6B60"/>
                </a:solidFill>
                <a:latin typeface="Calibri" pitchFamily="34" charset="0"/>
                <a:ea typeface="Calibri" pitchFamily="34" charset="-122"/>
                <a:cs typeface="Calibri" pitchFamily="34" charset="-120"/>
              </a:rPr>
              <a:t>28 · family teacher</a:t>
            </a:r>
            <a:endParaRPr lang="en-US" sz="900" dirty="0"/>
          </a:p>
        </p:txBody>
      </p:sp>
      <p:pic>
        <p:nvPicPr>
          <p:cNvPr id="25" name="Image 6" descr="/tmp/claude-0/-home-user-valentown/d6e1bc7b-94ca-5433-b61a-57600741710e/scratchpad/assets/arthur.png">    </p:cNvPr>
          <p:cNvPicPr>
            <a:picLocks noChangeAspect="1"/>
          </p:cNvPicPr>
          <p:nvPr/>
        </p:nvPicPr>
        <p:blipFill>
          <a:blip r:embed="rId7"/>
          <a:stretch>
            <a:fillRect/>
          </a:stretch>
        </p:blipFill>
        <p:spPr>
          <a:xfrm>
            <a:off x="10308876" y="1856232"/>
            <a:ext cx="456425" cy="868680"/>
          </a:xfrm>
          <a:prstGeom prst="rect">
            <a:avLst/>
          </a:prstGeom>
        </p:spPr>
      </p:pic>
      <p:sp>
        <p:nvSpPr>
          <p:cNvPr id="26" name="Text 17"/>
          <p:cNvSpPr txBox="1"/>
          <p:nvPr/>
        </p:nvSpPr>
        <p:spPr>
          <a:xfrm>
            <a:off x="9796882" y="2779776"/>
            <a:ext cx="1480414" cy="201168"/>
          </a:xfrm>
          <a:prstGeom prst="rect">
            <a:avLst/>
          </a:prstGeom>
          <a:noFill/>
          <a:ln/>
        </p:spPr>
        <p:txBody>
          <a:bodyPr wrap="square" lIns="0" tIns="0" rIns="0" bIns="0" rtlCol="0" anchor="ctr"/>
          <a:lstStyle/>
          <a:p>
            <a:pPr algn="ctr" indent="0" marL="0">
              <a:buNone/>
            </a:pPr>
            <a:r>
              <a:rPr lang="en-US" sz="1050" b="1" dirty="0">
                <a:solidFill>
                  <a:srgbClr val="1B2E23"/>
                </a:solidFill>
                <a:latin typeface="Calibri" pitchFamily="34" charset="0"/>
                <a:ea typeface="Calibri" pitchFamily="34" charset="-122"/>
                <a:cs typeface="Calibri" pitchFamily="34" charset="-120"/>
              </a:rPr>
              <a:t>Arthur Morgan</a:t>
            </a:r>
            <a:endParaRPr lang="en-US" sz="1050" dirty="0"/>
          </a:p>
        </p:txBody>
      </p:sp>
      <p:sp>
        <p:nvSpPr>
          <p:cNvPr id="27" name="Text 18"/>
          <p:cNvSpPr txBox="1"/>
          <p:nvPr/>
        </p:nvSpPr>
        <p:spPr>
          <a:xfrm>
            <a:off x="9796882" y="2980944"/>
            <a:ext cx="1480414" cy="182880"/>
          </a:xfrm>
          <a:prstGeom prst="rect">
            <a:avLst/>
          </a:prstGeom>
          <a:noFill/>
          <a:ln/>
        </p:spPr>
        <p:txBody>
          <a:bodyPr wrap="square" lIns="0" tIns="0" rIns="0" bIns="0" rtlCol="0" anchor="ctr"/>
          <a:lstStyle/>
          <a:p>
            <a:pPr algn="ctr" indent="0" marL="0">
              <a:buNone/>
            </a:pPr>
            <a:r>
              <a:rPr lang="en-US" sz="900" dirty="0">
                <a:solidFill>
                  <a:srgbClr val="5F6B60"/>
                </a:solidFill>
                <a:latin typeface="Calibri" pitchFamily="34" charset="0"/>
                <a:ea typeface="Calibri" pitchFamily="34" charset="-122"/>
                <a:cs typeface="Calibri" pitchFamily="34" charset="-120"/>
              </a:rPr>
              <a:t>29 · architect</a:t>
            </a:r>
            <a:endParaRPr lang="en-US" sz="900" dirty="0"/>
          </a:p>
        </p:txBody>
      </p:sp>
      <p:sp>
        <p:nvSpPr>
          <p:cNvPr id="28" name="Shape 19"/>
          <p:cNvSpPr/>
          <p:nvPr/>
        </p:nvSpPr>
        <p:spPr>
          <a:xfrm>
            <a:off x="640080" y="3611880"/>
            <a:ext cx="3502152" cy="1691640"/>
          </a:xfrm>
          <a:prstGeom prst="roundRect">
            <a:avLst>
              <a:gd name="adj" fmla="val 324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29" name="Text 20"/>
          <p:cNvSpPr txBox="1"/>
          <p:nvPr/>
        </p:nvSpPr>
        <p:spPr>
          <a:xfrm>
            <a:off x="914400" y="3749040"/>
            <a:ext cx="2953512" cy="292608"/>
          </a:xfrm>
          <a:prstGeom prst="rect">
            <a:avLst/>
          </a:prstGeom>
          <a:noFill/>
          <a:ln/>
        </p:spPr>
        <p:txBody>
          <a:bodyPr wrap="square" lIns="0" tIns="0" rIns="0" bIns="0" rtlCol="0" anchor="ctr"/>
          <a:lstStyle/>
          <a:p>
            <a:pPr indent="0" marL="0">
              <a:buNone/>
            </a:pPr>
            <a:r>
              <a:rPr lang="en-US" sz="1400" b="1" dirty="0">
                <a:solidFill>
                  <a:srgbClr val="1B2E23"/>
                </a:solidFill>
                <a:latin typeface="Cambria" pitchFamily="34" charset="0"/>
                <a:ea typeface="Cambria" pitchFamily="34" charset="-122"/>
                <a:cs typeface="Cambria" pitchFamily="34" charset="-120"/>
              </a:rPr>
              <a:t>Environment</a:t>
            </a:r>
            <a:endParaRPr lang="en-US" sz="1400" dirty="0"/>
          </a:p>
        </p:txBody>
      </p:sp>
      <p:sp>
        <p:nvSpPr>
          <p:cNvPr id="30" name="Text 21"/>
          <p:cNvSpPr txBox="1"/>
          <p:nvPr/>
        </p:nvSpPr>
        <p:spPr>
          <a:xfrm>
            <a:off x="914400" y="4133088"/>
            <a:ext cx="2953512" cy="1051560"/>
          </a:xfrm>
          <a:prstGeom prst="rect">
            <a:avLst/>
          </a:prstGeom>
          <a:noFill/>
          <a:ln/>
        </p:spPr>
        <p:txBody>
          <a:bodyPr wrap="square" lIns="0" tIns="0" rIns="0" bIns="0" rtlCol="0" anchor="t"/>
          <a:lstStyle/>
          <a:p>
            <a:pPr indent="0" marL="0">
              <a:lnSpc>
                <a:spcPts val="1450"/>
              </a:lnSpc>
              <a:buNone/>
            </a:pPr>
            <a:r>
              <a:rPr lang="en-US" sz="1100" dirty="0">
                <a:solidFill>
                  <a:srgbClr val="1F2A22"/>
                </a:solidFill>
                <a:latin typeface="Calibri" pitchFamily="34" charset="0"/>
                <a:ea typeface="Calibri" pitchFamily="34" charset="-122"/>
                <a:cs typeface="Calibri" pitchFamily="34" charset="-120"/>
              </a:rPr>
              <a:t>A structured town of predefined locations. Agents start at fixed home positions and move to plan destinations; co-location is what enables interaction.</a:t>
            </a:r>
            <a:endParaRPr lang="en-US" sz="1100" dirty="0"/>
          </a:p>
        </p:txBody>
      </p:sp>
      <p:sp>
        <p:nvSpPr>
          <p:cNvPr id="31" name="Shape 22"/>
          <p:cNvSpPr/>
          <p:nvPr/>
        </p:nvSpPr>
        <p:spPr>
          <a:xfrm>
            <a:off x="4343400" y="3611880"/>
            <a:ext cx="3502152" cy="1691640"/>
          </a:xfrm>
          <a:prstGeom prst="roundRect">
            <a:avLst>
              <a:gd name="adj" fmla="val 324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32" name="Text 23"/>
          <p:cNvSpPr txBox="1"/>
          <p:nvPr/>
        </p:nvSpPr>
        <p:spPr>
          <a:xfrm>
            <a:off x="4617720" y="3749040"/>
            <a:ext cx="2953512" cy="292608"/>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Duration</a:t>
            </a:r>
            <a:endParaRPr lang="en-US" sz="1400" dirty="0"/>
          </a:p>
        </p:txBody>
      </p:sp>
      <p:sp>
        <p:nvSpPr>
          <p:cNvPr id="33" name="Text 24"/>
          <p:cNvSpPr txBox="1"/>
          <p:nvPr/>
        </p:nvSpPr>
        <p:spPr>
          <a:xfrm>
            <a:off x="4617720" y="4133088"/>
            <a:ext cx="2953512" cy="1051560"/>
          </a:xfrm>
          <a:prstGeom prst="rect">
            <a:avLst/>
          </a:prstGeom>
          <a:noFill/>
          <a:ln/>
        </p:spPr>
        <p:txBody>
          <a:bodyPr wrap="square" lIns="0" tIns="0" rIns="0" bIns="0" rtlCol="0" anchor="t"/>
          <a:lstStyle/>
          <a:p>
            <a:pPr indent="0" marL="0">
              <a:lnSpc>
                <a:spcPts val="1450"/>
              </a:lnSpc>
              <a:buNone/>
            </a:pPr>
            <a:r>
              <a:rPr lang="en-US" sz="1100" dirty="0">
                <a:solidFill>
                  <a:srgbClr val="1F2A22"/>
                </a:solidFill>
                <a:latin typeface="Calibri" pitchFamily="34" charset="0"/>
                <a:ea typeface="Calibri" pitchFamily="34" charset="-122"/>
                <a:cs typeface="Calibri" pitchFamily="34" charset="-120"/>
              </a:rPr>
              <a:t>Multiple consecutive virtual days. Each day is a full cycle: schedule, movement, interaction, memory logging, reflection.</a:t>
            </a:r>
            <a:endParaRPr lang="en-US" sz="1100" dirty="0"/>
          </a:p>
        </p:txBody>
      </p:sp>
      <p:sp>
        <p:nvSpPr>
          <p:cNvPr id="34" name="Shape 25"/>
          <p:cNvSpPr/>
          <p:nvPr/>
        </p:nvSpPr>
        <p:spPr>
          <a:xfrm>
            <a:off x="8046720" y="3611880"/>
            <a:ext cx="3502152" cy="1691640"/>
          </a:xfrm>
          <a:prstGeom prst="roundRect">
            <a:avLst>
              <a:gd name="adj" fmla="val 324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35" name="Text 26"/>
          <p:cNvSpPr txBox="1"/>
          <p:nvPr/>
        </p:nvSpPr>
        <p:spPr>
          <a:xfrm>
            <a:off x="8321040" y="3749040"/>
            <a:ext cx="2953512" cy="292608"/>
          </a:xfrm>
          <a:prstGeom prst="rect">
            <a:avLst/>
          </a:prstGeom>
          <a:noFill/>
          <a:ln/>
        </p:spPr>
        <p:txBody>
          <a:bodyPr wrap="square" lIns="0" tIns="0" rIns="0" bIns="0" rtlCol="0" anchor="ctr"/>
          <a:lstStyle/>
          <a:p>
            <a:pPr indent="0" marL="0">
              <a:buNone/>
            </a:pPr>
            <a:r>
              <a:rPr lang="en-US" sz="1400" b="1" dirty="0">
                <a:solidFill>
                  <a:srgbClr val="1B2E23"/>
                </a:solidFill>
                <a:latin typeface="Cambria" pitchFamily="34" charset="0"/>
                <a:ea typeface="Cambria" pitchFamily="34" charset="-122"/>
                <a:cs typeface="Cambria" pitchFamily="34" charset="-120"/>
              </a:rPr>
              <a:t>Execution</a:t>
            </a:r>
            <a:endParaRPr lang="en-US" sz="1400" dirty="0"/>
          </a:p>
        </p:txBody>
      </p:sp>
      <p:sp>
        <p:nvSpPr>
          <p:cNvPr id="36" name="Text 27"/>
          <p:cNvSpPr txBox="1"/>
          <p:nvPr/>
        </p:nvSpPr>
        <p:spPr>
          <a:xfrm>
            <a:off x="8321040" y="4133088"/>
            <a:ext cx="2953512" cy="1051560"/>
          </a:xfrm>
          <a:prstGeom prst="rect">
            <a:avLst/>
          </a:prstGeom>
          <a:noFill/>
          <a:ln/>
        </p:spPr>
        <p:txBody>
          <a:bodyPr wrap="square" lIns="0" tIns="0" rIns="0" bIns="0" rtlCol="0" anchor="t"/>
          <a:lstStyle/>
          <a:p>
            <a:pPr indent="0" marL="0">
              <a:lnSpc>
                <a:spcPts val="1450"/>
              </a:lnSpc>
              <a:buNone/>
            </a:pPr>
            <a:r>
              <a:rPr lang="en-US" sz="1100" dirty="0">
                <a:solidFill>
                  <a:srgbClr val="1F2A22"/>
                </a:solidFill>
                <a:latin typeface="Calibri" pitchFamily="34" charset="0"/>
                <a:ea typeface="Calibri" pitchFamily="34" charset="-122"/>
                <a:cs typeface="Calibri" pitchFamily="34" charset="-120"/>
              </a:rPr>
              <a:t>Scheduling and interaction triggers are deterministic; LLM content is stochastic. Reproducible pipeline, diverse behaviour.</a:t>
            </a:r>
            <a:endParaRPr lang="en-US" sz="1100" dirty="0"/>
          </a:p>
        </p:txBody>
      </p:sp>
      <p:sp>
        <p:nvSpPr>
          <p:cNvPr id="37" name="Shape 28"/>
          <p:cNvSpPr/>
          <p:nvPr/>
        </p:nvSpPr>
        <p:spPr>
          <a:xfrm>
            <a:off x="640080" y="5468112"/>
            <a:ext cx="10911535" cy="777240"/>
          </a:xfrm>
          <a:prstGeom prst="roundRect">
            <a:avLst>
              <a:gd name="adj" fmla="val 7059"/>
            </a:avLst>
          </a:prstGeom>
          <a:solidFill>
            <a:srgbClr val="EAF2E4"/>
          </a:solidFill>
          <a:ln w="12700">
            <a:solidFill>
              <a:srgbClr val="E2E7DD"/>
            </a:solidFill>
            <a:prstDash val="solid"/>
          </a:ln>
        </p:spPr>
      </p:sp>
      <p:sp>
        <p:nvSpPr>
          <p:cNvPr id="38" name="Text 29"/>
          <p:cNvSpPr txBox="1"/>
          <p:nvPr/>
        </p:nvSpPr>
        <p:spPr>
          <a:xfrm>
            <a:off x="896112" y="5468112"/>
            <a:ext cx="10399471" cy="777240"/>
          </a:xfrm>
          <a:prstGeom prst="rect">
            <a:avLst/>
          </a:prstGeom>
          <a:noFill/>
          <a:ln/>
        </p:spPr>
        <p:txBody>
          <a:bodyPr wrap="square" lIns="0" tIns="0" rIns="0" bIns="0" rtlCol="0" anchor="ctr"/>
          <a:lstStyle/>
          <a:p>
            <a:pPr indent="0" marL="0">
              <a:lnSpc>
                <a:spcPts val="1600"/>
              </a:lnSpc>
              <a:buNone/>
            </a:pPr>
            <a:r>
              <a:rPr lang="en-US" sz="1200" dirty="0">
                <a:solidFill>
                  <a:srgbClr val="1B2E23"/>
                </a:solidFill>
                <a:latin typeface="Calibri" pitchFamily="34" charset="0"/>
                <a:ea typeface="Calibri" pitchFamily="34" charset="-122"/>
                <a:cs typeface="Calibri" pitchFamily="34" charset="-120"/>
              </a:rPr>
              <a:t>Evaluation focus:   what interaction does to behavioural diversity   ·   what memory and reflection do over time   ·   whether social structure emerges from simple rules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RESULT 1</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Turn interaction off, and the town goes quiet</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640080" y="1444752"/>
            <a:ext cx="5349240" cy="3401568"/>
          </a:xfrm>
          <a:prstGeom prst="roundRect">
            <a:avLst>
              <a:gd name="adj" fmla="val 161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7" name="Shape 5"/>
          <p:cNvSpPr/>
          <p:nvPr/>
        </p:nvSpPr>
        <p:spPr>
          <a:xfrm>
            <a:off x="914400" y="1700784"/>
            <a:ext cx="4800600" cy="475488"/>
          </a:xfrm>
          <a:prstGeom prst="roundRect">
            <a:avLst>
              <a:gd name="adj" fmla="val 11538"/>
            </a:avLst>
          </a:prstGeom>
          <a:solidFill>
            <a:srgbClr val="EAF2E4"/>
          </a:solidFill>
          <a:ln w="12700">
            <a:solidFill>
              <a:srgbClr val="EAF2E4"/>
            </a:solidFill>
            <a:prstDash val="solid"/>
          </a:ln>
        </p:spPr>
      </p:sp>
      <p:sp>
        <p:nvSpPr>
          <p:cNvPr id="8" name="Text 6"/>
          <p:cNvSpPr txBox="1"/>
          <p:nvPr/>
        </p:nvSpPr>
        <p:spPr>
          <a:xfrm>
            <a:off x="914400" y="1700784"/>
            <a:ext cx="4800600" cy="475488"/>
          </a:xfrm>
          <a:prstGeom prst="rect">
            <a:avLst/>
          </a:prstGeom>
          <a:noFill/>
          <a:ln/>
        </p:spPr>
        <p:txBody>
          <a:bodyPr wrap="square" lIns="0" tIns="0" rIns="0" bIns="0" rtlCol="0" anchor="ctr"/>
          <a:lstStyle/>
          <a:p>
            <a:pPr algn="ctr" indent="0" marL="0">
              <a:buNone/>
            </a:pPr>
            <a:r>
              <a:rPr lang="en-US" sz="1200" b="1" spc="120" kern="0" dirty="0">
                <a:solidFill>
                  <a:srgbClr val="2C5F2D"/>
                </a:solidFill>
                <a:latin typeface="Calibri" pitchFamily="34" charset="0"/>
                <a:ea typeface="Calibri" pitchFamily="34" charset="-122"/>
                <a:cs typeface="Calibri" pitchFamily="34" charset="-120"/>
              </a:rPr>
              <a:t>INTERACTION ENABLED</a:t>
            </a:r>
            <a:endParaRPr lang="en-US" sz="1200" dirty="0"/>
          </a:p>
        </p:txBody>
      </p:sp>
      <p:sp>
        <p:nvSpPr>
          <p:cNvPr id="9" name="Text 7"/>
          <p:cNvSpPr txBox="1"/>
          <p:nvPr/>
        </p:nvSpPr>
        <p:spPr>
          <a:xfrm>
            <a:off x="950976" y="2377440"/>
            <a:ext cx="4727448" cy="228600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200" dirty="0">
                <a:solidFill>
                  <a:srgbClr val="1F2A22"/>
                </a:solidFill>
                <a:latin typeface="Calibri" pitchFamily="34" charset="0"/>
                <a:ea typeface="Calibri" pitchFamily="34" charset="-122"/>
                <a:cs typeface="Calibri" pitchFamily="34" charset="-120"/>
              </a:rPr>
              <a:t>Noticeably richer and more diverse activities and social engagements</a:t>
            </a:r>
            <a:endParaRPr lang="en-US" sz="1200" dirty="0"/>
          </a:p>
          <a:p>
            <a:pPr marL="342900" indent="-342900">
              <a:lnSpc>
                <a:spcPts val="1550"/>
              </a:lnSpc>
              <a:spcAft>
                <a:spcPts val="800"/>
              </a:spcAft>
              <a:buSzPct val="100000"/>
              <a:buChar char="•"/>
            </a:pPr>
            <a:r>
              <a:rPr lang="en-US" sz="1200" dirty="0">
                <a:solidFill>
                  <a:srgbClr val="1F2A22"/>
                </a:solidFill>
                <a:latin typeface="Calibri" pitchFamily="34" charset="0"/>
                <a:ea typeface="Calibri" pitchFamily="34" charset="-122"/>
                <a:cs typeface="Calibri" pitchFamily="34" charset="-120"/>
              </a:rPr>
              <a:t>Conversations inject new context into memory, which then shapes the next plan</a:t>
            </a:r>
            <a:endParaRPr lang="en-US" sz="1200" dirty="0"/>
          </a:p>
          <a:p>
            <a:pPr marL="342900" indent="-342900">
              <a:lnSpc>
                <a:spcPts val="1550"/>
              </a:lnSpc>
              <a:spcAft>
                <a:spcPts val="800"/>
              </a:spcAft>
              <a:buSzPct val="100000"/>
              <a:buChar char="•"/>
            </a:pPr>
            <a:r>
              <a:rPr lang="en-US" sz="1200" dirty="0">
                <a:solidFill>
                  <a:srgbClr val="1F2A22"/>
                </a:solidFill>
                <a:latin typeface="Calibri" pitchFamily="34" charset="0"/>
                <a:ea typeface="Calibri" pitchFamily="34" charset="-122"/>
                <a:cs typeface="Calibri" pitchFamily="34" charset="-120"/>
              </a:rPr>
              <a:t>Agents adjust future plans on what was said — follow-up meetings, revisited locations</a:t>
            </a:r>
            <a:endParaRPr lang="en-US" sz="1200" dirty="0"/>
          </a:p>
          <a:p>
            <a:pPr marL="342900" indent="-342900">
              <a:lnSpc>
                <a:spcPts val="1550"/>
              </a:lnSpc>
              <a:spcAft>
                <a:spcPts val="800"/>
              </a:spcAft>
              <a:buSzPct val="100000"/>
              <a:buChar char="•"/>
            </a:pPr>
            <a:r>
              <a:rPr lang="en-US" sz="1200" dirty="0">
                <a:solidFill>
                  <a:srgbClr val="1F2A22"/>
                </a:solidFill>
                <a:latin typeface="Calibri" pitchFamily="34" charset="0"/>
                <a:ea typeface="Calibri" pitchFamily="34" charset="-122"/>
                <a:cs typeface="Calibri" pitchFamily="34" charset="-120"/>
              </a:rPr>
              <a:t>Repeated contact reinforces relationships between specific pairs</a:t>
            </a:r>
            <a:endParaRPr lang="en-US" sz="1200" dirty="0"/>
          </a:p>
        </p:txBody>
      </p:sp>
      <p:sp>
        <p:nvSpPr>
          <p:cNvPr id="10" name="Shape 8"/>
          <p:cNvSpPr/>
          <p:nvPr/>
        </p:nvSpPr>
        <p:spPr>
          <a:xfrm>
            <a:off x="6199632" y="1444752"/>
            <a:ext cx="5349240" cy="3401568"/>
          </a:xfrm>
          <a:prstGeom prst="roundRect">
            <a:avLst>
              <a:gd name="adj" fmla="val 1613"/>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1" name="Shape 9"/>
          <p:cNvSpPr/>
          <p:nvPr/>
        </p:nvSpPr>
        <p:spPr>
          <a:xfrm>
            <a:off x="6473952" y="1700784"/>
            <a:ext cx="4800600" cy="475488"/>
          </a:xfrm>
          <a:prstGeom prst="roundRect">
            <a:avLst>
              <a:gd name="adj" fmla="val 11538"/>
            </a:avLst>
          </a:prstGeom>
          <a:solidFill>
            <a:srgbClr val="EFEFEA"/>
          </a:solidFill>
          <a:ln w="12700">
            <a:solidFill>
              <a:srgbClr val="EFEFEA"/>
            </a:solidFill>
            <a:prstDash val="solid"/>
          </a:ln>
        </p:spPr>
      </p:sp>
      <p:sp>
        <p:nvSpPr>
          <p:cNvPr id="12" name="Text 10"/>
          <p:cNvSpPr txBox="1"/>
          <p:nvPr/>
        </p:nvSpPr>
        <p:spPr>
          <a:xfrm>
            <a:off x="6473952" y="1700784"/>
            <a:ext cx="4800600" cy="475488"/>
          </a:xfrm>
          <a:prstGeom prst="rect">
            <a:avLst/>
          </a:prstGeom>
          <a:noFill/>
          <a:ln/>
        </p:spPr>
        <p:txBody>
          <a:bodyPr wrap="square" lIns="0" tIns="0" rIns="0" bIns="0" rtlCol="0" anchor="ctr"/>
          <a:lstStyle/>
          <a:p>
            <a:pPr algn="ctr" indent="0" marL="0">
              <a:buNone/>
            </a:pPr>
            <a:r>
              <a:rPr lang="en-US" sz="1200" b="1" spc="120" kern="0" dirty="0">
                <a:solidFill>
                  <a:srgbClr val="5F6B60"/>
                </a:solidFill>
                <a:latin typeface="Calibri" pitchFamily="34" charset="0"/>
                <a:ea typeface="Calibri" pitchFamily="34" charset="-122"/>
                <a:cs typeface="Calibri" pitchFamily="34" charset="-120"/>
              </a:rPr>
              <a:t>INTERACTION DISABLED</a:t>
            </a:r>
            <a:endParaRPr lang="en-US" sz="1200" dirty="0"/>
          </a:p>
        </p:txBody>
      </p:sp>
      <p:sp>
        <p:nvSpPr>
          <p:cNvPr id="13" name="Text 11"/>
          <p:cNvSpPr txBox="1"/>
          <p:nvPr/>
        </p:nvSpPr>
        <p:spPr>
          <a:xfrm>
            <a:off x="6510528" y="2377440"/>
            <a:ext cx="4727448" cy="228600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200" dirty="0">
                <a:solidFill>
                  <a:srgbClr val="5F6B60"/>
                </a:solidFill>
                <a:latin typeface="Calibri" pitchFamily="34" charset="0"/>
                <a:ea typeface="Calibri" pitchFamily="34" charset="-122"/>
                <a:cs typeface="Calibri" pitchFamily="34" charset="-120"/>
              </a:rPr>
              <a:t>Behaviour becomes repetitive and isolated</a:t>
            </a:r>
            <a:endParaRPr lang="en-US" sz="1200" dirty="0"/>
          </a:p>
          <a:p>
            <a:pPr marL="342900" indent="-342900">
              <a:lnSpc>
                <a:spcPts val="1550"/>
              </a:lnSpc>
              <a:spcAft>
                <a:spcPts val="800"/>
              </a:spcAft>
              <a:buSzPct val="100000"/>
              <a:buChar char="•"/>
            </a:pPr>
            <a:r>
              <a:rPr lang="en-US" sz="1200" dirty="0">
                <a:solidFill>
                  <a:srgbClr val="5F6B60"/>
                </a:solidFill>
                <a:latin typeface="Calibri" pitchFamily="34" charset="0"/>
                <a:ea typeface="Calibri" pitchFamily="34" charset="-122"/>
                <a:cs typeface="Calibri" pitchFamily="34" charset="-120"/>
              </a:rPr>
              <a:t>No new social information enters the system at all</a:t>
            </a:r>
            <a:endParaRPr lang="en-US" sz="1200" dirty="0"/>
          </a:p>
          <a:p>
            <a:pPr marL="342900" indent="-342900">
              <a:lnSpc>
                <a:spcPts val="1550"/>
              </a:lnSpc>
              <a:spcAft>
                <a:spcPts val="800"/>
              </a:spcAft>
              <a:buSzPct val="100000"/>
              <a:buChar char="•"/>
            </a:pPr>
            <a:r>
              <a:rPr lang="en-US" sz="1200" dirty="0">
                <a:solidFill>
                  <a:srgbClr val="5F6B60"/>
                </a:solidFill>
                <a:latin typeface="Calibri" pitchFamily="34" charset="0"/>
                <a:ea typeface="Calibri" pitchFamily="34" charset="-122"/>
                <a:cs typeface="Calibri" pitchFamily="34" charset="-120"/>
              </a:rPr>
              <a:t>Agents fall back on their initial goals and their previous plans</a:t>
            </a:r>
            <a:endParaRPr lang="en-US" sz="1200" dirty="0"/>
          </a:p>
          <a:p>
            <a:pPr marL="342900" indent="-342900">
              <a:lnSpc>
                <a:spcPts val="1550"/>
              </a:lnSpc>
              <a:spcAft>
                <a:spcPts val="800"/>
              </a:spcAft>
              <a:buSzPct val="100000"/>
              <a:buChar char="•"/>
            </a:pPr>
            <a:r>
              <a:rPr lang="en-US" sz="1200" dirty="0">
                <a:solidFill>
                  <a:srgbClr val="5F6B60"/>
                </a:solidFill>
                <a:latin typeface="Calibri" pitchFamily="34" charset="0"/>
                <a:ea typeface="Calibri" pitchFamily="34" charset="-122"/>
                <a:cs typeface="Calibri" pitchFamily="34" charset="-120"/>
              </a:rPr>
              <a:t>Schedules stay largely static from one day to the next</a:t>
            </a:r>
            <a:endParaRPr lang="en-US" sz="1200" dirty="0"/>
          </a:p>
        </p:txBody>
      </p:sp>
      <p:sp>
        <p:nvSpPr>
          <p:cNvPr id="14" name="Shape 12"/>
          <p:cNvSpPr/>
          <p:nvPr/>
        </p:nvSpPr>
        <p:spPr>
          <a:xfrm>
            <a:off x="640080" y="5138928"/>
            <a:ext cx="10911535" cy="868680"/>
          </a:xfrm>
          <a:prstGeom prst="roundRect">
            <a:avLst>
              <a:gd name="adj" fmla="val 6316"/>
            </a:avLst>
          </a:prstGeom>
          <a:solidFill>
            <a:srgbClr val="1B2E23"/>
          </a:solidFill>
          <a:ln w="12700">
            <a:solidFill>
              <a:srgbClr val="E2E7DD"/>
            </a:solidFill>
            <a:prstDash val="solid"/>
          </a:ln>
        </p:spPr>
      </p:sp>
      <p:sp>
        <p:nvSpPr>
          <p:cNvPr id="15" name="Text 13"/>
          <p:cNvSpPr txBox="1"/>
          <p:nvPr/>
        </p:nvSpPr>
        <p:spPr>
          <a:xfrm>
            <a:off x="896112" y="5138928"/>
            <a:ext cx="10399471" cy="868680"/>
          </a:xfrm>
          <a:prstGeom prst="rect">
            <a:avLst/>
          </a:prstGeom>
          <a:noFill/>
          <a:ln/>
        </p:spPr>
        <p:txBody>
          <a:bodyPr wrap="square" lIns="0" tIns="0" rIns="0" bIns="0" rtlCol="0" anchor="ctr"/>
          <a:lstStyle/>
          <a:p>
            <a:pPr indent="0" marL="0">
              <a:lnSpc>
                <a:spcPts val="1600"/>
              </a:lnSpc>
              <a:buNone/>
            </a:pPr>
            <a:r>
              <a:rPr lang="en-US" sz="1300" dirty="0">
                <a:solidFill>
                  <a:srgbClr val="FFFFFF"/>
                </a:solidFill>
                <a:latin typeface="Calibri" pitchFamily="34" charset="0"/>
                <a:ea typeface="Calibri" pitchFamily="34" charset="-122"/>
                <a:cs typeface="Calibri" pitchFamily="34" charset="-120"/>
              </a:rPr>
              <a:t>Interaction is what keeps the routines moving: it drives behavioural diversity and day-to-day adaptation at the same time.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RESULT 2</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Memory changes shape as the days pass</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640080" y="1417320"/>
            <a:ext cx="3502152" cy="1591056"/>
          </a:xfrm>
          <a:prstGeom prst="roundRect">
            <a:avLst>
              <a:gd name="adj" fmla="val 3448"/>
            </a:avLst>
          </a:prstGeom>
          <a:solidFill>
            <a:srgbClr val="EAF2E4"/>
          </a:solidFill>
          <a:ln w="12700">
            <a:solidFill>
              <a:srgbClr val="EAF2E4"/>
            </a:solidFill>
            <a:prstDash val="solid"/>
          </a:ln>
          <a:effectLst>
            <a:outerShdw sx="100000" sy="100000" kx="0" ky="0" algn="bl" rotWithShape="0" blurRad="101600" dist="25400" dir="5400000">
              <a:srgbClr val="1B2E23">
                <a:alpha val="10000"/>
              </a:srgbClr>
            </a:outerShdw>
          </a:effectLst>
        </p:spPr>
      </p:sp>
      <p:sp>
        <p:nvSpPr>
          <p:cNvPr id="7" name="Text 5"/>
          <p:cNvSpPr txBox="1"/>
          <p:nvPr/>
        </p:nvSpPr>
        <p:spPr>
          <a:xfrm>
            <a:off x="914400" y="1572768"/>
            <a:ext cx="2953512" cy="219456"/>
          </a:xfrm>
          <a:prstGeom prst="rect">
            <a:avLst/>
          </a:prstGeom>
          <a:noFill/>
          <a:ln/>
        </p:spPr>
        <p:txBody>
          <a:bodyPr wrap="square" lIns="0" tIns="0" rIns="0" bIns="0" rtlCol="0" anchor="ctr"/>
          <a:lstStyle/>
          <a:p>
            <a:pPr indent="0" marL="0">
              <a:buNone/>
            </a:pPr>
            <a:r>
              <a:rPr lang="en-US" sz="950" b="1" spc="140" kern="0" dirty="0">
                <a:solidFill>
                  <a:srgbClr val="2C5F2D"/>
                </a:solidFill>
                <a:latin typeface="Calibri" pitchFamily="34" charset="0"/>
                <a:ea typeface="Calibri" pitchFamily="34" charset="-122"/>
                <a:cs typeface="Calibri" pitchFamily="34" charset="-120"/>
              </a:rPr>
              <a:t>EARLY DAYS</a:t>
            </a:r>
            <a:endParaRPr lang="en-US" sz="950" dirty="0"/>
          </a:p>
        </p:txBody>
      </p:sp>
      <p:sp>
        <p:nvSpPr>
          <p:cNvPr id="8" name="Text 6"/>
          <p:cNvSpPr txBox="1"/>
          <p:nvPr/>
        </p:nvSpPr>
        <p:spPr>
          <a:xfrm>
            <a:off x="914400" y="1865376"/>
            <a:ext cx="2953512" cy="1188720"/>
          </a:xfrm>
          <a:prstGeom prst="rect">
            <a:avLst/>
          </a:prstGeom>
          <a:noFill/>
          <a:ln/>
        </p:spPr>
        <p:txBody>
          <a:bodyPr wrap="square" lIns="0" tIns="0" rIns="0" bIns="0" rtlCol="0" anchor="t"/>
          <a:lstStyle/>
          <a:p>
            <a:pPr indent="0" marL="0">
              <a:lnSpc>
                <a:spcPts val="1700"/>
              </a:lnSpc>
              <a:buNone/>
            </a:pPr>
            <a:r>
              <a:rPr lang="en-US" sz="1250" dirty="0">
                <a:solidFill>
                  <a:srgbClr val="1B2E23"/>
                </a:solidFill>
                <a:latin typeface="Calibri" pitchFamily="34" charset="0"/>
                <a:ea typeface="Calibri" pitchFamily="34" charset="-122"/>
                <a:cs typeface="Calibri" pitchFamily="34" charset="-120"/>
              </a:rPr>
              <a:t>Memory is dominated by daily plans and basic observations</a:t>
            </a:r>
            <a:endParaRPr lang="en-US" sz="1250" dirty="0"/>
          </a:p>
        </p:txBody>
      </p:sp>
      <p:sp>
        <p:nvSpPr>
          <p:cNvPr id="9" name="Shape 7"/>
          <p:cNvSpPr/>
          <p:nvPr/>
        </p:nvSpPr>
        <p:spPr>
          <a:xfrm rot="5400000">
            <a:off x="4160520" y="2057400"/>
            <a:ext cx="164592" cy="310896"/>
          </a:xfrm>
          <a:prstGeom prst="triangle">
            <a:avLst/>
          </a:prstGeom>
          <a:solidFill>
            <a:srgbClr val="C98A24"/>
          </a:solidFill>
          <a:ln/>
        </p:spPr>
      </p:sp>
      <p:sp>
        <p:nvSpPr>
          <p:cNvPr id="10" name="Shape 8"/>
          <p:cNvSpPr/>
          <p:nvPr/>
        </p:nvSpPr>
        <p:spPr>
          <a:xfrm>
            <a:off x="4343400" y="1417320"/>
            <a:ext cx="3502152" cy="1591056"/>
          </a:xfrm>
          <a:prstGeom prst="roundRect">
            <a:avLst>
              <a:gd name="adj" fmla="val 3448"/>
            </a:avLst>
          </a:prstGeom>
          <a:solidFill>
            <a:srgbClr val="FBF1DC"/>
          </a:solidFill>
          <a:ln w="12700">
            <a:solidFill>
              <a:srgbClr val="FBF1DC"/>
            </a:solidFill>
            <a:prstDash val="solid"/>
          </a:ln>
          <a:effectLst>
            <a:outerShdw sx="100000" sy="100000" kx="0" ky="0" algn="bl" rotWithShape="0" blurRad="101600" dist="25400" dir="5400000">
              <a:srgbClr val="1B2E23">
                <a:alpha val="10000"/>
              </a:srgbClr>
            </a:outerShdw>
          </a:effectLst>
        </p:spPr>
      </p:sp>
      <p:sp>
        <p:nvSpPr>
          <p:cNvPr id="11" name="Text 9"/>
          <p:cNvSpPr txBox="1"/>
          <p:nvPr/>
        </p:nvSpPr>
        <p:spPr>
          <a:xfrm>
            <a:off x="4617720" y="1572768"/>
            <a:ext cx="2953512" cy="219456"/>
          </a:xfrm>
          <a:prstGeom prst="rect">
            <a:avLst/>
          </a:prstGeom>
          <a:noFill/>
          <a:ln/>
        </p:spPr>
        <p:txBody>
          <a:bodyPr wrap="square" lIns="0" tIns="0" rIns="0" bIns="0" rtlCol="0" anchor="ctr"/>
          <a:lstStyle/>
          <a:p>
            <a:pPr indent="0" marL="0">
              <a:buNone/>
            </a:pPr>
            <a:r>
              <a:rPr lang="en-US" sz="950" b="1" spc="140" kern="0" dirty="0">
                <a:solidFill>
                  <a:srgbClr val="C98A24"/>
                </a:solidFill>
                <a:latin typeface="Calibri" pitchFamily="34" charset="0"/>
                <a:ea typeface="Calibri" pitchFamily="34" charset="-122"/>
                <a:cs typeface="Calibri" pitchFamily="34" charset="-120"/>
              </a:rPr>
              <a:t>AS DAYS PASS</a:t>
            </a:r>
            <a:endParaRPr lang="en-US" sz="950" dirty="0"/>
          </a:p>
        </p:txBody>
      </p:sp>
      <p:sp>
        <p:nvSpPr>
          <p:cNvPr id="12" name="Text 10"/>
          <p:cNvSpPr txBox="1"/>
          <p:nvPr/>
        </p:nvSpPr>
        <p:spPr>
          <a:xfrm>
            <a:off x="4617720" y="1865376"/>
            <a:ext cx="2953512" cy="1188720"/>
          </a:xfrm>
          <a:prstGeom prst="rect">
            <a:avLst/>
          </a:prstGeom>
          <a:noFill/>
          <a:ln/>
        </p:spPr>
        <p:txBody>
          <a:bodyPr wrap="square" lIns="0" tIns="0" rIns="0" bIns="0" rtlCol="0" anchor="t"/>
          <a:lstStyle/>
          <a:p>
            <a:pPr indent="0" marL="0">
              <a:lnSpc>
                <a:spcPts val="1700"/>
              </a:lnSpc>
              <a:buNone/>
            </a:pPr>
            <a:r>
              <a:rPr lang="en-US" sz="1250" dirty="0">
                <a:solidFill>
                  <a:srgbClr val="1B2E23"/>
                </a:solidFill>
                <a:latin typeface="Calibri" pitchFamily="34" charset="0"/>
                <a:ea typeface="Calibri" pitchFamily="34" charset="-122"/>
                <a:cs typeface="Calibri" pitchFamily="34" charset="-120"/>
              </a:rPr>
              <a:t>Communication events and reflection outputs become increasingly prominent</a:t>
            </a:r>
            <a:endParaRPr lang="en-US" sz="1250" dirty="0"/>
          </a:p>
        </p:txBody>
      </p:sp>
      <p:sp>
        <p:nvSpPr>
          <p:cNvPr id="13" name="Shape 11"/>
          <p:cNvSpPr/>
          <p:nvPr/>
        </p:nvSpPr>
        <p:spPr>
          <a:xfrm rot="5400000">
            <a:off x="7863840" y="2057400"/>
            <a:ext cx="164592" cy="310896"/>
          </a:xfrm>
          <a:prstGeom prst="triangle">
            <a:avLst/>
          </a:prstGeom>
          <a:solidFill>
            <a:srgbClr val="C98A24"/>
          </a:solidFill>
          <a:ln/>
        </p:spPr>
      </p:sp>
      <p:sp>
        <p:nvSpPr>
          <p:cNvPr id="14" name="Shape 12"/>
          <p:cNvSpPr/>
          <p:nvPr/>
        </p:nvSpPr>
        <p:spPr>
          <a:xfrm>
            <a:off x="8046720" y="1417320"/>
            <a:ext cx="3502152" cy="1591056"/>
          </a:xfrm>
          <a:prstGeom prst="roundRect">
            <a:avLst>
              <a:gd name="adj" fmla="val 3448"/>
            </a:avLst>
          </a:prstGeom>
          <a:solidFill>
            <a:srgbClr val="1B2E23"/>
          </a:solidFill>
          <a:ln w="12700">
            <a:solidFill>
              <a:srgbClr val="1B2E23"/>
            </a:solidFill>
            <a:prstDash val="solid"/>
          </a:ln>
        </p:spPr>
      </p:sp>
      <p:sp>
        <p:nvSpPr>
          <p:cNvPr id="15" name="Text 13"/>
          <p:cNvSpPr txBox="1"/>
          <p:nvPr/>
        </p:nvSpPr>
        <p:spPr>
          <a:xfrm>
            <a:off x="8321040" y="1572768"/>
            <a:ext cx="2953512" cy="219456"/>
          </a:xfrm>
          <a:prstGeom prst="rect">
            <a:avLst/>
          </a:prstGeom>
          <a:noFill/>
          <a:ln/>
        </p:spPr>
        <p:txBody>
          <a:bodyPr wrap="square" lIns="0" tIns="0" rIns="0" bIns="0" rtlCol="0" anchor="ctr"/>
          <a:lstStyle/>
          <a:p>
            <a:pPr indent="0" marL="0">
              <a:buNone/>
            </a:pPr>
            <a:r>
              <a:rPr lang="en-US" sz="950" b="1" spc="140" kern="0" dirty="0">
                <a:solidFill>
                  <a:srgbClr val="7FB069"/>
                </a:solidFill>
                <a:latin typeface="Calibri" pitchFamily="34" charset="0"/>
                <a:ea typeface="Calibri" pitchFamily="34" charset="-122"/>
                <a:cs typeface="Calibri" pitchFamily="34" charset="-120"/>
              </a:rPr>
              <a:t>LATER</a:t>
            </a:r>
            <a:endParaRPr lang="en-US" sz="950" dirty="0"/>
          </a:p>
        </p:txBody>
      </p:sp>
      <p:sp>
        <p:nvSpPr>
          <p:cNvPr id="16" name="Text 14"/>
          <p:cNvSpPr txBox="1"/>
          <p:nvPr/>
        </p:nvSpPr>
        <p:spPr>
          <a:xfrm>
            <a:off x="8321040" y="1865376"/>
            <a:ext cx="2953512" cy="1188720"/>
          </a:xfrm>
          <a:prstGeom prst="rect">
            <a:avLst/>
          </a:prstGeom>
          <a:noFill/>
          <a:ln/>
        </p:spPr>
        <p:txBody>
          <a:bodyPr wrap="square" lIns="0" tIns="0" rIns="0" bIns="0" rtlCol="0" anchor="t"/>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High-importance interaction and reflection memories form the dominant context for new decisions</a:t>
            </a:r>
            <a:endParaRPr lang="en-US" sz="1250" dirty="0"/>
          </a:p>
        </p:txBody>
      </p:sp>
      <p:sp>
        <p:nvSpPr>
          <p:cNvPr id="17" name="Shape 15"/>
          <p:cNvSpPr/>
          <p:nvPr/>
        </p:nvSpPr>
        <p:spPr>
          <a:xfrm>
            <a:off x="640080" y="3273552"/>
            <a:ext cx="10911535" cy="1874520"/>
          </a:xfrm>
          <a:prstGeom prst="roundRect">
            <a:avLst>
              <a:gd name="adj" fmla="val 2927"/>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8" name="Text 16"/>
          <p:cNvSpPr txBox="1"/>
          <p:nvPr/>
        </p:nvSpPr>
        <p:spPr>
          <a:xfrm>
            <a:off x="950976" y="3438144"/>
            <a:ext cx="10289743" cy="292608"/>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And memory content tracks what agents do next</a:t>
            </a:r>
            <a:endParaRPr lang="en-US" sz="1500" dirty="0"/>
          </a:p>
        </p:txBody>
      </p:sp>
      <p:sp>
        <p:nvSpPr>
          <p:cNvPr id="19" name="Text 17"/>
          <p:cNvSpPr txBox="1"/>
          <p:nvPr/>
        </p:nvSpPr>
        <p:spPr>
          <a:xfrm>
            <a:off x="950976" y="3858768"/>
            <a:ext cx="10289743" cy="1188720"/>
          </a:xfrm>
          <a:prstGeom prst="rect">
            <a:avLst/>
          </a:prstGeom>
          <a:noFill/>
          <a:ln/>
        </p:spPr>
        <p:txBody>
          <a:bodyPr wrap="square" lIns="0" tIns="0" rIns="0" bIns="0" rtlCol="0" anchor="t"/>
          <a:lstStyle/>
          <a:p>
            <a:pPr marL="342900" indent="-342900">
              <a:lnSpc>
                <a:spcPts val="1500"/>
              </a:lnSpc>
              <a:spcAft>
                <a:spcPts val="300"/>
              </a:spcAft>
              <a:buSzPct val="100000"/>
              <a:buChar char="•"/>
            </a:pPr>
            <a:r>
              <a:rPr lang="en-US" sz="1150" dirty="0">
                <a:solidFill>
                  <a:srgbClr val="1F2A22"/>
                </a:solidFill>
                <a:latin typeface="Calibri" pitchFamily="34" charset="0"/>
                <a:ea typeface="Calibri" pitchFamily="34" charset="-122"/>
                <a:cs typeface="Calibri" pitchFamily="34" charset="-120"/>
              </a:rPr>
              <a:t>Agents with rich interaction and reflection memories behave more adaptively and more coherently in social terms</a:t>
            </a:r>
            <a:endParaRPr lang="en-US" sz="1150" dirty="0"/>
          </a:p>
          <a:p>
            <a:pPr marL="342900" indent="-342900">
              <a:lnSpc>
                <a:spcPts val="1500"/>
              </a:lnSpc>
              <a:spcAft>
                <a:spcPts val="300"/>
              </a:spcAft>
              <a:buSzPct val="100000"/>
              <a:buChar char="•"/>
            </a:pPr>
            <a:r>
              <a:rPr lang="en-US" sz="1150" dirty="0">
                <a:solidFill>
                  <a:srgbClr val="1F2A22"/>
                </a:solidFill>
                <a:latin typeface="Calibri" pitchFamily="34" charset="0"/>
                <a:ea typeface="Calibri" pitchFamily="34" charset="-122"/>
                <a:cs typeface="Calibri" pitchFamily="34" charset="-120"/>
              </a:rPr>
              <a:t>Repeated interaction between specific agents forms persistent bonds — visible later as repeated co-location and coordinated activity</a:t>
            </a:r>
            <a:endParaRPr lang="en-US" sz="1150" dirty="0"/>
          </a:p>
          <a:p>
            <a:pPr marL="342900" indent="-342900">
              <a:lnSpc>
                <a:spcPts val="1500"/>
              </a:lnSpc>
              <a:spcAft>
                <a:spcPts val="300"/>
              </a:spcAft>
              <a:buSzPct val="100000"/>
              <a:buChar char="•"/>
            </a:pPr>
            <a:r>
              <a:rPr lang="en-US" sz="1150" dirty="0">
                <a:solidFill>
                  <a:srgbClr val="1F2A22"/>
                </a:solidFill>
                <a:latin typeface="Calibri" pitchFamily="34" charset="0"/>
                <a:ea typeface="Calibri" pitchFamily="34" charset="-122"/>
                <a:cs typeface="Calibri" pitchFamily="34" charset="-120"/>
              </a:rPr>
              <a:t>Reflection-derived insight pushes agents toward goal-aligned behaviour, so task selection observably shifts across days</a:t>
            </a:r>
            <a:endParaRPr lang="en-US" sz="1150" dirty="0"/>
          </a:p>
          <a:p>
            <a:pPr marL="342900" indent="-342900">
              <a:lnSpc>
                <a:spcPts val="1500"/>
              </a:lnSpc>
              <a:spcAft>
                <a:spcPts val="300"/>
              </a:spcAft>
              <a:buSzPct val="100000"/>
              <a:buChar char="•"/>
            </a:pPr>
            <a:r>
              <a:rPr lang="en-US" sz="1150" dirty="0">
                <a:solidFill>
                  <a:srgbClr val="1F2A22"/>
                </a:solidFill>
                <a:latin typeface="Calibri" pitchFamily="34" charset="0"/>
                <a:ea typeface="Calibri" pitchFamily="34" charset="-122"/>
                <a:cs typeface="Calibri" pitchFamily="34" charset="-120"/>
              </a:rPr>
              <a:t>Where memory influence is limited, adaptation is weaker and behaviour less consistent over time</a:t>
            </a:r>
            <a:endParaRPr lang="en-US" sz="1150" dirty="0"/>
          </a:p>
        </p:txBody>
      </p:sp>
      <p:sp>
        <p:nvSpPr>
          <p:cNvPr id="20" name="Shape 18"/>
          <p:cNvSpPr/>
          <p:nvPr/>
        </p:nvSpPr>
        <p:spPr>
          <a:xfrm>
            <a:off x="640080" y="5413248"/>
            <a:ext cx="10911535" cy="777240"/>
          </a:xfrm>
          <a:prstGeom prst="roundRect">
            <a:avLst>
              <a:gd name="adj" fmla="val 7059"/>
            </a:avLst>
          </a:prstGeom>
          <a:solidFill>
            <a:srgbClr val="EAF2E4"/>
          </a:solidFill>
          <a:ln w="12700">
            <a:solidFill>
              <a:srgbClr val="E2E7DD"/>
            </a:solidFill>
            <a:prstDash val="solid"/>
          </a:ln>
        </p:spPr>
      </p:sp>
      <p:sp>
        <p:nvSpPr>
          <p:cNvPr id="21" name="Text 19"/>
          <p:cNvSpPr txBox="1"/>
          <p:nvPr/>
        </p:nvSpPr>
        <p:spPr>
          <a:xfrm>
            <a:off x="896112" y="5413248"/>
            <a:ext cx="10399471" cy="777240"/>
          </a:xfrm>
          <a:prstGeom prst="rect">
            <a:avLst/>
          </a:prstGeom>
          <a:noFill/>
          <a:ln/>
        </p:spPr>
        <p:txBody>
          <a:bodyPr wrap="square" lIns="0" tIns="0" rIns="0" bIns="0" rtlCol="0" anchor="ctr"/>
          <a:lstStyle/>
          <a:p>
            <a:pPr indent="0" marL="0">
              <a:lnSpc>
                <a:spcPts val="1600"/>
              </a:lnSpc>
              <a:buNone/>
            </a:pPr>
            <a:r>
              <a:rPr lang="en-US" sz="1200" dirty="0">
                <a:solidFill>
                  <a:srgbClr val="1B2E23"/>
                </a:solidFill>
                <a:latin typeface="Calibri" pitchFamily="34" charset="0"/>
                <a:ea typeface="Calibri" pitchFamily="34" charset="-122"/>
                <a:cs typeface="Calibri" pitchFamily="34" charset="-120"/>
              </a:rPr>
              <a:t>Memory is the mechanism that turns yesterday's experience into today's plan — and simple generative rules are enough to produce social structure nobody hand-coded.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DISCUSSION</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What this buys us, and what it costs</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640080" y="1417320"/>
            <a:ext cx="5349240" cy="4572000"/>
          </a:xfrm>
          <a:prstGeom prst="roundRect">
            <a:avLst>
              <a:gd name="adj" fmla="val 1200"/>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7" name="Text 5"/>
          <p:cNvSpPr txBox="1"/>
          <p:nvPr/>
        </p:nvSpPr>
        <p:spPr>
          <a:xfrm>
            <a:off x="950976" y="1609344"/>
            <a:ext cx="4727448" cy="292608"/>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Advantages</a:t>
            </a:r>
            <a:endParaRPr lang="en-US" sz="1700" dirty="0"/>
          </a:p>
        </p:txBody>
      </p:sp>
      <p:sp>
        <p:nvSpPr>
          <p:cNvPr id="8" name="Shape 6"/>
          <p:cNvSpPr/>
          <p:nvPr/>
        </p:nvSpPr>
        <p:spPr>
          <a:xfrm>
            <a:off x="950976" y="2121408"/>
            <a:ext cx="365760" cy="365760"/>
          </a:xfrm>
          <a:prstGeom prst="ellipse">
            <a:avLst/>
          </a:prstGeom>
          <a:solidFill>
            <a:srgbClr val="FFFFFF"/>
          </a:solidFill>
          <a:ln w="12700">
            <a:solidFill>
              <a:srgbClr val="7FB069"/>
            </a:solidFill>
            <a:prstDash val="solid"/>
          </a:ln>
        </p:spPr>
      </p:sp>
      <p:sp>
        <p:nvSpPr>
          <p:cNvPr id="9" name="Shape 7"/>
          <p:cNvSpPr/>
          <p:nvPr/>
        </p:nvSpPr>
        <p:spPr>
          <a:xfrm>
            <a:off x="950976" y="2121408"/>
            <a:ext cx="365760" cy="365760"/>
          </a:xfrm>
          <a:prstGeom prst="ellipse">
            <a:avLst/>
          </a:prstGeom>
          <a:solidFill>
            <a:srgbClr val="7FB069"/>
          </a:solidFill>
          <a:ln/>
        </p:spPr>
      </p:sp>
      <p:sp>
        <p:nvSpPr>
          <p:cNvPr id="10" name="Text 8"/>
          <p:cNvSpPr txBox="1"/>
          <p:nvPr/>
        </p:nvSpPr>
        <p:spPr>
          <a:xfrm>
            <a:off x="950976" y="21214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9"/>
          <p:cNvSpPr txBox="1"/>
          <p:nvPr/>
        </p:nvSpPr>
        <p:spPr>
          <a:xfrm>
            <a:off x="1481328" y="2139696"/>
            <a:ext cx="4197096"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Lightweight &amp; reproducible</a:t>
            </a:r>
            <a:endParaRPr lang="en-US" sz="1350" dirty="0"/>
          </a:p>
        </p:txBody>
      </p:sp>
      <p:sp>
        <p:nvSpPr>
          <p:cNvPr id="12" name="Text 10"/>
          <p:cNvSpPr txBox="1"/>
          <p:nvPr/>
        </p:nvSpPr>
        <p:spPr>
          <a:xfrm>
            <a:off x="1481328" y="2450592"/>
            <a:ext cx="4197096" cy="777240"/>
          </a:xfrm>
          <a:prstGeom prst="rect">
            <a:avLst/>
          </a:prstGeom>
          <a:noFill/>
          <a:ln/>
        </p:spPr>
        <p:txBody>
          <a:bodyPr wrap="square" lIns="0" tIns="0" rIns="0" bIns="0" rtlCol="0" anchor="t"/>
          <a:lstStyle/>
          <a:p>
            <a:pPr indent="0" marL="0">
              <a:lnSpc>
                <a:spcPts val="1500"/>
              </a:lnSpc>
              <a:buNone/>
            </a:pPr>
            <a:r>
              <a:rPr lang="en-US" sz="1150" dirty="0">
                <a:solidFill>
                  <a:srgbClr val="1F2A22"/>
                </a:solidFill>
                <a:latin typeface="Calibri" pitchFamily="34" charset="0"/>
                <a:ea typeface="Calibri" pitchFamily="34" charset="-122"/>
                <a:cs typeface="Calibri" pitchFamily="34" charset="-120"/>
              </a:rPr>
              <a:t>Clearly defined modules, an explicit pipeline, and deterministic spatio-temporal triggers</a:t>
            </a:r>
            <a:endParaRPr lang="en-US" sz="1150" dirty="0"/>
          </a:p>
        </p:txBody>
      </p:sp>
      <p:sp>
        <p:nvSpPr>
          <p:cNvPr id="13" name="Shape 11"/>
          <p:cNvSpPr/>
          <p:nvPr/>
        </p:nvSpPr>
        <p:spPr>
          <a:xfrm>
            <a:off x="950976" y="3401568"/>
            <a:ext cx="365760" cy="365760"/>
          </a:xfrm>
          <a:prstGeom prst="ellipse">
            <a:avLst/>
          </a:prstGeom>
          <a:solidFill>
            <a:srgbClr val="FFFFFF"/>
          </a:solidFill>
          <a:ln w="12700">
            <a:solidFill>
              <a:srgbClr val="7FB069"/>
            </a:solidFill>
            <a:prstDash val="solid"/>
          </a:ln>
        </p:spPr>
      </p:sp>
      <p:sp>
        <p:nvSpPr>
          <p:cNvPr id="14" name="Shape 12"/>
          <p:cNvSpPr/>
          <p:nvPr/>
        </p:nvSpPr>
        <p:spPr>
          <a:xfrm>
            <a:off x="950976" y="3401568"/>
            <a:ext cx="365760" cy="365760"/>
          </a:xfrm>
          <a:prstGeom prst="ellipse">
            <a:avLst/>
          </a:prstGeom>
          <a:solidFill>
            <a:srgbClr val="7FB069"/>
          </a:solidFill>
          <a:ln/>
        </p:spPr>
      </p:sp>
      <p:sp>
        <p:nvSpPr>
          <p:cNvPr id="15" name="Text 13"/>
          <p:cNvSpPr txBox="1"/>
          <p:nvPr/>
        </p:nvSpPr>
        <p:spPr>
          <a:xfrm>
            <a:off x="950976" y="340156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6" name="Text 14"/>
          <p:cNvSpPr txBox="1"/>
          <p:nvPr/>
        </p:nvSpPr>
        <p:spPr>
          <a:xfrm>
            <a:off x="1481328" y="3419856"/>
            <a:ext cx="4197096"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Controllable</a:t>
            </a:r>
            <a:endParaRPr lang="en-US" sz="1350" dirty="0"/>
          </a:p>
        </p:txBody>
      </p:sp>
      <p:sp>
        <p:nvSpPr>
          <p:cNvPr id="17" name="Text 15"/>
          <p:cNvSpPr txBox="1"/>
          <p:nvPr/>
        </p:nvSpPr>
        <p:spPr>
          <a:xfrm>
            <a:off x="1481328" y="3730752"/>
            <a:ext cx="4197096" cy="777240"/>
          </a:xfrm>
          <a:prstGeom prst="rect">
            <a:avLst/>
          </a:prstGeom>
          <a:noFill/>
          <a:ln/>
        </p:spPr>
        <p:txBody>
          <a:bodyPr wrap="square" lIns="0" tIns="0" rIns="0" bIns="0" rtlCol="0" anchor="t"/>
          <a:lstStyle/>
          <a:p>
            <a:pPr indent="0" marL="0">
              <a:lnSpc>
                <a:spcPts val="1500"/>
              </a:lnSpc>
              <a:buNone/>
            </a:pPr>
            <a:r>
              <a:rPr lang="en-US" sz="1150" dirty="0">
                <a:solidFill>
                  <a:srgbClr val="1F2A22"/>
                </a:solidFill>
                <a:latin typeface="Calibri" pitchFamily="34" charset="0"/>
                <a:ea typeface="Calibri" pitchFamily="34" charset="-122"/>
                <a:cs typeface="Calibri" pitchFamily="34" charset="-120"/>
              </a:rPr>
              <a:t>Schedule-driven behaviour, explicit co-location rules, optional human feedback</a:t>
            </a:r>
            <a:endParaRPr lang="en-US" sz="1150" dirty="0"/>
          </a:p>
        </p:txBody>
      </p:sp>
      <p:sp>
        <p:nvSpPr>
          <p:cNvPr id="18" name="Shape 16"/>
          <p:cNvSpPr/>
          <p:nvPr/>
        </p:nvSpPr>
        <p:spPr>
          <a:xfrm>
            <a:off x="950976" y="4681728"/>
            <a:ext cx="365760" cy="365760"/>
          </a:xfrm>
          <a:prstGeom prst="ellipse">
            <a:avLst/>
          </a:prstGeom>
          <a:solidFill>
            <a:srgbClr val="FFFFFF"/>
          </a:solidFill>
          <a:ln w="12700">
            <a:solidFill>
              <a:srgbClr val="7FB069"/>
            </a:solidFill>
            <a:prstDash val="solid"/>
          </a:ln>
        </p:spPr>
      </p:sp>
      <p:sp>
        <p:nvSpPr>
          <p:cNvPr id="19" name="Shape 17"/>
          <p:cNvSpPr/>
          <p:nvPr/>
        </p:nvSpPr>
        <p:spPr>
          <a:xfrm>
            <a:off x="950976" y="4681728"/>
            <a:ext cx="365760" cy="365760"/>
          </a:xfrm>
          <a:prstGeom prst="ellipse">
            <a:avLst/>
          </a:prstGeom>
          <a:solidFill>
            <a:srgbClr val="7FB069"/>
          </a:solidFill>
          <a:ln/>
        </p:spPr>
      </p:sp>
      <p:sp>
        <p:nvSpPr>
          <p:cNvPr id="20" name="Text 18"/>
          <p:cNvSpPr txBox="1"/>
          <p:nvPr/>
        </p:nvSpPr>
        <p:spPr>
          <a:xfrm>
            <a:off x="950976" y="468172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1481328" y="4700016"/>
            <a:ext cx="4197096"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Extendable</a:t>
            </a:r>
            <a:endParaRPr lang="en-US" sz="1350" dirty="0"/>
          </a:p>
        </p:txBody>
      </p:sp>
      <p:sp>
        <p:nvSpPr>
          <p:cNvPr id="22" name="Text 20"/>
          <p:cNvSpPr txBox="1"/>
          <p:nvPr/>
        </p:nvSpPr>
        <p:spPr>
          <a:xfrm>
            <a:off x="1481328" y="5010912"/>
            <a:ext cx="4197096" cy="777240"/>
          </a:xfrm>
          <a:prstGeom prst="rect">
            <a:avLst/>
          </a:prstGeom>
          <a:noFill/>
          <a:ln/>
        </p:spPr>
        <p:txBody>
          <a:bodyPr wrap="square" lIns="0" tIns="0" rIns="0" bIns="0" rtlCol="0" anchor="t"/>
          <a:lstStyle/>
          <a:p>
            <a:pPr indent="0" marL="0">
              <a:lnSpc>
                <a:spcPts val="1500"/>
              </a:lnSpc>
              <a:buNone/>
            </a:pPr>
            <a:r>
              <a:rPr lang="en-US" sz="1150" dirty="0">
                <a:solidFill>
                  <a:srgbClr val="1F2A22"/>
                </a:solidFill>
                <a:latin typeface="Calibri" pitchFamily="34" charset="0"/>
                <a:ea typeface="Calibri" pitchFamily="34" charset="-122"/>
                <a:cs typeface="Calibri" pitchFamily="34" charset="-120"/>
              </a:rPr>
              <a:t>Agent Manager, Scheduler, Interaction Engine, Memory Manager and LLM Interface swap independently</a:t>
            </a:r>
            <a:endParaRPr lang="en-US" sz="1150" dirty="0"/>
          </a:p>
        </p:txBody>
      </p:sp>
      <p:sp>
        <p:nvSpPr>
          <p:cNvPr id="23" name="Shape 21"/>
          <p:cNvSpPr/>
          <p:nvPr/>
        </p:nvSpPr>
        <p:spPr>
          <a:xfrm>
            <a:off x="6199632" y="1417320"/>
            <a:ext cx="5349240" cy="4572000"/>
          </a:xfrm>
          <a:prstGeom prst="roundRect">
            <a:avLst>
              <a:gd name="adj" fmla="val 1200"/>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24" name="Text 22"/>
          <p:cNvSpPr txBox="1"/>
          <p:nvPr/>
        </p:nvSpPr>
        <p:spPr>
          <a:xfrm>
            <a:off x="6510528" y="1609344"/>
            <a:ext cx="4727448" cy="292608"/>
          </a:xfrm>
          <a:prstGeom prst="rect">
            <a:avLst/>
          </a:prstGeom>
          <a:noFill/>
          <a:ln/>
        </p:spPr>
        <p:txBody>
          <a:bodyPr wrap="square" lIns="0" tIns="0" rIns="0" bIns="0" rtlCol="0" anchor="ctr"/>
          <a:lstStyle/>
          <a:p>
            <a:pPr indent="0" marL="0">
              <a:buNone/>
            </a:pPr>
            <a:r>
              <a:rPr lang="en-US" sz="1700" b="1" dirty="0">
                <a:solidFill>
                  <a:srgbClr val="C98A24"/>
                </a:solidFill>
                <a:latin typeface="Cambria" pitchFamily="34" charset="0"/>
                <a:ea typeface="Cambria" pitchFamily="34" charset="-122"/>
                <a:cs typeface="Cambria" pitchFamily="34" charset="-120"/>
              </a:rPr>
              <a:t>Limitations</a:t>
            </a:r>
            <a:endParaRPr lang="en-US" sz="1700" dirty="0"/>
          </a:p>
        </p:txBody>
      </p:sp>
      <p:sp>
        <p:nvSpPr>
          <p:cNvPr id="25" name="Shape 23"/>
          <p:cNvSpPr/>
          <p:nvPr/>
        </p:nvSpPr>
        <p:spPr>
          <a:xfrm>
            <a:off x="6510528" y="2121408"/>
            <a:ext cx="365760" cy="365760"/>
          </a:xfrm>
          <a:prstGeom prst="ellipse">
            <a:avLst/>
          </a:prstGeom>
          <a:solidFill>
            <a:srgbClr val="FFFFFF"/>
          </a:solidFill>
          <a:ln w="12700">
            <a:solidFill>
              <a:srgbClr val="C98A24"/>
            </a:solidFill>
            <a:prstDash val="solid"/>
          </a:ln>
        </p:spPr>
      </p:sp>
      <p:sp>
        <p:nvSpPr>
          <p:cNvPr id="26" name="Shape 24"/>
          <p:cNvSpPr/>
          <p:nvPr/>
        </p:nvSpPr>
        <p:spPr>
          <a:xfrm>
            <a:off x="6510528" y="2121408"/>
            <a:ext cx="365760" cy="365760"/>
          </a:xfrm>
          <a:prstGeom prst="ellipse">
            <a:avLst/>
          </a:prstGeom>
          <a:solidFill>
            <a:srgbClr val="C98A24"/>
          </a:solidFill>
          <a:ln/>
        </p:spPr>
      </p:sp>
      <p:sp>
        <p:nvSpPr>
          <p:cNvPr id="27" name="Text 25"/>
          <p:cNvSpPr txBox="1"/>
          <p:nvPr/>
        </p:nvSpPr>
        <p:spPr>
          <a:xfrm>
            <a:off x="6510528" y="21214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28" name="Text 26"/>
          <p:cNvSpPr txBox="1"/>
          <p:nvPr/>
        </p:nvSpPr>
        <p:spPr>
          <a:xfrm>
            <a:off x="7040880" y="2139696"/>
            <a:ext cx="4197096"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Cost</a:t>
            </a:r>
            <a:endParaRPr lang="en-US" sz="1350" dirty="0"/>
          </a:p>
        </p:txBody>
      </p:sp>
      <p:sp>
        <p:nvSpPr>
          <p:cNvPr id="29" name="Text 27"/>
          <p:cNvSpPr txBox="1"/>
          <p:nvPr/>
        </p:nvSpPr>
        <p:spPr>
          <a:xfrm>
            <a:off x="7040880" y="2450592"/>
            <a:ext cx="4197096" cy="777240"/>
          </a:xfrm>
          <a:prstGeom prst="rect">
            <a:avLst/>
          </a:prstGeom>
          <a:noFill/>
          <a:ln/>
        </p:spPr>
        <p:txBody>
          <a:bodyPr wrap="square" lIns="0" tIns="0" rIns="0" bIns="0" rtlCol="0" anchor="t"/>
          <a:lstStyle/>
          <a:p>
            <a:pPr indent="0" marL="0">
              <a:lnSpc>
                <a:spcPts val="1500"/>
              </a:lnSpc>
              <a:buNone/>
            </a:pPr>
            <a:r>
              <a:rPr lang="en-US" sz="1150" dirty="0">
                <a:solidFill>
                  <a:srgbClr val="1F2A22"/>
                </a:solidFill>
                <a:latin typeface="Calibri" pitchFamily="34" charset="0"/>
                <a:ea typeface="Calibri" pitchFamily="34" charset="-122"/>
                <a:cs typeface="Calibri" pitchFamily="34" charset="-120"/>
              </a:rPr>
              <a:t>LLM calls carry computational and financial cost that grows with agents and simulation days</a:t>
            </a:r>
            <a:endParaRPr lang="en-US" sz="1150" dirty="0"/>
          </a:p>
        </p:txBody>
      </p:sp>
      <p:sp>
        <p:nvSpPr>
          <p:cNvPr id="30" name="Shape 28"/>
          <p:cNvSpPr/>
          <p:nvPr/>
        </p:nvSpPr>
        <p:spPr>
          <a:xfrm>
            <a:off x="6510528" y="3401568"/>
            <a:ext cx="365760" cy="365760"/>
          </a:xfrm>
          <a:prstGeom prst="ellipse">
            <a:avLst/>
          </a:prstGeom>
          <a:solidFill>
            <a:srgbClr val="FFFFFF"/>
          </a:solidFill>
          <a:ln w="12700">
            <a:solidFill>
              <a:srgbClr val="C98A24"/>
            </a:solidFill>
            <a:prstDash val="solid"/>
          </a:ln>
        </p:spPr>
      </p:sp>
      <p:sp>
        <p:nvSpPr>
          <p:cNvPr id="31" name="Shape 29"/>
          <p:cNvSpPr/>
          <p:nvPr/>
        </p:nvSpPr>
        <p:spPr>
          <a:xfrm>
            <a:off x="6510528" y="3401568"/>
            <a:ext cx="365760" cy="365760"/>
          </a:xfrm>
          <a:prstGeom prst="ellipse">
            <a:avLst/>
          </a:prstGeom>
          <a:solidFill>
            <a:srgbClr val="C98A24"/>
          </a:solidFill>
          <a:ln/>
        </p:spPr>
      </p:sp>
      <p:sp>
        <p:nvSpPr>
          <p:cNvPr id="32" name="Text 30"/>
          <p:cNvSpPr txBox="1"/>
          <p:nvPr/>
        </p:nvSpPr>
        <p:spPr>
          <a:xfrm>
            <a:off x="6510528" y="340156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33" name="Text 31"/>
          <p:cNvSpPr txBox="1"/>
          <p:nvPr/>
        </p:nvSpPr>
        <p:spPr>
          <a:xfrm>
            <a:off x="7040880" y="3419856"/>
            <a:ext cx="4197096"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Scale</a:t>
            </a:r>
            <a:endParaRPr lang="en-US" sz="1350" dirty="0"/>
          </a:p>
        </p:txBody>
      </p:sp>
      <p:sp>
        <p:nvSpPr>
          <p:cNvPr id="34" name="Text 32"/>
          <p:cNvSpPr txBox="1"/>
          <p:nvPr/>
        </p:nvSpPr>
        <p:spPr>
          <a:xfrm>
            <a:off x="7040880" y="3730752"/>
            <a:ext cx="4197096" cy="777240"/>
          </a:xfrm>
          <a:prstGeom prst="rect">
            <a:avLst/>
          </a:prstGeom>
          <a:noFill/>
          <a:ln/>
        </p:spPr>
        <p:txBody>
          <a:bodyPr wrap="square" lIns="0" tIns="0" rIns="0" bIns="0" rtlCol="0" anchor="t"/>
          <a:lstStyle/>
          <a:p>
            <a:pPr indent="0" marL="0">
              <a:lnSpc>
                <a:spcPts val="1500"/>
              </a:lnSpc>
              <a:buNone/>
            </a:pPr>
            <a:r>
              <a:rPr lang="en-US" sz="1150" dirty="0">
                <a:solidFill>
                  <a:srgbClr val="1F2A22"/>
                </a:solidFill>
                <a:latin typeface="Calibri" pitchFamily="34" charset="0"/>
                <a:ea typeface="Calibri" pitchFamily="34" charset="-122"/>
                <a:cs typeface="Calibri" pitchFamily="34" charset="-120"/>
              </a:rPr>
              <a:t>The study is small — few agents, a simple town; larger and more complex settings still need validation</a:t>
            </a:r>
            <a:endParaRPr lang="en-US" sz="1150" dirty="0"/>
          </a:p>
        </p:txBody>
      </p:sp>
      <p:sp>
        <p:nvSpPr>
          <p:cNvPr id="35" name="Shape 33"/>
          <p:cNvSpPr/>
          <p:nvPr/>
        </p:nvSpPr>
        <p:spPr>
          <a:xfrm>
            <a:off x="6510528" y="4681728"/>
            <a:ext cx="365760" cy="365760"/>
          </a:xfrm>
          <a:prstGeom prst="ellipse">
            <a:avLst/>
          </a:prstGeom>
          <a:solidFill>
            <a:srgbClr val="FFFFFF"/>
          </a:solidFill>
          <a:ln w="12700">
            <a:solidFill>
              <a:srgbClr val="C98A24"/>
            </a:solidFill>
            <a:prstDash val="solid"/>
          </a:ln>
        </p:spPr>
      </p:sp>
      <p:sp>
        <p:nvSpPr>
          <p:cNvPr id="36" name="Shape 34"/>
          <p:cNvSpPr/>
          <p:nvPr/>
        </p:nvSpPr>
        <p:spPr>
          <a:xfrm>
            <a:off x="6510528" y="4681728"/>
            <a:ext cx="365760" cy="365760"/>
          </a:xfrm>
          <a:prstGeom prst="ellipse">
            <a:avLst/>
          </a:prstGeom>
          <a:solidFill>
            <a:srgbClr val="C98A24"/>
          </a:solidFill>
          <a:ln/>
        </p:spPr>
      </p:sp>
      <p:sp>
        <p:nvSpPr>
          <p:cNvPr id="37" name="Text 35"/>
          <p:cNvSpPr txBox="1"/>
          <p:nvPr/>
        </p:nvSpPr>
        <p:spPr>
          <a:xfrm>
            <a:off x="6510528" y="468172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8" name="Text 36"/>
          <p:cNvSpPr txBox="1"/>
          <p:nvPr/>
        </p:nvSpPr>
        <p:spPr>
          <a:xfrm>
            <a:off x="7040880" y="4700016"/>
            <a:ext cx="4197096" cy="274320"/>
          </a:xfrm>
          <a:prstGeom prst="rect">
            <a:avLst/>
          </a:prstGeom>
          <a:noFill/>
          <a:ln/>
        </p:spPr>
        <p:txBody>
          <a:bodyPr wrap="square" lIns="0" tIns="0" rIns="0" bIns="0" rtlCol="0" anchor="ctr"/>
          <a:lstStyle/>
          <a:p>
            <a:pPr indent="0" marL="0">
              <a:buNone/>
            </a:pPr>
            <a:r>
              <a:rPr lang="en-US" sz="1350" b="1" dirty="0">
                <a:solidFill>
                  <a:srgbClr val="1B2E23"/>
                </a:solidFill>
                <a:latin typeface="Cambria" pitchFamily="34" charset="0"/>
                <a:ea typeface="Cambria" pitchFamily="34" charset="-122"/>
                <a:cs typeface="Cambria" pitchFamily="34" charset="-120"/>
              </a:rPr>
              <a:t>Stochasticity</a:t>
            </a:r>
            <a:endParaRPr lang="en-US" sz="1350" dirty="0"/>
          </a:p>
        </p:txBody>
      </p:sp>
      <p:sp>
        <p:nvSpPr>
          <p:cNvPr id="39" name="Text 37"/>
          <p:cNvSpPr txBox="1"/>
          <p:nvPr/>
        </p:nvSpPr>
        <p:spPr>
          <a:xfrm>
            <a:off x="7040880" y="5010912"/>
            <a:ext cx="4197096" cy="777240"/>
          </a:xfrm>
          <a:prstGeom prst="rect">
            <a:avLst/>
          </a:prstGeom>
          <a:noFill/>
          <a:ln/>
        </p:spPr>
        <p:txBody>
          <a:bodyPr wrap="square" lIns="0" tIns="0" rIns="0" bIns="0" rtlCol="0" anchor="t"/>
          <a:lstStyle/>
          <a:p>
            <a:pPr indent="0" marL="0">
              <a:lnSpc>
                <a:spcPts val="1500"/>
              </a:lnSpc>
              <a:buNone/>
            </a:pPr>
            <a:r>
              <a:rPr lang="en-US" sz="1150" dirty="0">
                <a:solidFill>
                  <a:srgbClr val="1F2A22"/>
                </a:solidFill>
                <a:latin typeface="Calibri" pitchFamily="34" charset="0"/>
                <a:ea typeface="Calibri" pitchFamily="34" charset="-122"/>
                <a:cs typeface="Calibri" pitchFamily="34" charset="-120"/>
              </a:rPr>
              <a:t>Generated output varies between runs, which makes strict quantitative evaluation harder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4"/>
        </a:solidFill>
      </p:bgPr>
    </p:bg>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160" kern="0" dirty="0">
                <a:solidFill>
                  <a:srgbClr val="2C5F2D"/>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640080" y="585216"/>
            <a:ext cx="10911535" cy="731520"/>
          </a:xfrm>
          <a:prstGeom prst="rect">
            <a:avLst/>
          </a:prstGeom>
          <a:noFill/>
          <a:ln/>
        </p:spPr>
        <p:txBody>
          <a:bodyPr wrap="square" lIns="0" tIns="0" rIns="0" bIns="0" rtlCol="0" anchor="t"/>
          <a:lstStyle/>
          <a:p>
            <a:pPr indent="0" marL="0">
              <a:buNone/>
            </a:pPr>
            <a:r>
              <a:rPr lang="en-US" sz="3000" b="1" dirty="0">
                <a:solidFill>
                  <a:srgbClr val="1B2E23"/>
                </a:solidFill>
                <a:latin typeface="Cambria" pitchFamily="34" charset="0"/>
                <a:ea typeface="Cambria" pitchFamily="34" charset="-122"/>
                <a:cs typeface="Cambria" pitchFamily="34" charset="-120"/>
              </a:rPr>
              <a:t>Where this leaves us</a:t>
            </a:r>
            <a:endParaRPr lang="en-US" sz="3000" dirty="0"/>
          </a:p>
        </p:txBody>
      </p:sp>
      <p:sp>
        <p:nvSpPr>
          <p:cNvPr id="4" name="Text 2"/>
          <p:cNvSpPr txBox="1"/>
          <p:nvPr/>
        </p:nvSpPr>
        <p:spPr>
          <a:xfrm>
            <a:off x="640080" y="6419088"/>
            <a:ext cx="5486400" cy="256032"/>
          </a:xfrm>
          <a:prstGeom prst="rect">
            <a:avLst/>
          </a:prstGeom>
          <a:noFill/>
          <a:ln/>
        </p:spPr>
        <p:txBody>
          <a:bodyPr wrap="square" lIns="0" tIns="0" rIns="0" bIns="0" rtlCol="0" anchor="ctr"/>
          <a:lstStyle/>
          <a:p>
            <a:pPr indent="0" marL="0">
              <a:buNone/>
            </a:pPr>
            <a:r>
              <a:rPr lang="en-US" sz="900" dirty="0">
                <a:solidFill>
                  <a:srgbClr val="5F6B60"/>
                </a:solidFill>
                <a:latin typeface="Calibri" pitchFamily="34" charset="0"/>
                <a:ea typeface="Calibri" pitchFamily="34" charset="-122"/>
                <a:cs typeface="Calibri" pitchFamily="34" charset="-120"/>
              </a:rPr>
              <a:t>ICAC 2026  ·  Paper 108  ·  Valentown</a:t>
            </a:r>
            <a:endParaRPr lang="en-US" sz="900" dirty="0"/>
          </a:p>
        </p:txBody>
      </p:sp>
      <p:sp>
        <p:nvSpPr>
          <p:cNvPr id="5" name="Text 3"/>
          <p:cNvSpPr txBox="1"/>
          <p:nvPr/>
        </p:nvSpPr>
        <p:spPr>
          <a:xfrm>
            <a:off x="10454335" y="6419088"/>
            <a:ext cx="1097280" cy="256032"/>
          </a:xfrm>
          <a:prstGeom prst="rect">
            <a:avLst/>
          </a:prstGeom>
          <a:noFill/>
          <a:ln/>
        </p:spPr>
        <p:txBody>
          <a:bodyPr wrap="square" lIns="0" tIns="0" rIns="0" bIns="0" rtlCol="0" anchor="ctr"/>
          <a:lstStyle/>
          <a:p>
            <a:pPr algn="r" indent="0" marL="0">
              <a:buNone/>
            </a:pPr>
            <a:r>
              <a:rPr lang="en-US" sz="900" dirty="0">
                <a:solidFill>
                  <a:srgbClr val="5F6B6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640080" y="1417320"/>
            <a:ext cx="5577840" cy="4572000"/>
          </a:xfrm>
          <a:prstGeom prst="roundRect">
            <a:avLst>
              <a:gd name="adj" fmla="val 1200"/>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7" name="Text 5"/>
          <p:cNvSpPr txBox="1"/>
          <p:nvPr/>
        </p:nvSpPr>
        <p:spPr>
          <a:xfrm>
            <a:off x="950976" y="1609344"/>
            <a:ext cx="4956048" cy="292608"/>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What we showed</a:t>
            </a:r>
            <a:endParaRPr lang="en-US" sz="1700" dirty="0"/>
          </a:p>
        </p:txBody>
      </p:sp>
      <p:sp>
        <p:nvSpPr>
          <p:cNvPr id="8" name="Text 6"/>
          <p:cNvSpPr txBox="1"/>
          <p:nvPr/>
        </p:nvSpPr>
        <p:spPr>
          <a:xfrm>
            <a:off x="950976" y="2103120"/>
            <a:ext cx="4956048" cy="3657600"/>
          </a:xfrm>
          <a:prstGeom prst="rect">
            <a:avLst/>
          </a:prstGeom>
          <a:noFill/>
          <a:ln/>
        </p:spPr>
        <p:txBody>
          <a:bodyPr wrap="square" lIns="0" tIns="0" rIns="0" bIns="0" rtlCol="0" anchor="t"/>
          <a:lstStyle/>
          <a:p>
            <a:pPr marL="342900" indent="-342900">
              <a:lnSpc>
                <a:spcPts val="1600"/>
              </a:lnSpc>
              <a:spcAft>
                <a:spcPts val="1100"/>
              </a:spcAft>
              <a:buSzPct val="100000"/>
              <a:buChar char="•"/>
            </a:pPr>
            <a:r>
              <a:rPr lang="en-US" sz="1200" dirty="0">
                <a:solidFill>
                  <a:srgbClr val="1F2A22"/>
                </a:solidFill>
                <a:latin typeface="Calibri" pitchFamily="34" charset="0"/>
                <a:ea typeface="Calibri" pitchFamily="34" charset="-122"/>
                <a:cs typeface="Calibri" pitchFamily="34" charset="-120"/>
              </a:rPr>
              <a:t>A schedule-driven multi-agent framework where planning, interaction and reflection are linked through a memory-centred feedback loop</a:t>
            </a:r>
            <a:endParaRPr lang="en-US" sz="1200" dirty="0"/>
          </a:p>
          <a:p>
            <a:pPr marL="342900" indent="-342900">
              <a:lnSpc>
                <a:spcPts val="1600"/>
              </a:lnSpc>
              <a:spcAft>
                <a:spcPts val="1100"/>
              </a:spcAft>
              <a:buSzPct val="100000"/>
              <a:buChar char="•"/>
            </a:pPr>
            <a:r>
              <a:rPr lang="en-US" sz="1200" dirty="0">
                <a:solidFill>
                  <a:srgbClr val="1F2A22"/>
                </a:solidFill>
                <a:latin typeface="Calibri" pitchFamily="34" charset="0"/>
                <a:ea typeface="Calibri" pitchFamily="34" charset="-122"/>
                <a:cs typeface="Calibri" pitchFamily="34" charset="-120"/>
              </a:rPr>
              <a:t>Importance-based memory preserves what mattered; reflection turns it into insight that guides the next day</a:t>
            </a:r>
            <a:endParaRPr lang="en-US" sz="1200" dirty="0"/>
          </a:p>
          <a:p>
            <a:pPr marL="342900" indent="-342900">
              <a:lnSpc>
                <a:spcPts val="1600"/>
              </a:lnSpc>
              <a:spcAft>
                <a:spcPts val="1100"/>
              </a:spcAft>
              <a:buSzPct val="100000"/>
              <a:buChar char="•"/>
            </a:pPr>
            <a:r>
              <a:rPr lang="en-US" sz="1200" dirty="0">
                <a:solidFill>
                  <a:srgbClr val="1F2A22"/>
                </a:solidFill>
                <a:latin typeface="Calibri" pitchFamily="34" charset="0"/>
                <a:ea typeface="Calibri" pitchFamily="34" charset="-122"/>
                <a:cs typeface="Calibri" pitchFamily="34" charset="-120"/>
              </a:rPr>
              <a:t>Simple generative mechanisms produce consistent routines, lasting social relationships and experience-driven adaptation — with no hand-designed rules</a:t>
            </a:r>
            <a:endParaRPr lang="en-US" sz="1200" dirty="0"/>
          </a:p>
          <a:p>
            <a:pPr marL="342900" indent="-342900">
              <a:lnSpc>
                <a:spcPts val="1600"/>
              </a:lnSpc>
              <a:spcAft>
                <a:spcPts val="1100"/>
              </a:spcAft>
              <a:buSzPct val="100000"/>
              <a:buChar char="•"/>
            </a:pPr>
            <a:r>
              <a:rPr lang="en-US" sz="1200" dirty="0">
                <a:solidFill>
                  <a:srgbClr val="1F2A22"/>
                </a:solidFill>
                <a:latin typeface="Calibri" pitchFamily="34" charset="0"/>
                <a:ea typeface="Calibri" pitchFamily="34" charset="-122"/>
                <a:cs typeface="Calibri" pitchFamily="34" charset="-120"/>
              </a:rPr>
              <a:t>Memory-driven LLM agents are a practical and interpretable foundation for scalable virtual-society simulation</a:t>
            </a:r>
            <a:endParaRPr lang="en-US" sz="1200" dirty="0"/>
          </a:p>
        </p:txBody>
      </p:sp>
      <p:sp>
        <p:nvSpPr>
          <p:cNvPr id="9" name="Text 7"/>
          <p:cNvSpPr txBox="1"/>
          <p:nvPr/>
        </p:nvSpPr>
        <p:spPr>
          <a:xfrm>
            <a:off x="6492240" y="1481328"/>
            <a:ext cx="5077663" cy="329184"/>
          </a:xfrm>
          <a:prstGeom prst="rect">
            <a:avLst/>
          </a:prstGeom>
          <a:noFill/>
          <a:ln/>
        </p:spPr>
        <p:txBody>
          <a:bodyPr wrap="square" lIns="0" tIns="0" rIns="0" bIns="0" rtlCol="0" anchor="ctr"/>
          <a:lstStyle/>
          <a:p>
            <a:pPr indent="0" marL="0">
              <a:buNone/>
            </a:pPr>
            <a:r>
              <a:rPr lang="en-US" sz="1700" b="1" dirty="0">
                <a:solidFill>
                  <a:srgbClr val="C98A24"/>
                </a:solidFill>
                <a:latin typeface="Cambria" pitchFamily="34" charset="0"/>
                <a:ea typeface="Cambria" pitchFamily="34" charset="-122"/>
                <a:cs typeface="Cambria" pitchFamily="34" charset="-120"/>
              </a:rPr>
              <a:t>Future work</a:t>
            </a:r>
            <a:endParaRPr lang="en-US" sz="1700" dirty="0"/>
          </a:p>
        </p:txBody>
      </p:sp>
      <p:sp>
        <p:nvSpPr>
          <p:cNvPr id="10" name="Shape 8"/>
          <p:cNvSpPr/>
          <p:nvPr/>
        </p:nvSpPr>
        <p:spPr>
          <a:xfrm>
            <a:off x="6473952" y="1938528"/>
            <a:ext cx="5077663" cy="1207008"/>
          </a:xfrm>
          <a:prstGeom prst="roundRect">
            <a:avLst>
              <a:gd name="adj" fmla="val 4545"/>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1" name="Shape 9"/>
          <p:cNvSpPr/>
          <p:nvPr/>
        </p:nvSpPr>
        <p:spPr>
          <a:xfrm>
            <a:off x="6711696" y="2157984"/>
            <a:ext cx="365760" cy="365760"/>
          </a:xfrm>
          <a:prstGeom prst="ellipse">
            <a:avLst/>
          </a:prstGeom>
          <a:solidFill>
            <a:srgbClr val="FFFFFF"/>
          </a:solidFill>
          <a:ln w="12700">
            <a:solidFill>
              <a:srgbClr val="C98A24"/>
            </a:solidFill>
            <a:prstDash val="solid"/>
          </a:ln>
        </p:spPr>
      </p:sp>
      <p:sp>
        <p:nvSpPr>
          <p:cNvPr id="12" name="Shape 10"/>
          <p:cNvSpPr/>
          <p:nvPr/>
        </p:nvSpPr>
        <p:spPr>
          <a:xfrm>
            <a:off x="6711696" y="2157984"/>
            <a:ext cx="365760" cy="365760"/>
          </a:xfrm>
          <a:prstGeom prst="ellipse">
            <a:avLst/>
          </a:prstGeom>
          <a:solidFill>
            <a:srgbClr val="C98A24"/>
          </a:solidFill>
          <a:ln/>
        </p:spPr>
      </p:sp>
      <p:sp>
        <p:nvSpPr>
          <p:cNvPr id="13" name="Text 11"/>
          <p:cNvSpPr txBox="1"/>
          <p:nvPr/>
        </p:nvSpPr>
        <p:spPr>
          <a:xfrm>
            <a:off x="6711696" y="21579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4" name="Text 12"/>
          <p:cNvSpPr txBox="1"/>
          <p:nvPr/>
        </p:nvSpPr>
        <p:spPr>
          <a:xfrm>
            <a:off x="7223760" y="2157984"/>
            <a:ext cx="4071823" cy="274320"/>
          </a:xfrm>
          <a:prstGeom prst="rect">
            <a:avLst/>
          </a:prstGeom>
          <a:noFill/>
          <a:ln/>
        </p:spPr>
        <p:txBody>
          <a:bodyPr wrap="square" lIns="0" tIns="0" rIns="0" bIns="0" rtlCol="0" anchor="ctr"/>
          <a:lstStyle/>
          <a:p>
            <a:pPr indent="0" marL="0">
              <a:buNone/>
            </a:pPr>
            <a:r>
              <a:rPr lang="en-US" sz="1300" b="1" dirty="0">
                <a:solidFill>
                  <a:srgbClr val="1B2E23"/>
                </a:solidFill>
                <a:latin typeface="Cambria" pitchFamily="34" charset="0"/>
                <a:ea typeface="Cambria" pitchFamily="34" charset="-122"/>
                <a:cs typeface="Cambria" pitchFamily="34" charset="-120"/>
              </a:rPr>
              <a:t>Quantitative evaluation</a:t>
            </a:r>
            <a:endParaRPr lang="en-US" sz="1300" dirty="0"/>
          </a:p>
        </p:txBody>
      </p:sp>
      <p:sp>
        <p:nvSpPr>
          <p:cNvPr id="15" name="Text 13"/>
          <p:cNvSpPr txBox="1"/>
          <p:nvPr/>
        </p:nvSpPr>
        <p:spPr>
          <a:xfrm>
            <a:off x="6748272" y="2505456"/>
            <a:ext cx="4529023" cy="566928"/>
          </a:xfrm>
          <a:prstGeom prst="rect">
            <a:avLst/>
          </a:prstGeom>
          <a:noFill/>
          <a:ln/>
        </p:spPr>
        <p:txBody>
          <a:bodyPr wrap="square" lIns="0" tIns="0" rIns="0" bIns="0" rtlCol="0" anchor="t"/>
          <a:lstStyle/>
          <a:p>
            <a:pPr indent="0" marL="0">
              <a:lnSpc>
                <a:spcPts val="1350"/>
              </a:lnSpc>
              <a:buNone/>
            </a:pPr>
            <a:r>
              <a:rPr lang="en-US" sz="1050" dirty="0">
                <a:solidFill>
                  <a:srgbClr val="1F2A22"/>
                </a:solidFill>
                <a:latin typeface="Calibri" pitchFamily="34" charset="0"/>
                <a:ea typeface="Calibri" pitchFamily="34" charset="-122"/>
                <a:cs typeface="Calibri" pitchFamily="34" charset="-120"/>
              </a:rPr>
              <a:t>Social network analysis, interaction frequency, plan coherence, task completion — plus user studies on perceived realism</a:t>
            </a:r>
            <a:endParaRPr lang="en-US" sz="1050" dirty="0"/>
          </a:p>
        </p:txBody>
      </p:sp>
      <p:sp>
        <p:nvSpPr>
          <p:cNvPr id="16" name="Shape 14"/>
          <p:cNvSpPr/>
          <p:nvPr/>
        </p:nvSpPr>
        <p:spPr>
          <a:xfrm>
            <a:off x="6473952" y="3310128"/>
            <a:ext cx="5077663" cy="1207008"/>
          </a:xfrm>
          <a:prstGeom prst="roundRect">
            <a:avLst>
              <a:gd name="adj" fmla="val 4545"/>
            </a:avLst>
          </a:prstGeom>
          <a:solidFill>
            <a:srgbClr val="FFFFFF"/>
          </a:solidFill>
          <a:ln w="12700">
            <a:solidFill>
              <a:srgbClr val="E2E7DD"/>
            </a:solidFill>
            <a:prstDash val="solid"/>
          </a:ln>
          <a:effectLst>
            <a:outerShdw sx="100000" sy="100000" kx="0" ky="0" algn="bl" rotWithShape="0" blurRad="101600" dist="25400" dir="5400000">
              <a:srgbClr val="1B2E23">
                <a:alpha val="10000"/>
              </a:srgbClr>
            </a:outerShdw>
          </a:effectLst>
        </p:spPr>
      </p:sp>
      <p:sp>
        <p:nvSpPr>
          <p:cNvPr id="17" name="Shape 15"/>
          <p:cNvSpPr/>
          <p:nvPr/>
        </p:nvSpPr>
        <p:spPr>
          <a:xfrm>
            <a:off x="6711696" y="3529584"/>
            <a:ext cx="365760" cy="365760"/>
          </a:xfrm>
          <a:prstGeom prst="ellipse">
            <a:avLst/>
          </a:prstGeom>
          <a:solidFill>
            <a:srgbClr val="FFFFFF"/>
          </a:solidFill>
          <a:ln w="12700">
            <a:solidFill>
              <a:srgbClr val="2C5F2D"/>
            </a:solidFill>
            <a:prstDash val="solid"/>
          </a:ln>
        </p:spPr>
      </p:sp>
      <p:sp>
        <p:nvSpPr>
          <p:cNvPr id="18" name="Shape 16"/>
          <p:cNvSpPr/>
          <p:nvPr/>
        </p:nvSpPr>
        <p:spPr>
          <a:xfrm>
            <a:off x="6711696" y="3529584"/>
            <a:ext cx="365760" cy="365760"/>
          </a:xfrm>
          <a:prstGeom prst="ellipse">
            <a:avLst/>
          </a:prstGeom>
          <a:solidFill>
            <a:srgbClr val="2C5F2D"/>
          </a:solidFill>
          <a:ln/>
        </p:spPr>
      </p:sp>
      <p:sp>
        <p:nvSpPr>
          <p:cNvPr id="19" name="Text 17"/>
          <p:cNvSpPr txBox="1"/>
          <p:nvPr/>
        </p:nvSpPr>
        <p:spPr>
          <a:xfrm>
            <a:off x="6711696" y="35295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20" name="Text 18"/>
          <p:cNvSpPr txBox="1"/>
          <p:nvPr/>
        </p:nvSpPr>
        <p:spPr>
          <a:xfrm>
            <a:off x="7223760" y="3529584"/>
            <a:ext cx="4071823" cy="274320"/>
          </a:xfrm>
          <a:prstGeom prst="rect">
            <a:avLst/>
          </a:prstGeom>
          <a:noFill/>
          <a:ln/>
        </p:spPr>
        <p:txBody>
          <a:bodyPr wrap="square" lIns="0" tIns="0" rIns="0" bIns="0" rtlCol="0" anchor="ctr"/>
          <a:lstStyle/>
          <a:p>
            <a:pPr indent="0" marL="0">
              <a:buNone/>
            </a:pPr>
            <a:r>
              <a:rPr lang="en-US" sz="1300" b="1" dirty="0">
                <a:solidFill>
                  <a:srgbClr val="1B2E23"/>
                </a:solidFill>
                <a:latin typeface="Cambria" pitchFamily="34" charset="0"/>
                <a:ea typeface="Cambria" pitchFamily="34" charset="-122"/>
                <a:cs typeface="Cambria" pitchFamily="34" charset="-120"/>
              </a:rPr>
              <a:t>Scale &amp; real time</a:t>
            </a:r>
            <a:endParaRPr lang="en-US" sz="1300" dirty="0"/>
          </a:p>
        </p:txBody>
      </p:sp>
      <p:sp>
        <p:nvSpPr>
          <p:cNvPr id="21" name="Text 19"/>
          <p:cNvSpPr txBox="1"/>
          <p:nvPr/>
        </p:nvSpPr>
        <p:spPr>
          <a:xfrm>
            <a:off x="6748272" y="3877056"/>
            <a:ext cx="4529023" cy="566928"/>
          </a:xfrm>
          <a:prstGeom prst="rect">
            <a:avLst/>
          </a:prstGeom>
          <a:noFill/>
          <a:ln/>
        </p:spPr>
        <p:txBody>
          <a:bodyPr wrap="square" lIns="0" tIns="0" rIns="0" bIns="0" rtlCol="0" anchor="t"/>
          <a:lstStyle/>
          <a:p>
            <a:pPr indent="0" marL="0">
              <a:lnSpc>
                <a:spcPts val="1350"/>
              </a:lnSpc>
              <a:buNone/>
            </a:pPr>
            <a:r>
              <a:rPr lang="en-US" sz="1050" dirty="0">
                <a:solidFill>
                  <a:srgbClr val="1F2A22"/>
                </a:solidFill>
                <a:latin typeface="Calibri" pitchFamily="34" charset="0"/>
                <a:ea typeface="Calibri" pitchFamily="34" charset="-122"/>
                <a:cs typeface="Calibri" pitchFamily="34" charset="-120"/>
              </a:rPr>
              <a:t>Larger populations and richer environments; moving from pre-generated behaviour to real-time reaction to events</a:t>
            </a:r>
            <a:endParaRPr lang="en-US" sz="1050" dirty="0"/>
          </a:p>
        </p:txBody>
      </p:sp>
      <p:sp>
        <p:nvSpPr>
          <p:cNvPr id="22" name="Shape 20"/>
          <p:cNvSpPr/>
          <p:nvPr/>
        </p:nvSpPr>
        <p:spPr>
          <a:xfrm>
            <a:off x="6473952" y="4681728"/>
            <a:ext cx="5077663" cy="1207008"/>
          </a:xfrm>
          <a:prstGeom prst="roundRect">
            <a:avLst>
              <a:gd name="adj" fmla="val 4545"/>
            </a:avLst>
          </a:prstGeom>
          <a:solidFill>
            <a:srgbClr val="EAF2E4"/>
          </a:solidFill>
          <a:ln w="12700">
            <a:solidFill>
              <a:srgbClr val="EAF2E4"/>
            </a:solidFill>
            <a:prstDash val="solid"/>
          </a:ln>
        </p:spPr>
      </p:sp>
      <p:sp>
        <p:nvSpPr>
          <p:cNvPr id="23" name="Shape 21"/>
          <p:cNvSpPr/>
          <p:nvPr/>
        </p:nvSpPr>
        <p:spPr>
          <a:xfrm>
            <a:off x="6711696" y="4901184"/>
            <a:ext cx="365760" cy="365760"/>
          </a:xfrm>
          <a:prstGeom prst="ellipse">
            <a:avLst/>
          </a:prstGeom>
          <a:solidFill>
            <a:srgbClr val="FFFFFF"/>
          </a:solidFill>
          <a:ln w="12700">
            <a:solidFill>
              <a:srgbClr val="C98A24"/>
            </a:solidFill>
            <a:prstDash val="solid"/>
          </a:ln>
        </p:spPr>
      </p:sp>
      <p:sp>
        <p:nvSpPr>
          <p:cNvPr id="24" name="Shape 22"/>
          <p:cNvSpPr/>
          <p:nvPr/>
        </p:nvSpPr>
        <p:spPr>
          <a:xfrm>
            <a:off x="6711696" y="4901184"/>
            <a:ext cx="365760" cy="365760"/>
          </a:xfrm>
          <a:prstGeom prst="ellipse">
            <a:avLst/>
          </a:prstGeom>
          <a:solidFill>
            <a:srgbClr val="C98A24"/>
          </a:solidFill>
          <a:ln/>
        </p:spPr>
      </p:sp>
      <p:sp>
        <p:nvSpPr>
          <p:cNvPr id="25" name="Text 23"/>
          <p:cNvSpPr txBox="1"/>
          <p:nvPr/>
        </p:nvSpPr>
        <p:spPr>
          <a:xfrm>
            <a:off x="6711696" y="49011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6" name="Text 24"/>
          <p:cNvSpPr txBox="1"/>
          <p:nvPr/>
        </p:nvSpPr>
        <p:spPr>
          <a:xfrm>
            <a:off x="7223760" y="4901184"/>
            <a:ext cx="4071823" cy="274320"/>
          </a:xfrm>
          <a:prstGeom prst="rect">
            <a:avLst/>
          </a:prstGeom>
          <a:noFill/>
          <a:ln/>
        </p:spPr>
        <p:txBody>
          <a:bodyPr wrap="square" lIns="0" tIns="0" rIns="0" bIns="0" rtlCol="0" anchor="ctr"/>
          <a:lstStyle/>
          <a:p>
            <a:pPr indent="0" marL="0">
              <a:buNone/>
            </a:pPr>
            <a:r>
              <a:rPr lang="en-US" sz="1300" b="1" dirty="0">
                <a:solidFill>
                  <a:srgbClr val="1B2E23"/>
                </a:solidFill>
                <a:latin typeface="Cambria" pitchFamily="34" charset="0"/>
                <a:ea typeface="Cambria" pitchFamily="34" charset="-122"/>
                <a:cs typeface="Cambria" pitchFamily="34" charset="-120"/>
              </a:rPr>
              <a:t>Reasoning &amp; applications</a:t>
            </a:r>
            <a:endParaRPr lang="en-US" sz="1300" dirty="0"/>
          </a:p>
        </p:txBody>
      </p:sp>
      <p:sp>
        <p:nvSpPr>
          <p:cNvPr id="27" name="Text 25"/>
          <p:cNvSpPr txBox="1"/>
          <p:nvPr/>
        </p:nvSpPr>
        <p:spPr>
          <a:xfrm>
            <a:off x="6748272" y="5248656"/>
            <a:ext cx="4529023" cy="566928"/>
          </a:xfrm>
          <a:prstGeom prst="rect">
            <a:avLst/>
          </a:prstGeom>
          <a:noFill/>
          <a:ln/>
        </p:spPr>
        <p:txBody>
          <a:bodyPr wrap="square" lIns="0" tIns="0" rIns="0" bIns="0" rtlCol="0" anchor="t"/>
          <a:lstStyle/>
          <a:p>
            <a:pPr indent="0" marL="0">
              <a:lnSpc>
                <a:spcPts val="1350"/>
              </a:lnSpc>
              <a:buNone/>
            </a:pPr>
            <a:r>
              <a:rPr lang="en-US" sz="1050" dirty="0">
                <a:solidFill>
                  <a:srgbClr val="1F2A22"/>
                </a:solidFill>
                <a:latin typeface="Calibri" pitchFamily="34" charset="0"/>
                <a:ea typeface="Calibri" pitchFamily="34" charset="-122"/>
                <a:cs typeface="Calibri" pitchFamily="34" charset="-120"/>
              </a:rPr>
              <a:t>Multi-level reflection and evolving goals; game NPCs, educational simulation, smart environments, embodied agents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640080" y="1463040"/>
            <a:ext cx="10911535"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txBox="1"/>
          <p:nvPr/>
        </p:nvSpPr>
        <p:spPr>
          <a:xfrm>
            <a:off x="640080" y="2450592"/>
            <a:ext cx="10911535" cy="365760"/>
          </a:xfrm>
          <a:prstGeom prst="rect">
            <a:avLst/>
          </a:prstGeom>
          <a:noFill/>
          <a:ln/>
        </p:spPr>
        <p:txBody>
          <a:bodyPr wrap="square" lIns="0" tIns="0" rIns="0" bIns="0" rtlCol="0" anchor="ctr"/>
          <a:lstStyle/>
          <a:p>
            <a:pPr indent="0" marL="0">
              <a:buNone/>
            </a:pPr>
            <a:r>
              <a:rPr lang="en-US" sz="1700" dirty="0">
                <a:solidFill>
                  <a:srgbClr val="7FB069"/>
                </a:solidFill>
                <a:latin typeface="Calibri" pitchFamily="34" charset="0"/>
                <a:ea typeface="Calibri" pitchFamily="34" charset="-122"/>
                <a:cs typeface="Calibri" pitchFamily="34" charset="-120"/>
              </a:rPr>
              <a:t>Questions are very welcome.</a:t>
            </a:r>
            <a:endParaRPr lang="en-US" sz="1700" dirty="0"/>
          </a:p>
        </p:txBody>
      </p:sp>
      <p:sp>
        <p:nvSpPr>
          <p:cNvPr id="4" name="Shape 2"/>
          <p:cNvSpPr/>
          <p:nvPr/>
        </p:nvSpPr>
        <p:spPr>
          <a:xfrm>
            <a:off x="640080" y="3108960"/>
            <a:ext cx="5349240" cy="1371600"/>
          </a:xfrm>
          <a:prstGeom prst="roundRect">
            <a:avLst>
              <a:gd name="adj" fmla="val 4000"/>
            </a:avLst>
          </a:prstGeom>
          <a:solidFill>
            <a:srgbClr val="24402F"/>
          </a:solidFill>
          <a:ln w="12700">
            <a:solidFill>
              <a:srgbClr val="2F4E3A"/>
            </a:solidFill>
            <a:prstDash val="solid"/>
          </a:ln>
        </p:spPr>
      </p:sp>
      <p:sp>
        <p:nvSpPr>
          <p:cNvPr id="5" name="Text 3"/>
          <p:cNvSpPr txBox="1"/>
          <p:nvPr/>
        </p:nvSpPr>
        <p:spPr>
          <a:xfrm>
            <a:off x="950976" y="3291840"/>
            <a:ext cx="4727448"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Aoao Guo</a:t>
            </a:r>
            <a:endParaRPr lang="en-US" sz="1500" dirty="0"/>
          </a:p>
        </p:txBody>
      </p:sp>
      <p:sp>
        <p:nvSpPr>
          <p:cNvPr id="6" name="Text 4"/>
          <p:cNvSpPr txBox="1"/>
          <p:nvPr/>
        </p:nvSpPr>
        <p:spPr>
          <a:xfrm>
            <a:off x="950976" y="3621024"/>
            <a:ext cx="4727448" cy="685800"/>
          </a:xfrm>
          <a:prstGeom prst="rect">
            <a:avLst/>
          </a:prstGeom>
          <a:noFill/>
          <a:ln/>
        </p:spPr>
        <p:txBody>
          <a:bodyPr wrap="square" lIns="0" tIns="0" rIns="0" bIns="0" rtlCol="0" anchor="t"/>
          <a:lstStyle/>
          <a:p>
            <a:pPr indent="0" marL="0">
              <a:lnSpc>
                <a:spcPts val="1700"/>
              </a:lnSpc>
              <a:buNone/>
            </a:pPr>
            <a:r>
              <a:rPr lang="en-US" sz="1200" dirty="0">
                <a:solidFill>
                  <a:srgbClr val="C6D6C6"/>
                </a:solidFill>
                <a:latin typeface="Calibri" pitchFamily="34" charset="0"/>
                <a:ea typeface="Calibri" pitchFamily="34" charset="-122"/>
                <a:cs typeface="Calibri" pitchFamily="34" charset="-120"/>
              </a:rPr>
              <a:t>Faculty of Life Sciences, University College London</a:t>
            </a:r>
            <a:endParaRPr lang="en-US" sz="1200" dirty="0"/>
          </a:p>
          <a:p>
            <a:pPr indent="0" marL="0">
              <a:lnSpc>
                <a:spcPts val="1700"/>
              </a:lnSpc>
              <a:buNone/>
            </a:pPr>
            <a:r>
              <a:rPr lang="en-US" sz="1200" dirty="0">
                <a:solidFill>
                  <a:srgbClr val="C6D6C6"/>
                </a:solidFill>
                <a:latin typeface="Calibri" pitchFamily="34" charset="0"/>
                <a:ea typeface="Calibri" pitchFamily="34" charset="-122"/>
                <a:cs typeface="Calibri" pitchFamily="34" charset="-120"/>
              </a:rPr>
              <a:t>aoao.guo.25@ucl.ac.uk</a:t>
            </a:r>
            <a:endParaRPr lang="en-US" sz="1200" dirty="0"/>
          </a:p>
        </p:txBody>
      </p:sp>
      <p:sp>
        <p:nvSpPr>
          <p:cNvPr id="7" name="Shape 5"/>
          <p:cNvSpPr/>
          <p:nvPr/>
        </p:nvSpPr>
        <p:spPr>
          <a:xfrm>
            <a:off x="6199632" y="3108960"/>
            <a:ext cx="5349240" cy="1371600"/>
          </a:xfrm>
          <a:prstGeom prst="roundRect">
            <a:avLst>
              <a:gd name="adj" fmla="val 4000"/>
            </a:avLst>
          </a:prstGeom>
          <a:solidFill>
            <a:srgbClr val="24402F"/>
          </a:solidFill>
          <a:ln w="12700">
            <a:solidFill>
              <a:srgbClr val="2F4E3A"/>
            </a:solidFill>
            <a:prstDash val="solid"/>
          </a:ln>
        </p:spPr>
      </p:sp>
      <p:sp>
        <p:nvSpPr>
          <p:cNvPr id="8" name="Text 6"/>
          <p:cNvSpPr txBox="1"/>
          <p:nvPr/>
        </p:nvSpPr>
        <p:spPr>
          <a:xfrm>
            <a:off x="6510528" y="3291840"/>
            <a:ext cx="4727448"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Paper 108</a:t>
            </a:r>
            <a:endParaRPr lang="en-US" sz="1500" dirty="0"/>
          </a:p>
        </p:txBody>
      </p:sp>
      <p:sp>
        <p:nvSpPr>
          <p:cNvPr id="9" name="Text 7"/>
          <p:cNvSpPr txBox="1"/>
          <p:nvPr/>
        </p:nvSpPr>
        <p:spPr>
          <a:xfrm>
            <a:off x="6510528" y="3621024"/>
            <a:ext cx="4727448" cy="685800"/>
          </a:xfrm>
          <a:prstGeom prst="rect">
            <a:avLst/>
          </a:prstGeom>
          <a:noFill/>
          <a:ln/>
        </p:spPr>
        <p:txBody>
          <a:bodyPr wrap="square" lIns="0" tIns="0" rIns="0" bIns="0" rtlCol="0" anchor="t"/>
          <a:lstStyle/>
          <a:p>
            <a:pPr indent="0" marL="0">
              <a:lnSpc>
                <a:spcPts val="1700"/>
              </a:lnSpc>
              <a:buNone/>
            </a:pPr>
            <a:r>
              <a:rPr lang="en-US" sz="1200" dirty="0">
                <a:solidFill>
                  <a:srgbClr val="C6D6C6"/>
                </a:solidFill>
                <a:latin typeface="Calibri" pitchFamily="34" charset="0"/>
                <a:ea typeface="Calibri" pitchFamily="34" charset="-122"/>
                <a:cs typeface="Calibri" pitchFamily="34" charset="-120"/>
              </a:rPr>
              <a:t>A Lightweight LLM-Driven Multi-Agent Framework for</a:t>
            </a:r>
            <a:endParaRPr lang="en-US" sz="1200" dirty="0"/>
          </a:p>
          <a:p>
            <a:pPr indent="0" marL="0">
              <a:lnSpc>
                <a:spcPts val="1700"/>
              </a:lnSpc>
              <a:buNone/>
            </a:pPr>
            <a:r>
              <a:rPr lang="en-US" sz="1200" dirty="0">
                <a:solidFill>
                  <a:srgbClr val="C6D6C6"/>
                </a:solidFill>
                <a:latin typeface="Calibri" pitchFamily="34" charset="0"/>
                <a:ea typeface="Calibri" pitchFamily="34" charset="-122"/>
                <a:cs typeface="Calibri" pitchFamily="34" charset="-120"/>
              </a:rPr>
              <a:t>Virtual Society Simulation with Memory Feedback</a:t>
            </a:r>
            <a:endParaRPr lang="en-US" sz="1200" dirty="0"/>
          </a:p>
        </p:txBody>
      </p:sp>
      <p:pic>
        <p:nvPicPr>
          <p:cNvPr id="10" name="Image 0" descr="/tmp/claude-0/-home-user-valentown/d6e1bc7b-94ca-5433-b61a-57600741710e/scratchpad/assets/ron.png">    </p:cNvPr>
          <p:cNvPicPr>
            <a:picLocks noChangeAspect="1"/>
          </p:cNvPicPr>
          <p:nvPr/>
        </p:nvPicPr>
        <p:blipFill>
          <a:blip r:embed="rId1"/>
          <a:stretch>
            <a:fillRect/>
          </a:stretch>
        </p:blipFill>
        <p:spPr>
          <a:xfrm>
            <a:off x="1510568" y="5074920"/>
            <a:ext cx="444833" cy="1051560"/>
          </a:xfrm>
          <a:prstGeom prst="rect">
            <a:avLst/>
          </a:prstGeom>
        </p:spPr>
      </p:pic>
      <p:pic>
        <p:nvPicPr>
          <p:cNvPr id="11" name="Image 1" descr="/tmp/claude-0/-home-user-valentown/d6e1bc7b-94ca-5433-b61a-57600741710e/scratchpad/assets/ella.png">    </p:cNvPr>
          <p:cNvPicPr>
            <a:picLocks noChangeAspect="1"/>
          </p:cNvPicPr>
          <p:nvPr/>
        </p:nvPicPr>
        <p:blipFill>
          <a:blip r:embed="rId2"/>
          <a:stretch>
            <a:fillRect/>
          </a:stretch>
        </p:blipFill>
        <p:spPr>
          <a:xfrm>
            <a:off x="2914493" y="5074920"/>
            <a:ext cx="545559" cy="1051560"/>
          </a:xfrm>
          <a:prstGeom prst="rect">
            <a:avLst/>
          </a:prstGeom>
        </p:spPr>
      </p:pic>
      <p:pic>
        <p:nvPicPr>
          <p:cNvPr id="12" name="Image 2" descr="/tmp/claude-0/-home-user-valentown/d6e1bc7b-94ca-5433-b61a-57600741710e/scratchpad/assets/emma.png">    </p:cNvPr>
          <p:cNvPicPr>
            <a:picLocks noChangeAspect="1"/>
          </p:cNvPicPr>
          <p:nvPr/>
        </p:nvPicPr>
        <p:blipFill>
          <a:blip r:embed="rId3"/>
          <a:stretch>
            <a:fillRect/>
          </a:stretch>
        </p:blipFill>
        <p:spPr>
          <a:xfrm>
            <a:off x="4369526" y="5074920"/>
            <a:ext cx="544068" cy="1051560"/>
          </a:xfrm>
          <a:prstGeom prst="rect">
            <a:avLst/>
          </a:prstGeom>
        </p:spPr>
      </p:pic>
      <p:pic>
        <p:nvPicPr>
          <p:cNvPr id="13" name="Image 3" descr="/tmp/claude-0/-home-user-valentown/d6e1bc7b-94ca-5433-b61a-57600741710e/scratchpad/assets/gavin.png">    </p:cNvPr>
          <p:cNvPicPr>
            <a:picLocks noChangeAspect="1"/>
          </p:cNvPicPr>
          <p:nvPr/>
        </p:nvPicPr>
        <p:blipFill>
          <a:blip r:embed="rId4"/>
          <a:stretch>
            <a:fillRect/>
          </a:stretch>
        </p:blipFill>
        <p:spPr>
          <a:xfrm>
            <a:off x="5857062" y="5074920"/>
            <a:ext cx="477571" cy="1051560"/>
          </a:xfrm>
          <a:prstGeom prst="rect">
            <a:avLst/>
          </a:prstGeom>
        </p:spPr>
      </p:pic>
      <p:pic>
        <p:nvPicPr>
          <p:cNvPr id="14" name="Image 4" descr="/tmp/claude-0/-home-user-valentown/d6e1bc7b-94ca-5433-b61a-57600741710e/scratchpad/assets/adam.png">    </p:cNvPr>
          <p:cNvPicPr>
            <a:picLocks noChangeAspect="1"/>
          </p:cNvPicPr>
          <p:nvPr/>
        </p:nvPicPr>
        <p:blipFill>
          <a:blip r:embed="rId5"/>
          <a:stretch>
            <a:fillRect/>
          </a:stretch>
        </p:blipFill>
        <p:spPr>
          <a:xfrm>
            <a:off x="7299685" y="5074920"/>
            <a:ext cx="500901" cy="1051560"/>
          </a:xfrm>
          <a:prstGeom prst="rect">
            <a:avLst/>
          </a:prstGeom>
        </p:spPr>
      </p:pic>
      <p:pic>
        <p:nvPicPr>
          <p:cNvPr id="15" name="Image 5" descr="/tmp/claude-0/-home-user-valentown/d6e1bc7b-94ca-5433-b61a-57600741710e/scratchpad/assets/mia.png">    </p:cNvPr>
          <p:cNvPicPr>
            <a:picLocks noChangeAspect="1"/>
          </p:cNvPicPr>
          <p:nvPr/>
        </p:nvPicPr>
        <p:blipFill>
          <a:blip r:embed="rId6"/>
          <a:stretch>
            <a:fillRect/>
          </a:stretch>
        </p:blipFill>
        <p:spPr>
          <a:xfrm>
            <a:off x="8746799" y="5074920"/>
            <a:ext cx="515248" cy="1051560"/>
          </a:xfrm>
          <a:prstGeom prst="rect">
            <a:avLst/>
          </a:prstGeom>
        </p:spPr>
      </p:pic>
      <p:pic>
        <p:nvPicPr>
          <p:cNvPr id="16" name="Image 6" descr="/tmp/claude-0/-home-user-valentown/d6e1bc7b-94ca-5433-b61a-57600741710e/scratchpad/assets/arthur.png">    </p:cNvPr>
          <p:cNvPicPr>
            <a:picLocks noChangeAspect="1"/>
          </p:cNvPicPr>
          <p:nvPr/>
        </p:nvPicPr>
        <p:blipFill>
          <a:blip r:embed="rId7"/>
          <a:stretch>
            <a:fillRect/>
          </a:stretch>
        </p:blipFill>
        <p:spPr>
          <a:xfrm>
            <a:off x="10182454" y="5074920"/>
            <a:ext cx="552515" cy="1051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Lightweight LLM-Driven Multi-Agent Framework for Virtual Society Simulation with Memory Feedback</dc:title>
  <dc:subject>PptxGenJS Presentation</dc:subject>
  <dc:creator>Aoao Guo</dc:creator>
  <cp:lastModifiedBy>Aoao Guo</cp:lastModifiedBy>
  <cp:revision>1</cp:revision>
  <dcterms:created xsi:type="dcterms:W3CDTF">2026-08-26T21:40:20Z</dcterms:created>
  <dcterms:modified xsi:type="dcterms:W3CDTF">2026-08-26T21:40:20Z</dcterms:modified>
</cp:coreProperties>
</file>