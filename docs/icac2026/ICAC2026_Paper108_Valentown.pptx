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Aoao Guo, from University College London, and this is joint work with Xinyi Tao, Huakang Li and Xuewu Dai. We present a lightweight, LLM-driven multi-agent framework for simulating a virtual society, built around a memory feedback loop. Our system is a small town called Valentown, with seven residents who plan their own days, meet each other, remember what happened, and adapt because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simulation is the standard way to model complex systems: social networks, transport, smart cities. But classical agent-based models run on predefined rules. They capture macro patterns well and human behaviour badly — no context, no planning, no memory.
Large language models changed what an agent can do. An LLM agent produces coherent language, keeps context, and imitates parts of human reasoning.
But something is still missing. Most LLM agent systems are reactive: they answer the prompt in front of them. There is no daily structure, and interaction is ad hoc. So behaviour drifts, the dynamics are hard to control, and results are hard to reproduce. That is the gap we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is: how do we design a virtual society where agents are structured, evolving and controllable at the same time?
That breaks into three requirements, and each one is answered by one mechanism. These are also our three contributions.
Temporal structure: behaviour has to be organised as a day. Our answer is a schedule-driven agent design.
Evolution: yesterday has to change tomorrow. Our answer is a memory-based feedback loop.
Controllability: interaction must follow an explicit rule, and a human should be able to step in. Our answer is a deterministic co-location trigger, plus optional human-in-the-loop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has two halves. The backend, in Python, is where the agents think: daily planning, dialogue, reflection and memory management. It is the only part that calls the language model — we use the DeepSeek API. The frontend, in Phaser, renders the town and the conversations, and talks to the backend over REST.
Underneath there are five modules — Agent Manager, Scheduler, Interaction Engine, LLM Interface and Memory Manager — and each can be replaced without touching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mechanisms.
Schedule-driven behaviour. Instead of asking an agent what to do at every moment, the day starts with an explicit schedule. The prompt combines identity, personality and goals with memories retrieved as context, and the model returns activities and the destinations they imply. That is what makes routines coherent over time, and interpretable for us.
Second, interaction. We do not sample conversations at random. Two agents talk when they are in the same place in the same period — plain co-location. The rule is deterministic, so the social dynamics are reproducible; what gets said is still generated by the model.
That is the design principle of the paper: deterministic when, generative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mechanism, and the heart of the paper: memory.
Everything an agent produces goes into one store. Plans are kept as behavioural records, conversations as social experience, reflections as summaries. Every entry has a category, a timestamp and an importance score.
And everything reads from that store. Planning retrieves relevant memories, dialogue retrieves recent history, and reflection summarises the important ones into compact insight and writes it back. That is the loop in the figure.
Retrieval favours recent and high-importance entries, and the store stays bounded, so agents keep what mattered.
Two notes. A person can write feedback directly into memory, through the same channel. And the language model itself is stateless — all continuity lives in the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simulation day in the implemented system.
Agents initialise from their profile and their memory. On day one there is nothing to reflect on, so they plan straight from the profile. On every later day they first retrieve and reflect on memory, and that reflection feeds the planning call.
Then: generate the plan, save it, determine the destination, move there, and if another agent is present, they talk. The conversation goes back into memory. Nine steps, and the loop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framework running. Valentown: homes along the top, the café, supermarket and pharmacy below, a park on the left. Those locations are the spatial anchors that make co-location, and therefore interaction, possible.
Seven residents live there, each with their own age, role, personality and goals — a case study, not part of the method.
All generation goes through one LLM interface: prompt construction, the call, and validation before anything enters the simulation. Behaviour is pre-computed asynchronously, so the client never stalls waiting for an API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instantiate the framework with seven agents: a supermarket owner, a pharmacist, a couple with a seven-year-old, a family teacher and an architect. Their attributes ground everything the model generates.
The environment is the structured town, with co-location as the interaction condition. We run multiple consecutive virtual days, and each day is a full cycle — schedule, movement, interaction, logging, reflection.
Scheduling is deterministic while the generated content is stochastic: a reproducible pipeline with diverse behaviour inside it. And we ask three questions — what interaction does, what memory does, and whether social structure emerges.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an ablation on interaction.
With interaction on, agents produce richer and more varied behaviour. The reason is mechanical: a conversation puts new context into memory, and memory is an input to the next plan. So what someone said to you yesterday shows up in what you do today. We see agents scheduling follow-ups, returning to the same places, and repeated contact reinforcing specific pairs.
With interaction off, the town goes quiet. No new social information enters the system, agents fall back on their initial goals, and schedules stay static across days.
So interaction is not decoration here — it drives diversity and adaptation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result is about memory over time.
Memory content does not stay the same. Early on it is mostly plans and observations. As the days pass, conversations and reflections become prominent. Later, high-importance interaction and reflection memories form the dominant context for new decisions — the store turns from a log of activity into accumulated experience.
And that content tracks behaviour. Agents with rich interaction and reflection memories adapt more and behave more coherently. Repeated interaction between two agents forms a persistent bond, visible later as repeated co-location. Nobody wrote a friendship rule; it comes out of memory plus retrieval. Where memory influence is limited, adaptation is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the trade-offs.
The framework is lightweight and reproducible, because the pipeline and the interaction triggers are explicit. It is controllable, through schedules, the co-location rule and the human channel. And it is extendable — every module, including the model behind the interface, can be swapped.
The limitations are real. Cost: every plan, conversation and reflection is an API call, and that scales with agents times days. Scale: this is a small study in a simple town. And stochasticity: outputs vary between runs, which is why our current evaluation is qualitative rather than numeric.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presented a schedule-driven multi-agent framework in which planning, interaction and reflection are linked through a memory-centred feedback loop. Importance-based memory keeps what mattered, and reflection turns it into insight that guides the next day.
The experiments show that these simple mechanisms are enough: agents develop consistent routines, form lasting relationships and adapt from experience, with no hand-written behavioural rules.
Three directions ahead. Quantitative evaluation is the most important — network analysis, interaction frequency, plan coherence, plus user studies. Then larger populations and real-time reaction. And finally deeper reasoning, with applications to game NPCs, education and embodied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for your attention.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120" kern="0" dirty="0">
                <a:solidFill>
                  <a:srgbClr val="7FB069"/>
                </a:solidFill>
                <a:latin typeface="Calibri" pitchFamily="34" charset="0"/>
                <a:ea typeface="Calibri" pitchFamily="34" charset="-122"/>
                <a:cs typeface="Calibri" pitchFamily="34" charset="-120"/>
              </a:rPr>
              <a:t>ICAC 2026  ·  International Conference on Automation and Computing</a:t>
            </a:r>
            <a:endParaRPr lang="en-US" sz="1200" dirty="0"/>
          </a:p>
        </p:txBody>
      </p:sp>
      <p:sp>
        <p:nvSpPr>
          <p:cNvPr id="3" name="Text 1"/>
          <p:cNvSpPr txBox="1"/>
          <p:nvPr/>
        </p:nvSpPr>
        <p:spPr>
          <a:xfrm>
            <a:off x="640080" y="1143000"/>
            <a:ext cx="10424160" cy="169164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 Lightweight LLM-Driven Multi-Agent Framework for Virtual Society Simulation with Memory Feedback</a:t>
            </a:r>
            <a:endParaRPr lang="en-US" sz="3600" dirty="0"/>
          </a:p>
        </p:txBody>
      </p:sp>
      <p:sp>
        <p:nvSpPr>
          <p:cNvPr id="4" name="Text 2"/>
          <p:cNvSpPr txBox="1"/>
          <p:nvPr/>
        </p:nvSpPr>
        <p:spPr>
          <a:xfrm>
            <a:off x="640080" y="3035808"/>
            <a:ext cx="10911535" cy="310896"/>
          </a:xfrm>
          <a:prstGeom prst="rect">
            <a:avLst/>
          </a:prstGeom>
          <a:noFill/>
          <a:ln/>
        </p:spPr>
        <p:txBody>
          <a:bodyPr wrap="square" lIns="0" tIns="0" rIns="0" bIns="0" rtlCol="0" anchor="ctr"/>
          <a:lstStyle/>
          <a:p>
            <a:pPr indent="0" marL="0">
              <a:buNone/>
            </a:pPr>
            <a:r>
              <a:rPr lang="en-US" sz="1600" b="1" dirty="0">
                <a:solidFill>
                  <a:srgbClr val="EAF2E4"/>
                </a:solidFill>
                <a:latin typeface="Calibri" pitchFamily="34" charset="0"/>
                <a:ea typeface="Calibri" pitchFamily="34" charset="-122"/>
                <a:cs typeface="Calibri" pitchFamily="34" charset="-120"/>
              </a:rPr>
              <a:t>Aoao Guo   ·   Xinyi Tao   ·   Huakang Li   ·   Xuewu Dai</a:t>
            </a:r>
            <a:endParaRPr lang="en-US" sz="1600" dirty="0"/>
          </a:p>
        </p:txBody>
      </p:sp>
      <p:sp>
        <p:nvSpPr>
          <p:cNvPr id="5" name="Text 3"/>
          <p:cNvSpPr txBox="1"/>
          <p:nvPr/>
        </p:nvSpPr>
        <p:spPr>
          <a:xfrm>
            <a:off x="640080" y="3401568"/>
            <a:ext cx="10911535" cy="274320"/>
          </a:xfrm>
          <a:prstGeom prst="rect">
            <a:avLst/>
          </a:prstGeom>
          <a:noFill/>
          <a:ln/>
        </p:spPr>
        <p:txBody>
          <a:bodyPr wrap="square" lIns="0" tIns="0" rIns="0" bIns="0" rtlCol="0" anchor="ctr"/>
          <a:lstStyle/>
          <a:p>
            <a:pPr indent="0" marL="0">
              <a:buNone/>
            </a:pPr>
            <a:r>
              <a:rPr lang="en-US" sz="1150" dirty="0">
                <a:solidFill>
                  <a:srgbClr val="A9BBA9"/>
                </a:solidFill>
                <a:latin typeface="Calibri" pitchFamily="34" charset="0"/>
                <a:ea typeface="Calibri" pitchFamily="34" charset="-122"/>
                <a:cs typeface="Calibri" pitchFamily="34" charset="-120"/>
              </a:rPr>
              <a:t>University College London   |   Xi'an Jiaotong-Liverpool University   |   Northumbria University</a:t>
            </a:r>
            <a:endParaRPr lang="en-US" sz="1150" dirty="0"/>
          </a:p>
        </p:txBody>
      </p:sp>
      <p:sp>
        <p:nvSpPr>
          <p:cNvPr id="6" name="Text 4"/>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50" dirty="0">
                <a:solidFill>
                  <a:srgbClr val="C98A24"/>
                </a:solidFill>
                <a:latin typeface="Calibri" pitchFamily="34" charset="0"/>
                <a:ea typeface="Calibri" pitchFamily="34" charset="-122"/>
                <a:cs typeface="Calibri" pitchFamily="34" charset="-120"/>
              </a:rPr>
              <a:t>Paper 108   ·   Parallel Session 3: Robotics &amp; Autonomous Systems   ·   Thursday 27 August 2026</a:t>
            </a:r>
            <a:endParaRPr lang="en-US" sz="1150" dirty="0"/>
          </a:p>
        </p:txBody>
      </p:sp>
      <p:sp>
        <p:nvSpPr>
          <p:cNvPr id="7" name="Shape 5"/>
          <p:cNvSpPr/>
          <p:nvPr/>
        </p:nvSpPr>
        <p:spPr>
          <a:xfrm>
            <a:off x="640080" y="4681728"/>
            <a:ext cx="10911535" cy="1572768"/>
          </a:xfrm>
          <a:prstGeom prst="roundRect">
            <a:avLst>
              <a:gd name="adj" fmla="val 3488"/>
            </a:avLst>
          </a:prstGeom>
          <a:solidFill>
            <a:srgbClr val="EAF2E4"/>
          </a:solidFill>
          <a:ln w="12700">
            <a:solidFill>
              <a:srgbClr val="EAF2E4"/>
            </a:solidFill>
            <a:prstDash val="solid"/>
          </a:ln>
        </p:spPr>
      </p:sp>
      <p:pic>
        <p:nvPicPr>
          <p:cNvPr id="8" name="Image 0" descr="/tmp/claude-0/-home-user-valentown/d6e1bc7b-94ca-5433-b61a-57600741710e/scratchpad/assets/ron.png">    </p:cNvPr>
          <p:cNvPicPr>
            <a:picLocks noChangeAspect="1"/>
          </p:cNvPicPr>
          <p:nvPr/>
        </p:nvPicPr>
        <p:blipFill>
          <a:blip r:embed="rId1"/>
          <a:stretch>
            <a:fillRect/>
          </a:stretch>
        </p:blipFill>
        <p:spPr>
          <a:xfrm>
            <a:off x="1504765" y="4956048"/>
            <a:ext cx="456437" cy="1078992"/>
          </a:xfrm>
          <a:prstGeom prst="rect">
            <a:avLst/>
          </a:prstGeom>
        </p:spPr>
      </p:pic>
      <p:pic>
        <p:nvPicPr>
          <p:cNvPr id="9" name="Image 1" descr="/tmp/claude-0/-home-user-valentown/d6e1bc7b-94ca-5433-b61a-57600741710e/scratchpad/assets/ella.png">    </p:cNvPr>
          <p:cNvPicPr>
            <a:picLocks noChangeAspect="1"/>
          </p:cNvPicPr>
          <p:nvPr/>
        </p:nvPicPr>
        <p:blipFill>
          <a:blip r:embed="rId2"/>
          <a:stretch>
            <a:fillRect/>
          </a:stretch>
        </p:blipFill>
        <p:spPr>
          <a:xfrm>
            <a:off x="2907377" y="4956048"/>
            <a:ext cx="559791" cy="1078992"/>
          </a:xfrm>
          <a:prstGeom prst="rect">
            <a:avLst/>
          </a:prstGeom>
        </p:spPr>
      </p:pic>
      <p:pic>
        <p:nvPicPr>
          <p:cNvPr id="10" name="Image 2" descr="/tmp/claude-0/-home-user-valentown/d6e1bc7b-94ca-5433-b61a-57600741710e/scratchpad/assets/emma.png">    </p:cNvPr>
          <p:cNvPicPr>
            <a:picLocks noChangeAspect="1"/>
          </p:cNvPicPr>
          <p:nvPr/>
        </p:nvPicPr>
        <p:blipFill>
          <a:blip r:embed="rId3"/>
          <a:stretch>
            <a:fillRect/>
          </a:stretch>
        </p:blipFill>
        <p:spPr>
          <a:xfrm>
            <a:off x="4362429" y="4956048"/>
            <a:ext cx="558261" cy="1078992"/>
          </a:xfrm>
          <a:prstGeom prst="rect">
            <a:avLst/>
          </a:prstGeom>
        </p:spPr>
      </p:pic>
      <p:pic>
        <p:nvPicPr>
          <p:cNvPr id="11" name="Image 3" descr="/tmp/claude-0/-home-user-valentown/d6e1bc7b-94ca-5433-b61a-57600741710e/scratchpad/assets/gavin.png">    </p:cNvPr>
          <p:cNvPicPr>
            <a:picLocks noChangeAspect="1"/>
          </p:cNvPicPr>
          <p:nvPr/>
        </p:nvPicPr>
        <p:blipFill>
          <a:blip r:embed="rId4"/>
          <a:stretch>
            <a:fillRect/>
          </a:stretch>
        </p:blipFill>
        <p:spPr>
          <a:xfrm>
            <a:off x="5850833" y="4956048"/>
            <a:ext cx="490029" cy="1078992"/>
          </a:xfrm>
          <a:prstGeom prst="rect">
            <a:avLst/>
          </a:prstGeom>
        </p:spPr>
      </p:pic>
      <p:pic>
        <p:nvPicPr>
          <p:cNvPr id="12" name="Image 4" descr="/tmp/claude-0/-home-user-valentown/d6e1bc7b-94ca-5433-b61a-57600741710e/scratchpad/assets/adam.png">    </p:cNvPr>
          <p:cNvPicPr>
            <a:picLocks noChangeAspect="1"/>
          </p:cNvPicPr>
          <p:nvPr/>
        </p:nvPicPr>
        <p:blipFill>
          <a:blip r:embed="rId5"/>
          <a:stretch>
            <a:fillRect/>
          </a:stretch>
        </p:blipFill>
        <p:spPr>
          <a:xfrm>
            <a:off x="7293152" y="4956048"/>
            <a:ext cx="513968" cy="1078992"/>
          </a:xfrm>
          <a:prstGeom prst="rect">
            <a:avLst/>
          </a:prstGeom>
        </p:spPr>
      </p:pic>
      <p:pic>
        <p:nvPicPr>
          <p:cNvPr id="13" name="Image 5" descr="/tmp/claude-0/-home-user-valentown/d6e1bc7b-94ca-5433-b61a-57600741710e/scratchpad/assets/mia.png">    </p:cNvPr>
          <p:cNvPicPr>
            <a:picLocks noChangeAspect="1"/>
          </p:cNvPicPr>
          <p:nvPr/>
        </p:nvPicPr>
        <p:blipFill>
          <a:blip r:embed="rId6"/>
          <a:stretch>
            <a:fillRect/>
          </a:stretch>
        </p:blipFill>
        <p:spPr>
          <a:xfrm>
            <a:off x="8740079" y="4956048"/>
            <a:ext cx="528689" cy="1078992"/>
          </a:xfrm>
          <a:prstGeom prst="rect">
            <a:avLst/>
          </a:prstGeom>
        </p:spPr>
      </p:pic>
      <p:pic>
        <p:nvPicPr>
          <p:cNvPr id="14" name="Image 6" descr="/tmp/claude-0/-home-user-valentown/d6e1bc7b-94ca-5433-b61a-57600741710e/scratchpad/assets/arthur.png">    </p:cNvPr>
          <p:cNvPicPr>
            <a:picLocks noChangeAspect="1"/>
          </p:cNvPicPr>
          <p:nvPr/>
        </p:nvPicPr>
        <p:blipFill>
          <a:blip r:embed="rId7"/>
          <a:stretch>
            <a:fillRect/>
          </a:stretch>
        </p:blipFill>
        <p:spPr>
          <a:xfrm>
            <a:off x="10175247" y="4956048"/>
            <a:ext cx="566928" cy="1078992"/>
          </a:xfrm>
          <a:prstGeom prst="rect">
            <a:avLst/>
          </a:prstGeom>
        </p:spPr>
      </p:pic>
      <p:sp>
        <p:nvSpPr>
          <p:cNvPr id="15" name="Text 6"/>
          <p:cNvSpPr txBox="1"/>
          <p:nvPr/>
        </p:nvSpPr>
        <p:spPr>
          <a:xfrm>
            <a:off x="640080" y="6382512"/>
            <a:ext cx="10911535" cy="274320"/>
          </a:xfrm>
          <a:prstGeom prst="rect">
            <a:avLst/>
          </a:prstGeom>
          <a:noFill/>
          <a:ln/>
        </p:spPr>
        <p:txBody>
          <a:bodyPr wrap="square" lIns="0" tIns="0" rIns="0" bIns="0" rtlCol="0" anchor="ctr"/>
          <a:lstStyle/>
          <a:p>
            <a:pPr algn="ctr" indent="0" marL="0">
              <a:buNone/>
            </a:pPr>
            <a:r>
              <a:rPr lang="en-US" sz="1100" i="1" dirty="0">
                <a:solidFill>
                  <a:srgbClr val="A9BBA9"/>
                </a:solidFill>
                <a:latin typeface="Calibri" pitchFamily="34" charset="0"/>
                <a:ea typeface="Calibri" pitchFamily="34" charset="-122"/>
                <a:cs typeface="Calibri" pitchFamily="34" charset="-120"/>
              </a:rPr>
              <a:t>Valentown — seven residents who plan, meet, remember and adapt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Two ways to simulate people</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640080"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64208"/>
            <a:ext cx="384048" cy="384048"/>
          </a:xfrm>
          <a:prstGeom prst="ellipse">
            <a:avLst/>
          </a:prstGeom>
          <a:solidFill>
            <a:srgbClr val="2C5F2D"/>
          </a:solidFill>
          <a:ln/>
        </p:spPr>
      </p:sp>
      <p:sp>
        <p:nvSpPr>
          <p:cNvPr id="8" name="Text 6"/>
          <p:cNvSpPr txBox="1"/>
          <p:nvPr/>
        </p:nvSpPr>
        <p:spPr>
          <a:xfrm>
            <a:off x="932688"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9" name="Text 7"/>
          <p:cNvSpPr txBox="1"/>
          <p:nvPr/>
        </p:nvSpPr>
        <p:spPr>
          <a:xfrm>
            <a:off x="1481328"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Rule-based agent models</a:t>
            </a:r>
            <a:endParaRPr lang="en-US" sz="1500" dirty="0"/>
          </a:p>
        </p:txBody>
      </p:sp>
      <p:sp>
        <p:nvSpPr>
          <p:cNvPr id="10" name="Shape 8"/>
          <p:cNvSpPr/>
          <p:nvPr/>
        </p:nvSpPr>
        <p:spPr>
          <a:xfrm>
            <a:off x="1143000"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1" name="Text 9"/>
          <p:cNvSpPr txBox="1"/>
          <p:nvPr/>
        </p:nvSpPr>
        <p:spPr>
          <a:xfrm>
            <a:off x="1234440"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Fixed rules</a:t>
            </a:r>
            <a:endParaRPr lang="en-US" sz="1250" dirty="0"/>
          </a:p>
        </p:txBody>
      </p:sp>
      <p:sp>
        <p:nvSpPr>
          <p:cNvPr id="12" name="Shape 10"/>
          <p:cNvSpPr/>
          <p:nvPr/>
        </p:nvSpPr>
        <p:spPr>
          <a:xfrm>
            <a:off x="3090672" y="2615184"/>
            <a:ext cx="457200" cy="219456"/>
          </a:xfrm>
          <a:prstGeom prst="rightArrow">
            <a:avLst/>
          </a:prstGeom>
          <a:solidFill>
            <a:srgbClr val="C98A24"/>
          </a:solidFill>
          <a:ln/>
        </p:spPr>
      </p:sp>
      <p:sp>
        <p:nvSpPr>
          <p:cNvPr id="13" name="Shape 11"/>
          <p:cNvSpPr/>
          <p:nvPr/>
        </p:nvSpPr>
        <p:spPr>
          <a:xfrm>
            <a:off x="3712464"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4" name="Text 12"/>
          <p:cNvSpPr txBox="1"/>
          <p:nvPr/>
        </p:nvSpPr>
        <p:spPr>
          <a:xfrm>
            <a:off x="3803904"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15" name="Text 13"/>
          <p:cNvSpPr txBox="1"/>
          <p:nvPr/>
        </p:nvSpPr>
        <p:spPr>
          <a:xfrm>
            <a:off x="950976"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same input → the same behaviour, every day</a:t>
            </a:r>
            <a:endParaRPr lang="en-US" sz="950" dirty="0"/>
          </a:p>
        </p:txBody>
      </p:sp>
      <p:sp>
        <p:nvSpPr>
          <p:cNvPr id="16" name="Shape 14"/>
          <p:cNvSpPr/>
          <p:nvPr/>
        </p:nvSpPr>
        <p:spPr>
          <a:xfrm>
            <a:off x="1143000" y="3529584"/>
            <a:ext cx="4352544" cy="420624"/>
          </a:xfrm>
          <a:prstGeom prst="roundRect">
            <a:avLst>
              <a:gd name="adj" fmla="val 13043"/>
            </a:avLst>
          </a:prstGeom>
          <a:solidFill>
            <a:srgbClr val="EFEFEA"/>
          </a:solidFill>
          <a:ln w="12700">
            <a:solidFill>
              <a:srgbClr val="EFEFEA"/>
            </a:solidFill>
            <a:prstDash val="solid"/>
          </a:ln>
        </p:spPr>
      </p:sp>
      <p:sp>
        <p:nvSpPr>
          <p:cNvPr id="17" name="Text 15"/>
          <p:cNvSpPr txBox="1"/>
          <p:nvPr/>
        </p:nvSpPr>
        <p:spPr>
          <a:xfrm>
            <a:off x="1234440"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No context · no planning · no memory</a:t>
            </a:r>
            <a:endParaRPr lang="en-US" sz="1100" dirty="0"/>
          </a:p>
        </p:txBody>
      </p:sp>
      <p:sp>
        <p:nvSpPr>
          <p:cNvPr id="18" name="Shape 16"/>
          <p:cNvSpPr/>
          <p:nvPr/>
        </p:nvSpPr>
        <p:spPr>
          <a:xfrm>
            <a:off x="1143000" y="4023360"/>
            <a:ext cx="4352544" cy="420624"/>
          </a:xfrm>
          <a:prstGeom prst="roundRect">
            <a:avLst>
              <a:gd name="adj" fmla="val 13043"/>
            </a:avLst>
          </a:prstGeom>
          <a:solidFill>
            <a:srgbClr val="EFEFEA"/>
          </a:solidFill>
          <a:ln w="12700">
            <a:solidFill>
              <a:srgbClr val="EFEFEA"/>
            </a:solidFill>
            <a:prstDash val="solid"/>
          </a:ln>
        </p:spPr>
      </p:sp>
      <p:sp>
        <p:nvSpPr>
          <p:cNvPr id="19" name="Text 17"/>
          <p:cNvSpPr txBox="1"/>
          <p:nvPr/>
        </p:nvSpPr>
        <p:spPr>
          <a:xfrm>
            <a:off x="1234440"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Macro patterns yes — human-like behaviour no</a:t>
            </a:r>
            <a:endParaRPr lang="en-US" sz="1100" dirty="0"/>
          </a:p>
        </p:txBody>
      </p:sp>
      <p:sp>
        <p:nvSpPr>
          <p:cNvPr id="20" name="Shape 18"/>
          <p:cNvSpPr/>
          <p:nvPr/>
        </p:nvSpPr>
        <p:spPr>
          <a:xfrm>
            <a:off x="6199632"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Shape 19"/>
          <p:cNvSpPr/>
          <p:nvPr/>
        </p:nvSpPr>
        <p:spPr>
          <a:xfrm>
            <a:off x="6492240" y="1664208"/>
            <a:ext cx="384048" cy="384048"/>
          </a:xfrm>
          <a:prstGeom prst="ellipse">
            <a:avLst/>
          </a:prstGeom>
          <a:solidFill>
            <a:srgbClr val="7FB069"/>
          </a:solidFill>
          <a:ln/>
        </p:spPr>
      </p:sp>
      <p:sp>
        <p:nvSpPr>
          <p:cNvPr id="22" name="Text 20"/>
          <p:cNvSpPr txBox="1"/>
          <p:nvPr/>
        </p:nvSpPr>
        <p:spPr>
          <a:xfrm>
            <a:off x="649224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t>
            </a:r>
            <a:endParaRPr lang="en-US" sz="1300" dirty="0"/>
          </a:p>
        </p:txBody>
      </p:sp>
      <p:sp>
        <p:nvSpPr>
          <p:cNvPr id="23" name="Text 21"/>
          <p:cNvSpPr txBox="1"/>
          <p:nvPr/>
        </p:nvSpPr>
        <p:spPr>
          <a:xfrm>
            <a:off x="7040880"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LLM-driven agents</a:t>
            </a:r>
            <a:endParaRPr lang="en-US" sz="1500" dirty="0"/>
          </a:p>
        </p:txBody>
      </p:sp>
      <p:sp>
        <p:nvSpPr>
          <p:cNvPr id="24" name="Shape 22"/>
          <p:cNvSpPr/>
          <p:nvPr/>
        </p:nvSpPr>
        <p:spPr>
          <a:xfrm>
            <a:off x="672998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682142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Prompt</a:t>
            </a:r>
            <a:endParaRPr lang="en-US" sz="1250" dirty="0"/>
          </a:p>
        </p:txBody>
      </p:sp>
      <p:sp>
        <p:nvSpPr>
          <p:cNvPr id="26" name="Shape 24"/>
          <p:cNvSpPr/>
          <p:nvPr/>
        </p:nvSpPr>
        <p:spPr>
          <a:xfrm>
            <a:off x="7918704" y="2615184"/>
            <a:ext cx="347472" cy="219456"/>
          </a:xfrm>
          <a:prstGeom prst="rightArrow">
            <a:avLst/>
          </a:prstGeom>
          <a:solidFill>
            <a:srgbClr val="C98A24"/>
          </a:solidFill>
          <a:ln/>
        </p:spPr>
      </p:sp>
      <p:sp>
        <p:nvSpPr>
          <p:cNvPr id="27" name="Shape 25"/>
          <p:cNvSpPr/>
          <p:nvPr/>
        </p:nvSpPr>
        <p:spPr>
          <a:xfrm>
            <a:off x="8284464" y="2395728"/>
            <a:ext cx="1170432" cy="658368"/>
          </a:xfrm>
          <a:prstGeom prst="roundRect">
            <a:avLst>
              <a:gd name="adj" fmla="val 8333"/>
            </a:avLst>
          </a:prstGeom>
          <a:solidFill>
            <a:srgbClr val="EAF2E4"/>
          </a:solidFill>
          <a:ln w="12700">
            <a:solidFill>
              <a:srgbClr val="EAF2E4"/>
            </a:solidFill>
            <a:prstDash val="solid"/>
          </a:ln>
        </p:spPr>
      </p:sp>
      <p:sp>
        <p:nvSpPr>
          <p:cNvPr id="28" name="Text 26"/>
          <p:cNvSpPr txBox="1"/>
          <p:nvPr/>
        </p:nvSpPr>
        <p:spPr>
          <a:xfrm>
            <a:off x="837590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LLM</a:t>
            </a:r>
            <a:endParaRPr lang="en-US" sz="1250" dirty="0"/>
          </a:p>
        </p:txBody>
      </p:sp>
      <p:sp>
        <p:nvSpPr>
          <p:cNvPr id="29" name="Shape 27"/>
          <p:cNvSpPr/>
          <p:nvPr/>
        </p:nvSpPr>
        <p:spPr>
          <a:xfrm>
            <a:off x="9473184" y="2615184"/>
            <a:ext cx="347472" cy="219456"/>
          </a:xfrm>
          <a:prstGeom prst="rightArrow">
            <a:avLst/>
          </a:prstGeom>
          <a:solidFill>
            <a:srgbClr val="C98A24"/>
          </a:solidFill>
          <a:ln/>
        </p:spPr>
      </p:sp>
      <p:sp>
        <p:nvSpPr>
          <p:cNvPr id="30" name="Shape 28"/>
          <p:cNvSpPr/>
          <p:nvPr/>
        </p:nvSpPr>
        <p:spPr>
          <a:xfrm>
            <a:off x="983894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1" name="Text 29"/>
          <p:cNvSpPr txBox="1"/>
          <p:nvPr/>
        </p:nvSpPr>
        <p:spPr>
          <a:xfrm>
            <a:off x="993038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32" name="Text 30"/>
          <p:cNvSpPr txBox="1"/>
          <p:nvPr/>
        </p:nvSpPr>
        <p:spPr>
          <a:xfrm>
            <a:off x="6510528"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fluent — but one step at a time</a:t>
            </a:r>
            <a:endParaRPr lang="en-US" sz="950" dirty="0"/>
          </a:p>
        </p:txBody>
      </p:sp>
      <p:sp>
        <p:nvSpPr>
          <p:cNvPr id="33" name="Shape 31"/>
          <p:cNvSpPr/>
          <p:nvPr/>
        </p:nvSpPr>
        <p:spPr>
          <a:xfrm>
            <a:off x="6702552" y="3529584"/>
            <a:ext cx="4352544" cy="420624"/>
          </a:xfrm>
          <a:prstGeom prst="roundRect">
            <a:avLst>
              <a:gd name="adj" fmla="val 13043"/>
            </a:avLst>
          </a:prstGeom>
          <a:solidFill>
            <a:srgbClr val="EAF2E4"/>
          </a:solidFill>
          <a:ln w="12700">
            <a:solidFill>
              <a:srgbClr val="EAF2E4"/>
            </a:solidFill>
            <a:prstDash val="solid"/>
          </a:ln>
        </p:spPr>
      </p:sp>
      <p:sp>
        <p:nvSpPr>
          <p:cNvPr id="34" name="Text 32"/>
          <p:cNvSpPr txBox="1"/>
          <p:nvPr/>
        </p:nvSpPr>
        <p:spPr>
          <a:xfrm>
            <a:off x="6793992"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Reactive: answers the prompt in front of it</a:t>
            </a:r>
            <a:endParaRPr lang="en-US" sz="1100" dirty="0"/>
          </a:p>
        </p:txBody>
      </p:sp>
      <p:sp>
        <p:nvSpPr>
          <p:cNvPr id="35" name="Shape 33"/>
          <p:cNvSpPr/>
          <p:nvPr/>
        </p:nvSpPr>
        <p:spPr>
          <a:xfrm>
            <a:off x="6702552" y="4023360"/>
            <a:ext cx="4352544" cy="420624"/>
          </a:xfrm>
          <a:prstGeom prst="roundRect">
            <a:avLst>
              <a:gd name="adj" fmla="val 13043"/>
            </a:avLst>
          </a:prstGeom>
          <a:solidFill>
            <a:srgbClr val="EAF2E4"/>
          </a:solidFill>
          <a:ln w="12700">
            <a:solidFill>
              <a:srgbClr val="EAF2E4"/>
            </a:solidFill>
            <a:prstDash val="solid"/>
          </a:ln>
        </p:spPr>
      </p:sp>
      <p:sp>
        <p:nvSpPr>
          <p:cNvPr id="36" name="Text 34"/>
          <p:cNvSpPr txBox="1"/>
          <p:nvPr/>
        </p:nvSpPr>
        <p:spPr>
          <a:xfrm>
            <a:off x="6793992"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Interaction ad hoc or random · no day structure</a:t>
            </a:r>
            <a:endParaRPr lang="en-US" sz="1100" dirty="0"/>
          </a:p>
        </p:txBody>
      </p:sp>
      <p:sp>
        <p:nvSpPr>
          <p:cNvPr id="37" name="Shape 35"/>
          <p:cNvSpPr/>
          <p:nvPr/>
        </p:nvSpPr>
        <p:spPr>
          <a:xfrm>
            <a:off x="640080" y="4937760"/>
            <a:ext cx="10911535" cy="1005840"/>
          </a:xfrm>
          <a:prstGeom prst="roundRect">
            <a:avLst>
              <a:gd name="adj" fmla="val 5455"/>
            </a:avLst>
          </a:prstGeom>
          <a:solidFill>
            <a:srgbClr val="FBF1DC"/>
          </a:solidFill>
          <a:ln w="12700">
            <a:solidFill>
              <a:srgbClr val="EFDFBE"/>
            </a:solidFill>
            <a:prstDash val="solid"/>
          </a:ln>
        </p:spPr>
      </p:sp>
      <p:sp>
        <p:nvSpPr>
          <p:cNvPr id="38" name="Text 36"/>
          <p:cNvSpPr txBox="1"/>
          <p:nvPr/>
        </p:nvSpPr>
        <p:spPr>
          <a:xfrm>
            <a:off x="640080" y="4937760"/>
            <a:ext cx="10911535" cy="1005840"/>
          </a:xfrm>
          <a:prstGeom prst="rect">
            <a:avLst/>
          </a:prstGeom>
          <a:noFill/>
          <a:ln/>
        </p:spPr>
        <p:txBody>
          <a:bodyPr wrap="square" lIns="0" tIns="0" rIns="0" bIns="0" rtlCol="0" anchor="ctr"/>
          <a:lstStyle/>
          <a:p>
            <a:pPr algn="ctr" indent="0" marL="0">
              <a:buNone/>
            </a:pPr>
            <a:r>
              <a:rPr lang="en-US" sz="1700" b="1" dirty="0">
                <a:solidFill>
                  <a:srgbClr val="1B2E23"/>
                </a:solidFill>
                <a:latin typeface="Cambria" pitchFamily="34" charset="0"/>
                <a:ea typeface="Cambria" pitchFamily="34" charset="-122"/>
                <a:cs typeface="Cambria" pitchFamily="34" charset="-120"/>
              </a:rPr>
              <a:t>Missing: explicit structure for behaviour, interaction and feedback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question, three requirements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640080" y="1417320"/>
            <a:ext cx="10911535" cy="1060704"/>
          </a:xfrm>
          <a:prstGeom prst="roundRect">
            <a:avLst>
              <a:gd name="adj" fmla="val 5172"/>
            </a:avLst>
          </a:prstGeom>
          <a:solidFill>
            <a:srgbClr val="1B2E23"/>
          </a:solidFill>
          <a:ln w="12700">
            <a:solidFill>
              <a:srgbClr val="1B2E23"/>
            </a:solidFill>
            <a:prstDash val="solid"/>
          </a:ln>
        </p:spPr>
      </p:sp>
      <p:sp>
        <p:nvSpPr>
          <p:cNvPr id="7" name="Text 5"/>
          <p:cNvSpPr txBox="1"/>
          <p:nvPr/>
        </p:nvSpPr>
        <p:spPr>
          <a:xfrm>
            <a:off x="1024128" y="1417320"/>
            <a:ext cx="10143439" cy="1060704"/>
          </a:xfrm>
          <a:prstGeom prst="rect">
            <a:avLst/>
          </a:prstGeom>
          <a:noFill/>
          <a:ln/>
        </p:spPr>
        <p:txBody>
          <a:bodyPr wrap="square" lIns="0" tIns="0" rIns="0" bIns="0" rtlCol="0" anchor="ctr"/>
          <a:lstStyle/>
          <a:p>
            <a:pPr indent="0" marL="0">
              <a:lnSpc>
                <a:spcPts val="2400"/>
              </a:lnSpc>
              <a:buNone/>
            </a:pPr>
            <a:r>
              <a:rPr lang="en-US" sz="1800" i="1" dirty="0">
                <a:solidFill>
                  <a:srgbClr val="FFFFFF"/>
                </a:solidFill>
                <a:latin typeface="Cambria" pitchFamily="34" charset="0"/>
                <a:ea typeface="Cambria" pitchFamily="34" charset="-122"/>
                <a:cs typeface="Cambria" pitchFamily="34" charset="-120"/>
              </a:rPr>
              <a:t>How can we design a virtual society whose agents are structured, evolving and controllable over time?</a:t>
            </a:r>
            <a:endParaRPr lang="en-US" sz="1800" dirty="0"/>
          </a:p>
        </p:txBody>
      </p:sp>
      <p:sp>
        <p:nvSpPr>
          <p:cNvPr id="8" name="Shape 6"/>
          <p:cNvSpPr/>
          <p:nvPr/>
        </p:nvSpPr>
        <p:spPr>
          <a:xfrm>
            <a:off x="64008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Shape 7"/>
          <p:cNvSpPr/>
          <p:nvPr/>
        </p:nvSpPr>
        <p:spPr>
          <a:xfrm>
            <a:off x="950976" y="3054096"/>
            <a:ext cx="420624" cy="420624"/>
          </a:xfrm>
          <a:prstGeom prst="ellipse">
            <a:avLst/>
          </a:prstGeom>
          <a:solidFill>
            <a:srgbClr val="7FB069"/>
          </a:solidFill>
          <a:ln/>
        </p:spPr>
      </p:sp>
      <p:sp>
        <p:nvSpPr>
          <p:cNvPr id="10" name="Text 8"/>
          <p:cNvSpPr txBox="1"/>
          <p:nvPr/>
        </p:nvSpPr>
        <p:spPr>
          <a:xfrm>
            <a:off x="95097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9961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Temporal structure</a:t>
            </a:r>
            <a:endParaRPr lang="en-US" sz="1450" dirty="0"/>
          </a:p>
        </p:txBody>
      </p:sp>
      <p:sp>
        <p:nvSpPr>
          <p:cNvPr id="12" name="Text 10"/>
          <p:cNvSpPr txBox="1"/>
          <p:nvPr/>
        </p:nvSpPr>
        <p:spPr>
          <a:xfrm>
            <a:off x="95097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 day — not a stream of reactions</a:t>
            </a:r>
            <a:endParaRPr lang="en-US" sz="1250" dirty="0"/>
          </a:p>
        </p:txBody>
      </p:sp>
      <p:sp>
        <p:nvSpPr>
          <p:cNvPr id="13" name="Text 11"/>
          <p:cNvSpPr txBox="1"/>
          <p:nvPr/>
        </p:nvSpPr>
        <p:spPr>
          <a:xfrm>
            <a:off x="104241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14" name="Shape 12"/>
          <p:cNvSpPr/>
          <p:nvPr/>
        </p:nvSpPr>
        <p:spPr>
          <a:xfrm>
            <a:off x="896112" y="4837176"/>
            <a:ext cx="2990088" cy="822960"/>
          </a:xfrm>
          <a:prstGeom prst="roundRect">
            <a:avLst>
              <a:gd name="adj" fmla="val 6667"/>
            </a:avLst>
          </a:prstGeom>
          <a:solidFill>
            <a:srgbClr val="EAF2E4"/>
          </a:solidFill>
          <a:ln w="12700">
            <a:solidFill>
              <a:srgbClr val="EAF2E4"/>
            </a:solidFill>
            <a:prstDash val="solid"/>
          </a:ln>
        </p:spPr>
      </p:sp>
      <p:sp>
        <p:nvSpPr>
          <p:cNvPr id="15" name="Text 13"/>
          <p:cNvSpPr txBox="1"/>
          <p:nvPr/>
        </p:nvSpPr>
        <p:spPr>
          <a:xfrm>
            <a:off x="98755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Schedule-driven agents</a:t>
            </a:r>
            <a:endParaRPr lang="en-US" sz="1200" dirty="0"/>
          </a:p>
        </p:txBody>
      </p:sp>
      <p:sp>
        <p:nvSpPr>
          <p:cNvPr id="16" name="Shape 14"/>
          <p:cNvSpPr/>
          <p:nvPr/>
        </p:nvSpPr>
        <p:spPr>
          <a:xfrm>
            <a:off x="434340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7" name="Shape 15"/>
          <p:cNvSpPr/>
          <p:nvPr/>
        </p:nvSpPr>
        <p:spPr>
          <a:xfrm>
            <a:off x="4654296" y="3054096"/>
            <a:ext cx="420624" cy="420624"/>
          </a:xfrm>
          <a:prstGeom prst="ellipse">
            <a:avLst/>
          </a:prstGeom>
          <a:solidFill>
            <a:srgbClr val="2C5F2D"/>
          </a:solidFill>
          <a:ln/>
        </p:spPr>
      </p:sp>
      <p:sp>
        <p:nvSpPr>
          <p:cNvPr id="18" name="Text 16"/>
          <p:cNvSpPr txBox="1"/>
          <p:nvPr/>
        </p:nvSpPr>
        <p:spPr>
          <a:xfrm>
            <a:off x="465429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txBox="1"/>
          <p:nvPr/>
        </p:nvSpPr>
        <p:spPr>
          <a:xfrm>
            <a:off x="520293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Behavioural evolution</a:t>
            </a:r>
            <a:endParaRPr lang="en-US" sz="1450" dirty="0"/>
          </a:p>
        </p:txBody>
      </p:sp>
      <p:sp>
        <p:nvSpPr>
          <p:cNvPr id="20" name="Text 18"/>
          <p:cNvSpPr txBox="1"/>
          <p:nvPr/>
        </p:nvSpPr>
        <p:spPr>
          <a:xfrm>
            <a:off x="465429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Yesterday changes tomorrow</a:t>
            </a:r>
            <a:endParaRPr lang="en-US" sz="1250" dirty="0"/>
          </a:p>
        </p:txBody>
      </p:sp>
      <p:sp>
        <p:nvSpPr>
          <p:cNvPr id="21" name="Text 19"/>
          <p:cNvSpPr txBox="1"/>
          <p:nvPr/>
        </p:nvSpPr>
        <p:spPr>
          <a:xfrm>
            <a:off x="474573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22" name="Shape 20"/>
          <p:cNvSpPr/>
          <p:nvPr/>
        </p:nvSpPr>
        <p:spPr>
          <a:xfrm>
            <a:off x="4599432" y="4837176"/>
            <a:ext cx="2990088" cy="822960"/>
          </a:xfrm>
          <a:prstGeom prst="roundRect">
            <a:avLst>
              <a:gd name="adj" fmla="val 6667"/>
            </a:avLst>
          </a:prstGeom>
          <a:solidFill>
            <a:srgbClr val="EAF2E4"/>
          </a:solidFill>
          <a:ln w="12700">
            <a:solidFill>
              <a:srgbClr val="EAF2E4"/>
            </a:solidFill>
            <a:prstDash val="solid"/>
          </a:ln>
        </p:spPr>
      </p:sp>
      <p:sp>
        <p:nvSpPr>
          <p:cNvPr id="23" name="Text 21"/>
          <p:cNvSpPr txBox="1"/>
          <p:nvPr/>
        </p:nvSpPr>
        <p:spPr>
          <a:xfrm>
            <a:off x="469087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Memory feedback loop</a:t>
            </a:r>
            <a:endParaRPr lang="en-US" sz="1200" dirty="0"/>
          </a:p>
        </p:txBody>
      </p:sp>
      <p:sp>
        <p:nvSpPr>
          <p:cNvPr id="24" name="Shape 22"/>
          <p:cNvSpPr/>
          <p:nvPr/>
        </p:nvSpPr>
        <p:spPr>
          <a:xfrm>
            <a:off x="804672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23"/>
          <p:cNvSpPr/>
          <p:nvPr/>
        </p:nvSpPr>
        <p:spPr>
          <a:xfrm>
            <a:off x="8357616" y="3054096"/>
            <a:ext cx="420624" cy="420624"/>
          </a:xfrm>
          <a:prstGeom prst="ellipse">
            <a:avLst/>
          </a:prstGeom>
          <a:solidFill>
            <a:srgbClr val="C98A24"/>
          </a:solidFill>
          <a:ln/>
        </p:spPr>
      </p:sp>
      <p:sp>
        <p:nvSpPr>
          <p:cNvPr id="26" name="Text 24"/>
          <p:cNvSpPr txBox="1"/>
          <p:nvPr/>
        </p:nvSpPr>
        <p:spPr>
          <a:xfrm>
            <a:off x="835761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txBox="1"/>
          <p:nvPr/>
        </p:nvSpPr>
        <p:spPr>
          <a:xfrm>
            <a:off x="890625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Controllability</a:t>
            </a:r>
            <a:endParaRPr lang="en-US" sz="1450" dirty="0"/>
          </a:p>
        </p:txBody>
      </p:sp>
      <p:sp>
        <p:nvSpPr>
          <p:cNvPr id="28" name="Text 26"/>
          <p:cNvSpPr txBox="1"/>
          <p:nvPr/>
        </p:nvSpPr>
        <p:spPr>
          <a:xfrm>
            <a:off x="835761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An explicit rule, plus a human override</a:t>
            </a:r>
            <a:endParaRPr lang="en-US" sz="1250" dirty="0"/>
          </a:p>
        </p:txBody>
      </p:sp>
      <p:sp>
        <p:nvSpPr>
          <p:cNvPr id="29" name="Text 27"/>
          <p:cNvSpPr txBox="1"/>
          <p:nvPr/>
        </p:nvSpPr>
        <p:spPr>
          <a:xfrm>
            <a:off x="844905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30" name="Shape 28"/>
          <p:cNvSpPr/>
          <p:nvPr/>
        </p:nvSpPr>
        <p:spPr>
          <a:xfrm>
            <a:off x="8302752" y="4837176"/>
            <a:ext cx="2990088" cy="822960"/>
          </a:xfrm>
          <a:prstGeom prst="roundRect">
            <a:avLst>
              <a:gd name="adj" fmla="val 6667"/>
            </a:avLst>
          </a:prstGeom>
          <a:solidFill>
            <a:srgbClr val="EAF2E4"/>
          </a:solidFill>
          <a:ln w="12700">
            <a:solidFill>
              <a:srgbClr val="EAF2E4"/>
            </a:solidFill>
            <a:prstDash val="solid"/>
          </a:ln>
        </p:spPr>
      </p:sp>
      <p:sp>
        <p:nvSpPr>
          <p:cNvPr id="31" name="Text 29"/>
          <p:cNvSpPr txBox="1"/>
          <p:nvPr/>
        </p:nvSpPr>
        <p:spPr>
          <a:xfrm>
            <a:off x="839419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Co-location trigger + human-in-the-loop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FRAMEWORK</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A backend that thinks, a frontend that shows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640080" y="1371600"/>
            <a:ext cx="5120640" cy="4663440"/>
          </a:xfrm>
          <a:prstGeom prst="roundRect">
            <a:avLst>
              <a:gd name="adj" fmla="val 1176"/>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1_architecture.png">    </p:cNvPr>
          <p:cNvPicPr>
            <a:picLocks noChangeAspect="1"/>
          </p:cNvPicPr>
          <p:nvPr/>
        </p:nvPicPr>
        <p:blipFill>
          <a:blip r:embed="rId1"/>
          <a:stretch>
            <a:fillRect/>
          </a:stretch>
        </p:blipFill>
        <p:spPr>
          <a:xfrm>
            <a:off x="1257300" y="1481328"/>
            <a:ext cx="3886200" cy="4041418"/>
          </a:xfrm>
          <a:prstGeom prst="rect">
            <a:avLst/>
          </a:prstGeom>
        </p:spPr>
      </p:pic>
      <p:sp>
        <p:nvSpPr>
          <p:cNvPr id="8" name="Text 5"/>
          <p:cNvSpPr txBox="1"/>
          <p:nvPr/>
        </p:nvSpPr>
        <p:spPr>
          <a:xfrm>
            <a:off x="640080" y="5614416"/>
            <a:ext cx="5120640"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1  Overview of the proposed framework</a:t>
            </a:r>
            <a:endParaRPr lang="en-US" sz="1000" dirty="0"/>
          </a:p>
        </p:txBody>
      </p:sp>
      <p:sp>
        <p:nvSpPr>
          <p:cNvPr id="9" name="Shape 6"/>
          <p:cNvSpPr/>
          <p:nvPr/>
        </p:nvSpPr>
        <p:spPr>
          <a:xfrm>
            <a:off x="6126480" y="1371600"/>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0" name="Text 7"/>
          <p:cNvSpPr txBox="1"/>
          <p:nvPr/>
        </p:nvSpPr>
        <p:spPr>
          <a:xfrm>
            <a:off x="6437376" y="1572768"/>
            <a:ext cx="4803343" cy="310896"/>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Backend · Python</a:t>
            </a:r>
            <a:endParaRPr lang="en-US" sz="1500" dirty="0"/>
          </a:p>
        </p:txBody>
      </p:sp>
      <p:sp>
        <p:nvSpPr>
          <p:cNvPr id="11" name="Text 8"/>
          <p:cNvSpPr txBox="1"/>
          <p:nvPr/>
        </p:nvSpPr>
        <p:spPr>
          <a:xfrm>
            <a:off x="6437376" y="1975104"/>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Planning, dialogue, reflection, memory —</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the only part that calls the LLM</a:t>
            </a:r>
            <a:endParaRPr lang="en-US" sz="1200" dirty="0"/>
          </a:p>
        </p:txBody>
      </p:sp>
      <p:sp>
        <p:nvSpPr>
          <p:cNvPr id="12" name="Shape 9"/>
          <p:cNvSpPr/>
          <p:nvPr/>
        </p:nvSpPr>
        <p:spPr>
          <a:xfrm>
            <a:off x="6126480" y="2999232"/>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3" name="Text 10"/>
          <p:cNvSpPr txBox="1"/>
          <p:nvPr/>
        </p:nvSpPr>
        <p:spPr>
          <a:xfrm>
            <a:off x="6437376" y="3200400"/>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Frontend · Phaser</a:t>
            </a:r>
            <a:endParaRPr lang="en-US" sz="1500" dirty="0"/>
          </a:p>
        </p:txBody>
      </p:sp>
      <p:sp>
        <p:nvSpPr>
          <p:cNvPr id="14" name="Text 11"/>
          <p:cNvSpPr txBox="1"/>
          <p:nvPr/>
        </p:nvSpPr>
        <p:spPr>
          <a:xfrm>
            <a:off x="6437376" y="3602736"/>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Town, movement and conversations,</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served over a REST API</a:t>
            </a:r>
            <a:endParaRPr lang="en-US" sz="1200" dirty="0"/>
          </a:p>
        </p:txBody>
      </p:sp>
      <p:sp>
        <p:nvSpPr>
          <p:cNvPr id="15" name="Shape 12"/>
          <p:cNvSpPr/>
          <p:nvPr/>
        </p:nvSpPr>
        <p:spPr>
          <a:xfrm>
            <a:off x="6126480" y="4626864"/>
            <a:ext cx="5425135" cy="1417320"/>
          </a:xfrm>
          <a:prstGeom prst="roundRect">
            <a:avLst>
              <a:gd name="adj" fmla="val 3871"/>
            </a:avLst>
          </a:prstGeom>
          <a:solidFill>
            <a:srgbClr val="EAF2E4"/>
          </a:solidFill>
          <a:ln w="12700">
            <a:solidFill>
              <a:srgbClr val="EAF2E4"/>
            </a:solidFill>
            <a:prstDash val="solid"/>
          </a:ln>
        </p:spPr>
      </p:sp>
      <p:sp>
        <p:nvSpPr>
          <p:cNvPr id="16" name="Text 13"/>
          <p:cNvSpPr txBox="1"/>
          <p:nvPr/>
        </p:nvSpPr>
        <p:spPr>
          <a:xfrm>
            <a:off x="6437376" y="4828032"/>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Five modules</a:t>
            </a:r>
            <a:endParaRPr lang="en-US" sz="1500" dirty="0"/>
          </a:p>
        </p:txBody>
      </p:sp>
      <p:sp>
        <p:nvSpPr>
          <p:cNvPr id="17" name="Text 14"/>
          <p:cNvSpPr txBox="1"/>
          <p:nvPr/>
        </p:nvSpPr>
        <p:spPr>
          <a:xfrm>
            <a:off x="6437376" y="5230368"/>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Agent Manager · Scheduler · Interaction</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Engine · LLM Interface · Memory Manager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1 &amp;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Plan the day, then let the town decide who meets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640080"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7FB069"/>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481328"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Schedule-driven day</a:t>
            </a:r>
            <a:endParaRPr lang="en-US" sz="1500" dirty="0"/>
          </a:p>
        </p:txBody>
      </p:sp>
      <p:sp>
        <p:nvSpPr>
          <p:cNvPr id="10" name="Shape 8"/>
          <p:cNvSpPr/>
          <p:nvPr/>
        </p:nvSpPr>
        <p:spPr>
          <a:xfrm>
            <a:off x="950976" y="2103120"/>
            <a:ext cx="4727448" cy="457200"/>
          </a:xfrm>
          <a:prstGeom prst="roundRect">
            <a:avLst>
              <a:gd name="adj" fmla="val 12000"/>
            </a:avLst>
          </a:prstGeom>
          <a:solidFill>
            <a:srgbClr val="FBF1DC"/>
          </a:solidFill>
          <a:ln w="12700">
            <a:solidFill>
              <a:srgbClr val="EFDFBE"/>
            </a:solidFill>
            <a:prstDash val="solid"/>
          </a:ln>
        </p:spPr>
      </p:sp>
      <p:sp>
        <p:nvSpPr>
          <p:cNvPr id="11" name="Text 9"/>
          <p:cNvSpPr txBox="1"/>
          <p:nvPr/>
        </p:nvSpPr>
        <p:spPr>
          <a:xfrm>
            <a:off x="1042416" y="2103120"/>
            <a:ext cx="454456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identity + goals + memory   →   one day's plan</a:t>
            </a:r>
            <a:endParaRPr lang="en-US" sz="1150" dirty="0"/>
          </a:p>
        </p:txBody>
      </p:sp>
      <p:pic>
        <p:nvPicPr>
          <p:cNvPr id="12" name="Image 0" descr="/tmp/claude-0/-home-user-valentown/d6e1bc7b-94ca-5433-b61a-57600741710e/scratchpad/assets/loc_home.png">    </p:cNvPr>
          <p:cNvPicPr>
            <a:picLocks noChangeAspect="1"/>
          </p:cNvPicPr>
          <p:nvPr/>
        </p:nvPicPr>
        <p:blipFill>
          <a:blip r:embed="rId1"/>
          <a:stretch>
            <a:fillRect/>
          </a:stretch>
        </p:blipFill>
        <p:spPr>
          <a:xfrm>
            <a:off x="960120" y="2687275"/>
            <a:ext cx="868680" cy="842309"/>
          </a:xfrm>
          <a:prstGeom prst="rect">
            <a:avLst/>
          </a:prstGeom>
        </p:spPr>
      </p:pic>
      <p:sp>
        <p:nvSpPr>
          <p:cNvPr id="13" name="Text 10"/>
          <p:cNvSpPr txBox="1"/>
          <p:nvPr/>
        </p:nvSpPr>
        <p:spPr>
          <a:xfrm>
            <a:off x="85039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07:00 home</a:t>
            </a:r>
            <a:endParaRPr lang="en-US" sz="900" dirty="0"/>
          </a:p>
        </p:txBody>
      </p:sp>
      <p:sp>
        <p:nvSpPr>
          <p:cNvPr id="14" name="Shape 11"/>
          <p:cNvSpPr/>
          <p:nvPr/>
        </p:nvSpPr>
        <p:spPr>
          <a:xfrm>
            <a:off x="1883664" y="3145536"/>
            <a:ext cx="301752" cy="54864"/>
          </a:xfrm>
          <a:prstGeom prst="rect">
            <a:avLst/>
          </a:prstGeom>
          <a:solidFill>
            <a:srgbClr val="C98A24"/>
          </a:solidFill>
          <a:ln/>
        </p:spPr>
      </p:sp>
      <p:pic>
        <p:nvPicPr>
          <p:cNvPr id="15" name="Image 1" descr="/tmp/claude-0/-home-user-valentown/d6e1bc7b-94ca-5433-b61a-57600741710e/scratchpad/assets/loc_cafe.png">    </p:cNvPr>
          <p:cNvPicPr>
            <a:picLocks noChangeAspect="1"/>
          </p:cNvPicPr>
          <p:nvPr/>
        </p:nvPicPr>
        <p:blipFill>
          <a:blip r:embed="rId2"/>
          <a:stretch>
            <a:fillRect/>
          </a:stretch>
        </p:blipFill>
        <p:spPr>
          <a:xfrm>
            <a:off x="2240280" y="2828435"/>
            <a:ext cx="868680" cy="701149"/>
          </a:xfrm>
          <a:prstGeom prst="rect">
            <a:avLst/>
          </a:prstGeom>
        </p:spPr>
      </p:pic>
      <p:sp>
        <p:nvSpPr>
          <p:cNvPr id="16" name="Text 12"/>
          <p:cNvSpPr txBox="1"/>
          <p:nvPr/>
        </p:nvSpPr>
        <p:spPr>
          <a:xfrm>
            <a:off x="213055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12:00 café</a:t>
            </a:r>
            <a:endParaRPr lang="en-US" sz="900" dirty="0"/>
          </a:p>
        </p:txBody>
      </p:sp>
      <p:sp>
        <p:nvSpPr>
          <p:cNvPr id="17" name="Shape 13"/>
          <p:cNvSpPr/>
          <p:nvPr/>
        </p:nvSpPr>
        <p:spPr>
          <a:xfrm>
            <a:off x="3163824" y="3145536"/>
            <a:ext cx="301752" cy="54864"/>
          </a:xfrm>
          <a:prstGeom prst="rect">
            <a:avLst/>
          </a:prstGeom>
          <a:solidFill>
            <a:srgbClr val="C98A24"/>
          </a:solidFill>
          <a:ln/>
        </p:spPr>
      </p:sp>
      <p:pic>
        <p:nvPicPr>
          <p:cNvPr id="18" name="Image 2" descr="/tmp/claude-0/-home-user-valentown/d6e1bc7b-94ca-5433-b61a-57600741710e/scratchpad/assets/loc_shop.png">    </p:cNvPr>
          <p:cNvPicPr>
            <a:picLocks noChangeAspect="1"/>
          </p:cNvPicPr>
          <p:nvPr/>
        </p:nvPicPr>
        <p:blipFill>
          <a:blip r:embed="rId3"/>
          <a:stretch>
            <a:fillRect/>
          </a:stretch>
        </p:blipFill>
        <p:spPr>
          <a:xfrm>
            <a:off x="3520440" y="2943225"/>
            <a:ext cx="868680" cy="586359"/>
          </a:xfrm>
          <a:prstGeom prst="rect">
            <a:avLst/>
          </a:prstGeom>
        </p:spPr>
      </p:pic>
      <p:sp>
        <p:nvSpPr>
          <p:cNvPr id="19" name="Text 14"/>
          <p:cNvSpPr txBox="1"/>
          <p:nvPr/>
        </p:nvSpPr>
        <p:spPr>
          <a:xfrm>
            <a:off x="341071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15:00 shop</a:t>
            </a:r>
            <a:endParaRPr lang="en-US" sz="900" dirty="0"/>
          </a:p>
        </p:txBody>
      </p:sp>
      <p:sp>
        <p:nvSpPr>
          <p:cNvPr id="20" name="Shape 15"/>
          <p:cNvSpPr/>
          <p:nvPr/>
        </p:nvSpPr>
        <p:spPr>
          <a:xfrm>
            <a:off x="4443984" y="3145536"/>
            <a:ext cx="301752" cy="54864"/>
          </a:xfrm>
          <a:prstGeom prst="rect">
            <a:avLst/>
          </a:prstGeom>
          <a:solidFill>
            <a:srgbClr val="C98A24"/>
          </a:solidFill>
          <a:ln/>
        </p:spPr>
      </p:sp>
      <p:pic>
        <p:nvPicPr>
          <p:cNvPr id="21" name="Image 3" descr="/tmp/claude-0/-home-user-valentown/d6e1bc7b-94ca-5433-b61a-57600741710e/scratchpad/assets/loc_home.png">    </p:cNvPr>
          <p:cNvPicPr>
            <a:picLocks noChangeAspect="1"/>
          </p:cNvPicPr>
          <p:nvPr/>
        </p:nvPicPr>
        <p:blipFill>
          <a:blip r:embed="rId4"/>
          <a:stretch>
            <a:fillRect/>
          </a:stretch>
        </p:blipFill>
        <p:spPr>
          <a:xfrm>
            <a:off x="4800600" y="2687275"/>
            <a:ext cx="868680" cy="842309"/>
          </a:xfrm>
          <a:prstGeom prst="rect">
            <a:avLst/>
          </a:prstGeom>
        </p:spPr>
      </p:pic>
      <p:sp>
        <p:nvSpPr>
          <p:cNvPr id="22" name="Text 16"/>
          <p:cNvSpPr txBox="1"/>
          <p:nvPr/>
        </p:nvSpPr>
        <p:spPr>
          <a:xfrm>
            <a:off x="469087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20:00 home</a:t>
            </a:r>
            <a:endParaRPr lang="en-US" sz="900" dirty="0"/>
          </a:p>
        </p:txBody>
      </p:sp>
      <p:sp>
        <p:nvSpPr>
          <p:cNvPr id="23" name="Text 17"/>
          <p:cNvSpPr txBox="1"/>
          <p:nvPr/>
        </p:nvSpPr>
        <p:spPr>
          <a:xfrm>
            <a:off x="950976" y="3858768"/>
            <a:ext cx="472744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one generated day, illustrative</a:t>
            </a:r>
            <a:endParaRPr lang="en-US" sz="900" dirty="0"/>
          </a:p>
        </p:txBody>
      </p:sp>
      <p:sp>
        <p:nvSpPr>
          <p:cNvPr id="24" name="Shape 18"/>
          <p:cNvSpPr/>
          <p:nvPr/>
        </p:nvSpPr>
        <p:spPr>
          <a:xfrm>
            <a:off x="6199632"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19"/>
          <p:cNvSpPr/>
          <p:nvPr/>
        </p:nvSpPr>
        <p:spPr>
          <a:xfrm>
            <a:off x="6492240" y="1609344"/>
            <a:ext cx="384048" cy="384048"/>
          </a:xfrm>
          <a:prstGeom prst="ellipse">
            <a:avLst/>
          </a:prstGeom>
          <a:solidFill>
            <a:srgbClr val="2C5F2D"/>
          </a:solidFill>
          <a:ln/>
        </p:spPr>
      </p:sp>
      <p:sp>
        <p:nvSpPr>
          <p:cNvPr id="26" name="Text 20"/>
          <p:cNvSpPr txBox="1"/>
          <p:nvPr/>
        </p:nvSpPr>
        <p:spPr>
          <a:xfrm>
            <a:off x="6492240"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27" name="Text 21"/>
          <p:cNvSpPr txBox="1"/>
          <p:nvPr/>
        </p:nvSpPr>
        <p:spPr>
          <a:xfrm>
            <a:off x="7040880"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Co-location interaction</a:t>
            </a:r>
            <a:endParaRPr lang="en-US" sz="1500" dirty="0"/>
          </a:p>
        </p:txBody>
      </p:sp>
      <p:pic>
        <p:nvPicPr>
          <p:cNvPr id="28" name="Image 4" descr="/tmp/claude-0/-home-user-valentown/d6e1bc7b-94ca-5433-b61a-57600741710e/scratchpad/assets/loc_cafe.png">    </p:cNvPr>
          <p:cNvPicPr>
            <a:picLocks noChangeAspect="1"/>
          </p:cNvPicPr>
          <p:nvPr/>
        </p:nvPicPr>
        <p:blipFill>
          <a:blip r:embed="rId5"/>
          <a:stretch>
            <a:fillRect/>
          </a:stretch>
        </p:blipFill>
        <p:spPr>
          <a:xfrm>
            <a:off x="7964424" y="2053481"/>
            <a:ext cx="1828800" cy="1476103"/>
          </a:xfrm>
          <a:prstGeom prst="rect">
            <a:avLst/>
          </a:prstGeom>
        </p:spPr>
      </p:pic>
      <p:pic>
        <p:nvPicPr>
          <p:cNvPr id="29" name="Image 5" descr="/tmp/claude-0/-home-user-valentown/d6e1bc7b-94ca-5433-b61a-57600741710e/scratchpad/assets/ron.png">    </p:cNvPr>
          <p:cNvPicPr>
            <a:picLocks noChangeAspect="1"/>
          </p:cNvPicPr>
          <p:nvPr/>
        </p:nvPicPr>
        <p:blipFill>
          <a:blip r:embed="rId6"/>
          <a:stretch>
            <a:fillRect/>
          </a:stretch>
        </p:blipFill>
        <p:spPr>
          <a:xfrm>
            <a:off x="7205854" y="2450592"/>
            <a:ext cx="456437" cy="1078992"/>
          </a:xfrm>
          <a:prstGeom prst="rect">
            <a:avLst/>
          </a:prstGeom>
        </p:spPr>
      </p:pic>
      <p:pic>
        <p:nvPicPr>
          <p:cNvPr id="30" name="Image 6" descr="/tmp/claude-0/-home-user-valentown/d6e1bc7b-94ca-5433-b61a-57600741710e/scratchpad/assets/mia.png">    </p:cNvPr>
          <p:cNvPicPr>
            <a:picLocks noChangeAspect="1"/>
          </p:cNvPicPr>
          <p:nvPr/>
        </p:nvPicPr>
        <p:blipFill>
          <a:blip r:embed="rId7"/>
          <a:stretch>
            <a:fillRect/>
          </a:stretch>
        </p:blipFill>
        <p:spPr>
          <a:xfrm>
            <a:off x="10068375" y="2450592"/>
            <a:ext cx="528689" cy="1078992"/>
          </a:xfrm>
          <a:prstGeom prst="rect">
            <a:avLst/>
          </a:prstGeom>
        </p:spPr>
      </p:pic>
      <p:sp>
        <p:nvSpPr>
          <p:cNvPr id="31" name="Shape 22"/>
          <p:cNvSpPr/>
          <p:nvPr/>
        </p:nvSpPr>
        <p:spPr>
          <a:xfrm>
            <a:off x="6510528" y="3675888"/>
            <a:ext cx="4727448" cy="457200"/>
          </a:xfrm>
          <a:prstGeom prst="roundRect">
            <a:avLst>
              <a:gd name="adj" fmla="val 12000"/>
            </a:avLst>
          </a:prstGeom>
          <a:solidFill>
            <a:srgbClr val="EAF2E4"/>
          </a:solidFill>
          <a:ln w="12700">
            <a:solidFill>
              <a:srgbClr val="EAF2E4"/>
            </a:solidFill>
            <a:prstDash val="solid"/>
          </a:ln>
        </p:spPr>
      </p:sp>
      <p:sp>
        <p:nvSpPr>
          <p:cNvPr id="32" name="Text 23"/>
          <p:cNvSpPr txBox="1"/>
          <p:nvPr/>
        </p:nvSpPr>
        <p:spPr>
          <a:xfrm>
            <a:off x="6601968" y="3675888"/>
            <a:ext cx="4544568"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same place  +  same period   →   they talk</a:t>
            </a:r>
            <a:endParaRPr lang="en-US" sz="1200" dirty="0"/>
          </a:p>
        </p:txBody>
      </p:sp>
      <p:sp>
        <p:nvSpPr>
          <p:cNvPr id="33" name="Shape 24"/>
          <p:cNvSpPr/>
          <p:nvPr/>
        </p:nvSpPr>
        <p:spPr>
          <a:xfrm>
            <a:off x="640080" y="4754880"/>
            <a:ext cx="10911535" cy="1234440"/>
          </a:xfrm>
          <a:prstGeom prst="roundRect">
            <a:avLst>
              <a:gd name="adj" fmla="val 4444"/>
            </a:avLst>
          </a:prstGeom>
          <a:solidFill>
            <a:srgbClr val="1B2E23"/>
          </a:solidFill>
          <a:ln w="12700">
            <a:solidFill>
              <a:srgbClr val="1B2E23"/>
            </a:solidFill>
            <a:prstDash val="solid"/>
          </a:ln>
        </p:spPr>
      </p:sp>
      <p:sp>
        <p:nvSpPr>
          <p:cNvPr id="34" name="Text 25"/>
          <p:cNvSpPr txBox="1"/>
          <p:nvPr/>
        </p:nvSpPr>
        <p:spPr>
          <a:xfrm>
            <a:off x="640080" y="4882896"/>
            <a:ext cx="10911535" cy="402336"/>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Deterministic when  ·  generative what</a:t>
            </a:r>
            <a:endParaRPr lang="en-US" sz="2100" dirty="0"/>
          </a:p>
        </p:txBody>
      </p:sp>
      <p:sp>
        <p:nvSpPr>
          <p:cNvPr id="35" name="Text 26"/>
          <p:cNvSpPr txBox="1"/>
          <p:nvPr/>
        </p:nvSpPr>
        <p:spPr>
          <a:xfrm>
            <a:off x="640080" y="5358384"/>
            <a:ext cx="10911535" cy="274320"/>
          </a:xfrm>
          <a:prstGeom prst="rect">
            <a:avLst/>
          </a:prstGeom>
          <a:noFill/>
          <a:ln/>
        </p:spPr>
        <p:txBody>
          <a:bodyPr wrap="square" lIns="0" tIns="0" rIns="0" bIns="0" rtlCol="0" anchor="ctr"/>
          <a:lstStyle/>
          <a:p>
            <a:pPr algn="ctr" indent="0" marL="0">
              <a:buNone/>
            </a:pPr>
            <a:r>
              <a:rPr lang="en-US" sz="1250" dirty="0">
                <a:solidFill>
                  <a:srgbClr val="7FB069"/>
                </a:solidFill>
                <a:latin typeface="Calibri" pitchFamily="34" charset="0"/>
                <a:ea typeface="Calibri" pitchFamily="34" charset="-122"/>
                <a:cs typeface="Calibri" pitchFamily="34" charset="-120"/>
              </a:rPr>
              <a:t>the framework controls the dynamics — the model supplies the diversity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3</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is where the days connect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640080" y="1371600"/>
            <a:ext cx="5532120"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C98A24"/>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9" name="Text 7"/>
          <p:cNvSpPr txBox="1"/>
          <p:nvPr/>
        </p:nvSpPr>
        <p:spPr>
          <a:xfrm>
            <a:off x="1481328" y="1655064"/>
            <a:ext cx="443484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Memory-based feedback loop</a:t>
            </a:r>
            <a:endParaRPr lang="en-US" sz="1500" dirty="0"/>
          </a:p>
        </p:txBody>
      </p:sp>
      <p:sp>
        <p:nvSpPr>
          <p:cNvPr id="10" name="Text 8"/>
          <p:cNvSpPr txBox="1"/>
          <p:nvPr/>
        </p:nvSpPr>
        <p:spPr>
          <a:xfrm>
            <a:off x="950976" y="2148840"/>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WRITTEN IN</a:t>
            </a:r>
            <a:endParaRPr lang="en-US" sz="900" dirty="0"/>
          </a:p>
        </p:txBody>
      </p:sp>
      <p:sp>
        <p:nvSpPr>
          <p:cNvPr id="11" name="Shape 9"/>
          <p:cNvSpPr/>
          <p:nvPr/>
        </p:nvSpPr>
        <p:spPr>
          <a:xfrm>
            <a:off x="950976" y="2377440"/>
            <a:ext cx="1575816" cy="457200"/>
          </a:xfrm>
          <a:prstGeom prst="roundRect">
            <a:avLst>
              <a:gd name="adj" fmla="val 12000"/>
            </a:avLst>
          </a:prstGeom>
          <a:solidFill>
            <a:srgbClr val="FBF1DC"/>
          </a:solidFill>
          <a:ln w="12700">
            <a:solidFill>
              <a:srgbClr val="EFDFBE"/>
            </a:solidFill>
            <a:prstDash val="solid"/>
          </a:ln>
        </p:spPr>
      </p:sp>
      <p:sp>
        <p:nvSpPr>
          <p:cNvPr id="12" name="Text 10"/>
          <p:cNvSpPr txBox="1"/>
          <p:nvPr/>
        </p:nvSpPr>
        <p:spPr>
          <a:xfrm>
            <a:off x="1042416"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Plans</a:t>
            </a:r>
            <a:endParaRPr lang="en-US" sz="1100" dirty="0"/>
          </a:p>
        </p:txBody>
      </p:sp>
      <p:sp>
        <p:nvSpPr>
          <p:cNvPr id="13" name="Shape 11"/>
          <p:cNvSpPr/>
          <p:nvPr/>
        </p:nvSpPr>
        <p:spPr>
          <a:xfrm>
            <a:off x="2618232" y="2377440"/>
            <a:ext cx="1575816" cy="457200"/>
          </a:xfrm>
          <a:prstGeom prst="roundRect">
            <a:avLst>
              <a:gd name="adj" fmla="val 12000"/>
            </a:avLst>
          </a:prstGeom>
          <a:solidFill>
            <a:srgbClr val="FBF1DC"/>
          </a:solidFill>
          <a:ln w="12700">
            <a:solidFill>
              <a:srgbClr val="EFDFBE"/>
            </a:solidFill>
            <a:prstDash val="solid"/>
          </a:ln>
        </p:spPr>
      </p:sp>
      <p:sp>
        <p:nvSpPr>
          <p:cNvPr id="14" name="Text 12"/>
          <p:cNvSpPr txBox="1"/>
          <p:nvPr/>
        </p:nvSpPr>
        <p:spPr>
          <a:xfrm>
            <a:off x="2709672"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Conversations</a:t>
            </a:r>
            <a:endParaRPr lang="en-US" sz="1100" dirty="0"/>
          </a:p>
        </p:txBody>
      </p:sp>
      <p:sp>
        <p:nvSpPr>
          <p:cNvPr id="15" name="Shape 13"/>
          <p:cNvSpPr/>
          <p:nvPr/>
        </p:nvSpPr>
        <p:spPr>
          <a:xfrm>
            <a:off x="4285488" y="2377440"/>
            <a:ext cx="1575816" cy="457200"/>
          </a:xfrm>
          <a:prstGeom prst="roundRect">
            <a:avLst>
              <a:gd name="adj" fmla="val 12000"/>
            </a:avLst>
          </a:prstGeom>
          <a:solidFill>
            <a:srgbClr val="FBF1DC"/>
          </a:solidFill>
          <a:ln w="12700">
            <a:solidFill>
              <a:srgbClr val="EFDFBE"/>
            </a:solidFill>
            <a:prstDash val="solid"/>
          </a:ln>
        </p:spPr>
      </p:sp>
      <p:sp>
        <p:nvSpPr>
          <p:cNvPr id="16" name="Text 14"/>
          <p:cNvSpPr txBox="1"/>
          <p:nvPr/>
        </p:nvSpPr>
        <p:spPr>
          <a:xfrm>
            <a:off x="4376928"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Reflections</a:t>
            </a:r>
            <a:endParaRPr lang="en-US" sz="1100" dirty="0"/>
          </a:p>
        </p:txBody>
      </p:sp>
      <p:sp>
        <p:nvSpPr>
          <p:cNvPr id="17" name="Text 15"/>
          <p:cNvSpPr txBox="1"/>
          <p:nvPr/>
        </p:nvSpPr>
        <p:spPr>
          <a:xfrm>
            <a:off x="950976" y="3017520"/>
            <a:ext cx="4910328"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READ OUT</a:t>
            </a:r>
            <a:endParaRPr lang="en-US" sz="900" dirty="0"/>
          </a:p>
        </p:txBody>
      </p:sp>
      <p:sp>
        <p:nvSpPr>
          <p:cNvPr id="18" name="Shape 16"/>
          <p:cNvSpPr/>
          <p:nvPr/>
        </p:nvSpPr>
        <p:spPr>
          <a:xfrm>
            <a:off x="950976" y="3246120"/>
            <a:ext cx="1575816" cy="457200"/>
          </a:xfrm>
          <a:prstGeom prst="roundRect">
            <a:avLst>
              <a:gd name="adj" fmla="val 12000"/>
            </a:avLst>
          </a:prstGeom>
          <a:solidFill>
            <a:srgbClr val="EAF2E4"/>
          </a:solidFill>
          <a:ln w="12700">
            <a:solidFill>
              <a:srgbClr val="EAF2E4"/>
            </a:solidFill>
            <a:prstDash val="solid"/>
          </a:ln>
        </p:spPr>
      </p:sp>
      <p:sp>
        <p:nvSpPr>
          <p:cNvPr id="19" name="Text 17"/>
          <p:cNvSpPr txBox="1"/>
          <p:nvPr/>
        </p:nvSpPr>
        <p:spPr>
          <a:xfrm>
            <a:off x="1042416"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Planning</a:t>
            </a:r>
            <a:endParaRPr lang="en-US" sz="1100" dirty="0"/>
          </a:p>
        </p:txBody>
      </p:sp>
      <p:sp>
        <p:nvSpPr>
          <p:cNvPr id="20" name="Shape 18"/>
          <p:cNvSpPr/>
          <p:nvPr/>
        </p:nvSpPr>
        <p:spPr>
          <a:xfrm>
            <a:off x="2618232" y="3246120"/>
            <a:ext cx="1575816"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709672"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Dialogue</a:t>
            </a:r>
            <a:endParaRPr lang="en-US" sz="1100" dirty="0"/>
          </a:p>
        </p:txBody>
      </p:sp>
      <p:sp>
        <p:nvSpPr>
          <p:cNvPr id="22" name="Shape 20"/>
          <p:cNvSpPr/>
          <p:nvPr/>
        </p:nvSpPr>
        <p:spPr>
          <a:xfrm>
            <a:off x="4285488" y="3246120"/>
            <a:ext cx="1575816" cy="457200"/>
          </a:xfrm>
          <a:prstGeom prst="roundRect">
            <a:avLst>
              <a:gd name="adj" fmla="val 12000"/>
            </a:avLst>
          </a:prstGeom>
          <a:solidFill>
            <a:srgbClr val="EAF2E4"/>
          </a:solidFill>
          <a:ln w="12700">
            <a:solidFill>
              <a:srgbClr val="EAF2E4"/>
            </a:solidFill>
            <a:prstDash val="solid"/>
          </a:ln>
        </p:spPr>
      </p:sp>
      <p:sp>
        <p:nvSpPr>
          <p:cNvPr id="23" name="Text 21"/>
          <p:cNvSpPr txBox="1"/>
          <p:nvPr/>
        </p:nvSpPr>
        <p:spPr>
          <a:xfrm>
            <a:off x="4376928"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a:t>
            </a:r>
            <a:endParaRPr lang="en-US" sz="1100" dirty="0"/>
          </a:p>
        </p:txBody>
      </p:sp>
      <p:sp>
        <p:nvSpPr>
          <p:cNvPr id="24" name="Text 22"/>
          <p:cNvSpPr txBox="1"/>
          <p:nvPr/>
        </p:nvSpPr>
        <p:spPr>
          <a:xfrm>
            <a:off x="950976" y="391363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Every entry: category · timestamp · importance score</a:t>
            </a:r>
            <a:endParaRPr lang="en-US" sz="1200" dirty="0"/>
          </a:p>
        </p:txBody>
      </p:sp>
      <p:sp>
        <p:nvSpPr>
          <p:cNvPr id="25" name="Text 23"/>
          <p:cNvSpPr txBox="1"/>
          <p:nvPr/>
        </p:nvSpPr>
        <p:spPr>
          <a:xfrm>
            <a:off x="950976" y="418795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Retrieval: recent + important · the store stays bounded</a:t>
            </a:r>
            <a:endParaRPr lang="en-US" sz="1200" dirty="0"/>
          </a:p>
        </p:txBody>
      </p:sp>
      <p:sp>
        <p:nvSpPr>
          <p:cNvPr id="26" name="Shape 24"/>
          <p:cNvSpPr/>
          <p:nvPr/>
        </p:nvSpPr>
        <p:spPr>
          <a:xfrm>
            <a:off x="640080" y="4864608"/>
            <a:ext cx="5532120" cy="1115568"/>
          </a:xfrm>
          <a:prstGeom prst="roundRect">
            <a:avLst>
              <a:gd name="adj" fmla="val 4918"/>
            </a:avLst>
          </a:prstGeom>
          <a:solidFill>
            <a:srgbClr val="FBF1DC"/>
          </a:solidFill>
          <a:ln w="12700">
            <a:solidFill>
              <a:srgbClr val="EFDFBE"/>
            </a:solidFill>
            <a:prstDash val="solid"/>
          </a:ln>
        </p:spPr>
      </p:sp>
      <p:sp>
        <p:nvSpPr>
          <p:cNvPr id="27" name="Text 25"/>
          <p:cNvSpPr txBox="1"/>
          <p:nvPr/>
        </p:nvSpPr>
        <p:spPr>
          <a:xfrm>
            <a:off x="950976" y="5010912"/>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OPTIONAL: HUMAN IN THE LOOP</a:t>
            </a:r>
            <a:endParaRPr lang="en-US" sz="900" dirty="0"/>
          </a:p>
        </p:txBody>
      </p:sp>
      <p:sp>
        <p:nvSpPr>
          <p:cNvPr id="28" name="Text 26"/>
          <p:cNvSpPr txBox="1"/>
          <p:nvPr/>
        </p:nvSpPr>
        <p:spPr>
          <a:xfrm>
            <a:off x="950976" y="5266944"/>
            <a:ext cx="4910328" cy="548640"/>
          </a:xfrm>
          <a:prstGeom prst="rect">
            <a:avLst/>
          </a:prstGeom>
          <a:noFill/>
          <a:ln/>
        </p:spPr>
        <p:txBody>
          <a:bodyPr wrap="square" lIns="0" tIns="0" rIns="0" bIns="0" rtlCol="0" anchor="t"/>
          <a:lstStyle/>
          <a:p>
            <a:pPr indent="0" marL="0">
              <a:lnSpc>
                <a:spcPts val="1600"/>
              </a:lnSpc>
              <a:buNone/>
            </a:pPr>
            <a:r>
              <a:rPr lang="en-US" sz="1250" dirty="0">
                <a:solidFill>
                  <a:srgbClr val="1B2E23"/>
                </a:solidFill>
                <a:latin typeface="Calibri" pitchFamily="34" charset="0"/>
                <a:ea typeface="Calibri" pitchFamily="34" charset="-122"/>
                <a:cs typeface="Calibri" pitchFamily="34" charset="-120"/>
              </a:rPr>
              <a:t>Feedback written into the same memory channel</a:t>
            </a:r>
            <a:endParaRPr lang="en-US" sz="1250" dirty="0"/>
          </a:p>
        </p:txBody>
      </p:sp>
      <p:sp>
        <p:nvSpPr>
          <p:cNvPr id="29" name="Shape 27"/>
          <p:cNvSpPr/>
          <p:nvPr/>
        </p:nvSpPr>
        <p:spPr>
          <a:xfrm>
            <a:off x="6537960" y="1371600"/>
            <a:ext cx="5013655"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30" name="Image 0" descr="/tmp/claude-0/-home-user-valentown/d6e1bc7b-94ca-5433-b61a-57600741710e/scratchpad/assets/fig3_memory.png">    </p:cNvPr>
          <p:cNvPicPr>
            <a:picLocks noChangeAspect="1"/>
          </p:cNvPicPr>
          <p:nvPr/>
        </p:nvPicPr>
        <p:blipFill>
          <a:blip r:embed="rId1"/>
          <a:stretch>
            <a:fillRect/>
          </a:stretch>
        </p:blipFill>
        <p:spPr>
          <a:xfrm>
            <a:off x="6647688" y="1644153"/>
            <a:ext cx="4794199" cy="2563854"/>
          </a:xfrm>
          <a:prstGeom prst="rect">
            <a:avLst/>
          </a:prstGeom>
        </p:spPr>
      </p:pic>
      <p:sp>
        <p:nvSpPr>
          <p:cNvPr id="31" name="Text 28"/>
          <p:cNvSpPr txBox="1"/>
          <p:nvPr/>
        </p:nvSpPr>
        <p:spPr>
          <a:xfrm>
            <a:off x="6537960" y="4297680"/>
            <a:ext cx="5013655"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3  Memory-centred feedback loop</a:t>
            </a:r>
            <a:endParaRPr lang="en-US" sz="1000" dirty="0"/>
          </a:p>
        </p:txBody>
      </p:sp>
      <p:sp>
        <p:nvSpPr>
          <p:cNvPr id="32" name="Shape 29"/>
          <p:cNvSpPr/>
          <p:nvPr/>
        </p:nvSpPr>
        <p:spPr>
          <a:xfrm>
            <a:off x="6537960" y="4864608"/>
            <a:ext cx="5013655" cy="1115568"/>
          </a:xfrm>
          <a:prstGeom prst="roundRect">
            <a:avLst>
              <a:gd name="adj" fmla="val 4918"/>
            </a:avLst>
          </a:prstGeom>
          <a:solidFill>
            <a:srgbClr val="EAF2E4"/>
          </a:solidFill>
          <a:ln w="12700">
            <a:solidFill>
              <a:srgbClr val="EAF2E4"/>
            </a:solidFill>
            <a:prstDash val="solid"/>
          </a:ln>
        </p:spPr>
      </p:sp>
      <p:sp>
        <p:nvSpPr>
          <p:cNvPr id="33" name="Text 30"/>
          <p:cNvSpPr txBox="1"/>
          <p:nvPr/>
        </p:nvSpPr>
        <p:spPr>
          <a:xfrm>
            <a:off x="6812280" y="4864608"/>
            <a:ext cx="4465015" cy="1115568"/>
          </a:xfrm>
          <a:prstGeom prst="rect">
            <a:avLst/>
          </a:prstGeom>
          <a:noFill/>
          <a:ln/>
        </p:spPr>
        <p:txBody>
          <a:bodyPr wrap="square" lIns="0" tIns="0" rIns="0" bIns="0" rtlCol="0" anchor="ctr"/>
          <a:lstStyle/>
          <a:p>
            <a:pPr algn="ctr" indent="0" marL="0">
              <a:lnSpc>
                <a:spcPts val="2000"/>
              </a:lnSpc>
              <a:buNone/>
            </a:pPr>
            <a:r>
              <a:rPr lang="en-US" sz="1450" b="1" dirty="0">
                <a:solidFill>
                  <a:srgbClr val="1B2E23"/>
                </a:solidFill>
                <a:latin typeface="Cambria" pitchFamily="34" charset="0"/>
                <a:ea typeface="Cambria" pitchFamily="34" charset="-122"/>
                <a:cs typeface="Cambria" pitchFamily="34" charset="-120"/>
              </a:rPr>
              <a:t>The LLM stays stateless — all continuity lives in memory</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EXECUTION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simulation day, end to end</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1619860" y="1207008"/>
            <a:ext cx="8951976" cy="4370792"/>
          </a:xfrm>
          <a:prstGeom prst="roundRect">
            <a:avLst>
              <a:gd name="adj" fmla="val 125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2_pipeline.png">    </p:cNvPr>
          <p:cNvPicPr>
            <a:picLocks noChangeAspect="1"/>
          </p:cNvPicPr>
          <p:nvPr/>
        </p:nvPicPr>
        <p:blipFill>
          <a:blip r:embed="rId1"/>
          <a:stretch>
            <a:fillRect/>
          </a:stretch>
        </p:blipFill>
        <p:spPr>
          <a:xfrm>
            <a:off x="1757020" y="1298448"/>
            <a:ext cx="8677656" cy="4187912"/>
          </a:xfrm>
          <a:prstGeom prst="rect">
            <a:avLst/>
          </a:prstGeom>
        </p:spPr>
      </p:pic>
      <p:sp>
        <p:nvSpPr>
          <p:cNvPr id="8" name="Shape 5"/>
          <p:cNvSpPr/>
          <p:nvPr/>
        </p:nvSpPr>
        <p:spPr>
          <a:xfrm>
            <a:off x="640080" y="5760720"/>
            <a:ext cx="10911535" cy="512064"/>
          </a:xfrm>
          <a:prstGeom prst="roundRect">
            <a:avLst>
              <a:gd name="adj" fmla="val 10714"/>
            </a:avLst>
          </a:prstGeom>
          <a:solidFill>
            <a:srgbClr val="FBF1DC"/>
          </a:solidFill>
          <a:ln w="12700">
            <a:solidFill>
              <a:srgbClr val="EFDFBE"/>
            </a:solidFill>
            <a:prstDash val="solid"/>
          </a:ln>
        </p:spPr>
      </p:sp>
      <p:sp>
        <p:nvSpPr>
          <p:cNvPr id="9" name="Text 6"/>
          <p:cNvSpPr txBox="1"/>
          <p:nvPr/>
        </p:nvSpPr>
        <p:spPr>
          <a:xfrm>
            <a:off x="640080" y="5760720"/>
            <a:ext cx="10911535" cy="512064"/>
          </a:xfrm>
          <a:prstGeom prst="rect">
            <a:avLst/>
          </a:prstGeom>
          <a:noFill/>
          <a:ln/>
        </p:spPr>
        <p:txBody>
          <a:bodyPr wrap="square" lIns="0" tIns="0" rIns="0" bIns="0" rtlCol="0" anchor="ctr"/>
          <a:lstStyle/>
          <a:p>
            <a:pPr algn="ctr" indent="0" marL="0">
              <a:buNone/>
            </a:pPr>
            <a:r>
              <a:rPr lang="en-US" sz="1250" dirty="0">
                <a:solidFill>
                  <a:srgbClr val="1B2E23"/>
                </a:solidFill>
                <a:latin typeface="Calibri" pitchFamily="34" charset="0"/>
                <a:ea typeface="Calibri" pitchFamily="34" charset="-122"/>
                <a:cs typeface="Calibri" pitchFamily="34" charset="-120"/>
              </a:rPr>
              <a:t>Fig. 2  ·  Day 1 plans from the profile — every later day reflects first, then plans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IMPLEMENTATION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Valentown: the framework, running</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640080" y="1371600"/>
            <a:ext cx="7863840" cy="4569714"/>
          </a:xfrm>
          <a:prstGeom prst="roundRect">
            <a:avLst>
              <a:gd name="adj" fmla="val 120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screenshot.jpg">    </p:cNvPr>
          <p:cNvPicPr>
            <a:picLocks noChangeAspect="1"/>
          </p:cNvPicPr>
          <p:nvPr/>
        </p:nvPicPr>
        <p:blipFill>
          <a:blip r:embed="rId1"/>
          <a:stretch>
            <a:fillRect/>
          </a:stretch>
        </p:blipFill>
        <p:spPr>
          <a:xfrm>
            <a:off x="713232" y="1444752"/>
            <a:ext cx="7717536" cy="4341114"/>
          </a:xfrm>
          <a:prstGeom prst="rect">
            <a:avLst/>
          </a:prstGeom>
        </p:spPr>
      </p:pic>
      <p:sp>
        <p:nvSpPr>
          <p:cNvPr id="8" name="Shape 5"/>
          <p:cNvSpPr/>
          <p:nvPr/>
        </p:nvSpPr>
        <p:spPr>
          <a:xfrm>
            <a:off x="8823960" y="137160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6"/>
          <p:cNvSpPr txBox="1"/>
          <p:nvPr/>
        </p:nvSpPr>
        <p:spPr>
          <a:xfrm>
            <a:off x="9043416" y="151790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Valentown</a:t>
            </a:r>
            <a:endParaRPr lang="en-US" sz="1450" dirty="0"/>
          </a:p>
        </p:txBody>
      </p:sp>
      <p:sp>
        <p:nvSpPr>
          <p:cNvPr id="10" name="Text 7"/>
          <p:cNvSpPr txBox="1"/>
          <p:nvPr/>
        </p:nvSpPr>
        <p:spPr>
          <a:xfrm>
            <a:off x="9043416" y="186537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homes · shop · pharmacy · café · park</a:t>
            </a:r>
            <a:endParaRPr lang="en-US" sz="1100" dirty="0"/>
          </a:p>
        </p:txBody>
      </p:sp>
      <p:sp>
        <p:nvSpPr>
          <p:cNvPr id="11" name="Shape 8"/>
          <p:cNvSpPr/>
          <p:nvPr/>
        </p:nvSpPr>
        <p:spPr>
          <a:xfrm>
            <a:off x="8823960" y="256032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9"/>
          <p:cNvSpPr txBox="1"/>
          <p:nvPr/>
        </p:nvSpPr>
        <p:spPr>
          <a:xfrm>
            <a:off x="9043416" y="270662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7 residents</a:t>
            </a:r>
            <a:endParaRPr lang="en-US" sz="1450" dirty="0"/>
          </a:p>
        </p:txBody>
      </p:sp>
      <p:sp>
        <p:nvSpPr>
          <p:cNvPr id="13" name="Text 10"/>
          <p:cNvSpPr txBox="1"/>
          <p:nvPr/>
        </p:nvSpPr>
        <p:spPr>
          <a:xfrm>
            <a:off x="9043416" y="305409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own age, role, personality, goals</a:t>
            </a:r>
            <a:endParaRPr lang="en-US" sz="1100" dirty="0"/>
          </a:p>
        </p:txBody>
      </p:sp>
      <p:sp>
        <p:nvSpPr>
          <p:cNvPr id="14" name="Shape 11"/>
          <p:cNvSpPr/>
          <p:nvPr/>
        </p:nvSpPr>
        <p:spPr>
          <a:xfrm>
            <a:off x="8823960" y="374904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2"/>
          <p:cNvSpPr txBox="1"/>
          <p:nvPr/>
        </p:nvSpPr>
        <p:spPr>
          <a:xfrm>
            <a:off x="9043416" y="389534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DeepSeek API</a:t>
            </a:r>
            <a:endParaRPr lang="en-US" sz="1450" dirty="0"/>
          </a:p>
        </p:txBody>
      </p:sp>
      <p:sp>
        <p:nvSpPr>
          <p:cNvPr id="16" name="Text 13"/>
          <p:cNvSpPr txBox="1"/>
          <p:nvPr/>
        </p:nvSpPr>
        <p:spPr>
          <a:xfrm>
            <a:off x="9043416" y="424281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schedules · dialogue · reflection</a:t>
            </a:r>
            <a:endParaRPr lang="en-US" sz="1100" dirty="0"/>
          </a:p>
        </p:txBody>
      </p:sp>
      <p:sp>
        <p:nvSpPr>
          <p:cNvPr id="17" name="Shape 14"/>
          <p:cNvSpPr/>
          <p:nvPr/>
        </p:nvSpPr>
        <p:spPr>
          <a:xfrm>
            <a:off x="8823960" y="4937760"/>
            <a:ext cx="2727655" cy="1024128"/>
          </a:xfrm>
          <a:prstGeom prst="roundRect">
            <a:avLst>
              <a:gd name="adj" fmla="val 5357"/>
            </a:avLst>
          </a:prstGeom>
          <a:solidFill>
            <a:srgbClr val="EAF2E4"/>
          </a:solidFill>
          <a:ln w="12700">
            <a:solidFill>
              <a:srgbClr val="EAF2E4"/>
            </a:solidFill>
            <a:prstDash val="solid"/>
          </a:ln>
        </p:spPr>
      </p:sp>
      <p:sp>
        <p:nvSpPr>
          <p:cNvPr id="18" name="Text 15"/>
          <p:cNvSpPr txBox="1"/>
          <p:nvPr/>
        </p:nvSpPr>
        <p:spPr>
          <a:xfrm>
            <a:off x="9043416" y="508406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Python + Phaser</a:t>
            </a:r>
            <a:endParaRPr lang="en-US" sz="1450" dirty="0"/>
          </a:p>
        </p:txBody>
      </p:sp>
      <p:sp>
        <p:nvSpPr>
          <p:cNvPr id="19" name="Text 16"/>
          <p:cNvSpPr txBox="1"/>
          <p:nvPr/>
        </p:nvSpPr>
        <p:spPr>
          <a:xfrm>
            <a:off x="9043416" y="543153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pre-computed, replayed over REST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EXPERIMENTS</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we ran, and what we looked for</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640080" y="1371600"/>
            <a:ext cx="10911535" cy="1975104"/>
          </a:xfrm>
          <a:prstGeom prst="roundRect">
            <a:avLst>
              <a:gd name="adj" fmla="val 277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ron.png">    </p:cNvPr>
          <p:cNvPicPr>
            <a:picLocks noChangeAspect="1"/>
          </p:cNvPicPr>
          <p:nvPr/>
        </p:nvPicPr>
        <p:blipFill>
          <a:blip r:embed="rId1"/>
          <a:stretch>
            <a:fillRect/>
          </a:stretch>
        </p:blipFill>
        <p:spPr>
          <a:xfrm>
            <a:off x="1470872" y="1810512"/>
            <a:ext cx="367470" cy="868680"/>
          </a:xfrm>
          <a:prstGeom prst="rect">
            <a:avLst/>
          </a:prstGeom>
        </p:spPr>
      </p:pic>
      <p:sp>
        <p:nvSpPr>
          <p:cNvPr id="8" name="Text 5"/>
          <p:cNvSpPr txBox="1"/>
          <p:nvPr/>
        </p:nvSpPr>
        <p:spPr>
          <a:xfrm>
            <a:off x="914400"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Ron Parker</a:t>
            </a:r>
            <a:endParaRPr lang="en-US" sz="1050" dirty="0"/>
          </a:p>
        </p:txBody>
      </p:sp>
      <p:sp>
        <p:nvSpPr>
          <p:cNvPr id="9" name="Text 6"/>
          <p:cNvSpPr txBox="1"/>
          <p:nvPr/>
        </p:nvSpPr>
        <p:spPr>
          <a:xfrm>
            <a:off x="914400"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60 · supermarket owner</a:t>
            </a:r>
            <a:endParaRPr lang="en-US" sz="900" dirty="0"/>
          </a:p>
        </p:txBody>
      </p:sp>
      <p:pic>
        <p:nvPicPr>
          <p:cNvPr id="10" name="Image 1" descr="/tmp/claude-0/-home-user-valentown/d6e1bc7b-94ca-5433-b61a-57600741710e/scratchpad/assets/ella.png">    </p:cNvPr>
          <p:cNvPicPr>
            <a:picLocks noChangeAspect="1"/>
          </p:cNvPicPr>
          <p:nvPr/>
        </p:nvPicPr>
        <p:blipFill>
          <a:blip r:embed="rId2"/>
          <a:stretch>
            <a:fillRect/>
          </a:stretch>
        </p:blipFill>
        <p:spPr>
          <a:xfrm>
            <a:off x="2909681" y="1810512"/>
            <a:ext cx="450679" cy="868680"/>
          </a:xfrm>
          <a:prstGeom prst="rect">
            <a:avLst/>
          </a:prstGeom>
        </p:spPr>
      </p:pic>
      <p:sp>
        <p:nvSpPr>
          <p:cNvPr id="11" name="Text 7"/>
          <p:cNvSpPr txBox="1"/>
          <p:nvPr/>
        </p:nvSpPr>
        <p:spPr>
          <a:xfrm>
            <a:off x="239481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Ella Parker</a:t>
            </a:r>
            <a:endParaRPr lang="en-US" sz="1050" dirty="0"/>
          </a:p>
        </p:txBody>
      </p:sp>
      <p:sp>
        <p:nvSpPr>
          <p:cNvPr id="12" name="Text 8"/>
          <p:cNvSpPr txBox="1"/>
          <p:nvPr/>
        </p:nvSpPr>
        <p:spPr>
          <a:xfrm>
            <a:off x="239481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58 · pharmacy owner</a:t>
            </a:r>
            <a:endParaRPr lang="en-US" sz="900" dirty="0"/>
          </a:p>
        </p:txBody>
      </p:sp>
      <p:pic>
        <p:nvPicPr>
          <p:cNvPr id="13" name="Image 2" descr="/tmp/claude-0/-home-user-valentown/d6e1bc7b-94ca-5433-b61a-57600741710e/scratchpad/assets/emma.png">    </p:cNvPr>
          <p:cNvPicPr>
            <a:picLocks noChangeAspect="1"/>
          </p:cNvPicPr>
          <p:nvPr/>
        </p:nvPicPr>
        <p:blipFill>
          <a:blip r:embed="rId3"/>
          <a:stretch>
            <a:fillRect/>
          </a:stretch>
        </p:blipFill>
        <p:spPr>
          <a:xfrm>
            <a:off x="4390710" y="1810512"/>
            <a:ext cx="449447" cy="868680"/>
          </a:xfrm>
          <a:prstGeom prst="rect">
            <a:avLst/>
          </a:prstGeom>
        </p:spPr>
      </p:pic>
      <p:sp>
        <p:nvSpPr>
          <p:cNvPr id="14" name="Text 9"/>
          <p:cNvSpPr txBox="1"/>
          <p:nvPr/>
        </p:nvSpPr>
        <p:spPr>
          <a:xfrm>
            <a:off x="3875227"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Emma Harris</a:t>
            </a:r>
            <a:endParaRPr lang="en-US" sz="1050" dirty="0"/>
          </a:p>
        </p:txBody>
      </p:sp>
      <p:sp>
        <p:nvSpPr>
          <p:cNvPr id="15" name="Text 10"/>
          <p:cNvSpPr txBox="1"/>
          <p:nvPr/>
        </p:nvSpPr>
        <p:spPr>
          <a:xfrm>
            <a:off x="3875227"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30 · mother</a:t>
            </a:r>
            <a:endParaRPr lang="en-US" sz="900" dirty="0"/>
          </a:p>
        </p:txBody>
      </p:sp>
      <p:pic>
        <p:nvPicPr>
          <p:cNvPr id="16" name="Image 3" descr="/tmp/claude-0/-home-user-valentown/d6e1bc7b-94ca-5433-b61a-57600741710e/scratchpad/assets/gavin.png">    </p:cNvPr>
          <p:cNvPicPr>
            <a:picLocks noChangeAspect="1"/>
          </p:cNvPicPr>
          <p:nvPr/>
        </p:nvPicPr>
        <p:blipFill>
          <a:blip r:embed="rId4"/>
          <a:stretch>
            <a:fillRect/>
          </a:stretch>
        </p:blipFill>
        <p:spPr>
          <a:xfrm>
            <a:off x="5898590" y="1810512"/>
            <a:ext cx="394515" cy="868680"/>
          </a:xfrm>
          <a:prstGeom prst="rect">
            <a:avLst/>
          </a:prstGeom>
        </p:spPr>
      </p:pic>
      <p:sp>
        <p:nvSpPr>
          <p:cNvPr id="17" name="Text 11"/>
          <p:cNvSpPr txBox="1"/>
          <p:nvPr/>
        </p:nvSpPr>
        <p:spPr>
          <a:xfrm>
            <a:off x="5355641"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Gavin Harris</a:t>
            </a:r>
            <a:endParaRPr lang="en-US" sz="1050" dirty="0"/>
          </a:p>
        </p:txBody>
      </p:sp>
      <p:sp>
        <p:nvSpPr>
          <p:cNvPr id="18" name="Text 12"/>
          <p:cNvSpPr txBox="1"/>
          <p:nvPr/>
        </p:nvSpPr>
        <p:spPr>
          <a:xfrm>
            <a:off x="5355641"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32 · father</a:t>
            </a:r>
            <a:endParaRPr lang="en-US" sz="900" dirty="0"/>
          </a:p>
        </p:txBody>
      </p:sp>
      <p:pic>
        <p:nvPicPr>
          <p:cNvPr id="19" name="Image 4" descr="/tmp/claude-0/-home-user-valentown/d6e1bc7b-94ca-5433-b61a-57600741710e/scratchpad/assets/adam.png">    </p:cNvPr>
          <p:cNvPicPr>
            <a:picLocks noChangeAspect="1"/>
          </p:cNvPicPr>
          <p:nvPr/>
        </p:nvPicPr>
        <p:blipFill>
          <a:blip r:embed="rId5"/>
          <a:stretch>
            <a:fillRect/>
          </a:stretch>
        </p:blipFill>
        <p:spPr>
          <a:xfrm>
            <a:off x="7369367" y="1810512"/>
            <a:ext cx="413788" cy="868680"/>
          </a:xfrm>
          <a:prstGeom prst="rect">
            <a:avLst/>
          </a:prstGeom>
        </p:spPr>
      </p:pic>
      <p:sp>
        <p:nvSpPr>
          <p:cNvPr id="20" name="Text 13"/>
          <p:cNvSpPr txBox="1"/>
          <p:nvPr/>
        </p:nvSpPr>
        <p:spPr>
          <a:xfrm>
            <a:off x="683605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Adam Harris</a:t>
            </a:r>
            <a:endParaRPr lang="en-US" sz="1050" dirty="0"/>
          </a:p>
        </p:txBody>
      </p:sp>
      <p:sp>
        <p:nvSpPr>
          <p:cNvPr id="21" name="Text 14"/>
          <p:cNvSpPr txBox="1"/>
          <p:nvPr/>
        </p:nvSpPr>
        <p:spPr>
          <a:xfrm>
            <a:off x="683605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7 · child</a:t>
            </a:r>
            <a:endParaRPr lang="en-US" sz="900" dirty="0"/>
          </a:p>
        </p:txBody>
      </p:sp>
      <p:pic>
        <p:nvPicPr>
          <p:cNvPr id="22" name="Image 5" descr="/tmp/claude-0/-home-user-valentown/d6e1bc7b-94ca-5433-b61a-57600741710e/scratchpad/assets/mia.png">    </p:cNvPr>
          <p:cNvPicPr>
            <a:picLocks noChangeAspect="1"/>
          </p:cNvPicPr>
          <p:nvPr/>
        </p:nvPicPr>
        <p:blipFill>
          <a:blip r:embed="rId6"/>
          <a:stretch>
            <a:fillRect/>
          </a:stretch>
        </p:blipFill>
        <p:spPr>
          <a:xfrm>
            <a:off x="8843855" y="1810512"/>
            <a:ext cx="425640" cy="868680"/>
          </a:xfrm>
          <a:prstGeom prst="rect">
            <a:avLst/>
          </a:prstGeom>
        </p:spPr>
      </p:pic>
      <p:sp>
        <p:nvSpPr>
          <p:cNvPr id="23" name="Text 15"/>
          <p:cNvSpPr txBox="1"/>
          <p:nvPr/>
        </p:nvSpPr>
        <p:spPr>
          <a:xfrm>
            <a:off x="8316468"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Mia Thompson</a:t>
            </a:r>
            <a:endParaRPr lang="en-US" sz="1050" dirty="0"/>
          </a:p>
        </p:txBody>
      </p:sp>
      <p:sp>
        <p:nvSpPr>
          <p:cNvPr id="24" name="Text 16"/>
          <p:cNvSpPr txBox="1"/>
          <p:nvPr/>
        </p:nvSpPr>
        <p:spPr>
          <a:xfrm>
            <a:off x="8316468"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28 · family teacher</a:t>
            </a:r>
            <a:endParaRPr lang="en-US" sz="900" dirty="0"/>
          </a:p>
        </p:txBody>
      </p:sp>
      <p:pic>
        <p:nvPicPr>
          <p:cNvPr id="25" name="Image 6" descr="/tmp/claude-0/-home-user-valentown/d6e1bc7b-94ca-5433-b61a-57600741710e/scratchpad/assets/arthur.png">    </p:cNvPr>
          <p:cNvPicPr>
            <a:picLocks noChangeAspect="1"/>
          </p:cNvPicPr>
          <p:nvPr/>
        </p:nvPicPr>
        <p:blipFill>
          <a:blip r:embed="rId7"/>
          <a:stretch>
            <a:fillRect/>
          </a:stretch>
        </p:blipFill>
        <p:spPr>
          <a:xfrm>
            <a:off x="10308876" y="1810512"/>
            <a:ext cx="456425" cy="868680"/>
          </a:xfrm>
          <a:prstGeom prst="rect">
            <a:avLst/>
          </a:prstGeom>
        </p:spPr>
      </p:pic>
      <p:sp>
        <p:nvSpPr>
          <p:cNvPr id="26" name="Text 17"/>
          <p:cNvSpPr txBox="1"/>
          <p:nvPr/>
        </p:nvSpPr>
        <p:spPr>
          <a:xfrm>
            <a:off x="9796882"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Arthur Morgan</a:t>
            </a:r>
            <a:endParaRPr lang="en-US" sz="1050" dirty="0"/>
          </a:p>
        </p:txBody>
      </p:sp>
      <p:sp>
        <p:nvSpPr>
          <p:cNvPr id="27" name="Text 18"/>
          <p:cNvSpPr txBox="1"/>
          <p:nvPr/>
        </p:nvSpPr>
        <p:spPr>
          <a:xfrm>
            <a:off x="9796882"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29 · architect</a:t>
            </a:r>
            <a:endParaRPr lang="en-US" sz="900" dirty="0"/>
          </a:p>
        </p:txBody>
      </p:sp>
      <p:sp>
        <p:nvSpPr>
          <p:cNvPr id="28" name="Shape 19"/>
          <p:cNvSpPr/>
          <p:nvPr/>
        </p:nvSpPr>
        <p:spPr>
          <a:xfrm>
            <a:off x="64008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9" name="Text 20"/>
          <p:cNvSpPr txBox="1"/>
          <p:nvPr/>
        </p:nvSpPr>
        <p:spPr>
          <a:xfrm>
            <a:off x="91440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Environment</a:t>
            </a:r>
            <a:endParaRPr lang="en-US" sz="1400" dirty="0"/>
          </a:p>
        </p:txBody>
      </p:sp>
      <p:sp>
        <p:nvSpPr>
          <p:cNvPr id="30" name="Text 21"/>
          <p:cNvSpPr txBox="1"/>
          <p:nvPr/>
        </p:nvSpPr>
        <p:spPr>
          <a:xfrm>
            <a:off x="91440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predefined locations;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co-location enables interaction</a:t>
            </a:r>
            <a:endParaRPr lang="en-US" sz="1150" dirty="0"/>
          </a:p>
        </p:txBody>
      </p:sp>
      <p:sp>
        <p:nvSpPr>
          <p:cNvPr id="31" name="Shape 22"/>
          <p:cNvSpPr/>
          <p:nvPr/>
        </p:nvSpPr>
        <p:spPr>
          <a:xfrm>
            <a:off x="434340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Text 23"/>
          <p:cNvSpPr txBox="1"/>
          <p:nvPr/>
        </p:nvSpPr>
        <p:spPr>
          <a:xfrm>
            <a:off x="4617720" y="3712464"/>
            <a:ext cx="2953512" cy="292608"/>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Duration</a:t>
            </a:r>
            <a:endParaRPr lang="en-US" sz="1400" dirty="0"/>
          </a:p>
        </p:txBody>
      </p:sp>
      <p:sp>
        <p:nvSpPr>
          <p:cNvPr id="33" name="Text 24"/>
          <p:cNvSpPr txBox="1"/>
          <p:nvPr/>
        </p:nvSpPr>
        <p:spPr>
          <a:xfrm>
            <a:off x="461772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multiple consecutive days,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a full cycle each day</a:t>
            </a:r>
            <a:endParaRPr lang="en-US" sz="1150" dirty="0"/>
          </a:p>
        </p:txBody>
      </p:sp>
      <p:sp>
        <p:nvSpPr>
          <p:cNvPr id="34" name="Shape 25"/>
          <p:cNvSpPr/>
          <p:nvPr/>
        </p:nvSpPr>
        <p:spPr>
          <a:xfrm>
            <a:off x="804672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Text 26"/>
          <p:cNvSpPr txBox="1"/>
          <p:nvPr/>
        </p:nvSpPr>
        <p:spPr>
          <a:xfrm>
            <a:off x="832104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Execution</a:t>
            </a:r>
            <a:endParaRPr lang="en-US" sz="1400" dirty="0"/>
          </a:p>
        </p:txBody>
      </p:sp>
      <p:sp>
        <p:nvSpPr>
          <p:cNvPr id="36" name="Text 27"/>
          <p:cNvSpPr txBox="1"/>
          <p:nvPr/>
        </p:nvSpPr>
        <p:spPr>
          <a:xfrm>
            <a:off x="832104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deterministic triggers,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stochastic content</a:t>
            </a:r>
            <a:endParaRPr lang="en-US" sz="1150" dirty="0"/>
          </a:p>
        </p:txBody>
      </p:sp>
      <p:sp>
        <p:nvSpPr>
          <p:cNvPr id="37" name="Text 28"/>
          <p:cNvSpPr txBox="1"/>
          <p:nvPr/>
        </p:nvSpPr>
        <p:spPr>
          <a:xfrm>
            <a:off x="658368" y="5175504"/>
            <a:ext cx="10911535"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WE LOOK AT</a:t>
            </a:r>
            <a:endParaRPr lang="en-US" sz="900" dirty="0"/>
          </a:p>
        </p:txBody>
      </p:sp>
      <p:sp>
        <p:nvSpPr>
          <p:cNvPr id="38" name="Shape 29"/>
          <p:cNvSpPr/>
          <p:nvPr/>
        </p:nvSpPr>
        <p:spPr>
          <a:xfrm>
            <a:off x="640080" y="5413248"/>
            <a:ext cx="3503066" cy="566928"/>
          </a:xfrm>
          <a:prstGeom prst="roundRect">
            <a:avLst>
              <a:gd name="adj" fmla="val 9677"/>
            </a:avLst>
          </a:prstGeom>
          <a:solidFill>
            <a:srgbClr val="EAF2E4"/>
          </a:solidFill>
          <a:ln w="12700">
            <a:solidFill>
              <a:srgbClr val="EAF2E4"/>
            </a:solidFill>
            <a:prstDash val="solid"/>
          </a:ln>
        </p:spPr>
      </p:sp>
      <p:sp>
        <p:nvSpPr>
          <p:cNvPr id="39" name="Text 30"/>
          <p:cNvSpPr txBox="1"/>
          <p:nvPr/>
        </p:nvSpPr>
        <p:spPr>
          <a:xfrm>
            <a:off x="731520"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interaction → behaviour</a:t>
            </a:r>
            <a:endParaRPr lang="en-US" sz="1250" dirty="0"/>
          </a:p>
        </p:txBody>
      </p:sp>
      <p:sp>
        <p:nvSpPr>
          <p:cNvPr id="40" name="Shape 31"/>
          <p:cNvSpPr/>
          <p:nvPr/>
        </p:nvSpPr>
        <p:spPr>
          <a:xfrm>
            <a:off x="4344314" y="5413248"/>
            <a:ext cx="3503066" cy="566928"/>
          </a:xfrm>
          <a:prstGeom prst="roundRect">
            <a:avLst>
              <a:gd name="adj" fmla="val 9677"/>
            </a:avLst>
          </a:prstGeom>
          <a:solidFill>
            <a:srgbClr val="EAF2E4"/>
          </a:solidFill>
          <a:ln w="12700">
            <a:solidFill>
              <a:srgbClr val="EAF2E4"/>
            </a:solidFill>
            <a:prstDash val="solid"/>
          </a:ln>
        </p:spPr>
      </p:sp>
      <p:sp>
        <p:nvSpPr>
          <p:cNvPr id="41" name="Text 32"/>
          <p:cNvSpPr txBox="1"/>
          <p:nvPr/>
        </p:nvSpPr>
        <p:spPr>
          <a:xfrm>
            <a:off x="4435754"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memory → adaptation</a:t>
            </a:r>
            <a:endParaRPr lang="en-US" sz="1250" dirty="0"/>
          </a:p>
        </p:txBody>
      </p:sp>
      <p:sp>
        <p:nvSpPr>
          <p:cNvPr id="42" name="Shape 33"/>
          <p:cNvSpPr/>
          <p:nvPr/>
        </p:nvSpPr>
        <p:spPr>
          <a:xfrm>
            <a:off x="8048549" y="5413248"/>
            <a:ext cx="3503066" cy="566928"/>
          </a:xfrm>
          <a:prstGeom prst="roundRect">
            <a:avLst>
              <a:gd name="adj" fmla="val 9677"/>
            </a:avLst>
          </a:prstGeom>
          <a:solidFill>
            <a:srgbClr val="EAF2E4"/>
          </a:solidFill>
          <a:ln w="12700">
            <a:solidFill>
              <a:srgbClr val="EAF2E4"/>
            </a:solidFill>
            <a:prstDash val="solid"/>
          </a:ln>
        </p:spPr>
      </p:sp>
      <p:sp>
        <p:nvSpPr>
          <p:cNvPr id="43" name="Text 34"/>
          <p:cNvSpPr txBox="1"/>
          <p:nvPr/>
        </p:nvSpPr>
        <p:spPr>
          <a:xfrm>
            <a:off x="8139989"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emergent social structure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Turn interaction off, and the town goes quiet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640080" y="1417320"/>
            <a:ext cx="10911535" cy="1444752"/>
          </a:xfrm>
          <a:prstGeom prst="roundRect">
            <a:avLst>
              <a:gd name="adj" fmla="val 3797"/>
            </a:avLst>
          </a:prstGeom>
          <a:solidFill>
            <a:srgbClr val="EAF2E4"/>
          </a:solidFill>
          <a:ln w="12700">
            <a:solidFill>
              <a:srgbClr val="EAF2E4"/>
            </a:solidFill>
            <a:prstDash val="solid"/>
          </a:ln>
        </p:spPr>
      </p:sp>
      <p:sp>
        <p:nvSpPr>
          <p:cNvPr id="7" name="Text 5"/>
          <p:cNvSpPr txBox="1"/>
          <p:nvPr/>
        </p:nvSpPr>
        <p:spPr>
          <a:xfrm>
            <a:off x="1024128" y="1600200"/>
            <a:ext cx="4572000" cy="201168"/>
          </a:xfrm>
          <a:prstGeom prst="rect">
            <a:avLst/>
          </a:prstGeom>
          <a:noFill/>
          <a:ln/>
        </p:spPr>
        <p:txBody>
          <a:bodyPr wrap="square" lIns="0" tIns="0" rIns="0" bIns="0" rtlCol="0" anchor="ctr"/>
          <a:lstStyle/>
          <a:p>
            <a:pPr algn="l" indent="0" marL="0">
              <a:buNone/>
            </a:pPr>
            <a:r>
              <a:rPr lang="en-US" sz="1000" b="1" spc="130" kern="0" dirty="0">
                <a:solidFill>
                  <a:srgbClr val="2C5F2D"/>
                </a:solidFill>
                <a:latin typeface="Calibri" pitchFamily="34" charset="0"/>
                <a:ea typeface="Calibri" pitchFamily="34" charset="-122"/>
                <a:cs typeface="Calibri" pitchFamily="34" charset="-120"/>
              </a:rPr>
              <a:t>INTERACTION ENABLED</a:t>
            </a:r>
            <a:endParaRPr lang="en-US" sz="1000" dirty="0"/>
          </a:p>
        </p:txBody>
      </p:sp>
      <p:sp>
        <p:nvSpPr>
          <p:cNvPr id="8" name="Shape 6"/>
          <p:cNvSpPr/>
          <p:nvPr/>
        </p:nvSpPr>
        <p:spPr>
          <a:xfrm>
            <a:off x="102412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7"/>
          <p:cNvSpPr txBox="1"/>
          <p:nvPr/>
        </p:nvSpPr>
        <p:spPr>
          <a:xfrm>
            <a:off x="111556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Conversation</a:t>
            </a:r>
            <a:endParaRPr lang="en-US" sz="1250" dirty="0"/>
          </a:p>
        </p:txBody>
      </p:sp>
      <p:sp>
        <p:nvSpPr>
          <p:cNvPr id="10" name="Shape 8"/>
          <p:cNvSpPr/>
          <p:nvPr/>
        </p:nvSpPr>
        <p:spPr>
          <a:xfrm>
            <a:off x="2999232" y="2194560"/>
            <a:ext cx="438912" cy="219456"/>
          </a:xfrm>
          <a:prstGeom prst="rightArrow">
            <a:avLst/>
          </a:prstGeom>
          <a:solidFill>
            <a:srgbClr val="C98A24"/>
          </a:solidFill>
          <a:ln/>
        </p:spPr>
      </p:sp>
      <p:sp>
        <p:nvSpPr>
          <p:cNvPr id="11" name="Shape 9"/>
          <p:cNvSpPr/>
          <p:nvPr/>
        </p:nvSpPr>
        <p:spPr>
          <a:xfrm>
            <a:off x="349300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10"/>
          <p:cNvSpPr txBox="1"/>
          <p:nvPr/>
        </p:nvSpPr>
        <p:spPr>
          <a:xfrm>
            <a:off x="358444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Memory</a:t>
            </a:r>
            <a:endParaRPr lang="en-US" sz="1250" dirty="0"/>
          </a:p>
        </p:txBody>
      </p:sp>
      <p:sp>
        <p:nvSpPr>
          <p:cNvPr id="13" name="Shape 11"/>
          <p:cNvSpPr/>
          <p:nvPr/>
        </p:nvSpPr>
        <p:spPr>
          <a:xfrm>
            <a:off x="5468112" y="2194560"/>
            <a:ext cx="438912" cy="219456"/>
          </a:xfrm>
          <a:prstGeom prst="rightArrow">
            <a:avLst/>
          </a:prstGeom>
          <a:solidFill>
            <a:srgbClr val="C98A24"/>
          </a:solidFill>
          <a:ln/>
        </p:spPr>
      </p:sp>
      <p:sp>
        <p:nvSpPr>
          <p:cNvPr id="14" name="Shape 12"/>
          <p:cNvSpPr/>
          <p:nvPr/>
        </p:nvSpPr>
        <p:spPr>
          <a:xfrm>
            <a:off x="596188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3"/>
          <p:cNvSpPr txBox="1"/>
          <p:nvPr/>
        </p:nvSpPr>
        <p:spPr>
          <a:xfrm>
            <a:off x="605332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Next day's plan</a:t>
            </a:r>
            <a:endParaRPr lang="en-US" sz="1250" dirty="0"/>
          </a:p>
        </p:txBody>
      </p:sp>
      <p:sp>
        <p:nvSpPr>
          <p:cNvPr id="16" name="Shape 14"/>
          <p:cNvSpPr/>
          <p:nvPr/>
        </p:nvSpPr>
        <p:spPr>
          <a:xfrm>
            <a:off x="7936992" y="2194560"/>
            <a:ext cx="438912" cy="219456"/>
          </a:xfrm>
          <a:prstGeom prst="rightArrow">
            <a:avLst/>
          </a:prstGeom>
          <a:solidFill>
            <a:srgbClr val="C98A24"/>
          </a:solidFill>
          <a:ln/>
        </p:spPr>
      </p:sp>
      <p:sp>
        <p:nvSpPr>
          <p:cNvPr id="17" name="Shape 15"/>
          <p:cNvSpPr/>
          <p:nvPr/>
        </p:nvSpPr>
        <p:spPr>
          <a:xfrm>
            <a:off x="8430768" y="1947672"/>
            <a:ext cx="3120847" cy="713232"/>
          </a:xfrm>
          <a:prstGeom prst="roundRect">
            <a:avLst>
              <a:gd name="adj" fmla="val 7692"/>
            </a:avLst>
          </a:prstGeom>
          <a:solidFill>
            <a:srgbClr val="FFFFFF"/>
          </a:solidFill>
          <a:ln w="12700">
            <a:solidFill>
              <a:srgbClr val="E2E7DD"/>
            </a:solidFill>
            <a:prstDash val="solid"/>
          </a:ln>
        </p:spPr>
      </p:sp>
      <p:sp>
        <p:nvSpPr>
          <p:cNvPr id="18" name="Text 16"/>
          <p:cNvSpPr txBox="1"/>
          <p:nvPr/>
        </p:nvSpPr>
        <p:spPr>
          <a:xfrm>
            <a:off x="8522208" y="1947672"/>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richer activities · follow-up meetings · lasting pairs</a:t>
            </a:r>
            <a:endParaRPr lang="en-US" sz="1200" dirty="0"/>
          </a:p>
        </p:txBody>
      </p:sp>
      <p:sp>
        <p:nvSpPr>
          <p:cNvPr id="19" name="Shape 17"/>
          <p:cNvSpPr/>
          <p:nvPr/>
        </p:nvSpPr>
        <p:spPr>
          <a:xfrm>
            <a:off x="640080" y="3127248"/>
            <a:ext cx="10911535" cy="1444752"/>
          </a:xfrm>
          <a:prstGeom prst="roundRect">
            <a:avLst>
              <a:gd name="adj" fmla="val 3797"/>
            </a:avLst>
          </a:prstGeom>
          <a:solidFill>
            <a:srgbClr val="EFEFEA"/>
          </a:solidFill>
          <a:ln w="12700">
            <a:solidFill>
              <a:srgbClr val="EFEFEA"/>
            </a:solidFill>
            <a:prstDash val="solid"/>
          </a:ln>
        </p:spPr>
      </p:sp>
      <p:sp>
        <p:nvSpPr>
          <p:cNvPr id="20" name="Text 18"/>
          <p:cNvSpPr txBox="1"/>
          <p:nvPr/>
        </p:nvSpPr>
        <p:spPr>
          <a:xfrm>
            <a:off x="1024128" y="3310128"/>
            <a:ext cx="4572000" cy="201168"/>
          </a:xfrm>
          <a:prstGeom prst="rect">
            <a:avLst/>
          </a:prstGeom>
          <a:noFill/>
          <a:ln/>
        </p:spPr>
        <p:txBody>
          <a:bodyPr wrap="square" lIns="0" tIns="0" rIns="0" bIns="0" rtlCol="0" anchor="ctr"/>
          <a:lstStyle/>
          <a:p>
            <a:pPr algn="l" indent="0" marL="0">
              <a:buNone/>
            </a:pPr>
            <a:r>
              <a:rPr lang="en-US" sz="1000" b="1" spc="130" kern="0" dirty="0">
                <a:solidFill>
                  <a:srgbClr val="5F6B60"/>
                </a:solidFill>
                <a:latin typeface="Calibri" pitchFamily="34" charset="0"/>
                <a:ea typeface="Calibri" pitchFamily="34" charset="-122"/>
                <a:cs typeface="Calibri" pitchFamily="34" charset="-120"/>
              </a:rPr>
              <a:t>INTERACTION DISABLED</a:t>
            </a:r>
            <a:endParaRPr lang="en-US" sz="1000" dirty="0"/>
          </a:p>
        </p:txBody>
      </p:sp>
      <p:sp>
        <p:nvSpPr>
          <p:cNvPr id="21" name="Shape 19"/>
          <p:cNvSpPr/>
          <p:nvPr/>
        </p:nvSpPr>
        <p:spPr>
          <a:xfrm>
            <a:off x="102412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2" name="Text 20"/>
          <p:cNvSpPr txBox="1"/>
          <p:nvPr/>
        </p:nvSpPr>
        <p:spPr>
          <a:xfrm>
            <a:off x="111556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Conversation</a:t>
            </a:r>
            <a:endParaRPr lang="en-US" sz="1250" dirty="0"/>
          </a:p>
        </p:txBody>
      </p:sp>
      <p:sp>
        <p:nvSpPr>
          <p:cNvPr id="23" name="Shape 21"/>
          <p:cNvSpPr/>
          <p:nvPr/>
        </p:nvSpPr>
        <p:spPr>
          <a:xfrm>
            <a:off x="2999232" y="3904488"/>
            <a:ext cx="438912" cy="219456"/>
          </a:xfrm>
          <a:prstGeom prst="rightArrow">
            <a:avLst/>
          </a:prstGeom>
          <a:solidFill>
            <a:srgbClr val="C9CCC4"/>
          </a:solidFill>
          <a:ln/>
        </p:spPr>
      </p:sp>
      <p:sp>
        <p:nvSpPr>
          <p:cNvPr id="24" name="Shape 22"/>
          <p:cNvSpPr/>
          <p:nvPr/>
        </p:nvSpPr>
        <p:spPr>
          <a:xfrm>
            <a:off x="349300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358444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Memory</a:t>
            </a:r>
            <a:endParaRPr lang="en-US" sz="1250" dirty="0"/>
          </a:p>
        </p:txBody>
      </p:sp>
      <p:sp>
        <p:nvSpPr>
          <p:cNvPr id="26" name="Shape 24"/>
          <p:cNvSpPr/>
          <p:nvPr/>
        </p:nvSpPr>
        <p:spPr>
          <a:xfrm>
            <a:off x="5468112" y="3904488"/>
            <a:ext cx="438912" cy="219456"/>
          </a:xfrm>
          <a:prstGeom prst="rightArrow">
            <a:avLst/>
          </a:prstGeom>
          <a:solidFill>
            <a:srgbClr val="C9CCC4"/>
          </a:solidFill>
          <a:ln/>
        </p:spPr>
      </p:sp>
      <p:sp>
        <p:nvSpPr>
          <p:cNvPr id="27" name="Shape 25"/>
          <p:cNvSpPr/>
          <p:nvPr/>
        </p:nvSpPr>
        <p:spPr>
          <a:xfrm>
            <a:off x="596188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8" name="Text 26"/>
          <p:cNvSpPr txBox="1"/>
          <p:nvPr/>
        </p:nvSpPr>
        <p:spPr>
          <a:xfrm>
            <a:off x="605332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Next day's plan</a:t>
            </a:r>
            <a:endParaRPr lang="en-US" sz="1250" dirty="0"/>
          </a:p>
        </p:txBody>
      </p:sp>
      <p:sp>
        <p:nvSpPr>
          <p:cNvPr id="29" name="Shape 27"/>
          <p:cNvSpPr/>
          <p:nvPr/>
        </p:nvSpPr>
        <p:spPr>
          <a:xfrm>
            <a:off x="7936992" y="3904488"/>
            <a:ext cx="438912" cy="219456"/>
          </a:xfrm>
          <a:prstGeom prst="rightArrow">
            <a:avLst/>
          </a:prstGeom>
          <a:solidFill>
            <a:srgbClr val="C9CCC4"/>
          </a:solidFill>
          <a:ln/>
        </p:spPr>
      </p:sp>
      <p:sp>
        <p:nvSpPr>
          <p:cNvPr id="30" name="Shape 28"/>
          <p:cNvSpPr/>
          <p:nvPr/>
        </p:nvSpPr>
        <p:spPr>
          <a:xfrm>
            <a:off x="8430768" y="3657600"/>
            <a:ext cx="3120847" cy="713232"/>
          </a:xfrm>
          <a:prstGeom prst="roundRect">
            <a:avLst>
              <a:gd name="adj" fmla="val 7692"/>
            </a:avLst>
          </a:prstGeom>
          <a:solidFill>
            <a:srgbClr val="FFFFFF"/>
          </a:solidFill>
          <a:ln w="12700">
            <a:solidFill>
              <a:srgbClr val="E2E7DD"/>
            </a:solidFill>
            <a:prstDash val="solid"/>
          </a:ln>
        </p:spPr>
      </p:sp>
      <p:sp>
        <p:nvSpPr>
          <p:cNvPr id="31" name="Text 29"/>
          <p:cNvSpPr txBox="1"/>
          <p:nvPr/>
        </p:nvSpPr>
        <p:spPr>
          <a:xfrm>
            <a:off x="8522208" y="3657600"/>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5F6B60"/>
                </a:solidFill>
                <a:latin typeface="Calibri" pitchFamily="34" charset="0"/>
                <a:ea typeface="Calibri" pitchFamily="34" charset="-122"/>
                <a:cs typeface="Calibri" pitchFamily="34" charset="-120"/>
              </a:rPr>
              <a:t>repetitive · isolated · schedules stay static</a:t>
            </a:r>
            <a:endParaRPr lang="en-US" sz="1200" dirty="0"/>
          </a:p>
        </p:txBody>
      </p:sp>
      <p:sp>
        <p:nvSpPr>
          <p:cNvPr id="32" name="Shape 30"/>
          <p:cNvSpPr/>
          <p:nvPr/>
        </p:nvSpPr>
        <p:spPr>
          <a:xfrm>
            <a:off x="3044952" y="3840480"/>
            <a:ext cx="347472" cy="347472"/>
          </a:xfrm>
          <a:prstGeom prst="ellipse">
            <a:avLst/>
          </a:prstGeom>
          <a:solidFill>
            <a:srgbClr val="FFFFFF"/>
          </a:solidFill>
          <a:ln w="19050">
            <a:solidFill>
              <a:srgbClr val="A8412F"/>
            </a:solidFill>
            <a:prstDash val="solid"/>
          </a:ln>
        </p:spPr>
      </p:sp>
      <p:sp>
        <p:nvSpPr>
          <p:cNvPr id="33" name="Text 31"/>
          <p:cNvSpPr txBox="1"/>
          <p:nvPr/>
        </p:nvSpPr>
        <p:spPr>
          <a:xfrm>
            <a:off x="3044952" y="3840480"/>
            <a:ext cx="347472" cy="347472"/>
          </a:xfrm>
          <a:prstGeom prst="rect">
            <a:avLst/>
          </a:prstGeom>
          <a:noFill/>
          <a:ln/>
        </p:spPr>
        <p:txBody>
          <a:bodyPr wrap="square" lIns="0" tIns="0" rIns="0" bIns="0" rtlCol="0" anchor="ctr"/>
          <a:lstStyle/>
          <a:p>
            <a:pPr algn="ctr" indent="0" marL="0">
              <a:buNone/>
            </a:pPr>
            <a:r>
              <a:rPr lang="en-US" sz="1200" b="1" dirty="0">
                <a:solidFill>
                  <a:srgbClr val="A8412F"/>
                </a:solidFill>
                <a:latin typeface="Calibri" pitchFamily="34" charset="0"/>
                <a:ea typeface="Calibri" pitchFamily="34" charset="-122"/>
                <a:cs typeface="Calibri" pitchFamily="34" charset="-120"/>
              </a:rPr>
              <a:t>✕</a:t>
            </a:r>
            <a:endParaRPr lang="en-US" sz="1200" dirty="0"/>
          </a:p>
        </p:txBody>
      </p:sp>
      <p:sp>
        <p:nvSpPr>
          <p:cNvPr id="34" name="Shape 32"/>
          <p:cNvSpPr/>
          <p:nvPr/>
        </p:nvSpPr>
        <p:spPr>
          <a:xfrm>
            <a:off x="640080" y="4956048"/>
            <a:ext cx="10911535" cy="1051560"/>
          </a:xfrm>
          <a:prstGeom prst="roundRect">
            <a:avLst>
              <a:gd name="adj" fmla="val 5217"/>
            </a:avLst>
          </a:prstGeom>
          <a:solidFill>
            <a:srgbClr val="1B2E23"/>
          </a:solidFill>
          <a:ln w="12700">
            <a:solidFill>
              <a:srgbClr val="1B2E23"/>
            </a:solidFill>
            <a:prstDash val="solid"/>
          </a:ln>
        </p:spPr>
      </p:sp>
      <p:sp>
        <p:nvSpPr>
          <p:cNvPr id="35" name="Text 33"/>
          <p:cNvSpPr txBox="1"/>
          <p:nvPr/>
        </p:nvSpPr>
        <p:spPr>
          <a:xfrm>
            <a:off x="640080" y="4956048"/>
            <a:ext cx="10911535"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Interaction drives behavioural diversity and day-to-day adaptation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changes shape as the days pass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640080" y="1371600"/>
            <a:ext cx="640080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572768"/>
            <a:ext cx="5779008"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What memory is made of</a:t>
            </a:r>
            <a:endParaRPr lang="en-US" sz="1500" dirty="0"/>
          </a:p>
        </p:txBody>
      </p:sp>
      <p:sp>
        <p:nvSpPr>
          <p:cNvPr id="8" name="Shape 6"/>
          <p:cNvSpPr/>
          <p:nvPr/>
        </p:nvSpPr>
        <p:spPr>
          <a:xfrm>
            <a:off x="1353312" y="2761488"/>
            <a:ext cx="1051560" cy="2011680"/>
          </a:xfrm>
          <a:prstGeom prst="rect">
            <a:avLst/>
          </a:prstGeom>
          <a:solidFill>
            <a:srgbClr val="EAF2E4"/>
          </a:solidFill>
          <a:ln w="9525">
            <a:solidFill>
              <a:srgbClr val="7FB069"/>
            </a:solidFill>
            <a:prstDash val="solid"/>
          </a:ln>
        </p:spPr>
      </p:sp>
      <p:sp>
        <p:nvSpPr>
          <p:cNvPr id="9" name="Shape 7"/>
          <p:cNvSpPr/>
          <p:nvPr/>
        </p:nvSpPr>
        <p:spPr>
          <a:xfrm>
            <a:off x="1353312" y="2384298"/>
            <a:ext cx="1051560" cy="377190"/>
          </a:xfrm>
          <a:prstGeom prst="rect">
            <a:avLst/>
          </a:prstGeom>
          <a:solidFill>
            <a:srgbClr val="FBF1DC"/>
          </a:solidFill>
          <a:ln w="9525">
            <a:solidFill>
              <a:srgbClr val="C98A24"/>
            </a:solidFill>
            <a:prstDash val="solid"/>
          </a:ln>
        </p:spPr>
      </p:sp>
      <p:sp>
        <p:nvSpPr>
          <p:cNvPr id="10" name="Shape 8"/>
          <p:cNvSpPr/>
          <p:nvPr/>
        </p:nvSpPr>
        <p:spPr>
          <a:xfrm>
            <a:off x="1353312" y="2258568"/>
            <a:ext cx="1051560" cy="125730"/>
          </a:xfrm>
          <a:prstGeom prst="rect">
            <a:avLst/>
          </a:prstGeom>
          <a:solidFill>
            <a:srgbClr val="1B2E23"/>
          </a:solidFill>
          <a:ln w="9525">
            <a:solidFill>
              <a:srgbClr val="1B2E23"/>
            </a:solidFill>
            <a:prstDash val="solid"/>
          </a:ln>
        </p:spPr>
      </p:sp>
      <p:sp>
        <p:nvSpPr>
          <p:cNvPr id="11" name="Text 9"/>
          <p:cNvSpPr txBox="1"/>
          <p:nvPr/>
        </p:nvSpPr>
        <p:spPr>
          <a:xfrm>
            <a:off x="107899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1</a:t>
            </a:r>
            <a:endParaRPr lang="en-US" sz="1150" dirty="0"/>
          </a:p>
        </p:txBody>
      </p:sp>
      <p:sp>
        <p:nvSpPr>
          <p:cNvPr id="12" name="Shape 10"/>
          <p:cNvSpPr/>
          <p:nvPr/>
        </p:nvSpPr>
        <p:spPr>
          <a:xfrm>
            <a:off x="2715768" y="3401568"/>
            <a:ext cx="292608" cy="201168"/>
          </a:xfrm>
          <a:prstGeom prst="rightArrow">
            <a:avLst/>
          </a:prstGeom>
          <a:solidFill>
            <a:srgbClr val="C98A24"/>
          </a:solidFill>
          <a:ln/>
        </p:spPr>
      </p:sp>
      <p:sp>
        <p:nvSpPr>
          <p:cNvPr id="13" name="Shape 11"/>
          <p:cNvSpPr/>
          <p:nvPr/>
        </p:nvSpPr>
        <p:spPr>
          <a:xfrm>
            <a:off x="3319272" y="3641598"/>
            <a:ext cx="1051560" cy="1131570"/>
          </a:xfrm>
          <a:prstGeom prst="rect">
            <a:avLst/>
          </a:prstGeom>
          <a:solidFill>
            <a:srgbClr val="EAF2E4"/>
          </a:solidFill>
          <a:ln w="9525">
            <a:solidFill>
              <a:srgbClr val="7FB069"/>
            </a:solidFill>
            <a:prstDash val="solid"/>
          </a:ln>
        </p:spPr>
      </p:sp>
      <p:sp>
        <p:nvSpPr>
          <p:cNvPr id="14" name="Shape 12"/>
          <p:cNvSpPr/>
          <p:nvPr/>
        </p:nvSpPr>
        <p:spPr>
          <a:xfrm>
            <a:off x="3319272" y="2761488"/>
            <a:ext cx="1051560" cy="880110"/>
          </a:xfrm>
          <a:prstGeom prst="rect">
            <a:avLst/>
          </a:prstGeom>
          <a:solidFill>
            <a:srgbClr val="FBF1DC"/>
          </a:solidFill>
          <a:ln w="9525">
            <a:solidFill>
              <a:srgbClr val="C98A24"/>
            </a:solidFill>
            <a:prstDash val="solid"/>
          </a:ln>
        </p:spPr>
      </p:sp>
      <p:sp>
        <p:nvSpPr>
          <p:cNvPr id="15" name="Shape 13"/>
          <p:cNvSpPr/>
          <p:nvPr/>
        </p:nvSpPr>
        <p:spPr>
          <a:xfrm>
            <a:off x="3319272" y="2258568"/>
            <a:ext cx="1051560" cy="502920"/>
          </a:xfrm>
          <a:prstGeom prst="rect">
            <a:avLst/>
          </a:prstGeom>
          <a:solidFill>
            <a:srgbClr val="1B2E23"/>
          </a:solidFill>
          <a:ln w="9525">
            <a:solidFill>
              <a:srgbClr val="1B2E23"/>
            </a:solidFill>
            <a:prstDash val="solid"/>
          </a:ln>
        </p:spPr>
      </p:sp>
      <p:sp>
        <p:nvSpPr>
          <p:cNvPr id="16" name="Text 14"/>
          <p:cNvSpPr txBox="1"/>
          <p:nvPr/>
        </p:nvSpPr>
        <p:spPr>
          <a:xfrm>
            <a:off x="304495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17" name="Shape 15"/>
          <p:cNvSpPr/>
          <p:nvPr/>
        </p:nvSpPr>
        <p:spPr>
          <a:xfrm>
            <a:off x="4681728" y="3401568"/>
            <a:ext cx="292608" cy="201168"/>
          </a:xfrm>
          <a:prstGeom prst="rightArrow">
            <a:avLst/>
          </a:prstGeom>
          <a:solidFill>
            <a:srgbClr val="C98A24"/>
          </a:solidFill>
          <a:ln/>
        </p:spPr>
      </p:sp>
      <p:sp>
        <p:nvSpPr>
          <p:cNvPr id="18" name="Shape 16"/>
          <p:cNvSpPr/>
          <p:nvPr/>
        </p:nvSpPr>
        <p:spPr>
          <a:xfrm>
            <a:off x="5285232" y="4144518"/>
            <a:ext cx="1051560" cy="628650"/>
          </a:xfrm>
          <a:prstGeom prst="rect">
            <a:avLst/>
          </a:prstGeom>
          <a:solidFill>
            <a:srgbClr val="EAF2E4"/>
          </a:solidFill>
          <a:ln w="9525">
            <a:solidFill>
              <a:srgbClr val="7FB069"/>
            </a:solidFill>
            <a:prstDash val="solid"/>
          </a:ln>
        </p:spPr>
      </p:sp>
      <p:sp>
        <p:nvSpPr>
          <p:cNvPr id="19" name="Shape 17"/>
          <p:cNvSpPr/>
          <p:nvPr/>
        </p:nvSpPr>
        <p:spPr>
          <a:xfrm>
            <a:off x="5285232" y="3264408"/>
            <a:ext cx="1051560" cy="880110"/>
          </a:xfrm>
          <a:prstGeom prst="rect">
            <a:avLst/>
          </a:prstGeom>
          <a:solidFill>
            <a:srgbClr val="FBF1DC"/>
          </a:solidFill>
          <a:ln w="9525">
            <a:solidFill>
              <a:srgbClr val="C98A24"/>
            </a:solidFill>
            <a:prstDash val="solid"/>
          </a:ln>
        </p:spPr>
      </p:sp>
      <p:sp>
        <p:nvSpPr>
          <p:cNvPr id="20" name="Shape 18"/>
          <p:cNvSpPr/>
          <p:nvPr/>
        </p:nvSpPr>
        <p:spPr>
          <a:xfrm>
            <a:off x="5285232" y="2258568"/>
            <a:ext cx="1051560" cy="1005840"/>
          </a:xfrm>
          <a:prstGeom prst="rect">
            <a:avLst/>
          </a:prstGeom>
          <a:solidFill>
            <a:srgbClr val="1B2E23"/>
          </a:solidFill>
          <a:ln w="9525">
            <a:solidFill>
              <a:srgbClr val="1B2E23"/>
            </a:solidFill>
            <a:prstDash val="solid"/>
          </a:ln>
        </p:spPr>
      </p:sp>
      <p:sp>
        <p:nvSpPr>
          <p:cNvPr id="21" name="Text 19"/>
          <p:cNvSpPr txBox="1"/>
          <p:nvPr/>
        </p:nvSpPr>
        <p:spPr>
          <a:xfrm>
            <a:off x="501091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22" name="Shape 20"/>
          <p:cNvSpPr/>
          <p:nvPr/>
        </p:nvSpPr>
        <p:spPr>
          <a:xfrm>
            <a:off x="1097280" y="5230368"/>
            <a:ext cx="201168" cy="201168"/>
          </a:xfrm>
          <a:prstGeom prst="rect">
            <a:avLst/>
          </a:prstGeom>
          <a:solidFill>
            <a:srgbClr val="EAF2E4"/>
          </a:solidFill>
          <a:ln w="9525">
            <a:solidFill>
              <a:srgbClr val="7FB069"/>
            </a:solidFill>
            <a:prstDash val="solid"/>
          </a:ln>
        </p:spPr>
      </p:sp>
      <p:sp>
        <p:nvSpPr>
          <p:cNvPr id="23" name="Text 21"/>
          <p:cNvSpPr txBox="1"/>
          <p:nvPr/>
        </p:nvSpPr>
        <p:spPr>
          <a:xfrm>
            <a:off x="137160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Plans &amp; observations</a:t>
            </a:r>
            <a:endParaRPr lang="en-US" sz="1050" dirty="0"/>
          </a:p>
        </p:txBody>
      </p:sp>
      <p:sp>
        <p:nvSpPr>
          <p:cNvPr id="24" name="Shape 22"/>
          <p:cNvSpPr/>
          <p:nvPr/>
        </p:nvSpPr>
        <p:spPr>
          <a:xfrm>
            <a:off x="3108960" y="5230368"/>
            <a:ext cx="201168" cy="201168"/>
          </a:xfrm>
          <a:prstGeom prst="rect">
            <a:avLst/>
          </a:prstGeom>
          <a:solidFill>
            <a:srgbClr val="FBF1DC"/>
          </a:solidFill>
          <a:ln w="9525">
            <a:solidFill>
              <a:srgbClr val="C98A24"/>
            </a:solidFill>
            <a:prstDash val="solid"/>
          </a:ln>
        </p:spPr>
      </p:sp>
      <p:sp>
        <p:nvSpPr>
          <p:cNvPr id="25" name="Text 23"/>
          <p:cNvSpPr txBox="1"/>
          <p:nvPr/>
        </p:nvSpPr>
        <p:spPr>
          <a:xfrm>
            <a:off x="338328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Conversations</a:t>
            </a:r>
            <a:endParaRPr lang="en-US" sz="1050" dirty="0"/>
          </a:p>
        </p:txBody>
      </p:sp>
      <p:sp>
        <p:nvSpPr>
          <p:cNvPr id="26" name="Shape 24"/>
          <p:cNvSpPr/>
          <p:nvPr/>
        </p:nvSpPr>
        <p:spPr>
          <a:xfrm>
            <a:off x="5120640" y="5230368"/>
            <a:ext cx="201168" cy="201168"/>
          </a:xfrm>
          <a:prstGeom prst="rect">
            <a:avLst/>
          </a:prstGeom>
          <a:solidFill>
            <a:srgbClr val="1B2E23"/>
          </a:solidFill>
          <a:ln w="9525">
            <a:solidFill>
              <a:srgbClr val="1B2E23"/>
            </a:solidFill>
            <a:prstDash val="solid"/>
          </a:ln>
        </p:spPr>
      </p:sp>
      <p:sp>
        <p:nvSpPr>
          <p:cNvPr id="27" name="Text 25"/>
          <p:cNvSpPr txBox="1"/>
          <p:nvPr/>
        </p:nvSpPr>
        <p:spPr>
          <a:xfrm>
            <a:off x="539496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Reflections</a:t>
            </a:r>
            <a:endParaRPr lang="en-US" sz="1050" dirty="0"/>
          </a:p>
        </p:txBody>
      </p:sp>
      <p:sp>
        <p:nvSpPr>
          <p:cNvPr id="28" name="Text 26"/>
          <p:cNvSpPr txBox="1"/>
          <p:nvPr/>
        </p:nvSpPr>
        <p:spPr>
          <a:xfrm>
            <a:off x="950976" y="5541264"/>
            <a:ext cx="577900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schematic — relative composition, not measured proportions</a:t>
            </a:r>
            <a:endParaRPr lang="en-US" sz="900" dirty="0"/>
          </a:p>
        </p:txBody>
      </p:sp>
      <p:sp>
        <p:nvSpPr>
          <p:cNvPr id="29" name="Shape 27"/>
          <p:cNvSpPr/>
          <p:nvPr/>
        </p:nvSpPr>
        <p:spPr>
          <a:xfrm>
            <a:off x="7360920" y="1371600"/>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Text 28"/>
          <p:cNvSpPr txBox="1"/>
          <p:nvPr/>
        </p:nvSpPr>
        <p:spPr>
          <a:xfrm>
            <a:off x="7653528" y="1591056"/>
            <a:ext cx="3605479" cy="292608"/>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Bonds form on their own</a:t>
            </a:r>
            <a:endParaRPr lang="en-US" sz="1500" dirty="0"/>
          </a:p>
        </p:txBody>
      </p:sp>
      <p:sp>
        <p:nvSpPr>
          <p:cNvPr id="31" name="Text 29"/>
          <p:cNvSpPr txBox="1"/>
          <p:nvPr/>
        </p:nvSpPr>
        <p:spPr>
          <a:xfrm>
            <a:off x="7653528" y="2048256"/>
            <a:ext cx="3605479" cy="128016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Repeated meetings → persistent pairs → repeated co-location.</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Nobody wrote a friendship rule.</a:t>
            </a:r>
            <a:endParaRPr lang="en-US" sz="1250" dirty="0"/>
          </a:p>
        </p:txBody>
      </p:sp>
      <p:sp>
        <p:nvSpPr>
          <p:cNvPr id="32" name="Shape 30"/>
          <p:cNvSpPr/>
          <p:nvPr/>
        </p:nvSpPr>
        <p:spPr>
          <a:xfrm>
            <a:off x="7360920" y="3694176"/>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3" name="Text 31"/>
          <p:cNvSpPr txBox="1"/>
          <p:nvPr/>
        </p:nvSpPr>
        <p:spPr>
          <a:xfrm>
            <a:off x="7653528" y="3913632"/>
            <a:ext cx="3605479"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Behaviour follows memory</a:t>
            </a:r>
            <a:endParaRPr lang="en-US" sz="1500" dirty="0"/>
          </a:p>
        </p:txBody>
      </p:sp>
      <p:sp>
        <p:nvSpPr>
          <p:cNvPr id="34" name="Text 32"/>
          <p:cNvSpPr txBox="1"/>
          <p:nvPr/>
        </p:nvSpPr>
        <p:spPr>
          <a:xfrm>
            <a:off x="7653528" y="4370832"/>
            <a:ext cx="3605479" cy="137160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Reflection-derived insight → goal-aligned task selection shifts across days.</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Limit memory, and adaptation weakens.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DISCUSSION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this buys us, and what it costs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640080"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7274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Advantages</a:t>
            </a:r>
            <a:endParaRPr lang="en-US" sz="1700" dirty="0"/>
          </a:p>
        </p:txBody>
      </p:sp>
      <p:sp>
        <p:nvSpPr>
          <p:cNvPr id="8" name="Shape 6"/>
          <p:cNvSpPr/>
          <p:nvPr/>
        </p:nvSpPr>
        <p:spPr>
          <a:xfrm>
            <a:off x="950976" y="2194560"/>
            <a:ext cx="365760" cy="365760"/>
          </a:xfrm>
          <a:prstGeom prst="ellipse">
            <a:avLst/>
          </a:prstGeom>
          <a:solidFill>
            <a:srgbClr val="7FB069"/>
          </a:solidFill>
          <a:ln/>
        </p:spPr>
      </p:sp>
      <p:sp>
        <p:nvSpPr>
          <p:cNvPr id="9" name="Text 7"/>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Lightweight &amp; reproducible</a:t>
            </a:r>
            <a:endParaRPr lang="en-US" sz="1400" dirty="0"/>
          </a:p>
        </p:txBody>
      </p:sp>
      <p:sp>
        <p:nvSpPr>
          <p:cNvPr id="11" name="Text 9"/>
          <p:cNvSpPr txBox="1"/>
          <p:nvPr/>
        </p:nvSpPr>
        <p:spPr>
          <a:xfrm>
            <a:off x="1481328"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explicit pipeline, deterministic triggers</a:t>
            </a:r>
            <a:endParaRPr lang="en-US" sz="1200" dirty="0"/>
          </a:p>
        </p:txBody>
      </p:sp>
      <p:sp>
        <p:nvSpPr>
          <p:cNvPr id="12" name="Shape 10"/>
          <p:cNvSpPr/>
          <p:nvPr/>
        </p:nvSpPr>
        <p:spPr>
          <a:xfrm>
            <a:off x="950976" y="3154680"/>
            <a:ext cx="365760" cy="365760"/>
          </a:xfrm>
          <a:prstGeom prst="ellipse">
            <a:avLst/>
          </a:prstGeom>
          <a:solidFill>
            <a:srgbClr val="7FB069"/>
          </a:solidFill>
          <a:ln/>
        </p:spPr>
      </p:sp>
      <p:sp>
        <p:nvSpPr>
          <p:cNvPr id="13" name="Text 11"/>
          <p:cNvSpPr txBox="1"/>
          <p:nvPr/>
        </p:nvSpPr>
        <p:spPr>
          <a:xfrm>
            <a:off x="950976"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481328"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Controllable</a:t>
            </a:r>
            <a:endParaRPr lang="en-US" sz="1400" dirty="0"/>
          </a:p>
        </p:txBody>
      </p:sp>
      <p:sp>
        <p:nvSpPr>
          <p:cNvPr id="15" name="Text 13"/>
          <p:cNvSpPr txBox="1"/>
          <p:nvPr/>
        </p:nvSpPr>
        <p:spPr>
          <a:xfrm>
            <a:off x="1481328"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schedules, co-location rules, human feedback</a:t>
            </a:r>
            <a:endParaRPr lang="en-US" sz="1200" dirty="0"/>
          </a:p>
        </p:txBody>
      </p:sp>
      <p:sp>
        <p:nvSpPr>
          <p:cNvPr id="16" name="Shape 14"/>
          <p:cNvSpPr/>
          <p:nvPr/>
        </p:nvSpPr>
        <p:spPr>
          <a:xfrm>
            <a:off x="950976" y="4114800"/>
            <a:ext cx="365760" cy="365760"/>
          </a:xfrm>
          <a:prstGeom prst="ellipse">
            <a:avLst/>
          </a:prstGeom>
          <a:solidFill>
            <a:srgbClr val="7FB069"/>
          </a:solidFill>
          <a:ln/>
        </p:spPr>
      </p:sp>
      <p:sp>
        <p:nvSpPr>
          <p:cNvPr id="17" name="Text 15"/>
          <p:cNvSpPr txBox="1"/>
          <p:nvPr/>
        </p:nvSpPr>
        <p:spPr>
          <a:xfrm>
            <a:off x="950976"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481328"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Extendable</a:t>
            </a:r>
            <a:endParaRPr lang="en-US" sz="1400" dirty="0"/>
          </a:p>
        </p:txBody>
      </p:sp>
      <p:sp>
        <p:nvSpPr>
          <p:cNvPr id="19" name="Text 17"/>
          <p:cNvSpPr txBox="1"/>
          <p:nvPr/>
        </p:nvSpPr>
        <p:spPr>
          <a:xfrm>
            <a:off x="1481328"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every module swaps independently</a:t>
            </a:r>
            <a:endParaRPr lang="en-US" sz="1200" dirty="0"/>
          </a:p>
        </p:txBody>
      </p:sp>
      <p:sp>
        <p:nvSpPr>
          <p:cNvPr id="20" name="Shape 18"/>
          <p:cNvSpPr/>
          <p:nvPr/>
        </p:nvSpPr>
        <p:spPr>
          <a:xfrm>
            <a:off x="6199632"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Text 19"/>
          <p:cNvSpPr txBox="1"/>
          <p:nvPr/>
        </p:nvSpPr>
        <p:spPr>
          <a:xfrm>
            <a:off x="6510528" y="1609344"/>
            <a:ext cx="4727448" cy="292608"/>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Limitations</a:t>
            </a:r>
            <a:endParaRPr lang="en-US" sz="1700" dirty="0"/>
          </a:p>
        </p:txBody>
      </p:sp>
      <p:sp>
        <p:nvSpPr>
          <p:cNvPr id="22" name="Shape 20"/>
          <p:cNvSpPr/>
          <p:nvPr/>
        </p:nvSpPr>
        <p:spPr>
          <a:xfrm>
            <a:off x="6510528" y="2194560"/>
            <a:ext cx="365760" cy="365760"/>
          </a:xfrm>
          <a:prstGeom prst="ellipse">
            <a:avLst/>
          </a:prstGeom>
          <a:solidFill>
            <a:srgbClr val="C98A24"/>
          </a:solidFill>
          <a:ln/>
        </p:spPr>
      </p:sp>
      <p:sp>
        <p:nvSpPr>
          <p:cNvPr id="23" name="Text 21"/>
          <p:cNvSpPr txBox="1"/>
          <p:nvPr/>
        </p:nvSpPr>
        <p:spPr>
          <a:xfrm>
            <a:off x="6510528"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4" name="Text 22"/>
          <p:cNvSpPr txBox="1"/>
          <p:nvPr/>
        </p:nvSpPr>
        <p:spPr>
          <a:xfrm>
            <a:off x="7040880"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Cost</a:t>
            </a:r>
            <a:endParaRPr lang="en-US" sz="1400" dirty="0"/>
          </a:p>
        </p:txBody>
      </p:sp>
      <p:sp>
        <p:nvSpPr>
          <p:cNvPr id="25" name="Text 23"/>
          <p:cNvSpPr txBox="1"/>
          <p:nvPr/>
        </p:nvSpPr>
        <p:spPr>
          <a:xfrm>
            <a:off x="7040880"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API calls scale with agents × days</a:t>
            </a:r>
            <a:endParaRPr lang="en-US" sz="1200" dirty="0"/>
          </a:p>
        </p:txBody>
      </p:sp>
      <p:sp>
        <p:nvSpPr>
          <p:cNvPr id="26" name="Shape 24"/>
          <p:cNvSpPr/>
          <p:nvPr/>
        </p:nvSpPr>
        <p:spPr>
          <a:xfrm>
            <a:off x="6510528" y="3154680"/>
            <a:ext cx="365760" cy="365760"/>
          </a:xfrm>
          <a:prstGeom prst="ellipse">
            <a:avLst/>
          </a:prstGeom>
          <a:solidFill>
            <a:srgbClr val="C98A24"/>
          </a:solidFill>
          <a:ln/>
        </p:spPr>
      </p:sp>
      <p:sp>
        <p:nvSpPr>
          <p:cNvPr id="27" name="Text 25"/>
          <p:cNvSpPr txBox="1"/>
          <p:nvPr/>
        </p:nvSpPr>
        <p:spPr>
          <a:xfrm>
            <a:off x="6510528"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txBox="1"/>
          <p:nvPr/>
        </p:nvSpPr>
        <p:spPr>
          <a:xfrm>
            <a:off x="7040880"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Scale</a:t>
            </a:r>
            <a:endParaRPr lang="en-US" sz="1400" dirty="0"/>
          </a:p>
        </p:txBody>
      </p:sp>
      <p:sp>
        <p:nvSpPr>
          <p:cNvPr id="29" name="Text 27"/>
          <p:cNvSpPr txBox="1"/>
          <p:nvPr/>
        </p:nvSpPr>
        <p:spPr>
          <a:xfrm>
            <a:off x="7040880"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small population, simple town</a:t>
            </a:r>
            <a:endParaRPr lang="en-US" sz="1200" dirty="0"/>
          </a:p>
        </p:txBody>
      </p:sp>
      <p:sp>
        <p:nvSpPr>
          <p:cNvPr id="30" name="Shape 28"/>
          <p:cNvSpPr/>
          <p:nvPr/>
        </p:nvSpPr>
        <p:spPr>
          <a:xfrm>
            <a:off x="6510528" y="4114800"/>
            <a:ext cx="365760" cy="365760"/>
          </a:xfrm>
          <a:prstGeom prst="ellipse">
            <a:avLst/>
          </a:prstGeom>
          <a:solidFill>
            <a:srgbClr val="C98A24"/>
          </a:solidFill>
          <a:ln/>
        </p:spPr>
      </p:sp>
      <p:sp>
        <p:nvSpPr>
          <p:cNvPr id="31" name="Text 29"/>
          <p:cNvSpPr txBox="1"/>
          <p:nvPr/>
        </p:nvSpPr>
        <p:spPr>
          <a:xfrm>
            <a:off x="6510528"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2" name="Text 30"/>
          <p:cNvSpPr txBox="1"/>
          <p:nvPr/>
        </p:nvSpPr>
        <p:spPr>
          <a:xfrm>
            <a:off x="7040880"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Stochasticity</a:t>
            </a:r>
            <a:endParaRPr lang="en-US" sz="1400" dirty="0"/>
          </a:p>
        </p:txBody>
      </p:sp>
      <p:sp>
        <p:nvSpPr>
          <p:cNvPr id="33" name="Text 31"/>
          <p:cNvSpPr txBox="1"/>
          <p:nvPr/>
        </p:nvSpPr>
        <p:spPr>
          <a:xfrm>
            <a:off x="7040880"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runs vary — strict metrics are hard</a:t>
            </a:r>
            <a:endParaRPr lang="en-US" sz="1200" dirty="0"/>
          </a:p>
        </p:txBody>
      </p:sp>
      <p:sp>
        <p:nvSpPr>
          <p:cNvPr id="34" name="Shape 32"/>
          <p:cNvSpPr/>
          <p:nvPr/>
        </p:nvSpPr>
        <p:spPr>
          <a:xfrm>
            <a:off x="1024128" y="5047488"/>
            <a:ext cx="841248" cy="475488"/>
          </a:xfrm>
          <a:prstGeom prst="roundRect">
            <a:avLst>
              <a:gd name="adj" fmla="val 19231"/>
            </a:avLst>
          </a:prstGeom>
          <a:solidFill>
            <a:srgbClr val="EAF2E4"/>
          </a:solidFill>
          <a:ln w="12700">
            <a:solidFill>
              <a:srgbClr val="7FB069"/>
            </a:solidFill>
            <a:prstDash val="solid"/>
          </a:ln>
        </p:spPr>
      </p:sp>
      <p:sp>
        <p:nvSpPr>
          <p:cNvPr id="35" name="Shape 33"/>
          <p:cNvSpPr/>
          <p:nvPr/>
        </p:nvSpPr>
        <p:spPr>
          <a:xfrm>
            <a:off x="1993392" y="5047488"/>
            <a:ext cx="841248" cy="475488"/>
          </a:xfrm>
          <a:prstGeom prst="roundRect">
            <a:avLst>
              <a:gd name="adj" fmla="val 19231"/>
            </a:avLst>
          </a:prstGeom>
          <a:solidFill>
            <a:srgbClr val="EAF2E4"/>
          </a:solidFill>
          <a:ln w="12700">
            <a:solidFill>
              <a:srgbClr val="7FB069"/>
            </a:solidFill>
            <a:prstDash val="solid"/>
          </a:ln>
        </p:spPr>
      </p:sp>
      <p:sp>
        <p:nvSpPr>
          <p:cNvPr id="36" name="Shape 34"/>
          <p:cNvSpPr/>
          <p:nvPr/>
        </p:nvSpPr>
        <p:spPr>
          <a:xfrm>
            <a:off x="2962656" y="4919472"/>
            <a:ext cx="841248" cy="475488"/>
          </a:xfrm>
          <a:prstGeom prst="roundRect">
            <a:avLst>
              <a:gd name="adj" fmla="val 19231"/>
            </a:avLst>
          </a:prstGeom>
          <a:solidFill>
            <a:srgbClr val="C98A24"/>
          </a:solidFill>
          <a:ln w="12700">
            <a:solidFill>
              <a:srgbClr val="C98A24"/>
            </a:solidFill>
            <a:prstDash val="solid"/>
          </a:ln>
        </p:spPr>
      </p:sp>
      <p:sp>
        <p:nvSpPr>
          <p:cNvPr id="37" name="Shape 35"/>
          <p:cNvSpPr/>
          <p:nvPr/>
        </p:nvSpPr>
        <p:spPr>
          <a:xfrm>
            <a:off x="3931920" y="5047488"/>
            <a:ext cx="841248" cy="475488"/>
          </a:xfrm>
          <a:prstGeom prst="roundRect">
            <a:avLst>
              <a:gd name="adj" fmla="val 19231"/>
            </a:avLst>
          </a:prstGeom>
          <a:solidFill>
            <a:srgbClr val="EAF2E4"/>
          </a:solidFill>
          <a:ln w="12700">
            <a:solidFill>
              <a:srgbClr val="7FB069"/>
            </a:solidFill>
            <a:prstDash val="solid"/>
          </a:ln>
        </p:spPr>
      </p:sp>
      <p:sp>
        <p:nvSpPr>
          <p:cNvPr id="38" name="Shape 36"/>
          <p:cNvSpPr/>
          <p:nvPr/>
        </p:nvSpPr>
        <p:spPr>
          <a:xfrm>
            <a:off x="4901184" y="5047488"/>
            <a:ext cx="841248" cy="475488"/>
          </a:xfrm>
          <a:prstGeom prst="roundRect">
            <a:avLst>
              <a:gd name="adj" fmla="val 19231"/>
            </a:avLst>
          </a:prstGeom>
          <a:solidFill>
            <a:srgbClr val="EAF2E4"/>
          </a:solidFill>
          <a:ln w="12700">
            <a:solidFill>
              <a:srgbClr val="7FB069"/>
            </a:solidFill>
            <a:prstDash val="solid"/>
          </a:ln>
        </p:spPr>
      </p:sp>
      <p:sp>
        <p:nvSpPr>
          <p:cNvPr id="39" name="Text 37"/>
          <p:cNvSpPr txBox="1"/>
          <p:nvPr/>
        </p:nvSpPr>
        <p:spPr>
          <a:xfrm>
            <a:off x="1024128"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any module can be swapped without touching the others</a:t>
            </a:r>
            <a:endParaRPr lang="en-US" sz="1000" dirty="0"/>
          </a:p>
        </p:txBody>
      </p:sp>
      <p:sp>
        <p:nvSpPr>
          <p:cNvPr id="40" name="Shape 38"/>
          <p:cNvSpPr/>
          <p:nvPr/>
        </p:nvSpPr>
        <p:spPr>
          <a:xfrm>
            <a:off x="6583680" y="5047488"/>
            <a:ext cx="1344168" cy="475488"/>
          </a:xfrm>
          <a:prstGeom prst="roundRect">
            <a:avLst>
              <a:gd name="adj" fmla="val 11538"/>
            </a:avLst>
          </a:prstGeom>
          <a:solidFill>
            <a:srgbClr val="FBF1DC"/>
          </a:solidFill>
          <a:ln w="12700">
            <a:solidFill>
              <a:srgbClr val="EFDFBE"/>
            </a:solidFill>
            <a:prstDash val="solid"/>
          </a:ln>
        </p:spPr>
      </p:sp>
      <p:sp>
        <p:nvSpPr>
          <p:cNvPr id="41" name="Text 39"/>
          <p:cNvSpPr txBox="1"/>
          <p:nvPr/>
        </p:nvSpPr>
        <p:spPr>
          <a:xfrm>
            <a:off x="6675120"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agents</a:t>
            </a:r>
            <a:endParaRPr lang="en-US" sz="1150" dirty="0"/>
          </a:p>
        </p:txBody>
      </p:sp>
      <p:sp>
        <p:nvSpPr>
          <p:cNvPr id="42" name="Text 40"/>
          <p:cNvSpPr txBox="1"/>
          <p:nvPr/>
        </p:nvSpPr>
        <p:spPr>
          <a:xfrm>
            <a:off x="7927848"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3" name="Shape 41"/>
          <p:cNvSpPr/>
          <p:nvPr/>
        </p:nvSpPr>
        <p:spPr>
          <a:xfrm>
            <a:off x="8202168" y="5047488"/>
            <a:ext cx="1344168" cy="475488"/>
          </a:xfrm>
          <a:prstGeom prst="roundRect">
            <a:avLst>
              <a:gd name="adj" fmla="val 11538"/>
            </a:avLst>
          </a:prstGeom>
          <a:solidFill>
            <a:srgbClr val="FBF1DC"/>
          </a:solidFill>
          <a:ln w="12700">
            <a:solidFill>
              <a:srgbClr val="EFDFBE"/>
            </a:solidFill>
            <a:prstDash val="solid"/>
          </a:ln>
        </p:spPr>
      </p:sp>
      <p:sp>
        <p:nvSpPr>
          <p:cNvPr id="44" name="Text 42"/>
          <p:cNvSpPr txBox="1"/>
          <p:nvPr/>
        </p:nvSpPr>
        <p:spPr>
          <a:xfrm>
            <a:off x="8293608"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days</a:t>
            </a:r>
            <a:endParaRPr lang="en-US" sz="1150" dirty="0"/>
          </a:p>
        </p:txBody>
      </p:sp>
      <p:sp>
        <p:nvSpPr>
          <p:cNvPr id="45" name="Text 43"/>
          <p:cNvSpPr txBox="1"/>
          <p:nvPr/>
        </p:nvSpPr>
        <p:spPr>
          <a:xfrm>
            <a:off x="9546336"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6" name="Shape 44"/>
          <p:cNvSpPr/>
          <p:nvPr/>
        </p:nvSpPr>
        <p:spPr>
          <a:xfrm>
            <a:off x="9820656" y="5047488"/>
            <a:ext cx="1344168" cy="475488"/>
          </a:xfrm>
          <a:prstGeom prst="roundRect">
            <a:avLst>
              <a:gd name="adj" fmla="val 11538"/>
            </a:avLst>
          </a:prstGeom>
          <a:solidFill>
            <a:srgbClr val="FBF1DC"/>
          </a:solidFill>
          <a:ln w="12700">
            <a:solidFill>
              <a:srgbClr val="EFDFBE"/>
            </a:solidFill>
            <a:prstDash val="solid"/>
          </a:ln>
        </p:spPr>
      </p:sp>
      <p:sp>
        <p:nvSpPr>
          <p:cNvPr id="47" name="Text 45"/>
          <p:cNvSpPr txBox="1"/>
          <p:nvPr/>
        </p:nvSpPr>
        <p:spPr>
          <a:xfrm>
            <a:off x="9912096"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conversations</a:t>
            </a:r>
            <a:endParaRPr lang="en-US" sz="1150" dirty="0"/>
          </a:p>
        </p:txBody>
      </p:sp>
      <p:sp>
        <p:nvSpPr>
          <p:cNvPr id="48" name="Text 46"/>
          <p:cNvSpPr txBox="1"/>
          <p:nvPr/>
        </p:nvSpPr>
        <p:spPr>
          <a:xfrm>
            <a:off x="6583680"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every plan, conversation and reflection is an API call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Where this leaves us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640080" y="1371600"/>
            <a:ext cx="55778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9560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What we showed</a:t>
            </a:r>
            <a:endParaRPr lang="en-US" sz="1700" dirty="0"/>
          </a:p>
        </p:txBody>
      </p:sp>
      <p:sp>
        <p:nvSpPr>
          <p:cNvPr id="8" name="Shape 6"/>
          <p:cNvSpPr/>
          <p:nvPr/>
        </p:nvSpPr>
        <p:spPr>
          <a:xfrm>
            <a:off x="950976" y="2139696"/>
            <a:ext cx="365760" cy="365760"/>
          </a:xfrm>
          <a:prstGeom prst="ellipse">
            <a:avLst/>
          </a:prstGeom>
          <a:solidFill>
            <a:srgbClr val="7FB069"/>
          </a:solidFill>
          <a:ln/>
        </p:spPr>
      </p:sp>
      <p:sp>
        <p:nvSpPr>
          <p:cNvPr id="9" name="Text 7"/>
          <p:cNvSpPr txBox="1"/>
          <p:nvPr/>
        </p:nvSpPr>
        <p:spPr>
          <a:xfrm>
            <a:off x="950976" y="213969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121408"/>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Planning, interaction and reflection linked by one memory loop</a:t>
            </a:r>
            <a:endParaRPr lang="en-US" sz="1300" dirty="0"/>
          </a:p>
        </p:txBody>
      </p:sp>
      <p:sp>
        <p:nvSpPr>
          <p:cNvPr id="11" name="Shape 9"/>
          <p:cNvSpPr/>
          <p:nvPr/>
        </p:nvSpPr>
        <p:spPr>
          <a:xfrm>
            <a:off x="950976" y="3072384"/>
            <a:ext cx="365760" cy="365760"/>
          </a:xfrm>
          <a:prstGeom prst="ellipse">
            <a:avLst/>
          </a:prstGeom>
          <a:solidFill>
            <a:srgbClr val="7FB069"/>
          </a:solidFill>
          <a:ln/>
        </p:spPr>
      </p:sp>
      <p:sp>
        <p:nvSpPr>
          <p:cNvPr id="12" name="Text 10"/>
          <p:cNvSpPr txBox="1"/>
          <p:nvPr/>
        </p:nvSpPr>
        <p:spPr>
          <a:xfrm>
            <a:off x="950976" y="307238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1481328" y="3054096"/>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Importance-based memory + reflection → next-day behaviour</a:t>
            </a:r>
            <a:endParaRPr lang="en-US" sz="1300" dirty="0"/>
          </a:p>
        </p:txBody>
      </p:sp>
      <p:sp>
        <p:nvSpPr>
          <p:cNvPr id="14" name="Shape 12"/>
          <p:cNvSpPr/>
          <p:nvPr/>
        </p:nvSpPr>
        <p:spPr>
          <a:xfrm>
            <a:off x="950976" y="4005072"/>
            <a:ext cx="365760" cy="365760"/>
          </a:xfrm>
          <a:prstGeom prst="ellipse">
            <a:avLst/>
          </a:prstGeom>
          <a:solidFill>
            <a:srgbClr val="7FB069"/>
          </a:solidFill>
          <a:ln/>
        </p:spPr>
      </p:sp>
      <p:sp>
        <p:nvSpPr>
          <p:cNvPr id="15" name="Text 13"/>
          <p:cNvSpPr txBox="1"/>
          <p:nvPr/>
        </p:nvSpPr>
        <p:spPr>
          <a:xfrm>
            <a:off x="950976" y="40050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6" name="Text 14"/>
          <p:cNvSpPr txBox="1"/>
          <p:nvPr/>
        </p:nvSpPr>
        <p:spPr>
          <a:xfrm>
            <a:off x="1481328" y="3986784"/>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Consistent routines, lasting bonds, adaptation — no hand-written rules</a:t>
            </a:r>
            <a:endParaRPr lang="en-US" sz="1300" dirty="0"/>
          </a:p>
        </p:txBody>
      </p:sp>
      <p:sp>
        <p:nvSpPr>
          <p:cNvPr id="17" name="Shape 15"/>
          <p:cNvSpPr/>
          <p:nvPr/>
        </p:nvSpPr>
        <p:spPr>
          <a:xfrm>
            <a:off x="1024128" y="4919472"/>
            <a:ext cx="1417320" cy="457200"/>
          </a:xfrm>
          <a:prstGeom prst="roundRect">
            <a:avLst>
              <a:gd name="adj" fmla="val 12000"/>
            </a:avLst>
          </a:prstGeom>
          <a:solidFill>
            <a:srgbClr val="EAF2E4"/>
          </a:solidFill>
          <a:ln w="12700">
            <a:solidFill>
              <a:srgbClr val="EAF2E4"/>
            </a:solidFill>
            <a:prstDash val="solid"/>
          </a:ln>
        </p:spPr>
      </p:sp>
      <p:sp>
        <p:nvSpPr>
          <p:cNvPr id="18" name="Text 16"/>
          <p:cNvSpPr txBox="1"/>
          <p:nvPr/>
        </p:nvSpPr>
        <p:spPr>
          <a:xfrm>
            <a:off x="1115568" y="4919472"/>
            <a:ext cx="123444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Plan</a:t>
            </a:r>
            <a:endParaRPr lang="en-US" sz="1200" dirty="0"/>
          </a:p>
        </p:txBody>
      </p:sp>
      <p:sp>
        <p:nvSpPr>
          <p:cNvPr id="19" name="Shape 17"/>
          <p:cNvSpPr/>
          <p:nvPr/>
        </p:nvSpPr>
        <p:spPr>
          <a:xfrm>
            <a:off x="2496312" y="5038344"/>
            <a:ext cx="219456" cy="219456"/>
          </a:xfrm>
          <a:prstGeom prst="rightArrow">
            <a:avLst/>
          </a:prstGeom>
          <a:solidFill>
            <a:srgbClr val="C98A24"/>
          </a:solidFill>
          <a:ln/>
        </p:spPr>
      </p:sp>
      <p:sp>
        <p:nvSpPr>
          <p:cNvPr id="20" name="Shape 18"/>
          <p:cNvSpPr/>
          <p:nvPr/>
        </p:nvSpPr>
        <p:spPr>
          <a:xfrm>
            <a:off x="2770632" y="4919472"/>
            <a:ext cx="1417320"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862072" y="4919472"/>
            <a:ext cx="123444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Interact</a:t>
            </a:r>
            <a:endParaRPr lang="en-US" sz="1200" dirty="0"/>
          </a:p>
        </p:txBody>
      </p:sp>
      <p:sp>
        <p:nvSpPr>
          <p:cNvPr id="22" name="Shape 20"/>
          <p:cNvSpPr/>
          <p:nvPr/>
        </p:nvSpPr>
        <p:spPr>
          <a:xfrm>
            <a:off x="4242816" y="5038344"/>
            <a:ext cx="219456" cy="219456"/>
          </a:xfrm>
          <a:prstGeom prst="rightArrow">
            <a:avLst/>
          </a:prstGeom>
          <a:solidFill>
            <a:srgbClr val="C98A24"/>
          </a:solidFill>
          <a:ln/>
        </p:spPr>
      </p:sp>
      <p:sp>
        <p:nvSpPr>
          <p:cNvPr id="23" name="Shape 21"/>
          <p:cNvSpPr/>
          <p:nvPr/>
        </p:nvSpPr>
        <p:spPr>
          <a:xfrm>
            <a:off x="4517136" y="4919472"/>
            <a:ext cx="1417320" cy="457200"/>
          </a:xfrm>
          <a:prstGeom prst="roundRect">
            <a:avLst>
              <a:gd name="adj" fmla="val 12000"/>
            </a:avLst>
          </a:prstGeom>
          <a:solidFill>
            <a:srgbClr val="EAF2E4"/>
          </a:solidFill>
          <a:ln w="12700">
            <a:solidFill>
              <a:srgbClr val="EAF2E4"/>
            </a:solidFill>
            <a:prstDash val="solid"/>
          </a:ln>
        </p:spPr>
      </p:sp>
      <p:sp>
        <p:nvSpPr>
          <p:cNvPr id="24" name="Text 22"/>
          <p:cNvSpPr txBox="1"/>
          <p:nvPr/>
        </p:nvSpPr>
        <p:spPr>
          <a:xfrm>
            <a:off x="4608576" y="4919472"/>
            <a:ext cx="123444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Reflect</a:t>
            </a:r>
            <a:endParaRPr lang="en-US" sz="1200" dirty="0"/>
          </a:p>
        </p:txBody>
      </p:sp>
      <p:sp>
        <p:nvSpPr>
          <p:cNvPr id="25" name="Shape 23"/>
          <p:cNvSpPr/>
          <p:nvPr/>
        </p:nvSpPr>
        <p:spPr>
          <a:xfrm>
            <a:off x="1481328" y="5486400"/>
            <a:ext cx="3767328" cy="45720"/>
          </a:xfrm>
          <a:prstGeom prst="rect">
            <a:avLst/>
          </a:prstGeom>
          <a:solidFill>
            <a:srgbClr val="C98A24"/>
          </a:solidFill>
          <a:ln/>
        </p:spPr>
      </p:sp>
      <p:sp>
        <p:nvSpPr>
          <p:cNvPr id="26" name="Shape 24"/>
          <p:cNvSpPr/>
          <p:nvPr/>
        </p:nvSpPr>
        <p:spPr>
          <a:xfrm>
            <a:off x="1280160" y="5404104"/>
            <a:ext cx="274320" cy="210312"/>
          </a:xfrm>
          <a:prstGeom prst="leftArrow">
            <a:avLst/>
          </a:prstGeom>
          <a:solidFill>
            <a:srgbClr val="C98A24"/>
          </a:solidFill>
          <a:ln/>
        </p:spPr>
      </p:sp>
      <p:sp>
        <p:nvSpPr>
          <p:cNvPr id="27" name="Text 25"/>
          <p:cNvSpPr txBox="1"/>
          <p:nvPr/>
        </p:nvSpPr>
        <p:spPr>
          <a:xfrm>
            <a:off x="1481328" y="5559552"/>
            <a:ext cx="3767328"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the next day</a:t>
            </a:r>
            <a:endParaRPr lang="en-US" sz="1000" dirty="0"/>
          </a:p>
        </p:txBody>
      </p:sp>
      <p:sp>
        <p:nvSpPr>
          <p:cNvPr id="28" name="Text 26"/>
          <p:cNvSpPr txBox="1"/>
          <p:nvPr/>
        </p:nvSpPr>
        <p:spPr>
          <a:xfrm>
            <a:off x="6492240" y="1426464"/>
            <a:ext cx="5077663" cy="329184"/>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Future work</a:t>
            </a:r>
            <a:endParaRPr lang="en-US" sz="1700" dirty="0"/>
          </a:p>
        </p:txBody>
      </p:sp>
      <p:sp>
        <p:nvSpPr>
          <p:cNvPr id="29" name="Shape 27"/>
          <p:cNvSpPr/>
          <p:nvPr/>
        </p:nvSpPr>
        <p:spPr>
          <a:xfrm>
            <a:off x="6473952" y="1920240"/>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Shape 28"/>
          <p:cNvSpPr/>
          <p:nvPr/>
        </p:nvSpPr>
        <p:spPr>
          <a:xfrm>
            <a:off x="6711696" y="2121408"/>
            <a:ext cx="365760" cy="365760"/>
          </a:xfrm>
          <a:prstGeom prst="ellipse">
            <a:avLst/>
          </a:prstGeom>
          <a:solidFill>
            <a:srgbClr val="C98A24"/>
          </a:solidFill>
          <a:ln/>
        </p:spPr>
      </p:sp>
      <p:sp>
        <p:nvSpPr>
          <p:cNvPr id="31" name="Text 29"/>
          <p:cNvSpPr txBox="1"/>
          <p:nvPr/>
        </p:nvSpPr>
        <p:spPr>
          <a:xfrm>
            <a:off x="6711696" y="21214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32" name="Text 30"/>
          <p:cNvSpPr txBox="1"/>
          <p:nvPr/>
        </p:nvSpPr>
        <p:spPr>
          <a:xfrm>
            <a:off x="7223760" y="2130552"/>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Quantitative evaluation</a:t>
            </a:r>
            <a:endParaRPr lang="en-US" sz="1350" dirty="0"/>
          </a:p>
        </p:txBody>
      </p:sp>
      <p:sp>
        <p:nvSpPr>
          <p:cNvPr id="33" name="Text 31"/>
          <p:cNvSpPr txBox="1"/>
          <p:nvPr/>
        </p:nvSpPr>
        <p:spPr>
          <a:xfrm>
            <a:off x="6748272" y="2523744"/>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network metrics, plan coherence, user studies</a:t>
            </a:r>
            <a:endParaRPr lang="en-US" sz="1150" dirty="0"/>
          </a:p>
        </p:txBody>
      </p:sp>
      <p:sp>
        <p:nvSpPr>
          <p:cNvPr id="34" name="Shape 32"/>
          <p:cNvSpPr/>
          <p:nvPr/>
        </p:nvSpPr>
        <p:spPr>
          <a:xfrm>
            <a:off x="6473952" y="3255264"/>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Shape 33"/>
          <p:cNvSpPr/>
          <p:nvPr/>
        </p:nvSpPr>
        <p:spPr>
          <a:xfrm>
            <a:off x="6711696" y="3456432"/>
            <a:ext cx="365760" cy="365760"/>
          </a:xfrm>
          <a:prstGeom prst="ellipse">
            <a:avLst/>
          </a:prstGeom>
          <a:solidFill>
            <a:srgbClr val="2C5F2D"/>
          </a:solidFill>
          <a:ln/>
        </p:spPr>
      </p:sp>
      <p:sp>
        <p:nvSpPr>
          <p:cNvPr id="36" name="Text 34"/>
          <p:cNvSpPr txBox="1"/>
          <p:nvPr/>
        </p:nvSpPr>
        <p:spPr>
          <a:xfrm>
            <a:off x="6711696" y="34564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37" name="Text 35"/>
          <p:cNvSpPr txBox="1"/>
          <p:nvPr/>
        </p:nvSpPr>
        <p:spPr>
          <a:xfrm>
            <a:off x="7223760" y="3465576"/>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Scale &amp; real time</a:t>
            </a:r>
            <a:endParaRPr lang="en-US" sz="1350" dirty="0"/>
          </a:p>
        </p:txBody>
      </p:sp>
      <p:sp>
        <p:nvSpPr>
          <p:cNvPr id="38" name="Text 36"/>
          <p:cNvSpPr txBox="1"/>
          <p:nvPr/>
        </p:nvSpPr>
        <p:spPr>
          <a:xfrm>
            <a:off x="6748272" y="3858768"/>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larger populations, live reaction</a:t>
            </a:r>
            <a:endParaRPr lang="en-US" sz="1150" dirty="0"/>
          </a:p>
        </p:txBody>
      </p:sp>
      <p:sp>
        <p:nvSpPr>
          <p:cNvPr id="39" name="Shape 37"/>
          <p:cNvSpPr/>
          <p:nvPr/>
        </p:nvSpPr>
        <p:spPr>
          <a:xfrm>
            <a:off x="6473952" y="4590288"/>
            <a:ext cx="5077663" cy="1188720"/>
          </a:xfrm>
          <a:prstGeom prst="roundRect">
            <a:avLst>
              <a:gd name="adj" fmla="val 4615"/>
            </a:avLst>
          </a:prstGeom>
          <a:solidFill>
            <a:srgbClr val="EAF2E4"/>
          </a:solidFill>
          <a:ln w="12700">
            <a:solidFill>
              <a:srgbClr val="EAF2E4"/>
            </a:solidFill>
            <a:prstDash val="solid"/>
          </a:ln>
        </p:spPr>
      </p:sp>
      <p:sp>
        <p:nvSpPr>
          <p:cNvPr id="40" name="Shape 38"/>
          <p:cNvSpPr/>
          <p:nvPr/>
        </p:nvSpPr>
        <p:spPr>
          <a:xfrm>
            <a:off x="6711696" y="4791456"/>
            <a:ext cx="365760" cy="365760"/>
          </a:xfrm>
          <a:prstGeom prst="ellipse">
            <a:avLst/>
          </a:prstGeom>
          <a:solidFill>
            <a:srgbClr val="C98A24"/>
          </a:solidFill>
          <a:ln/>
        </p:spPr>
      </p:sp>
      <p:sp>
        <p:nvSpPr>
          <p:cNvPr id="41" name="Text 39"/>
          <p:cNvSpPr txBox="1"/>
          <p:nvPr/>
        </p:nvSpPr>
        <p:spPr>
          <a:xfrm>
            <a:off x="6711696" y="479145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42" name="Text 40"/>
          <p:cNvSpPr txBox="1"/>
          <p:nvPr/>
        </p:nvSpPr>
        <p:spPr>
          <a:xfrm>
            <a:off x="7223760" y="4800600"/>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Deeper reasoning</a:t>
            </a:r>
            <a:endParaRPr lang="en-US" sz="1350" dirty="0"/>
          </a:p>
        </p:txBody>
      </p:sp>
      <p:sp>
        <p:nvSpPr>
          <p:cNvPr id="43" name="Text 41"/>
          <p:cNvSpPr txBox="1"/>
          <p:nvPr/>
        </p:nvSpPr>
        <p:spPr>
          <a:xfrm>
            <a:off x="6748272" y="5193792"/>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NPCs, education, embodied agents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1463040"/>
            <a:ext cx="10911535"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640080" y="2450592"/>
            <a:ext cx="10911535" cy="365760"/>
          </a:xfrm>
          <a:prstGeom prst="rect">
            <a:avLst/>
          </a:prstGeom>
          <a:noFill/>
          <a:ln/>
        </p:spPr>
        <p:txBody>
          <a:bodyPr wrap="square" lIns="0" tIns="0" rIns="0" bIns="0" rtlCol="0" anchor="ctr"/>
          <a:lstStyle/>
          <a:p>
            <a:pPr indent="0" marL="0">
              <a:buNone/>
            </a:pPr>
            <a:r>
              <a:rPr lang="en-US" sz="1700" dirty="0">
                <a:solidFill>
                  <a:srgbClr val="7FB069"/>
                </a:solidFill>
                <a:latin typeface="Calibri" pitchFamily="34" charset="0"/>
                <a:ea typeface="Calibri" pitchFamily="34" charset="-122"/>
                <a:cs typeface="Calibri" pitchFamily="34" charset="-120"/>
              </a:rPr>
              <a:t>Questions are very welcome.</a:t>
            </a:r>
            <a:endParaRPr lang="en-US" sz="1700" dirty="0"/>
          </a:p>
        </p:txBody>
      </p:sp>
      <p:sp>
        <p:nvSpPr>
          <p:cNvPr id="4" name="Shape 2"/>
          <p:cNvSpPr/>
          <p:nvPr/>
        </p:nvSpPr>
        <p:spPr>
          <a:xfrm>
            <a:off x="640080" y="3108960"/>
            <a:ext cx="5349240" cy="1371600"/>
          </a:xfrm>
          <a:prstGeom prst="roundRect">
            <a:avLst>
              <a:gd name="adj" fmla="val 4000"/>
            </a:avLst>
          </a:prstGeom>
          <a:solidFill>
            <a:srgbClr val="24402F"/>
          </a:solidFill>
          <a:ln w="12700">
            <a:solidFill>
              <a:srgbClr val="2F4E3A"/>
            </a:solidFill>
            <a:prstDash val="solid"/>
          </a:ln>
        </p:spPr>
      </p:sp>
      <p:sp>
        <p:nvSpPr>
          <p:cNvPr id="5" name="Text 3"/>
          <p:cNvSpPr txBox="1"/>
          <p:nvPr/>
        </p:nvSpPr>
        <p:spPr>
          <a:xfrm>
            <a:off x="950976"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Aoao Guo</a:t>
            </a:r>
            <a:endParaRPr lang="en-US" sz="1500" dirty="0"/>
          </a:p>
        </p:txBody>
      </p:sp>
      <p:sp>
        <p:nvSpPr>
          <p:cNvPr id="6" name="Text 4"/>
          <p:cNvSpPr txBox="1"/>
          <p:nvPr/>
        </p:nvSpPr>
        <p:spPr>
          <a:xfrm>
            <a:off x="950976"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Faculty of Life Sciences, University College London</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aoao.guo.25@ucl.ac.uk</a:t>
            </a:r>
            <a:endParaRPr lang="en-US" sz="1200" dirty="0"/>
          </a:p>
        </p:txBody>
      </p:sp>
      <p:sp>
        <p:nvSpPr>
          <p:cNvPr id="7" name="Shape 5"/>
          <p:cNvSpPr/>
          <p:nvPr/>
        </p:nvSpPr>
        <p:spPr>
          <a:xfrm>
            <a:off x="6199632" y="3108960"/>
            <a:ext cx="5349240" cy="1371600"/>
          </a:xfrm>
          <a:prstGeom prst="roundRect">
            <a:avLst>
              <a:gd name="adj" fmla="val 4000"/>
            </a:avLst>
          </a:prstGeom>
          <a:solidFill>
            <a:srgbClr val="24402F"/>
          </a:solidFill>
          <a:ln w="12700">
            <a:solidFill>
              <a:srgbClr val="2F4E3A"/>
            </a:solidFill>
            <a:prstDash val="solid"/>
          </a:ln>
        </p:spPr>
      </p:sp>
      <p:sp>
        <p:nvSpPr>
          <p:cNvPr id="8" name="Text 6"/>
          <p:cNvSpPr txBox="1"/>
          <p:nvPr/>
        </p:nvSpPr>
        <p:spPr>
          <a:xfrm>
            <a:off x="6510528"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Paper 108</a:t>
            </a:r>
            <a:endParaRPr lang="en-US" sz="1500" dirty="0"/>
          </a:p>
        </p:txBody>
      </p:sp>
      <p:sp>
        <p:nvSpPr>
          <p:cNvPr id="9" name="Text 7"/>
          <p:cNvSpPr txBox="1"/>
          <p:nvPr/>
        </p:nvSpPr>
        <p:spPr>
          <a:xfrm>
            <a:off x="6510528"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 Lightweight LLM-Driven Multi-Agent Framework for</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Virtual Society Simulation with Memory Feedback</a:t>
            </a:r>
            <a:endParaRPr lang="en-US" sz="1200" dirty="0"/>
          </a:p>
        </p:txBody>
      </p:sp>
      <p:pic>
        <p:nvPicPr>
          <p:cNvPr id="10" name="Image 0" descr="/tmp/claude-0/-home-user-valentown/d6e1bc7b-94ca-5433-b61a-57600741710e/scratchpad/assets/ron.png">    </p:cNvPr>
          <p:cNvPicPr>
            <a:picLocks noChangeAspect="1"/>
          </p:cNvPicPr>
          <p:nvPr/>
        </p:nvPicPr>
        <p:blipFill>
          <a:blip r:embed="rId1"/>
          <a:stretch>
            <a:fillRect/>
          </a:stretch>
        </p:blipFill>
        <p:spPr>
          <a:xfrm>
            <a:off x="1510568" y="5074920"/>
            <a:ext cx="444833" cy="1051560"/>
          </a:xfrm>
          <a:prstGeom prst="rect">
            <a:avLst/>
          </a:prstGeom>
        </p:spPr>
      </p:pic>
      <p:pic>
        <p:nvPicPr>
          <p:cNvPr id="11" name="Image 1" descr="/tmp/claude-0/-home-user-valentown/d6e1bc7b-94ca-5433-b61a-57600741710e/scratchpad/assets/ella.png">    </p:cNvPr>
          <p:cNvPicPr>
            <a:picLocks noChangeAspect="1"/>
          </p:cNvPicPr>
          <p:nvPr/>
        </p:nvPicPr>
        <p:blipFill>
          <a:blip r:embed="rId2"/>
          <a:stretch>
            <a:fillRect/>
          </a:stretch>
        </p:blipFill>
        <p:spPr>
          <a:xfrm>
            <a:off x="2914493" y="5074920"/>
            <a:ext cx="545559" cy="1051560"/>
          </a:xfrm>
          <a:prstGeom prst="rect">
            <a:avLst/>
          </a:prstGeom>
        </p:spPr>
      </p:pic>
      <p:pic>
        <p:nvPicPr>
          <p:cNvPr id="12" name="Image 2" descr="/tmp/claude-0/-home-user-valentown/d6e1bc7b-94ca-5433-b61a-57600741710e/scratchpad/assets/emma.png">    </p:cNvPr>
          <p:cNvPicPr>
            <a:picLocks noChangeAspect="1"/>
          </p:cNvPicPr>
          <p:nvPr/>
        </p:nvPicPr>
        <p:blipFill>
          <a:blip r:embed="rId3"/>
          <a:stretch>
            <a:fillRect/>
          </a:stretch>
        </p:blipFill>
        <p:spPr>
          <a:xfrm>
            <a:off x="4369526" y="5074920"/>
            <a:ext cx="544068" cy="1051560"/>
          </a:xfrm>
          <a:prstGeom prst="rect">
            <a:avLst/>
          </a:prstGeom>
        </p:spPr>
      </p:pic>
      <p:pic>
        <p:nvPicPr>
          <p:cNvPr id="13" name="Image 3" descr="/tmp/claude-0/-home-user-valentown/d6e1bc7b-94ca-5433-b61a-57600741710e/scratchpad/assets/gavin.png">    </p:cNvPr>
          <p:cNvPicPr>
            <a:picLocks noChangeAspect="1"/>
          </p:cNvPicPr>
          <p:nvPr/>
        </p:nvPicPr>
        <p:blipFill>
          <a:blip r:embed="rId4"/>
          <a:stretch>
            <a:fillRect/>
          </a:stretch>
        </p:blipFill>
        <p:spPr>
          <a:xfrm>
            <a:off x="5857062" y="5074920"/>
            <a:ext cx="477571" cy="1051560"/>
          </a:xfrm>
          <a:prstGeom prst="rect">
            <a:avLst/>
          </a:prstGeom>
        </p:spPr>
      </p:pic>
      <p:pic>
        <p:nvPicPr>
          <p:cNvPr id="14" name="Image 4" descr="/tmp/claude-0/-home-user-valentown/d6e1bc7b-94ca-5433-b61a-57600741710e/scratchpad/assets/adam.png">    </p:cNvPr>
          <p:cNvPicPr>
            <a:picLocks noChangeAspect="1"/>
          </p:cNvPicPr>
          <p:nvPr/>
        </p:nvPicPr>
        <p:blipFill>
          <a:blip r:embed="rId5"/>
          <a:stretch>
            <a:fillRect/>
          </a:stretch>
        </p:blipFill>
        <p:spPr>
          <a:xfrm>
            <a:off x="7299685" y="5074920"/>
            <a:ext cx="500901" cy="1051560"/>
          </a:xfrm>
          <a:prstGeom prst="rect">
            <a:avLst/>
          </a:prstGeom>
        </p:spPr>
      </p:pic>
      <p:pic>
        <p:nvPicPr>
          <p:cNvPr id="15" name="Image 5" descr="/tmp/claude-0/-home-user-valentown/d6e1bc7b-94ca-5433-b61a-57600741710e/scratchpad/assets/mia.png">    </p:cNvPr>
          <p:cNvPicPr>
            <a:picLocks noChangeAspect="1"/>
          </p:cNvPicPr>
          <p:nvPr/>
        </p:nvPicPr>
        <p:blipFill>
          <a:blip r:embed="rId6"/>
          <a:stretch>
            <a:fillRect/>
          </a:stretch>
        </p:blipFill>
        <p:spPr>
          <a:xfrm>
            <a:off x="8746799" y="5074920"/>
            <a:ext cx="515248" cy="1051560"/>
          </a:xfrm>
          <a:prstGeom prst="rect">
            <a:avLst/>
          </a:prstGeom>
        </p:spPr>
      </p:pic>
      <p:pic>
        <p:nvPicPr>
          <p:cNvPr id="16" name="Image 6" descr="/tmp/claude-0/-home-user-valentown/d6e1bc7b-94ca-5433-b61a-57600741710e/scratchpad/assets/arthur.png">    </p:cNvPr>
          <p:cNvPicPr>
            <a:picLocks noChangeAspect="1"/>
          </p:cNvPicPr>
          <p:nvPr/>
        </p:nvPicPr>
        <p:blipFill>
          <a:blip r:embed="rId7"/>
          <a:stretch>
            <a:fillRect/>
          </a:stretch>
        </p:blipFill>
        <p:spPr>
          <a:xfrm>
            <a:off x="10182454" y="5074920"/>
            <a:ext cx="552515" cy="1051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Lightweight LLM-Driven Multi-Agent Framework for Virtual Society Simulation with Memory Feedback</dc:title>
  <dc:subject>PptxGenJS Presentation</dc:subject>
  <dc:creator>Aoao Guo</dc:creator>
  <cp:lastModifiedBy>Aoao Guo</cp:lastModifiedBy>
  <cp:revision>1</cp:revision>
  <dcterms:created xsi:type="dcterms:W3CDTF">2026-08-26T22:26:07Z</dcterms:created>
  <dcterms:modified xsi:type="dcterms:W3CDTF">2026-08-26T22:26:07Z</dcterms:modified>
</cp:coreProperties>
</file>