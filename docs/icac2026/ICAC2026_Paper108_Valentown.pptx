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Aoao Guo from University College London, with Xinyi Tao, Huakang Li and Xuewu Dai. We've built a lightweight multi-agent framework that simulates a virtual society, driven by a large language model. It's a small town called Valentown. Seven residents plan their own days, meet each other, remember what happened, and change what they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simulation is how we model complex systems: social networks, transport, smart cities. But classical models run on fixed rules. They capture macro patterns well and human behaviour poorly. No context, no planning, no memory.
Large language models changed that. An LLM agent writes coherent language, holds context, and imitates parts of human reasoning.
But most LLM agents are reactive. They answer the prompt in front of them. There's no structure to the day, and interaction is ad hoc. So behaviour drifts, control is hard, and results don't reproduce. That's our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question is simple: how do we make agents structured, evolving and controllable at the same time?
Three requirements, three mechanisms — and those are our contributions.
Structure: behaviour has to be organised as a day. Our answer is schedule-driven agents.
Evolution: yesterday has to change tomorrow. Our answer is a memory feedback loop.
Control: interaction needs an explicit rule, and a person should be able to step in. Our answer is a co-location trigger, plus optional human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mechanisms.
Schedule-driven behaviour. The day starts with a plan, not with a reaction. The prompt combines identity, personality and goals with retrieved memories, and the model returns activities and destinations. Routines stay coherent, and we can read them.
Interaction. We don't sample conversations at random. Two agents talk when they're in the same place at the same time. The trigger is deterministic, so the dynamics are reproducible; the content still comes from the model.
That's our design principle: deterministic when, generative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mechanism, and the heart of the paper: memory.
Everything an agent produces is written to one store: plans, conversations, reflections. Each entry has a category, a timestamp and an importance score.
Everything also reads from that store. Planning retrieves relevant memories. Dialogue retrieves recent ones. Reflection compresses the important ones into a short insight and writes it back. That's the loop in the figure.
Retrieval prefers recent and important entries, and the store stays bounded.
Two notes. A person can write feedback into the same store. And the model is stateless — all continuity lives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loop as the system runs it.
An agent starts from its profile and its memory. On day one there's nothing to reflect on, so it plans from the profile. Later days reflect first, and the reflection feeds the plan.
Then: plan, store it, pick a destination, move, talk if someone is there — and the conversation goes back into memory.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INSERT THE VIDEO OVER THE FRAME BEFORE THE TALK. Set it to start automatically, and check the sound is muted. About 140 words over two minutes — leave gaps and let the town play.
[start] So that's the loop. Here it is running.
This is Valentown. Homes along the top, café, supermarket and pharmacy below, a park on the left. Everything you see came from the Python backend — planning, dialogue, reflection, and the only calls to DeepSeek. The client just replays it.
[~20 s] Watch one resident. He wakes at home, and his own schedule sends him out. Nobody is steering him.
[~50 s] Now two residents reach the same place at the same time. That's the co-location trigger. What they say comes from their context and recent memory, and goes straight back into memory.
[~1:30] At the end of the day each agent reflects — the step you saw in the flow chart — and tomorrow's plan is built on it.
[end] Schedule, trigger, memory loop. Everything from the last four slides,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run seven agents: a supermarket owner, a pharmacist, a couple with a young son, a family teacher, an architect.
The simulation runs several consecutive days, each a full cycle. Scheduling is deterministic, generated content is not — a reproducible pipeline with diverse behaviour.
We ask three things: what interaction does, what memory does, and whether social structure emerges.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experiment is an ablation on interaction.
With interaction on, behaviour is clearly richer. The reason is mechanical: a conversation adds context to memory, and memory feeds the next plan. What someone said to you yesterday shows up in what you do today. Agents schedule follow-ups, revisit places, and specific pairs grow closer.
With interaction off, the town goes quiet. No new social information arrives, agents fall back on their initial goals, and schedules stop changing.
Interaction drives both diversity and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result is memory over time.
Memory changes shape. Early on it's mostly plans and observations. Then conversations and reflections take over. Later, high-importance memories dominate the context for new decisions — a log becomes experience.
And that tracks behaviour. Agents with rich memories adapt more and act more coherently. Two agents who meet repeatedly form a lasting bond, visible later as repeated co-location. Nobody wrote a friendship rule; it comes from memory and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presented a schedule-driven framework where planning, interaction and reflection are linked by one memory loop. Importance-based memory keeps what mattered; reflection turns it into guidance for the next day.
The experiments show that simple mechanisms are enough. Agents build routines, form lasting relationships, and adapt from experience — with no hand-written rules.
We're open about the limits. Every plan, conversation and reflection is an API call, so cost grows with agents times days. The study is small. Output varies between runs, so our evaluation is qualitative for now.
Next: quantitative evaluation, then scale and real time, then deeper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someone asks how the system is put together. The backend, in Python, does the planning, the dialogue, the reflection and the memory, and it's the only part that calls the model — through the DeepSeek API. The frontend, in Phaser, renders the town over REST. Five modules underneath — Agent Manager, Scheduler, Interaction Engine, LLM Interface, Memory Manager — each replaceable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and the fallback if the video won't play. Same client, as a still image: talk through it exactly as you would have talked over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full advantages and limitations, if the discussion goes there. Lightweight and reproducible; controllable; extendable. Against that: cost that grows with agents times days, a small study, and run-to-run variation that makes strict quantitative evaluation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120" kern="0" dirty="0">
                <a:solidFill>
                  <a:srgbClr val="7FB069"/>
                </a:solidFill>
                <a:latin typeface="Calibri" pitchFamily="34" charset="0"/>
                <a:ea typeface="Calibri" pitchFamily="34" charset="-122"/>
                <a:cs typeface="Calibri" pitchFamily="34" charset="-120"/>
              </a:rPr>
              <a:t>ICAC 2026  ·  International Conference on Automation and Computing</a:t>
            </a:r>
            <a:endParaRPr lang="en-US" sz="1200" dirty="0"/>
          </a:p>
        </p:txBody>
      </p:sp>
      <p:sp>
        <p:nvSpPr>
          <p:cNvPr id="3" name="Text 1"/>
          <p:cNvSpPr txBox="1"/>
          <p:nvPr/>
        </p:nvSpPr>
        <p:spPr>
          <a:xfrm>
            <a:off x="640080" y="1143000"/>
            <a:ext cx="10424160" cy="169164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 Lightweight LLM-Driven Multi-Agent Framework for Virtual Society Simulation with Memory Feedback</a:t>
            </a:r>
            <a:endParaRPr lang="en-US" sz="3600" dirty="0"/>
          </a:p>
        </p:txBody>
      </p:sp>
      <p:sp>
        <p:nvSpPr>
          <p:cNvPr id="4" name="Text 2"/>
          <p:cNvSpPr txBox="1"/>
          <p:nvPr/>
        </p:nvSpPr>
        <p:spPr>
          <a:xfrm>
            <a:off x="640080" y="3035808"/>
            <a:ext cx="10911535" cy="310896"/>
          </a:xfrm>
          <a:prstGeom prst="rect">
            <a:avLst/>
          </a:prstGeom>
          <a:noFill/>
          <a:ln/>
        </p:spPr>
        <p:txBody>
          <a:bodyPr wrap="square" lIns="0" tIns="0" rIns="0" bIns="0" rtlCol="0" anchor="ctr"/>
          <a:lstStyle/>
          <a:p>
            <a:pPr indent="0" marL="0">
              <a:buNone/>
            </a:pPr>
            <a:r>
              <a:rPr lang="en-US" sz="1600" b="1" dirty="0">
                <a:solidFill>
                  <a:srgbClr val="EAF2E4"/>
                </a:solidFill>
                <a:latin typeface="Calibri" pitchFamily="34" charset="0"/>
                <a:ea typeface="Calibri" pitchFamily="34" charset="-122"/>
                <a:cs typeface="Calibri" pitchFamily="34" charset="-120"/>
              </a:rPr>
              <a:t>Aoao Guo   ·   Xinyi Tao   ·   Huakang Li   ·   Xuewu Dai</a:t>
            </a:r>
            <a:endParaRPr lang="en-US" sz="1600" dirty="0"/>
          </a:p>
        </p:txBody>
      </p:sp>
      <p:sp>
        <p:nvSpPr>
          <p:cNvPr id="5" name="Text 3"/>
          <p:cNvSpPr txBox="1"/>
          <p:nvPr/>
        </p:nvSpPr>
        <p:spPr>
          <a:xfrm>
            <a:off x="640080" y="3401568"/>
            <a:ext cx="10911535" cy="274320"/>
          </a:xfrm>
          <a:prstGeom prst="rect">
            <a:avLst/>
          </a:prstGeom>
          <a:noFill/>
          <a:ln/>
        </p:spPr>
        <p:txBody>
          <a:bodyPr wrap="square" lIns="0" tIns="0" rIns="0" bIns="0" rtlCol="0" anchor="ctr"/>
          <a:lstStyle/>
          <a:p>
            <a:pPr indent="0" marL="0">
              <a:buNone/>
            </a:pPr>
            <a:r>
              <a:rPr lang="en-US" sz="1150" dirty="0">
                <a:solidFill>
                  <a:srgbClr val="A9BBA9"/>
                </a:solidFill>
                <a:latin typeface="Calibri" pitchFamily="34" charset="0"/>
                <a:ea typeface="Calibri" pitchFamily="34" charset="-122"/>
                <a:cs typeface="Calibri" pitchFamily="34" charset="-120"/>
              </a:rPr>
              <a:t>University College London   |   Xi'an Jiaotong-Liverpool University   |   Northumbria University</a:t>
            </a:r>
            <a:endParaRPr lang="en-US" sz="1150" dirty="0"/>
          </a:p>
        </p:txBody>
      </p:sp>
      <p:sp>
        <p:nvSpPr>
          <p:cNvPr id="6" name="Text 4"/>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50" dirty="0">
                <a:solidFill>
                  <a:srgbClr val="C98A24"/>
                </a:solidFill>
                <a:latin typeface="Calibri" pitchFamily="34" charset="0"/>
                <a:ea typeface="Calibri" pitchFamily="34" charset="-122"/>
                <a:cs typeface="Calibri" pitchFamily="34" charset="-120"/>
              </a:rPr>
              <a:t>Paper 108   ·   Parallel Session 3: Robotics &amp; Autonomous Systems   ·   Thursday 27 August 2026</a:t>
            </a:r>
            <a:endParaRPr lang="en-US" sz="1150" dirty="0"/>
          </a:p>
        </p:txBody>
      </p:sp>
      <p:sp>
        <p:nvSpPr>
          <p:cNvPr id="7" name="Shape 5"/>
          <p:cNvSpPr/>
          <p:nvPr/>
        </p:nvSpPr>
        <p:spPr>
          <a:xfrm>
            <a:off x="640080" y="4681728"/>
            <a:ext cx="10911535" cy="1572768"/>
          </a:xfrm>
          <a:prstGeom prst="roundRect">
            <a:avLst>
              <a:gd name="adj" fmla="val 3488"/>
            </a:avLst>
          </a:prstGeom>
          <a:solidFill>
            <a:srgbClr val="EAF2E4"/>
          </a:solidFill>
          <a:ln w="12700">
            <a:solidFill>
              <a:srgbClr val="EAF2E4"/>
            </a:solidFill>
            <a:prstDash val="solid"/>
          </a:ln>
        </p:spPr>
      </p:sp>
      <p:pic>
        <p:nvPicPr>
          <p:cNvPr id="8" name="Image 0" descr="/tmp/claude-0/-home-user-valentown/d6e1bc7b-94ca-5433-b61a-57600741710e/scratchpad/assets/ron.png">    </p:cNvPr>
          <p:cNvPicPr>
            <a:picLocks noChangeAspect="1"/>
          </p:cNvPicPr>
          <p:nvPr/>
        </p:nvPicPr>
        <p:blipFill>
          <a:blip r:embed="rId1"/>
          <a:stretch>
            <a:fillRect/>
          </a:stretch>
        </p:blipFill>
        <p:spPr>
          <a:xfrm>
            <a:off x="1504765" y="4956048"/>
            <a:ext cx="456437" cy="1078992"/>
          </a:xfrm>
          <a:prstGeom prst="rect">
            <a:avLst/>
          </a:prstGeom>
        </p:spPr>
      </p:pic>
      <p:pic>
        <p:nvPicPr>
          <p:cNvPr id="9" name="Image 1" descr="/tmp/claude-0/-home-user-valentown/d6e1bc7b-94ca-5433-b61a-57600741710e/scratchpad/assets/ella.png">    </p:cNvPr>
          <p:cNvPicPr>
            <a:picLocks noChangeAspect="1"/>
          </p:cNvPicPr>
          <p:nvPr/>
        </p:nvPicPr>
        <p:blipFill>
          <a:blip r:embed="rId2"/>
          <a:stretch>
            <a:fillRect/>
          </a:stretch>
        </p:blipFill>
        <p:spPr>
          <a:xfrm>
            <a:off x="2907377" y="4956048"/>
            <a:ext cx="559791" cy="1078992"/>
          </a:xfrm>
          <a:prstGeom prst="rect">
            <a:avLst/>
          </a:prstGeom>
        </p:spPr>
      </p:pic>
      <p:pic>
        <p:nvPicPr>
          <p:cNvPr id="10" name="Image 2" descr="/tmp/claude-0/-home-user-valentown/d6e1bc7b-94ca-5433-b61a-57600741710e/scratchpad/assets/emma.png">    </p:cNvPr>
          <p:cNvPicPr>
            <a:picLocks noChangeAspect="1"/>
          </p:cNvPicPr>
          <p:nvPr/>
        </p:nvPicPr>
        <p:blipFill>
          <a:blip r:embed="rId3"/>
          <a:stretch>
            <a:fillRect/>
          </a:stretch>
        </p:blipFill>
        <p:spPr>
          <a:xfrm>
            <a:off x="4362429" y="4956048"/>
            <a:ext cx="558261" cy="1078992"/>
          </a:xfrm>
          <a:prstGeom prst="rect">
            <a:avLst/>
          </a:prstGeom>
        </p:spPr>
      </p:pic>
      <p:pic>
        <p:nvPicPr>
          <p:cNvPr id="11" name="Image 3" descr="/tmp/claude-0/-home-user-valentown/d6e1bc7b-94ca-5433-b61a-57600741710e/scratchpad/assets/gavin.png">    </p:cNvPr>
          <p:cNvPicPr>
            <a:picLocks noChangeAspect="1"/>
          </p:cNvPicPr>
          <p:nvPr/>
        </p:nvPicPr>
        <p:blipFill>
          <a:blip r:embed="rId4"/>
          <a:stretch>
            <a:fillRect/>
          </a:stretch>
        </p:blipFill>
        <p:spPr>
          <a:xfrm>
            <a:off x="5850833" y="4956048"/>
            <a:ext cx="490029" cy="1078992"/>
          </a:xfrm>
          <a:prstGeom prst="rect">
            <a:avLst/>
          </a:prstGeom>
        </p:spPr>
      </p:pic>
      <p:pic>
        <p:nvPicPr>
          <p:cNvPr id="12" name="Image 4" descr="/tmp/claude-0/-home-user-valentown/d6e1bc7b-94ca-5433-b61a-57600741710e/scratchpad/assets/adam.png">    </p:cNvPr>
          <p:cNvPicPr>
            <a:picLocks noChangeAspect="1"/>
          </p:cNvPicPr>
          <p:nvPr/>
        </p:nvPicPr>
        <p:blipFill>
          <a:blip r:embed="rId5"/>
          <a:stretch>
            <a:fillRect/>
          </a:stretch>
        </p:blipFill>
        <p:spPr>
          <a:xfrm>
            <a:off x="7293152" y="4956048"/>
            <a:ext cx="513968" cy="1078992"/>
          </a:xfrm>
          <a:prstGeom prst="rect">
            <a:avLst/>
          </a:prstGeom>
        </p:spPr>
      </p:pic>
      <p:pic>
        <p:nvPicPr>
          <p:cNvPr id="13" name="Image 5" descr="/tmp/claude-0/-home-user-valentown/d6e1bc7b-94ca-5433-b61a-57600741710e/scratchpad/assets/mia.png">    </p:cNvPr>
          <p:cNvPicPr>
            <a:picLocks noChangeAspect="1"/>
          </p:cNvPicPr>
          <p:nvPr/>
        </p:nvPicPr>
        <p:blipFill>
          <a:blip r:embed="rId6"/>
          <a:stretch>
            <a:fillRect/>
          </a:stretch>
        </p:blipFill>
        <p:spPr>
          <a:xfrm>
            <a:off x="8740079" y="4956048"/>
            <a:ext cx="528689" cy="1078992"/>
          </a:xfrm>
          <a:prstGeom prst="rect">
            <a:avLst/>
          </a:prstGeom>
        </p:spPr>
      </p:pic>
      <p:pic>
        <p:nvPicPr>
          <p:cNvPr id="14" name="Image 6" descr="/tmp/claude-0/-home-user-valentown/d6e1bc7b-94ca-5433-b61a-57600741710e/scratchpad/assets/arthur.png">    </p:cNvPr>
          <p:cNvPicPr>
            <a:picLocks noChangeAspect="1"/>
          </p:cNvPicPr>
          <p:nvPr/>
        </p:nvPicPr>
        <p:blipFill>
          <a:blip r:embed="rId7"/>
          <a:stretch>
            <a:fillRect/>
          </a:stretch>
        </p:blipFill>
        <p:spPr>
          <a:xfrm>
            <a:off x="10175247" y="4956048"/>
            <a:ext cx="566928" cy="1078992"/>
          </a:xfrm>
          <a:prstGeom prst="rect">
            <a:avLst/>
          </a:prstGeom>
        </p:spPr>
      </p:pic>
      <p:sp>
        <p:nvSpPr>
          <p:cNvPr id="15" name="Text 6"/>
          <p:cNvSpPr txBox="1"/>
          <p:nvPr/>
        </p:nvSpPr>
        <p:spPr>
          <a:xfrm>
            <a:off x="640080" y="6382512"/>
            <a:ext cx="10911535" cy="274320"/>
          </a:xfrm>
          <a:prstGeom prst="rect">
            <a:avLst/>
          </a:prstGeom>
          <a:noFill/>
          <a:ln/>
        </p:spPr>
        <p:txBody>
          <a:bodyPr wrap="square" lIns="0" tIns="0" rIns="0" bIns="0" rtlCol="0" anchor="ctr"/>
          <a:lstStyle/>
          <a:p>
            <a:pPr algn="ctr" indent="0" marL="0">
              <a:buNone/>
            </a:pPr>
            <a:r>
              <a:rPr lang="en-US" sz="1100" i="1" dirty="0">
                <a:solidFill>
                  <a:srgbClr val="A9BBA9"/>
                </a:solidFill>
                <a:latin typeface="Calibri" pitchFamily="34" charset="0"/>
                <a:ea typeface="Calibri" pitchFamily="34" charset="-122"/>
                <a:cs typeface="Calibri" pitchFamily="34" charset="-120"/>
              </a:rPr>
              <a:t>Valentown — seven residents who plan, meet, remember and adapt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Two ways to simulate people</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640080"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64208"/>
            <a:ext cx="384048" cy="384048"/>
          </a:xfrm>
          <a:prstGeom prst="ellipse">
            <a:avLst/>
          </a:prstGeom>
          <a:solidFill>
            <a:srgbClr val="2C5F2D"/>
          </a:solidFill>
          <a:ln/>
        </p:spPr>
      </p:sp>
      <p:sp>
        <p:nvSpPr>
          <p:cNvPr id="8" name="Text 6"/>
          <p:cNvSpPr txBox="1"/>
          <p:nvPr/>
        </p:nvSpPr>
        <p:spPr>
          <a:xfrm>
            <a:off x="932688"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9" name="Text 7"/>
          <p:cNvSpPr txBox="1"/>
          <p:nvPr/>
        </p:nvSpPr>
        <p:spPr>
          <a:xfrm>
            <a:off x="1481328"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Rule-based agent models</a:t>
            </a:r>
            <a:endParaRPr lang="en-US" sz="1500" dirty="0"/>
          </a:p>
        </p:txBody>
      </p:sp>
      <p:sp>
        <p:nvSpPr>
          <p:cNvPr id="10" name="Shape 8"/>
          <p:cNvSpPr/>
          <p:nvPr/>
        </p:nvSpPr>
        <p:spPr>
          <a:xfrm>
            <a:off x="1143000"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1" name="Text 9"/>
          <p:cNvSpPr txBox="1"/>
          <p:nvPr/>
        </p:nvSpPr>
        <p:spPr>
          <a:xfrm>
            <a:off x="1234440"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Fixed rules</a:t>
            </a:r>
            <a:endParaRPr lang="en-US" sz="1250" dirty="0"/>
          </a:p>
        </p:txBody>
      </p:sp>
      <p:sp>
        <p:nvSpPr>
          <p:cNvPr id="12" name="Shape 10"/>
          <p:cNvSpPr/>
          <p:nvPr/>
        </p:nvSpPr>
        <p:spPr>
          <a:xfrm>
            <a:off x="3090672" y="2615184"/>
            <a:ext cx="457200" cy="219456"/>
          </a:xfrm>
          <a:prstGeom prst="rightArrow">
            <a:avLst/>
          </a:prstGeom>
          <a:solidFill>
            <a:srgbClr val="C98A24"/>
          </a:solidFill>
          <a:ln/>
        </p:spPr>
      </p:sp>
      <p:sp>
        <p:nvSpPr>
          <p:cNvPr id="13" name="Shape 11"/>
          <p:cNvSpPr/>
          <p:nvPr/>
        </p:nvSpPr>
        <p:spPr>
          <a:xfrm>
            <a:off x="3712464"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4" name="Text 12"/>
          <p:cNvSpPr txBox="1"/>
          <p:nvPr/>
        </p:nvSpPr>
        <p:spPr>
          <a:xfrm>
            <a:off x="3803904"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15" name="Text 13"/>
          <p:cNvSpPr txBox="1"/>
          <p:nvPr/>
        </p:nvSpPr>
        <p:spPr>
          <a:xfrm>
            <a:off x="950976"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same input → the same behaviour, every day</a:t>
            </a:r>
            <a:endParaRPr lang="en-US" sz="950" dirty="0"/>
          </a:p>
        </p:txBody>
      </p:sp>
      <p:sp>
        <p:nvSpPr>
          <p:cNvPr id="16" name="Shape 14"/>
          <p:cNvSpPr/>
          <p:nvPr/>
        </p:nvSpPr>
        <p:spPr>
          <a:xfrm>
            <a:off x="1143000" y="3529584"/>
            <a:ext cx="4352544" cy="420624"/>
          </a:xfrm>
          <a:prstGeom prst="roundRect">
            <a:avLst>
              <a:gd name="adj" fmla="val 13043"/>
            </a:avLst>
          </a:prstGeom>
          <a:solidFill>
            <a:srgbClr val="EFEFEA"/>
          </a:solidFill>
          <a:ln w="12700">
            <a:solidFill>
              <a:srgbClr val="EFEFEA"/>
            </a:solidFill>
            <a:prstDash val="solid"/>
          </a:ln>
        </p:spPr>
      </p:sp>
      <p:sp>
        <p:nvSpPr>
          <p:cNvPr id="17" name="Text 15"/>
          <p:cNvSpPr txBox="1"/>
          <p:nvPr/>
        </p:nvSpPr>
        <p:spPr>
          <a:xfrm>
            <a:off x="1234440"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No context · no planning · no memory</a:t>
            </a:r>
            <a:endParaRPr lang="en-US" sz="1100" dirty="0"/>
          </a:p>
        </p:txBody>
      </p:sp>
      <p:sp>
        <p:nvSpPr>
          <p:cNvPr id="18" name="Shape 16"/>
          <p:cNvSpPr/>
          <p:nvPr/>
        </p:nvSpPr>
        <p:spPr>
          <a:xfrm>
            <a:off x="1143000" y="4023360"/>
            <a:ext cx="4352544" cy="420624"/>
          </a:xfrm>
          <a:prstGeom prst="roundRect">
            <a:avLst>
              <a:gd name="adj" fmla="val 13043"/>
            </a:avLst>
          </a:prstGeom>
          <a:solidFill>
            <a:srgbClr val="EFEFEA"/>
          </a:solidFill>
          <a:ln w="12700">
            <a:solidFill>
              <a:srgbClr val="EFEFEA"/>
            </a:solidFill>
            <a:prstDash val="solid"/>
          </a:ln>
        </p:spPr>
      </p:sp>
      <p:sp>
        <p:nvSpPr>
          <p:cNvPr id="19" name="Text 17"/>
          <p:cNvSpPr txBox="1"/>
          <p:nvPr/>
        </p:nvSpPr>
        <p:spPr>
          <a:xfrm>
            <a:off x="1234440"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Macro patterns yes — human-like behaviour no</a:t>
            </a:r>
            <a:endParaRPr lang="en-US" sz="1100" dirty="0"/>
          </a:p>
        </p:txBody>
      </p:sp>
      <p:sp>
        <p:nvSpPr>
          <p:cNvPr id="20" name="Shape 18"/>
          <p:cNvSpPr/>
          <p:nvPr/>
        </p:nvSpPr>
        <p:spPr>
          <a:xfrm>
            <a:off x="6199632"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Shape 19"/>
          <p:cNvSpPr/>
          <p:nvPr/>
        </p:nvSpPr>
        <p:spPr>
          <a:xfrm>
            <a:off x="6492240" y="1664208"/>
            <a:ext cx="384048" cy="384048"/>
          </a:xfrm>
          <a:prstGeom prst="ellipse">
            <a:avLst/>
          </a:prstGeom>
          <a:solidFill>
            <a:srgbClr val="7FB069"/>
          </a:solidFill>
          <a:ln/>
        </p:spPr>
      </p:sp>
      <p:sp>
        <p:nvSpPr>
          <p:cNvPr id="22" name="Text 20"/>
          <p:cNvSpPr txBox="1"/>
          <p:nvPr/>
        </p:nvSpPr>
        <p:spPr>
          <a:xfrm>
            <a:off x="649224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t>
            </a:r>
            <a:endParaRPr lang="en-US" sz="1300" dirty="0"/>
          </a:p>
        </p:txBody>
      </p:sp>
      <p:sp>
        <p:nvSpPr>
          <p:cNvPr id="23" name="Text 21"/>
          <p:cNvSpPr txBox="1"/>
          <p:nvPr/>
        </p:nvSpPr>
        <p:spPr>
          <a:xfrm>
            <a:off x="7040880"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LLM-driven agents</a:t>
            </a:r>
            <a:endParaRPr lang="en-US" sz="1500" dirty="0"/>
          </a:p>
        </p:txBody>
      </p:sp>
      <p:sp>
        <p:nvSpPr>
          <p:cNvPr id="24" name="Shape 22"/>
          <p:cNvSpPr/>
          <p:nvPr/>
        </p:nvSpPr>
        <p:spPr>
          <a:xfrm>
            <a:off x="672998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682142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Prompt</a:t>
            </a:r>
            <a:endParaRPr lang="en-US" sz="1250" dirty="0"/>
          </a:p>
        </p:txBody>
      </p:sp>
      <p:sp>
        <p:nvSpPr>
          <p:cNvPr id="26" name="Shape 24"/>
          <p:cNvSpPr/>
          <p:nvPr/>
        </p:nvSpPr>
        <p:spPr>
          <a:xfrm>
            <a:off x="7918704" y="2615184"/>
            <a:ext cx="347472" cy="219456"/>
          </a:xfrm>
          <a:prstGeom prst="rightArrow">
            <a:avLst/>
          </a:prstGeom>
          <a:solidFill>
            <a:srgbClr val="C98A24"/>
          </a:solidFill>
          <a:ln/>
        </p:spPr>
      </p:sp>
      <p:sp>
        <p:nvSpPr>
          <p:cNvPr id="27" name="Shape 25"/>
          <p:cNvSpPr/>
          <p:nvPr/>
        </p:nvSpPr>
        <p:spPr>
          <a:xfrm>
            <a:off x="8284464" y="2395728"/>
            <a:ext cx="1170432" cy="658368"/>
          </a:xfrm>
          <a:prstGeom prst="roundRect">
            <a:avLst>
              <a:gd name="adj" fmla="val 8333"/>
            </a:avLst>
          </a:prstGeom>
          <a:solidFill>
            <a:srgbClr val="EAF2E4"/>
          </a:solidFill>
          <a:ln w="12700">
            <a:solidFill>
              <a:srgbClr val="EAF2E4"/>
            </a:solidFill>
            <a:prstDash val="solid"/>
          </a:ln>
        </p:spPr>
      </p:sp>
      <p:sp>
        <p:nvSpPr>
          <p:cNvPr id="28" name="Text 26"/>
          <p:cNvSpPr txBox="1"/>
          <p:nvPr/>
        </p:nvSpPr>
        <p:spPr>
          <a:xfrm>
            <a:off x="837590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LLM</a:t>
            </a:r>
            <a:endParaRPr lang="en-US" sz="1250" dirty="0"/>
          </a:p>
        </p:txBody>
      </p:sp>
      <p:sp>
        <p:nvSpPr>
          <p:cNvPr id="29" name="Shape 27"/>
          <p:cNvSpPr/>
          <p:nvPr/>
        </p:nvSpPr>
        <p:spPr>
          <a:xfrm>
            <a:off x="9473184" y="2615184"/>
            <a:ext cx="347472" cy="219456"/>
          </a:xfrm>
          <a:prstGeom prst="rightArrow">
            <a:avLst/>
          </a:prstGeom>
          <a:solidFill>
            <a:srgbClr val="C98A24"/>
          </a:solidFill>
          <a:ln/>
        </p:spPr>
      </p:sp>
      <p:sp>
        <p:nvSpPr>
          <p:cNvPr id="30" name="Shape 28"/>
          <p:cNvSpPr/>
          <p:nvPr/>
        </p:nvSpPr>
        <p:spPr>
          <a:xfrm>
            <a:off x="983894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1" name="Text 29"/>
          <p:cNvSpPr txBox="1"/>
          <p:nvPr/>
        </p:nvSpPr>
        <p:spPr>
          <a:xfrm>
            <a:off x="993038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32" name="Text 30"/>
          <p:cNvSpPr txBox="1"/>
          <p:nvPr/>
        </p:nvSpPr>
        <p:spPr>
          <a:xfrm>
            <a:off x="6510528"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fluent — but one step at a time</a:t>
            </a:r>
            <a:endParaRPr lang="en-US" sz="950" dirty="0"/>
          </a:p>
        </p:txBody>
      </p:sp>
      <p:sp>
        <p:nvSpPr>
          <p:cNvPr id="33" name="Shape 31"/>
          <p:cNvSpPr/>
          <p:nvPr/>
        </p:nvSpPr>
        <p:spPr>
          <a:xfrm>
            <a:off x="6702552" y="3529584"/>
            <a:ext cx="4352544" cy="420624"/>
          </a:xfrm>
          <a:prstGeom prst="roundRect">
            <a:avLst>
              <a:gd name="adj" fmla="val 13043"/>
            </a:avLst>
          </a:prstGeom>
          <a:solidFill>
            <a:srgbClr val="EAF2E4"/>
          </a:solidFill>
          <a:ln w="12700">
            <a:solidFill>
              <a:srgbClr val="EAF2E4"/>
            </a:solidFill>
            <a:prstDash val="solid"/>
          </a:ln>
        </p:spPr>
      </p:sp>
      <p:sp>
        <p:nvSpPr>
          <p:cNvPr id="34" name="Text 32"/>
          <p:cNvSpPr txBox="1"/>
          <p:nvPr/>
        </p:nvSpPr>
        <p:spPr>
          <a:xfrm>
            <a:off x="6793992"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Reactive: answers the prompt in front of it</a:t>
            </a:r>
            <a:endParaRPr lang="en-US" sz="1100" dirty="0"/>
          </a:p>
        </p:txBody>
      </p:sp>
      <p:sp>
        <p:nvSpPr>
          <p:cNvPr id="35" name="Shape 33"/>
          <p:cNvSpPr/>
          <p:nvPr/>
        </p:nvSpPr>
        <p:spPr>
          <a:xfrm>
            <a:off x="6702552" y="4023360"/>
            <a:ext cx="4352544" cy="420624"/>
          </a:xfrm>
          <a:prstGeom prst="roundRect">
            <a:avLst>
              <a:gd name="adj" fmla="val 13043"/>
            </a:avLst>
          </a:prstGeom>
          <a:solidFill>
            <a:srgbClr val="EAF2E4"/>
          </a:solidFill>
          <a:ln w="12700">
            <a:solidFill>
              <a:srgbClr val="EAF2E4"/>
            </a:solidFill>
            <a:prstDash val="solid"/>
          </a:ln>
        </p:spPr>
      </p:sp>
      <p:sp>
        <p:nvSpPr>
          <p:cNvPr id="36" name="Text 34"/>
          <p:cNvSpPr txBox="1"/>
          <p:nvPr/>
        </p:nvSpPr>
        <p:spPr>
          <a:xfrm>
            <a:off x="6793992"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Interaction ad hoc or random · no day structure</a:t>
            </a:r>
            <a:endParaRPr lang="en-US" sz="1100" dirty="0"/>
          </a:p>
        </p:txBody>
      </p:sp>
      <p:sp>
        <p:nvSpPr>
          <p:cNvPr id="37" name="Shape 35"/>
          <p:cNvSpPr/>
          <p:nvPr/>
        </p:nvSpPr>
        <p:spPr>
          <a:xfrm>
            <a:off x="640080" y="4937760"/>
            <a:ext cx="10911535" cy="1005840"/>
          </a:xfrm>
          <a:prstGeom prst="roundRect">
            <a:avLst>
              <a:gd name="adj" fmla="val 5455"/>
            </a:avLst>
          </a:prstGeom>
          <a:solidFill>
            <a:srgbClr val="FBF1DC"/>
          </a:solidFill>
          <a:ln w="12700">
            <a:solidFill>
              <a:srgbClr val="EFDFBE"/>
            </a:solidFill>
            <a:prstDash val="solid"/>
          </a:ln>
        </p:spPr>
      </p:sp>
      <p:sp>
        <p:nvSpPr>
          <p:cNvPr id="38" name="Text 36"/>
          <p:cNvSpPr txBox="1"/>
          <p:nvPr/>
        </p:nvSpPr>
        <p:spPr>
          <a:xfrm>
            <a:off x="640080" y="4937760"/>
            <a:ext cx="10911535" cy="1005840"/>
          </a:xfrm>
          <a:prstGeom prst="rect">
            <a:avLst/>
          </a:prstGeom>
          <a:noFill/>
          <a:ln/>
        </p:spPr>
        <p:txBody>
          <a:bodyPr wrap="square" lIns="0" tIns="0" rIns="0" bIns="0" rtlCol="0" anchor="ctr"/>
          <a:lstStyle/>
          <a:p>
            <a:pPr algn="ctr" indent="0" marL="0">
              <a:buNone/>
            </a:pPr>
            <a:r>
              <a:rPr lang="en-US" sz="1700" b="1" dirty="0">
                <a:solidFill>
                  <a:srgbClr val="1B2E23"/>
                </a:solidFill>
                <a:latin typeface="Cambria" pitchFamily="34" charset="0"/>
                <a:ea typeface="Cambria" pitchFamily="34" charset="-122"/>
                <a:cs typeface="Cambria" pitchFamily="34" charset="-120"/>
              </a:rPr>
              <a:t>Missing: explicit structure for behaviour, interaction and feedback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question, three requirements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640080" y="1417320"/>
            <a:ext cx="10911535" cy="1060704"/>
          </a:xfrm>
          <a:prstGeom prst="roundRect">
            <a:avLst>
              <a:gd name="adj" fmla="val 5172"/>
            </a:avLst>
          </a:prstGeom>
          <a:solidFill>
            <a:srgbClr val="1B2E23"/>
          </a:solidFill>
          <a:ln w="12700">
            <a:solidFill>
              <a:srgbClr val="1B2E23"/>
            </a:solidFill>
            <a:prstDash val="solid"/>
          </a:ln>
        </p:spPr>
      </p:sp>
      <p:sp>
        <p:nvSpPr>
          <p:cNvPr id="7" name="Text 5"/>
          <p:cNvSpPr txBox="1"/>
          <p:nvPr/>
        </p:nvSpPr>
        <p:spPr>
          <a:xfrm>
            <a:off x="1024128" y="1417320"/>
            <a:ext cx="10143439" cy="1060704"/>
          </a:xfrm>
          <a:prstGeom prst="rect">
            <a:avLst/>
          </a:prstGeom>
          <a:noFill/>
          <a:ln/>
        </p:spPr>
        <p:txBody>
          <a:bodyPr wrap="square" lIns="0" tIns="0" rIns="0" bIns="0" rtlCol="0" anchor="ctr"/>
          <a:lstStyle/>
          <a:p>
            <a:pPr indent="0" marL="0">
              <a:lnSpc>
                <a:spcPts val="2400"/>
              </a:lnSpc>
              <a:buNone/>
            </a:pPr>
            <a:r>
              <a:rPr lang="en-US" sz="1800" i="1" dirty="0">
                <a:solidFill>
                  <a:srgbClr val="FFFFFF"/>
                </a:solidFill>
                <a:latin typeface="Cambria" pitchFamily="34" charset="0"/>
                <a:ea typeface="Cambria" pitchFamily="34" charset="-122"/>
                <a:cs typeface="Cambria" pitchFamily="34" charset="-120"/>
              </a:rPr>
              <a:t>How can we design a virtual society whose agents are structured, evolving and controllable over time?</a:t>
            </a:r>
            <a:endParaRPr lang="en-US" sz="1800" dirty="0"/>
          </a:p>
        </p:txBody>
      </p:sp>
      <p:sp>
        <p:nvSpPr>
          <p:cNvPr id="8" name="Shape 6"/>
          <p:cNvSpPr/>
          <p:nvPr/>
        </p:nvSpPr>
        <p:spPr>
          <a:xfrm>
            <a:off x="64008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Shape 7"/>
          <p:cNvSpPr/>
          <p:nvPr/>
        </p:nvSpPr>
        <p:spPr>
          <a:xfrm>
            <a:off x="950976" y="3054096"/>
            <a:ext cx="420624" cy="420624"/>
          </a:xfrm>
          <a:prstGeom prst="ellipse">
            <a:avLst/>
          </a:prstGeom>
          <a:solidFill>
            <a:srgbClr val="7FB069"/>
          </a:solidFill>
          <a:ln/>
        </p:spPr>
      </p:sp>
      <p:sp>
        <p:nvSpPr>
          <p:cNvPr id="10" name="Text 8"/>
          <p:cNvSpPr txBox="1"/>
          <p:nvPr/>
        </p:nvSpPr>
        <p:spPr>
          <a:xfrm>
            <a:off x="95097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9961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Temporal structure</a:t>
            </a:r>
            <a:endParaRPr lang="en-US" sz="1450" dirty="0"/>
          </a:p>
        </p:txBody>
      </p:sp>
      <p:sp>
        <p:nvSpPr>
          <p:cNvPr id="12" name="Text 10"/>
          <p:cNvSpPr txBox="1"/>
          <p:nvPr/>
        </p:nvSpPr>
        <p:spPr>
          <a:xfrm>
            <a:off x="95097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 day — not a stream of reactions</a:t>
            </a:r>
            <a:endParaRPr lang="en-US" sz="1250" dirty="0"/>
          </a:p>
        </p:txBody>
      </p:sp>
      <p:sp>
        <p:nvSpPr>
          <p:cNvPr id="13" name="Text 11"/>
          <p:cNvSpPr txBox="1"/>
          <p:nvPr/>
        </p:nvSpPr>
        <p:spPr>
          <a:xfrm>
            <a:off x="104241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14" name="Shape 12"/>
          <p:cNvSpPr/>
          <p:nvPr/>
        </p:nvSpPr>
        <p:spPr>
          <a:xfrm>
            <a:off x="896112" y="4837176"/>
            <a:ext cx="2990088" cy="822960"/>
          </a:xfrm>
          <a:prstGeom prst="roundRect">
            <a:avLst>
              <a:gd name="adj" fmla="val 6667"/>
            </a:avLst>
          </a:prstGeom>
          <a:solidFill>
            <a:srgbClr val="EAF2E4"/>
          </a:solidFill>
          <a:ln w="12700">
            <a:solidFill>
              <a:srgbClr val="EAF2E4"/>
            </a:solidFill>
            <a:prstDash val="solid"/>
          </a:ln>
        </p:spPr>
      </p:sp>
      <p:sp>
        <p:nvSpPr>
          <p:cNvPr id="15" name="Text 13"/>
          <p:cNvSpPr txBox="1"/>
          <p:nvPr/>
        </p:nvSpPr>
        <p:spPr>
          <a:xfrm>
            <a:off x="98755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Schedule-driven agents</a:t>
            </a:r>
            <a:endParaRPr lang="en-US" sz="1200" dirty="0"/>
          </a:p>
        </p:txBody>
      </p:sp>
      <p:sp>
        <p:nvSpPr>
          <p:cNvPr id="16" name="Shape 14"/>
          <p:cNvSpPr/>
          <p:nvPr/>
        </p:nvSpPr>
        <p:spPr>
          <a:xfrm>
            <a:off x="434340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7" name="Shape 15"/>
          <p:cNvSpPr/>
          <p:nvPr/>
        </p:nvSpPr>
        <p:spPr>
          <a:xfrm>
            <a:off x="4654296" y="3054096"/>
            <a:ext cx="420624" cy="420624"/>
          </a:xfrm>
          <a:prstGeom prst="ellipse">
            <a:avLst/>
          </a:prstGeom>
          <a:solidFill>
            <a:srgbClr val="2C5F2D"/>
          </a:solidFill>
          <a:ln/>
        </p:spPr>
      </p:sp>
      <p:sp>
        <p:nvSpPr>
          <p:cNvPr id="18" name="Text 16"/>
          <p:cNvSpPr txBox="1"/>
          <p:nvPr/>
        </p:nvSpPr>
        <p:spPr>
          <a:xfrm>
            <a:off x="465429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txBox="1"/>
          <p:nvPr/>
        </p:nvSpPr>
        <p:spPr>
          <a:xfrm>
            <a:off x="520293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Behavioural evolution</a:t>
            </a:r>
            <a:endParaRPr lang="en-US" sz="1450" dirty="0"/>
          </a:p>
        </p:txBody>
      </p:sp>
      <p:sp>
        <p:nvSpPr>
          <p:cNvPr id="20" name="Text 18"/>
          <p:cNvSpPr txBox="1"/>
          <p:nvPr/>
        </p:nvSpPr>
        <p:spPr>
          <a:xfrm>
            <a:off x="465429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Yesterday changes tomorrow</a:t>
            </a:r>
            <a:endParaRPr lang="en-US" sz="1250" dirty="0"/>
          </a:p>
        </p:txBody>
      </p:sp>
      <p:sp>
        <p:nvSpPr>
          <p:cNvPr id="21" name="Text 19"/>
          <p:cNvSpPr txBox="1"/>
          <p:nvPr/>
        </p:nvSpPr>
        <p:spPr>
          <a:xfrm>
            <a:off x="474573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22" name="Shape 20"/>
          <p:cNvSpPr/>
          <p:nvPr/>
        </p:nvSpPr>
        <p:spPr>
          <a:xfrm>
            <a:off x="4599432" y="4837176"/>
            <a:ext cx="2990088" cy="822960"/>
          </a:xfrm>
          <a:prstGeom prst="roundRect">
            <a:avLst>
              <a:gd name="adj" fmla="val 6667"/>
            </a:avLst>
          </a:prstGeom>
          <a:solidFill>
            <a:srgbClr val="EAF2E4"/>
          </a:solidFill>
          <a:ln w="12700">
            <a:solidFill>
              <a:srgbClr val="EAF2E4"/>
            </a:solidFill>
            <a:prstDash val="solid"/>
          </a:ln>
        </p:spPr>
      </p:sp>
      <p:sp>
        <p:nvSpPr>
          <p:cNvPr id="23" name="Text 21"/>
          <p:cNvSpPr txBox="1"/>
          <p:nvPr/>
        </p:nvSpPr>
        <p:spPr>
          <a:xfrm>
            <a:off x="469087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Memory feedback loop</a:t>
            </a:r>
            <a:endParaRPr lang="en-US" sz="1200" dirty="0"/>
          </a:p>
        </p:txBody>
      </p:sp>
      <p:sp>
        <p:nvSpPr>
          <p:cNvPr id="24" name="Shape 22"/>
          <p:cNvSpPr/>
          <p:nvPr/>
        </p:nvSpPr>
        <p:spPr>
          <a:xfrm>
            <a:off x="804672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23"/>
          <p:cNvSpPr/>
          <p:nvPr/>
        </p:nvSpPr>
        <p:spPr>
          <a:xfrm>
            <a:off x="8357616" y="3054096"/>
            <a:ext cx="420624" cy="420624"/>
          </a:xfrm>
          <a:prstGeom prst="ellipse">
            <a:avLst/>
          </a:prstGeom>
          <a:solidFill>
            <a:srgbClr val="C98A24"/>
          </a:solidFill>
          <a:ln/>
        </p:spPr>
      </p:sp>
      <p:sp>
        <p:nvSpPr>
          <p:cNvPr id="26" name="Text 24"/>
          <p:cNvSpPr txBox="1"/>
          <p:nvPr/>
        </p:nvSpPr>
        <p:spPr>
          <a:xfrm>
            <a:off x="835761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txBox="1"/>
          <p:nvPr/>
        </p:nvSpPr>
        <p:spPr>
          <a:xfrm>
            <a:off x="890625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Controllability</a:t>
            </a:r>
            <a:endParaRPr lang="en-US" sz="1450" dirty="0"/>
          </a:p>
        </p:txBody>
      </p:sp>
      <p:sp>
        <p:nvSpPr>
          <p:cNvPr id="28" name="Text 26"/>
          <p:cNvSpPr txBox="1"/>
          <p:nvPr/>
        </p:nvSpPr>
        <p:spPr>
          <a:xfrm>
            <a:off x="835761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An explicit rule, plus a human override</a:t>
            </a:r>
            <a:endParaRPr lang="en-US" sz="1250" dirty="0"/>
          </a:p>
        </p:txBody>
      </p:sp>
      <p:sp>
        <p:nvSpPr>
          <p:cNvPr id="29" name="Text 27"/>
          <p:cNvSpPr txBox="1"/>
          <p:nvPr/>
        </p:nvSpPr>
        <p:spPr>
          <a:xfrm>
            <a:off x="844905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30" name="Shape 28"/>
          <p:cNvSpPr/>
          <p:nvPr/>
        </p:nvSpPr>
        <p:spPr>
          <a:xfrm>
            <a:off x="8302752" y="4837176"/>
            <a:ext cx="2990088" cy="822960"/>
          </a:xfrm>
          <a:prstGeom prst="roundRect">
            <a:avLst>
              <a:gd name="adj" fmla="val 6667"/>
            </a:avLst>
          </a:prstGeom>
          <a:solidFill>
            <a:srgbClr val="EAF2E4"/>
          </a:solidFill>
          <a:ln w="12700">
            <a:solidFill>
              <a:srgbClr val="EAF2E4"/>
            </a:solidFill>
            <a:prstDash val="solid"/>
          </a:ln>
        </p:spPr>
      </p:sp>
      <p:sp>
        <p:nvSpPr>
          <p:cNvPr id="31" name="Text 29"/>
          <p:cNvSpPr txBox="1"/>
          <p:nvPr/>
        </p:nvSpPr>
        <p:spPr>
          <a:xfrm>
            <a:off x="839419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Co-location trigger + human-in-the-loop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1 &amp;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Plan the day, then let the town decide who meets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640080"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7FB069"/>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481328"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Schedule-driven day</a:t>
            </a:r>
            <a:endParaRPr lang="en-US" sz="1500" dirty="0"/>
          </a:p>
        </p:txBody>
      </p:sp>
      <p:sp>
        <p:nvSpPr>
          <p:cNvPr id="10" name="Shape 8"/>
          <p:cNvSpPr/>
          <p:nvPr/>
        </p:nvSpPr>
        <p:spPr>
          <a:xfrm>
            <a:off x="950976" y="2103120"/>
            <a:ext cx="4727448" cy="457200"/>
          </a:xfrm>
          <a:prstGeom prst="roundRect">
            <a:avLst>
              <a:gd name="adj" fmla="val 12000"/>
            </a:avLst>
          </a:prstGeom>
          <a:solidFill>
            <a:srgbClr val="FBF1DC"/>
          </a:solidFill>
          <a:ln w="12700">
            <a:solidFill>
              <a:srgbClr val="EFDFBE"/>
            </a:solidFill>
            <a:prstDash val="solid"/>
          </a:ln>
        </p:spPr>
      </p:sp>
      <p:sp>
        <p:nvSpPr>
          <p:cNvPr id="11" name="Text 9"/>
          <p:cNvSpPr txBox="1"/>
          <p:nvPr/>
        </p:nvSpPr>
        <p:spPr>
          <a:xfrm>
            <a:off x="1042416" y="2103120"/>
            <a:ext cx="454456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identity + goals + memory   →   one day's plan</a:t>
            </a:r>
            <a:endParaRPr lang="en-US" sz="1150" dirty="0"/>
          </a:p>
        </p:txBody>
      </p:sp>
      <p:pic>
        <p:nvPicPr>
          <p:cNvPr id="12" name="Image 0" descr="/tmp/claude-0/-home-user-valentown/d6e1bc7b-94ca-5433-b61a-57600741710e/scratchpad/assets/loc_home.png">    </p:cNvPr>
          <p:cNvPicPr>
            <a:picLocks noChangeAspect="1"/>
          </p:cNvPicPr>
          <p:nvPr/>
        </p:nvPicPr>
        <p:blipFill>
          <a:blip r:embed="rId1"/>
          <a:stretch>
            <a:fillRect/>
          </a:stretch>
        </p:blipFill>
        <p:spPr>
          <a:xfrm>
            <a:off x="960120" y="2687275"/>
            <a:ext cx="868680" cy="842309"/>
          </a:xfrm>
          <a:prstGeom prst="rect">
            <a:avLst/>
          </a:prstGeom>
        </p:spPr>
      </p:pic>
      <p:sp>
        <p:nvSpPr>
          <p:cNvPr id="13" name="Text 10"/>
          <p:cNvSpPr txBox="1"/>
          <p:nvPr/>
        </p:nvSpPr>
        <p:spPr>
          <a:xfrm>
            <a:off x="85039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07:00 home</a:t>
            </a:r>
            <a:endParaRPr lang="en-US" sz="900" dirty="0"/>
          </a:p>
        </p:txBody>
      </p:sp>
      <p:sp>
        <p:nvSpPr>
          <p:cNvPr id="14" name="Shape 11"/>
          <p:cNvSpPr/>
          <p:nvPr/>
        </p:nvSpPr>
        <p:spPr>
          <a:xfrm>
            <a:off x="1883664" y="3145536"/>
            <a:ext cx="301752" cy="54864"/>
          </a:xfrm>
          <a:prstGeom prst="rect">
            <a:avLst/>
          </a:prstGeom>
          <a:solidFill>
            <a:srgbClr val="C98A24"/>
          </a:solidFill>
          <a:ln/>
        </p:spPr>
      </p:sp>
      <p:pic>
        <p:nvPicPr>
          <p:cNvPr id="15" name="Image 1" descr="/tmp/claude-0/-home-user-valentown/d6e1bc7b-94ca-5433-b61a-57600741710e/scratchpad/assets/loc_cafe.png">    </p:cNvPr>
          <p:cNvPicPr>
            <a:picLocks noChangeAspect="1"/>
          </p:cNvPicPr>
          <p:nvPr/>
        </p:nvPicPr>
        <p:blipFill>
          <a:blip r:embed="rId2"/>
          <a:stretch>
            <a:fillRect/>
          </a:stretch>
        </p:blipFill>
        <p:spPr>
          <a:xfrm>
            <a:off x="2240280" y="2828435"/>
            <a:ext cx="868680" cy="701149"/>
          </a:xfrm>
          <a:prstGeom prst="rect">
            <a:avLst/>
          </a:prstGeom>
        </p:spPr>
      </p:pic>
      <p:sp>
        <p:nvSpPr>
          <p:cNvPr id="16" name="Text 12"/>
          <p:cNvSpPr txBox="1"/>
          <p:nvPr/>
        </p:nvSpPr>
        <p:spPr>
          <a:xfrm>
            <a:off x="213055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12:00 café</a:t>
            </a:r>
            <a:endParaRPr lang="en-US" sz="900" dirty="0"/>
          </a:p>
        </p:txBody>
      </p:sp>
      <p:sp>
        <p:nvSpPr>
          <p:cNvPr id="17" name="Shape 13"/>
          <p:cNvSpPr/>
          <p:nvPr/>
        </p:nvSpPr>
        <p:spPr>
          <a:xfrm>
            <a:off x="3163824" y="3145536"/>
            <a:ext cx="301752" cy="54864"/>
          </a:xfrm>
          <a:prstGeom prst="rect">
            <a:avLst/>
          </a:prstGeom>
          <a:solidFill>
            <a:srgbClr val="C98A24"/>
          </a:solidFill>
          <a:ln/>
        </p:spPr>
      </p:sp>
      <p:pic>
        <p:nvPicPr>
          <p:cNvPr id="18" name="Image 2" descr="/tmp/claude-0/-home-user-valentown/d6e1bc7b-94ca-5433-b61a-57600741710e/scratchpad/assets/loc_shop.png">    </p:cNvPr>
          <p:cNvPicPr>
            <a:picLocks noChangeAspect="1"/>
          </p:cNvPicPr>
          <p:nvPr/>
        </p:nvPicPr>
        <p:blipFill>
          <a:blip r:embed="rId3"/>
          <a:stretch>
            <a:fillRect/>
          </a:stretch>
        </p:blipFill>
        <p:spPr>
          <a:xfrm>
            <a:off x="3520440" y="2943225"/>
            <a:ext cx="868680" cy="586359"/>
          </a:xfrm>
          <a:prstGeom prst="rect">
            <a:avLst/>
          </a:prstGeom>
        </p:spPr>
      </p:pic>
      <p:sp>
        <p:nvSpPr>
          <p:cNvPr id="19" name="Text 14"/>
          <p:cNvSpPr txBox="1"/>
          <p:nvPr/>
        </p:nvSpPr>
        <p:spPr>
          <a:xfrm>
            <a:off x="341071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15:00 shop</a:t>
            </a:r>
            <a:endParaRPr lang="en-US" sz="900" dirty="0"/>
          </a:p>
        </p:txBody>
      </p:sp>
      <p:sp>
        <p:nvSpPr>
          <p:cNvPr id="20" name="Shape 15"/>
          <p:cNvSpPr/>
          <p:nvPr/>
        </p:nvSpPr>
        <p:spPr>
          <a:xfrm>
            <a:off x="4443984" y="3145536"/>
            <a:ext cx="301752" cy="54864"/>
          </a:xfrm>
          <a:prstGeom prst="rect">
            <a:avLst/>
          </a:prstGeom>
          <a:solidFill>
            <a:srgbClr val="C98A24"/>
          </a:solidFill>
          <a:ln/>
        </p:spPr>
      </p:sp>
      <p:pic>
        <p:nvPicPr>
          <p:cNvPr id="21" name="Image 3" descr="/tmp/claude-0/-home-user-valentown/d6e1bc7b-94ca-5433-b61a-57600741710e/scratchpad/assets/loc_home.png">    </p:cNvPr>
          <p:cNvPicPr>
            <a:picLocks noChangeAspect="1"/>
          </p:cNvPicPr>
          <p:nvPr/>
        </p:nvPicPr>
        <p:blipFill>
          <a:blip r:embed="rId4"/>
          <a:stretch>
            <a:fillRect/>
          </a:stretch>
        </p:blipFill>
        <p:spPr>
          <a:xfrm>
            <a:off x="4800600" y="2687275"/>
            <a:ext cx="868680" cy="842309"/>
          </a:xfrm>
          <a:prstGeom prst="rect">
            <a:avLst/>
          </a:prstGeom>
        </p:spPr>
      </p:pic>
      <p:sp>
        <p:nvSpPr>
          <p:cNvPr id="22" name="Text 16"/>
          <p:cNvSpPr txBox="1"/>
          <p:nvPr/>
        </p:nvSpPr>
        <p:spPr>
          <a:xfrm>
            <a:off x="469087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20:00 home</a:t>
            </a:r>
            <a:endParaRPr lang="en-US" sz="900" dirty="0"/>
          </a:p>
        </p:txBody>
      </p:sp>
      <p:sp>
        <p:nvSpPr>
          <p:cNvPr id="23" name="Text 17"/>
          <p:cNvSpPr txBox="1"/>
          <p:nvPr/>
        </p:nvSpPr>
        <p:spPr>
          <a:xfrm>
            <a:off x="950976" y="3858768"/>
            <a:ext cx="472744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one generated day, illustrative</a:t>
            </a:r>
            <a:endParaRPr lang="en-US" sz="900" dirty="0"/>
          </a:p>
        </p:txBody>
      </p:sp>
      <p:sp>
        <p:nvSpPr>
          <p:cNvPr id="24" name="Shape 18"/>
          <p:cNvSpPr/>
          <p:nvPr/>
        </p:nvSpPr>
        <p:spPr>
          <a:xfrm>
            <a:off x="6199632"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19"/>
          <p:cNvSpPr/>
          <p:nvPr/>
        </p:nvSpPr>
        <p:spPr>
          <a:xfrm>
            <a:off x="6492240" y="1609344"/>
            <a:ext cx="384048" cy="384048"/>
          </a:xfrm>
          <a:prstGeom prst="ellipse">
            <a:avLst/>
          </a:prstGeom>
          <a:solidFill>
            <a:srgbClr val="2C5F2D"/>
          </a:solidFill>
          <a:ln/>
        </p:spPr>
      </p:sp>
      <p:sp>
        <p:nvSpPr>
          <p:cNvPr id="26" name="Text 20"/>
          <p:cNvSpPr txBox="1"/>
          <p:nvPr/>
        </p:nvSpPr>
        <p:spPr>
          <a:xfrm>
            <a:off x="6492240"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27" name="Text 21"/>
          <p:cNvSpPr txBox="1"/>
          <p:nvPr/>
        </p:nvSpPr>
        <p:spPr>
          <a:xfrm>
            <a:off x="7040880"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Co-location interaction</a:t>
            </a:r>
            <a:endParaRPr lang="en-US" sz="1500" dirty="0"/>
          </a:p>
        </p:txBody>
      </p:sp>
      <p:pic>
        <p:nvPicPr>
          <p:cNvPr id="28" name="Image 4" descr="/tmp/claude-0/-home-user-valentown/d6e1bc7b-94ca-5433-b61a-57600741710e/scratchpad/assets/loc_cafe.png">    </p:cNvPr>
          <p:cNvPicPr>
            <a:picLocks noChangeAspect="1"/>
          </p:cNvPicPr>
          <p:nvPr/>
        </p:nvPicPr>
        <p:blipFill>
          <a:blip r:embed="rId5"/>
          <a:stretch>
            <a:fillRect/>
          </a:stretch>
        </p:blipFill>
        <p:spPr>
          <a:xfrm>
            <a:off x="7964424" y="2053481"/>
            <a:ext cx="1828800" cy="1476103"/>
          </a:xfrm>
          <a:prstGeom prst="rect">
            <a:avLst/>
          </a:prstGeom>
        </p:spPr>
      </p:pic>
      <p:pic>
        <p:nvPicPr>
          <p:cNvPr id="29" name="Image 5" descr="/tmp/claude-0/-home-user-valentown/d6e1bc7b-94ca-5433-b61a-57600741710e/scratchpad/assets/ron.png">    </p:cNvPr>
          <p:cNvPicPr>
            <a:picLocks noChangeAspect="1"/>
          </p:cNvPicPr>
          <p:nvPr/>
        </p:nvPicPr>
        <p:blipFill>
          <a:blip r:embed="rId6"/>
          <a:stretch>
            <a:fillRect/>
          </a:stretch>
        </p:blipFill>
        <p:spPr>
          <a:xfrm>
            <a:off x="7205854" y="2450592"/>
            <a:ext cx="456437" cy="1078992"/>
          </a:xfrm>
          <a:prstGeom prst="rect">
            <a:avLst/>
          </a:prstGeom>
        </p:spPr>
      </p:pic>
      <p:pic>
        <p:nvPicPr>
          <p:cNvPr id="30" name="Image 6" descr="/tmp/claude-0/-home-user-valentown/d6e1bc7b-94ca-5433-b61a-57600741710e/scratchpad/assets/mia.png">    </p:cNvPr>
          <p:cNvPicPr>
            <a:picLocks noChangeAspect="1"/>
          </p:cNvPicPr>
          <p:nvPr/>
        </p:nvPicPr>
        <p:blipFill>
          <a:blip r:embed="rId7"/>
          <a:stretch>
            <a:fillRect/>
          </a:stretch>
        </p:blipFill>
        <p:spPr>
          <a:xfrm>
            <a:off x="10068375" y="2450592"/>
            <a:ext cx="528689" cy="1078992"/>
          </a:xfrm>
          <a:prstGeom prst="rect">
            <a:avLst/>
          </a:prstGeom>
        </p:spPr>
      </p:pic>
      <p:sp>
        <p:nvSpPr>
          <p:cNvPr id="31" name="Shape 22"/>
          <p:cNvSpPr/>
          <p:nvPr/>
        </p:nvSpPr>
        <p:spPr>
          <a:xfrm>
            <a:off x="6510528" y="3675888"/>
            <a:ext cx="4727448" cy="457200"/>
          </a:xfrm>
          <a:prstGeom prst="roundRect">
            <a:avLst>
              <a:gd name="adj" fmla="val 12000"/>
            </a:avLst>
          </a:prstGeom>
          <a:solidFill>
            <a:srgbClr val="EAF2E4"/>
          </a:solidFill>
          <a:ln w="12700">
            <a:solidFill>
              <a:srgbClr val="EAF2E4"/>
            </a:solidFill>
            <a:prstDash val="solid"/>
          </a:ln>
        </p:spPr>
      </p:sp>
      <p:sp>
        <p:nvSpPr>
          <p:cNvPr id="32" name="Text 23"/>
          <p:cNvSpPr txBox="1"/>
          <p:nvPr/>
        </p:nvSpPr>
        <p:spPr>
          <a:xfrm>
            <a:off x="6601968" y="3675888"/>
            <a:ext cx="4544568"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same place  +  same period   →   they talk</a:t>
            </a:r>
            <a:endParaRPr lang="en-US" sz="1200" dirty="0"/>
          </a:p>
        </p:txBody>
      </p:sp>
      <p:sp>
        <p:nvSpPr>
          <p:cNvPr id="33" name="Shape 24"/>
          <p:cNvSpPr/>
          <p:nvPr/>
        </p:nvSpPr>
        <p:spPr>
          <a:xfrm>
            <a:off x="640080" y="4754880"/>
            <a:ext cx="10911535" cy="1234440"/>
          </a:xfrm>
          <a:prstGeom prst="roundRect">
            <a:avLst>
              <a:gd name="adj" fmla="val 4444"/>
            </a:avLst>
          </a:prstGeom>
          <a:solidFill>
            <a:srgbClr val="1B2E23"/>
          </a:solidFill>
          <a:ln w="12700">
            <a:solidFill>
              <a:srgbClr val="1B2E23"/>
            </a:solidFill>
            <a:prstDash val="solid"/>
          </a:ln>
        </p:spPr>
      </p:sp>
      <p:sp>
        <p:nvSpPr>
          <p:cNvPr id="34" name="Text 25"/>
          <p:cNvSpPr txBox="1"/>
          <p:nvPr/>
        </p:nvSpPr>
        <p:spPr>
          <a:xfrm>
            <a:off x="640080" y="4882896"/>
            <a:ext cx="10911535" cy="402336"/>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Deterministic when  ·  generative what</a:t>
            </a:r>
            <a:endParaRPr lang="en-US" sz="2100" dirty="0"/>
          </a:p>
        </p:txBody>
      </p:sp>
      <p:sp>
        <p:nvSpPr>
          <p:cNvPr id="35" name="Text 26"/>
          <p:cNvSpPr txBox="1"/>
          <p:nvPr/>
        </p:nvSpPr>
        <p:spPr>
          <a:xfrm>
            <a:off x="640080" y="5358384"/>
            <a:ext cx="10911535" cy="274320"/>
          </a:xfrm>
          <a:prstGeom prst="rect">
            <a:avLst/>
          </a:prstGeom>
          <a:noFill/>
          <a:ln/>
        </p:spPr>
        <p:txBody>
          <a:bodyPr wrap="square" lIns="0" tIns="0" rIns="0" bIns="0" rtlCol="0" anchor="ctr"/>
          <a:lstStyle/>
          <a:p>
            <a:pPr algn="ctr" indent="0" marL="0">
              <a:buNone/>
            </a:pPr>
            <a:r>
              <a:rPr lang="en-US" sz="1250" dirty="0">
                <a:solidFill>
                  <a:srgbClr val="7FB069"/>
                </a:solidFill>
                <a:latin typeface="Calibri" pitchFamily="34" charset="0"/>
                <a:ea typeface="Calibri" pitchFamily="34" charset="-122"/>
                <a:cs typeface="Calibri" pitchFamily="34" charset="-120"/>
              </a:rPr>
              <a:t>the framework controls the dynamics — the model supplies the diversity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3</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is where the days connect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640080" y="1371600"/>
            <a:ext cx="5532120"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C98A24"/>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9" name="Text 7"/>
          <p:cNvSpPr txBox="1"/>
          <p:nvPr/>
        </p:nvSpPr>
        <p:spPr>
          <a:xfrm>
            <a:off x="1481328" y="1655064"/>
            <a:ext cx="443484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Memory-based feedback loop</a:t>
            </a:r>
            <a:endParaRPr lang="en-US" sz="1500" dirty="0"/>
          </a:p>
        </p:txBody>
      </p:sp>
      <p:sp>
        <p:nvSpPr>
          <p:cNvPr id="10" name="Text 8"/>
          <p:cNvSpPr txBox="1"/>
          <p:nvPr/>
        </p:nvSpPr>
        <p:spPr>
          <a:xfrm>
            <a:off x="950976" y="2148840"/>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WRITTEN IN</a:t>
            </a:r>
            <a:endParaRPr lang="en-US" sz="900" dirty="0"/>
          </a:p>
        </p:txBody>
      </p:sp>
      <p:sp>
        <p:nvSpPr>
          <p:cNvPr id="11" name="Shape 9"/>
          <p:cNvSpPr/>
          <p:nvPr/>
        </p:nvSpPr>
        <p:spPr>
          <a:xfrm>
            <a:off x="950976" y="2377440"/>
            <a:ext cx="1575816" cy="457200"/>
          </a:xfrm>
          <a:prstGeom prst="roundRect">
            <a:avLst>
              <a:gd name="adj" fmla="val 12000"/>
            </a:avLst>
          </a:prstGeom>
          <a:solidFill>
            <a:srgbClr val="FBF1DC"/>
          </a:solidFill>
          <a:ln w="12700">
            <a:solidFill>
              <a:srgbClr val="EFDFBE"/>
            </a:solidFill>
            <a:prstDash val="solid"/>
          </a:ln>
        </p:spPr>
      </p:sp>
      <p:sp>
        <p:nvSpPr>
          <p:cNvPr id="12" name="Text 10"/>
          <p:cNvSpPr txBox="1"/>
          <p:nvPr/>
        </p:nvSpPr>
        <p:spPr>
          <a:xfrm>
            <a:off x="1042416"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Plans</a:t>
            </a:r>
            <a:endParaRPr lang="en-US" sz="1100" dirty="0"/>
          </a:p>
        </p:txBody>
      </p:sp>
      <p:sp>
        <p:nvSpPr>
          <p:cNvPr id="13" name="Shape 11"/>
          <p:cNvSpPr/>
          <p:nvPr/>
        </p:nvSpPr>
        <p:spPr>
          <a:xfrm>
            <a:off x="2618232" y="2377440"/>
            <a:ext cx="1575816" cy="457200"/>
          </a:xfrm>
          <a:prstGeom prst="roundRect">
            <a:avLst>
              <a:gd name="adj" fmla="val 12000"/>
            </a:avLst>
          </a:prstGeom>
          <a:solidFill>
            <a:srgbClr val="FBF1DC"/>
          </a:solidFill>
          <a:ln w="12700">
            <a:solidFill>
              <a:srgbClr val="EFDFBE"/>
            </a:solidFill>
            <a:prstDash val="solid"/>
          </a:ln>
        </p:spPr>
      </p:sp>
      <p:sp>
        <p:nvSpPr>
          <p:cNvPr id="14" name="Text 12"/>
          <p:cNvSpPr txBox="1"/>
          <p:nvPr/>
        </p:nvSpPr>
        <p:spPr>
          <a:xfrm>
            <a:off x="2709672"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Conversations</a:t>
            </a:r>
            <a:endParaRPr lang="en-US" sz="1100" dirty="0"/>
          </a:p>
        </p:txBody>
      </p:sp>
      <p:sp>
        <p:nvSpPr>
          <p:cNvPr id="15" name="Shape 13"/>
          <p:cNvSpPr/>
          <p:nvPr/>
        </p:nvSpPr>
        <p:spPr>
          <a:xfrm>
            <a:off x="4285488" y="2377440"/>
            <a:ext cx="1575816" cy="457200"/>
          </a:xfrm>
          <a:prstGeom prst="roundRect">
            <a:avLst>
              <a:gd name="adj" fmla="val 12000"/>
            </a:avLst>
          </a:prstGeom>
          <a:solidFill>
            <a:srgbClr val="FBF1DC"/>
          </a:solidFill>
          <a:ln w="12700">
            <a:solidFill>
              <a:srgbClr val="EFDFBE"/>
            </a:solidFill>
            <a:prstDash val="solid"/>
          </a:ln>
        </p:spPr>
      </p:sp>
      <p:sp>
        <p:nvSpPr>
          <p:cNvPr id="16" name="Text 14"/>
          <p:cNvSpPr txBox="1"/>
          <p:nvPr/>
        </p:nvSpPr>
        <p:spPr>
          <a:xfrm>
            <a:off x="4376928"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Reflections</a:t>
            </a:r>
            <a:endParaRPr lang="en-US" sz="1100" dirty="0"/>
          </a:p>
        </p:txBody>
      </p:sp>
      <p:sp>
        <p:nvSpPr>
          <p:cNvPr id="17" name="Text 15"/>
          <p:cNvSpPr txBox="1"/>
          <p:nvPr/>
        </p:nvSpPr>
        <p:spPr>
          <a:xfrm>
            <a:off x="950976" y="3017520"/>
            <a:ext cx="4910328"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READ OUT</a:t>
            </a:r>
            <a:endParaRPr lang="en-US" sz="900" dirty="0"/>
          </a:p>
        </p:txBody>
      </p:sp>
      <p:sp>
        <p:nvSpPr>
          <p:cNvPr id="18" name="Shape 16"/>
          <p:cNvSpPr/>
          <p:nvPr/>
        </p:nvSpPr>
        <p:spPr>
          <a:xfrm>
            <a:off x="950976" y="3246120"/>
            <a:ext cx="1575816" cy="457200"/>
          </a:xfrm>
          <a:prstGeom prst="roundRect">
            <a:avLst>
              <a:gd name="adj" fmla="val 12000"/>
            </a:avLst>
          </a:prstGeom>
          <a:solidFill>
            <a:srgbClr val="EAF2E4"/>
          </a:solidFill>
          <a:ln w="12700">
            <a:solidFill>
              <a:srgbClr val="EAF2E4"/>
            </a:solidFill>
            <a:prstDash val="solid"/>
          </a:ln>
        </p:spPr>
      </p:sp>
      <p:sp>
        <p:nvSpPr>
          <p:cNvPr id="19" name="Text 17"/>
          <p:cNvSpPr txBox="1"/>
          <p:nvPr/>
        </p:nvSpPr>
        <p:spPr>
          <a:xfrm>
            <a:off x="1042416"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Planning</a:t>
            </a:r>
            <a:endParaRPr lang="en-US" sz="1100" dirty="0"/>
          </a:p>
        </p:txBody>
      </p:sp>
      <p:sp>
        <p:nvSpPr>
          <p:cNvPr id="20" name="Shape 18"/>
          <p:cNvSpPr/>
          <p:nvPr/>
        </p:nvSpPr>
        <p:spPr>
          <a:xfrm>
            <a:off x="2618232" y="3246120"/>
            <a:ext cx="1575816"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709672"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Dialogue</a:t>
            </a:r>
            <a:endParaRPr lang="en-US" sz="1100" dirty="0"/>
          </a:p>
        </p:txBody>
      </p:sp>
      <p:sp>
        <p:nvSpPr>
          <p:cNvPr id="22" name="Shape 20"/>
          <p:cNvSpPr/>
          <p:nvPr/>
        </p:nvSpPr>
        <p:spPr>
          <a:xfrm>
            <a:off x="4285488" y="3246120"/>
            <a:ext cx="1575816" cy="457200"/>
          </a:xfrm>
          <a:prstGeom prst="roundRect">
            <a:avLst>
              <a:gd name="adj" fmla="val 12000"/>
            </a:avLst>
          </a:prstGeom>
          <a:solidFill>
            <a:srgbClr val="EAF2E4"/>
          </a:solidFill>
          <a:ln w="12700">
            <a:solidFill>
              <a:srgbClr val="EAF2E4"/>
            </a:solidFill>
            <a:prstDash val="solid"/>
          </a:ln>
        </p:spPr>
      </p:sp>
      <p:sp>
        <p:nvSpPr>
          <p:cNvPr id="23" name="Text 21"/>
          <p:cNvSpPr txBox="1"/>
          <p:nvPr/>
        </p:nvSpPr>
        <p:spPr>
          <a:xfrm>
            <a:off x="4376928"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a:t>
            </a:r>
            <a:endParaRPr lang="en-US" sz="1100" dirty="0"/>
          </a:p>
        </p:txBody>
      </p:sp>
      <p:sp>
        <p:nvSpPr>
          <p:cNvPr id="24" name="Text 22"/>
          <p:cNvSpPr txBox="1"/>
          <p:nvPr/>
        </p:nvSpPr>
        <p:spPr>
          <a:xfrm>
            <a:off x="950976" y="391363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Every entry: category · timestamp · importance score</a:t>
            </a:r>
            <a:endParaRPr lang="en-US" sz="1200" dirty="0"/>
          </a:p>
        </p:txBody>
      </p:sp>
      <p:sp>
        <p:nvSpPr>
          <p:cNvPr id="25" name="Text 23"/>
          <p:cNvSpPr txBox="1"/>
          <p:nvPr/>
        </p:nvSpPr>
        <p:spPr>
          <a:xfrm>
            <a:off x="950976" y="418795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Retrieval: recent + important · the store stays bounded</a:t>
            </a:r>
            <a:endParaRPr lang="en-US" sz="1200" dirty="0"/>
          </a:p>
        </p:txBody>
      </p:sp>
      <p:sp>
        <p:nvSpPr>
          <p:cNvPr id="26" name="Shape 24"/>
          <p:cNvSpPr/>
          <p:nvPr/>
        </p:nvSpPr>
        <p:spPr>
          <a:xfrm>
            <a:off x="640080" y="4864608"/>
            <a:ext cx="5532120" cy="1115568"/>
          </a:xfrm>
          <a:prstGeom prst="roundRect">
            <a:avLst>
              <a:gd name="adj" fmla="val 4918"/>
            </a:avLst>
          </a:prstGeom>
          <a:solidFill>
            <a:srgbClr val="FBF1DC"/>
          </a:solidFill>
          <a:ln w="12700">
            <a:solidFill>
              <a:srgbClr val="EFDFBE"/>
            </a:solidFill>
            <a:prstDash val="solid"/>
          </a:ln>
        </p:spPr>
      </p:sp>
      <p:sp>
        <p:nvSpPr>
          <p:cNvPr id="27" name="Text 25"/>
          <p:cNvSpPr txBox="1"/>
          <p:nvPr/>
        </p:nvSpPr>
        <p:spPr>
          <a:xfrm>
            <a:off x="950976" y="5010912"/>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OPTIONAL: HUMAN IN THE LOOP</a:t>
            </a:r>
            <a:endParaRPr lang="en-US" sz="900" dirty="0"/>
          </a:p>
        </p:txBody>
      </p:sp>
      <p:sp>
        <p:nvSpPr>
          <p:cNvPr id="28" name="Text 26"/>
          <p:cNvSpPr txBox="1"/>
          <p:nvPr/>
        </p:nvSpPr>
        <p:spPr>
          <a:xfrm>
            <a:off x="950976" y="5266944"/>
            <a:ext cx="4910328" cy="548640"/>
          </a:xfrm>
          <a:prstGeom prst="rect">
            <a:avLst/>
          </a:prstGeom>
          <a:noFill/>
          <a:ln/>
        </p:spPr>
        <p:txBody>
          <a:bodyPr wrap="square" lIns="0" tIns="0" rIns="0" bIns="0" rtlCol="0" anchor="t"/>
          <a:lstStyle/>
          <a:p>
            <a:pPr indent="0" marL="0">
              <a:lnSpc>
                <a:spcPts val="1600"/>
              </a:lnSpc>
              <a:buNone/>
            </a:pPr>
            <a:r>
              <a:rPr lang="en-US" sz="1250" dirty="0">
                <a:solidFill>
                  <a:srgbClr val="1B2E23"/>
                </a:solidFill>
                <a:latin typeface="Calibri" pitchFamily="34" charset="0"/>
                <a:ea typeface="Calibri" pitchFamily="34" charset="-122"/>
                <a:cs typeface="Calibri" pitchFamily="34" charset="-120"/>
              </a:rPr>
              <a:t>Feedback written into the same memory channel</a:t>
            </a:r>
            <a:endParaRPr lang="en-US" sz="1250" dirty="0"/>
          </a:p>
        </p:txBody>
      </p:sp>
      <p:sp>
        <p:nvSpPr>
          <p:cNvPr id="29" name="Shape 27"/>
          <p:cNvSpPr/>
          <p:nvPr/>
        </p:nvSpPr>
        <p:spPr>
          <a:xfrm>
            <a:off x="6537960" y="1371600"/>
            <a:ext cx="5013655"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30" name="Image 0" descr="/tmp/claude-0/-home-user-valentown/d6e1bc7b-94ca-5433-b61a-57600741710e/scratchpad/assets/fig3_memory.png">    </p:cNvPr>
          <p:cNvPicPr>
            <a:picLocks noChangeAspect="1"/>
          </p:cNvPicPr>
          <p:nvPr/>
        </p:nvPicPr>
        <p:blipFill>
          <a:blip r:embed="rId1"/>
          <a:stretch>
            <a:fillRect/>
          </a:stretch>
        </p:blipFill>
        <p:spPr>
          <a:xfrm>
            <a:off x="6647688" y="1644153"/>
            <a:ext cx="4794199" cy="2563854"/>
          </a:xfrm>
          <a:prstGeom prst="rect">
            <a:avLst/>
          </a:prstGeom>
        </p:spPr>
      </p:pic>
      <p:sp>
        <p:nvSpPr>
          <p:cNvPr id="31" name="Text 28"/>
          <p:cNvSpPr txBox="1"/>
          <p:nvPr/>
        </p:nvSpPr>
        <p:spPr>
          <a:xfrm>
            <a:off x="6537960" y="4297680"/>
            <a:ext cx="5013655"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3  Memory-centred feedback loop</a:t>
            </a:r>
            <a:endParaRPr lang="en-US" sz="1000" dirty="0"/>
          </a:p>
        </p:txBody>
      </p:sp>
      <p:sp>
        <p:nvSpPr>
          <p:cNvPr id="32" name="Shape 29"/>
          <p:cNvSpPr/>
          <p:nvPr/>
        </p:nvSpPr>
        <p:spPr>
          <a:xfrm>
            <a:off x="6537960" y="4864608"/>
            <a:ext cx="5013655" cy="1115568"/>
          </a:xfrm>
          <a:prstGeom prst="roundRect">
            <a:avLst>
              <a:gd name="adj" fmla="val 4918"/>
            </a:avLst>
          </a:prstGeom>
          <a:solidFill>
            <a:srgbClr val="EAF2E4"/>
          </a:solidFill>
          <a:ln w="12700">
            <a:solidFill>
              <a:srgbClr val="EAF2E4"/>
            </a:solidFill>
            <a:prstDash val="solid"/>
          </a:ln>
        </p:spPr>
      </p:sp>
      <p:sp>
        <p:nvSpPr>
          <p:cNvPr id="33" name="Text 30"/>
          <p:cNvSpPr txBox="1"/>
          <p:nvPr/>
        </p:nvSpPr>
        <p:spPr>
          <a:xfrm>
            <a:off x="6812280" y="4864608"/>
            <a:ext cx="4465015" cy="1115568"/>
          </a:xfrm>
          <a:prstGeom prst="rect">
            <a:avLst/>
          </a:prstGeom>
          <a:noFill/>
          <a:ln/>
        </p:spPr>
        <p:txBody>
          <a:bodyPr wrap="square" lIns="0" tIns="0" rIns="0" bIns="0" rtlCol="0" anchor="ctr"/>
          <a:lstStyle/>
          <a:p>
            <a:pPr algn="ctr" indent="0" marL="0">
              <a:lnSpc>
                <a:spcPts val="2000"/>
              </a:lnSpc>
              <a:buNone/>
            </a:pPr>
            <a:r>
              <a:rPr lang="en-US" sz="1450" b="1" dirty="0">
                <a:solidFill>
                  <a:srgbClr val="1B2E23"/>
                </a:solidFill>
                <a:latin typeface="Cambria" pitchFamily="34" charset="0"/>
                <a:ea typeface="Cambria" pitchFamily="34" charset="-122"/>
                <a:cs typeface="Cambria" pitchFamily="34" charset="-120"/>
              </a:rPr>
              <a:t>The LLM stays stateless — all continuity lives in memory</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EXECUTION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simulation day, end to end</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1619860" y="1207008"/>
            <a:ext cx="8951976" cy="4370792"/>
          </a:xfrm>
          <a:prstGeom prst="roundRect">
            <a:avLst>
              <a:gd name="adj" fmla="val 125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2_pipeline.png">    </p:cNvPr>
          <p:cNvPicPr>
            <a:picLocks noChangeAspect="1"/>
          </p:cNvPicPr>
          <p:nvPr/>
        </p:nvPicPr>
        <p:blipFill>
          <a:blip r:embed="rId1"/>
          <a:stretch>
            <a:fillRect/>
          </a:stretch>
        </p:blipFill>
        <p:spPr>
          <a:xfrm>
            <a:off x="1757020" y="1298448"/>
            <a:ext cx="8677656" cy="4187912"/>
          </a:xfrm>
          <a:prstGeom prst="rect">
            <a:avLst/>
          </a:prstGeom>
        </p:spPr>
      </p:pic>
      <p:sp>
        <p:nvSpPr>
          <p:cNvPr id="8" name="Shape 5"/>
          <p:cNvSpPr/>
          <p:nvPr/>
        </p:nvSpPr>
        <p:spPr>
          <a:xfrm>
            <a:off x="640080" y="5760720"/>
            <a:ext cx="10911535" cy="512064"/>
          </a:xfrm>
          <a:prstGeom prst="roundRect">
            <a:avLst>
              <a:gd name="adj" fmla="val 10714"/>
            </a:avLst>
          </a:prstGeom>
          <a:solidFill>
            <a:srgbClr val="FBF1DC"/>
          </a:solidFill>
          <a:ln w="12700">
            <a:solidFill>
              <a:srgbClr val="EFDFBE"/>
            </a:solidFill>
            <a:prstDash val="solid"/>
          </a:ln>
        </p:spPr>
      </p:sp>
      <p:sp>
        <p:nvSpPr>
          <p:cNvPr id="9" name="Text 6"/>
          <p:cNvSpPr txBox="1"/>
          <p:nvPr/>
        </p:nvSpPr>
        <p:spPr>
          <a:xfrm>
            <a:off x="640080" y="5760720"/>
            <a:ext cx="10911535" cy="512064"/>
          </a:xfrm>
          <a:prstGeom prst="rect">
            <a:avLst/>
          </a:prstGeom>
          <a:noFill/>
          <a:ln/>
        </p:spPr>
        <p:txBody>
          <a:bodyPr wrap="square" lIns="0" tIns="0" rIns="0" bIns="0" rtlCol="0" anchor="ctr"/>
          <a:lstStyle/>
          <a:p>
            <a:pPr algn="ctr" indent="0" marL="0">
              <a:buNone/>
            </a:pPr>
            <a:r>
              <a:rPr lang="en-US" sz="1250" dirty="0">
                <a:solidFill>
                  <a:srgbClr val="1B2E23"/>
                </a:solidFill>
                <a:latin typeface="Calibri" pitchFamily="34" charset="0"/>
                <a:ea typeface="Calibri" pitchFamily="34" charset="-122"/>
                <a:cs typeface="Calibri" pitchFamily="34" charset="-120"/>
              </a:rPr>
              <a:t>Fig. 2  ·  Day 1 plans from the profile — every later day reflects first, then plans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274320"/>
            <a:ext cx="1463040" cy="310896"/>
          </a:xfrm>
          <a:prstGeom prst="rect">
            <a:avLst/>
          </a:prstGeom>
          <a:noFill/>
          <a:ln/>
        </p:spPr>
        <p:txBody>
          <a:bodyPr wrap="square" lIns="0" tIns="0" rIns="0" bIns="0" rtlCol="0" anchor="ctr"/>
          <a:lstStyle/>
          <a:p>
            <a:pPr indent="0" marL="0">
              <a:buNone/>
            </a:pPr>
            <a:r>
              <a:rPr lang="en-US" sz="1100" b="1" spc="160" kern="0" dirty="0">
                <a:solidFill>
                  <a:srgbClr val="7FB069"/>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1920240" y="274320"/>
            <a:ext cx="5943600" cy="310896"/>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Valentown, running</a:t>
            </a:r>
            <a:endParaRPr lang="en-US" sz="1700" dirty="0"/>
          </a:p>
        </p:txBody>
      </p:sp>
      <p:sp>
        <p:nvSpPr>
          <p:cNvPr id="4" name="Text 2"/>
          <p:cNvSpPr txBox="1"/>
          <p:nvPr/>
        </p:nvSpPr>
        <p:spPr>
          <a:xfrm>
            <a:off x="7894015" y="274320"/>
            <a:ext cx="3657600" cy="310896"/>
          </a:xfrm>
          <a:prstGeom prst="rect">
            <a:avLst/>
          </a:prstGeom>
          <a:noFill/>
          <a:ln/>
        </p:spPr>
        <p:txBody>
          <a:bodyPr wrap="square" lIns="0" tIns="0" rIns="0" bIns="0" rtlCol="0" anchor="ctr"/>
          <a:lstStyle/>
          <a:p>
            <a:pPr algn="r" indent="0" marL="0">
              <a:buNone/>
            </a:pPr>
            <a:r>
              <a:rPr lang="en-US" sz="1000" dirty="0">
                <a:solidFill>
                  <a:srgbClr val="7C8F7C"/>
                </a:solidFill>
                <a:latin typeface="Calibri" pitchFamily="34" charset="0"/>
                <a:ea typeface="Calibri" pitchFamily="34" charset="-122"/>
                <a:cs typeface="Calibri" pitchFamily="34" charset="-120"/>
              </a:rPr>
              <a:t>Paper 108  ·  Valentown</a:t>
            </a:r>
            <a:endParaRPr lang="en-US" sz="1000" dirty="0"/>
          </a:p>
        </p:txBody>
      </p:sp>
      <p:sp>
        <p:nvSpPr>
          <p:cNvPr id="5" name="Shape 3"/>
          <p:cNvSpPr/>
          <p:nvPr/>
        </p:nvSpPr>
        <p:spPr>
          <a:xfrm>
            <a:off x="1249528" y="804672"/>
            <a:ext cx="9692640" cy="5452110"/>
          </a:xfrm>
          <a:prstGeom prst="roundRect">
            <a:avLst>
              <a:gd name="adj" fmla="val 1006"/>
            </a:avLst>
          </a:prstGeom>
          <a:solidFill>
            <a:srgbClr val="24402F"/>
          </a:solidFill>
          <a:ln w="12700">
            <a:solidFill>
              <a:srgbClr val="2F4E3A"/>
            </a:solidFill>
            <a:prstDash val="solid"/>
          </a:ln>
        </p:spPr>
      </p:sp>
      <p:pic>
        <p:nvPicPr>
          <p:cNvPr id="6" name="Image 0" descr="/tmp/claude-0/-home-user-valentown/d6e1bc7b-94ca-5433-b61a-57600741710e/scratchpad/assets/screenshot.jpg">    </p:cNvPr>
          <p:cNvPicPr>
            <a:picLocks noChangeAspect="1"/>
          </p:cNvPicPr>
          <p:nvPr/>
        </p:nvPicPr>
        <p:blipFill>
          <a:blip r:embed="rId1"/>
          <a:stretch>
            <a:fillRect/>
          </a:stretch>
        </p:blipFill>
        <p:spPr>
          <a:xfrm>
            <a:off x="1313536" y="868680"/>
            <a:ext cx="9564624" cy="5324094"/>
          </a:xfrm>
          <a:prstGeom prst="rect">
            <a:avLst/>
          </a:prstGeom>
        </p:spPr>
      </p:pic>
      <p:sp>
        <p:nvSpPr>
          <p:cNvPr id="7" name="Text 4"/>
          <p:cNvSpPr txBox="1"/>
          <p:nvPr/>
        </p:nvSpPr>
        <p:spPr>
          <a:xfrm>
            <a:off x="640080" y="6366510"/>
            <a:ext cx="10911535" cy="292608"/>
          </a:xfrm>
          <a:prstGeom prst="rect">
            <a:avLst/>
          </a:prstGeom>
          <a:noFill/>
          <a:ln/>
        </p:spPr>
        <p:txBody>
          <a:bodyPr wrap="square" lIns="0" tIns="0" rIns="0" bIns="0" rtlCol="0" anchor="ctr"/>
          <a:lstStyle/>
          <a:p>
            <a:pPr algn="ctr" indent="0" marL="0">
              <a:buNone/>
            </a:pPr>
            <a:r>
              <a:rPr lang="en-US" sz="1250" dirty="0">
                <a:solidFill>
                  <a:srgbClr val="EAF2E4"/>
                </a:solidFill>
                <a:latin typeface="Calibri" pitchFamily="34" charset="0"/>
                <a:ea typeface="Calibri" pitchFamily="34" charset="-122"/>
                <a:cs typeface="Calibri" pitchFamily="34" charset="-120"/>
              </a:rPr>
              <a:t>a day planned overnight</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two residents meeting at the same place</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reflection reshaping tomorrow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EXPERIMENTS</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we ran, and what we looked for</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640080" y="1371600"/>
            <a:ext cx="10911535" cy="1975104"/>
          </a:xfrm>
          <a:prstGeom prst="roundRect">
            <a:avLst>
              <a:gd name="adj" fmla="val 277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ron.png">    </p:cNvPr>
          <p:cNvPicPr>
            <a:picLocks noChangeAspect="1"/>
          </p:cNvPicPr>
          <p:nvPr/>
        </p:nvPicPr>
        <p:blipFill>
          <a:blip r:embed="rId1"/>
          <a:stretch>
            <a:fillRect/>
          </a:stretch>
        </p:blipFill>
        <p:spPr>
          <a:xfrm>
            <a:off x="1470872" y="1810512"/>
            <a:ext cx="367470" cy="868680"/>
          </a:xfrm>
          <a:prstGeom prst="rect">
            <a:avLst/>
          </a:prstGeom>
        </p:spPr>
      </p:pic>
      <p:sp>
        <p:nvSpPr>
          <p:cNvPr id="8" name="Text 5"/>
          <p:cNvSpPr txBox="1"/>
          <p:nvPr/>
        </p:nvSpPr>
        <p:spPr>
          <a:xfrm>
            <a:off x="914400"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Ron Parker</a:t>
            </a:r>
            <a:endParaRPr lang="en-US" sz="1050" dirty="0"/>
          </a:p>
        </p:txBody>
      </p:sp>
      <p:sp>
        <p:nvSpPr>
          <p:cNvPr id="9" name="Text 6"/>
          <p:cNvSpPr txBox="1"/>
          <p:nvPr/>
        </p:nvSpPr>
        <p:spPr>
          <a:xfrm>
            <a:off x="914400"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60 · supermarket owner</a:t>
            </a:r>
            <a:endParaRPr lang="en-US" sz="900" dirty="0"/>
          </a:p>
        </p:txBody>
      </p:sp>
      <p:pic>
        <p:nvPicPr>
          <p:cNvPr id="10" name="Image 1" descr="/tmp/claude-0/-home-user-valentown/d6e1bc7b-94ca-5433-b61a-57600741710e/scratchpad/assets/ella.png">    </p:cNvPr>
          <p:cNvPicPr>
            <a:picLocks noChangeAspect="1"/>
          </p:cNvPicPr>
          <p:nvPr/>
        </p:nvPicPr>
        <p:blipFill>
          <a:blip r:embed="rId2"/>
          <a:stretch>
            <a:fillRect/>
          </a:stretch>
        </p:blipFill>
        <p:spPr>
          <a:xfrm>
            <a:off x="2909681" y="1810512"/>
            <a:ext cx="450679" cy="868680"/>
          </a:xfrm>
          <a:prstGeom prst="rect">
            <a:avLst/>
          </a:prstGeom>
        </p:spPr>
      </p:pic>
      <p:sp>
        <p:nvSpPr>
          <p:cNvPr id="11" name="Text 7"/>
          <p:cNvSpPr txBox="1"/>
          <p:nvPr/>
        </p:nvSpPr>
        <p:spPr>
          <a:xfrm>
            <a:off x="239481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Ella Parker</a:t>
            </a:r>
            <a:endParaRPr lang="en-US" sz="1050" dirty="0"/>
          </a:p>
        </p:txBody>
      </p:sp>
      <p:sp>
        <p:nvSpPr>
          <p:cNvPr id="12" name="Text 8"/>
          <p:cNvSpPr txBox="1"/>
          <p:nvPr/>
        </p:nvSpPr>
        <p:spPr>
          <a:xfrm>
            <a:off x="239481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58 · pharmacy owner</a:t>
            </a:r>
            <a:endParaRPr lang="en-US" sz="900" dirty="0"/>
          </a:p>
        </p:txBody>
      </p:sp>
      <p:pic>
        <p:nvPicPr>
          <p:cNvPr id="13" name="Image 2" descr="/tmp/claude-0/-home-user-valentown/d6e1bc7b-94ca-5433-b61a-57600741710e/scratchpad/assets/emma.png">    </p:cNvPr>
          <p:cNvPicPr>
            <a:picLocks noChangeAspect="1"/>
          </p:cNvPicPr>
          <p:nvPr/>
        </p:nvPicPr>
        <p:blipFill>
          <a:blip r:embed="rId3"/>
          <a:stretch>
            <a:fillRect/>
          </a:stretch>
        </p:blipFill>
        <p:spPr>
          <a:xfrm>
            <a:off x="4390710" y="1810512"/>
            <a:ext cx="449447" cy="868680"/>
          </a:xfrm>
          <a:prstGeom prst="rect">
            <a:avLst/>
          </a:prstGeom>
        </p:spPr>
      </p:pic>
      <p:sp>
        <p:nvSpPr>
          <p:cNvPr id="14" name="Text 9"/>
          <p:cNvSpPr txBox="1"/>
          <p:nvPr/>
        </p:nvSpPr>
        <p:spPr>
          <a:xfrm>
            <a:off x="3875227"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Emma Harris</a:t>
            </a:r>
            <a:endParaRPr lang="en-US" sz="1050" dirty="0"/>
          </a:p>
        </p:txBody>
      </p:sp>
      <p:sp>
        <p:nvSpPr>
          <p:cNvPr id="15" name="Text 10"/>
          <p:cNvSpPr txBox="1"/>
          <p:nvPr/>
        </p:nvSpPr>
        <p:spPr>
          <a:xfrm>
            <a:off x="3875227"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30 · mother</a:t>
            </a:r>
            <a:endParaRPr lang="en-US" sz="900" dirty="0"/>
          </a:p>
        </p:txBody>
      </p:sp>
      <p:pic>
        <p:nvPicPr>
          <p:cNvPr id="16" name="Image 3" descr="/tmp/claude-0/-home-user-valentown/d6e1bc7b-94ca-5433-b61a-57600741710e/scratchpad/assets/gavin.png">    </p:cNvPr>
          <p:cNvPicPr>
            <a:picLocks noChangeAspect="1"/>
          </p:cNvPicPr>
          <p:nvPr/>
        </p:nvPicPr>
        <p:blipFill>
          <a:blip r:embed="rId4"/>
          <a:stretch>
            <a:fillRect/>
          </a:stretch>
        </p:blipFill>
        <p:spPr>
          <a:xfrm>
            <a:off x="5898590" y="1810512"/>
            <a:ext cx="394515" cy="868680"/>
          </a:xfrm>
          <a:prstGeom prst="rect">
            <a:avLst/>
          </a:prstGeom>
        </p:spPr>
      </p:pic>
      <p:sp>
        <p:nvSpPr>
          <p:cNvPr id="17" name="Text 11"/>
          <p:cNvSpPr txBox="1"/>
          <p:nvPr/>
        </p:nvSpPr>
        <p:spPr>
          <a:xfrm>
            <a:off x="5355641"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Gavin Harris</a:t>
            </a:r>
            <a:endParaRPr lang="en-US" sz="1050" dirty="0"/>
          </a:p>
        </p:txBody>
      </p:sp>
      <p:sp>
        <p:nvSpPr>
          <p:cNvPr id="18" name="Text 12"/>
          <p:cNvSpPr txBox="1"/>
          <p:nvPr/>
        </p:nvSpPr>
        <p:spPr>
          <a:xfrm>
            <a:off x="5355641"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32 · father</a:t>
            </a:r>
            <a:endParaRPr lang="en-US" sz="900" dirty="0"/>
          </a:p>
        </p:txBody>
      </p:sp>
      <p:pic>
        <p:nvPicPr>
          <p:cNvPr id="19" name="Image 4" descr="/tmp/claude-0/-home-user-valentown/d6e1bc7b-94ca-5433-b61a-57600741710e/scratchpad/assets/adam.png">    </p:cNvPr>
          <p:cNvPicPr>
            <a:picLocks noChangeAspect="1"/>
          </p:cNvPicPr>
          <p:nvPr/>
        </p:nvPicPr>
        <p:blipFill>
          <a:blip r:embed="rId5"/>
          <a:stretch>
            <a:fillRect/>
          </a:stretch>
        </p:blipFill>
        <p:spPr>
          <a:xfrm>
            <a:off x="7369367" y="1810512"/>
            <a:ext cx="413788" cy="868680"/>
          </a:xfrm>
          <a:prstGeom prst="rect">
            <a:avLst/>
          </a:prstGeom>
        </p:spPr>
      </p:pic>
      <p:sp>
        <p:nvSpPr>
          <p:cNvPr id="20" name="Text 13"/>
          <p:cNvSpPr txBox="1"/>
          <p:nvPr/>
        </p:nvSpPr>
        <p:spPr>
          <a:xfrm>
            <a:off x="683605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Adam Harris</a:t>
            </a:r>
            <a:endParaRPr lang="en-US" sz="1050" dirty="0"/>
          </a:p>
        </p:txBody>
      </p:sp>
      <p:sp>
        <p:nvSpPr>
          <p:cNvPr id="21" name="Text 14"/>
          <p:cNvSpPr txBox="1"/>
          <p:nvPr/>
        </p:nvSpPr>
        <p:spPr>
          <a:xfrm>
            <a:off x="683605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7 · child</a:t>
            </a:r>
            <a:endParaRPr lang="en-US" sz="900" dirty="0"/>
          </a:p>
        </p:txBody>
      </p:sp>
      <p:pic>
        <p:nvPicPr>
          <p:cNvPr id="22" name="Image 5" descr="/tmp/claude-0/-home-user-valentown/d6e1bc7b-94ca-5433-b61a-57600741710e/scratchpad/assets/mia.png">    </p:cNvPr>
          <p:cNvPicPr>
            <a:picLocks noChangeAspect="1"/>
          </p:cNvPicPr>
          <p:nvPr/>
        </p:nvPicPr>
        <p:blipFill>
          <a:blip r:embed="rId6"/>
          <a:stretch>
            <a:fillRect/>
          </a:stretch>
        </p:blipFill>
        <p:spPr>
          <a:xfrm>
            <a:off x="8843855" y="1810512"/>
            <a:ext cx="425640" cy="868680"/>
          </a:xfrm>
          <a:prstGeom prst="rect">
            <a:avLst/>
          </a:prstGeom>
        </p:spPr>
      </p:pic>
      <p:sp>
        <p:nvSpPr>
          <p:cNvPr id="23" name="Text 15"/>
          <p:cNvSpPr txBox="1"/>
          <p:nvPr/>
        </p:nvSpPr>
        <p:spPr>
          <a:xfrm>
            <a:off x="8316468"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Mia Thompson</a:t>
            </a:r>
            <a:endParaRPr lang="en-US" sz="1050" dirty="0"/>
          </a:p>
        </p:txBody>
      </p:sp>
      <p:sp>
        <p:nvSpPr>
          <p:cNvPr id="24" name="Text 16"/>
          <p:cNvSpPr txBox="1"/>
          <p:nvPr/>
        </p:nvSpPr>
        <p:spPr>
          <a:xfrm>
            <a:off x="8316468"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28 · family teacher</a:t>
            </a:r>
            <a:endParaRPr lang="en-US" sz="900" dirty="0"/>
          </a:p>
        </p:txBody>
      </p:sp>
      <p:pic>
        <p:nvPicPr>
          <p:cNvPr id="25" name="Image 6" descr="/tmp/claude-0/-home-user-valentown/d6e1bc7b-94ca-5433-b61a-57600741710e/scratchpad/assets/arthur.png">    </p:cNvPr>
          <p:cNvPicPr>
            <a:picLocks noChangeAspect="1"/>
          </p:cNvPicPr>
          <p:nvPr/>
        </p:nvPicPr>
        <p:blipFill>
          <a:blip r:embed="rId7"/>
          <a:stretch>
            <a:fillRect/>
          </a:stretch>
        </p:blipFill>
        <p:spPr>
          <a:xfrm>
            <a:off x="10308876" y="1810512"/>
            <a:ext cx="456425" cy="868680"/>
          </a:xfrm>
          <a:prstGeom prst="rect">
            <a:avLst/>
          </a:prstGeom>
        </p:spPr>
      </p:pic>
      <p:sp>
        <p:nvSpPr>
          <p:cNvPr id="26" name="Text 17"/>
          <p:cNvSpPr txBox="1"/>
          <p:nvPr/>
        </p:nvSpPr>
        <p:spPr>
          <a:xfrm>
            <a:off x="9796882"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Arthur Morgan</a:t>
            </a:r>
            <a:endParaRPr lang="en-US" sz="1050" dirty="0"/>
          </a:p>
        </p:txBody>
      </p:sp>
      <p:sp>
        <p:nvSpPr>
          <p:cNvPr id="27" name="Text 18"/>
          <p:cNvSpPr txBox="1"/>
          <p:nvPr/>
        </p:nvSpPr>
        <p:spPr>
          <a:xfrm>
            <a:off x="9796882"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29 · architect</a:t>
            </a:r>
            <a:endParaRPr lang="en-US" sz="900" dirty="0"/>
          </a:p>
        </p:txBody>
      </p:sp>
      <p:sp>
        <p:nvSpPr>
          <p:cNvPr id="28" name="Shape 19"/>
          <p:cNvSpPr/>
          <p:nvPr/>
        </p:nvSpPr>
        <p:spPr>
          <a:xfrm>
            <a:off x="64008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9" name="Text 20"/>
          <p:cNvSpPr txBox="1"/>
          <p:nvPr/>
        </p:nvSpPr>
        <p:spPr>
          <a:xfrm>
            <a:off x="91440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Environment</a:t>
            </a:r>
            <a:endParaRPr lang="en-US" sz="1400" dirty="0"/>
          </a:p>
        </p:txBody>
      </p:sp>
      <p:sp>
        <p:nvSpPr>
          <p:cNvPr id="30" name="Text 21"/>
          <p:cNvSpPr txBox="1"/>
          <p:nvPr/>
        </p:nvSpPr>
        <p:spPr>
          <a:xfrm>
            <a:off x="91440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predefined locations;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co-location enables interaction</a:t>
            </a:r>
            <a:endParaRPr lang="en-US" sz="1150" dirty="0"/>
          </a:p>
        </p:txBody>
      </p:sp>
      <p:sp>
        <p:nvSpPr>
          <p:cNvPr id="31" name="Shape 22"/>
          <p:cNvSpPr/>
          <p:nvPr/>
        </p:nvSpPr>
        <p:spPr>
          <a:xfrm>
            <a:off x="434340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Text 23"/>
          <p:cNvSpPr txBox="1"/>
          <p:nvPr/>
        </p:nvSpPr>
        <p:spPr>
          <a:xfrm>
            <a:off x="4617720" y="3712464"/>
            <a:ext cx="2953512" cy="292608"/>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Duration</a:t>
            </a:r>
            <a:endParaRPr lang="en-US" sz="1400" dirty="0"/>
          </a:p>
        </p:txBody>
      </p:sp>
      <p:sp>
        <p:nvSpPr>
          <p:cNvPr id="33" name="Text 24"/>
          <p:cNvSpPr txBox="1"/>
          <p:nvPr/>
        </p:nvSpPr>
        <p:spPr>
          <a:xfrm>
            <a:off x="461772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multiple consecutive days,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a full cycle each day</a:t>
            </a:r>
            <a:endParaRPr lang="en-US" sz="1150" dirty="0"/>
          </a:p>
        </p:txBody>
      </p:sp>
      <p:sp>
        <p:nvSpPr>
          <p:cNvPr id="34" name="Shape 25"/>
          <p:cNvSpPr/>
          <p:nvPr/>
        </p:nvSpPr>
        <p:spPr>
          <a:xfrm>
            <a:off x="804672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Text 26"/>
          <p:cNvSpPr txBox="1"/>
          <p:nvPr/>
        </p:nvSpPr>
        <p:spPr>
          <a:xfrm>
            <a:off x="832104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Execution</a:t>
            </a:r>
            <a:endParaRPr lang="en-US" sz="1400" dirty="0"/>
          </a:p>
        </p:txBody>
      </p:sp>
      <p:sp>
        <p:nvSpPr>
          <p:cNvPr id="36" name="Text 27"/>
          <p:cNvSpPr txBox="1"/>
          <p:nvPr/>
        </p:nvSpPr>
        <p:spPr>
          <a:xfrm>
            <a:off x="832104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deterministic triggers,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stochastic content</a:t>
            </a:r>
            <a:endParaRPr lang="en-US" sz="1150" dirty="0"/>
          </a:p>
        </p:txBody>
      </p:sp>
      <p:sp>
        <p:nvSpPr>
          <p:cNvPr id="37" name="Text 28"/>
          <p:cNvSpPr txBox="1"/>
          <p:nvPr/>
        </p:nvSpPr>
        <p:spPr>
          <a:xfrm>
            <a:off x="658368" y="5175504"/>
            <a:ext cx="10911535"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WE LOOK AT</a:t>
            </a:r>
            <a:endParaRPr lang="en-US" sz="900" dirty="0"/>
          </a:p>
        </p:txBody>
      </p:sp>
      <p:sp>
        <p:nvSpPr>
          <p:cNvPr id="38" name="Shape 29"/>
          <p:cNvSpPr/>
          <p:nvPr/>
        </p:nvSpPr>
        <p:spPr>
          <a:xfrm>
            <a:off x="640080" y="5413248"/>
            <a:ext cx="3503066" cy="566928"/>
          </a:xfrm>
          <a:prstGeom prst="roundRect">
            <a:avLst>
              <a:gd name="adj" fmla="val 9677"/>
            </a:avLst>
          </a:prstGeom>
          <a:solidFill>
            <a:srgbClr val="EAF2E4"/>
          </a:solidFill>
          <a:ln w="12700">
            <a:solidFill>
              <a:srgbClr val="EAF2E4"/>
            </a:solidFill>
            <a:prstDash val="solid"/>
          </a:ln>
        </p:spPr>
      </p:sp>
      <p:sp>
        <p:nvSpPr>
          <p:cNvPr id="39" name="Text 30"/>
          <p:cNvSpPr txBox="1"/>
          <p:nvPr/>
        </p:nvSpPr>
        <p:spPr>
          <a:xfrm>
            <a:off x="731520"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interaction → behaviour</a:t>
            </a:r>
            <a:endParaRPr lang="en-US" sz="1250" dirty="0"/>
          </a:p>
        </p:txBody>
      </p:sp>
      <p:sp>
        <p:nvSpPr>
          <p:cNvPr id="40" name="Shape 31"/>
          <p:cNvSpPr/>
          <p:nvPr/>
        </p:nvSpPr>
        <p:spPr>
          <a:xfrm>
            <a:off x="4344314" y="5413248"/>
            <a:ext cx="3503066" cy="566928"/>
          </a:xfrm>
          <a:prstGeom prst="roundRect">
            <a:avLst>
              <a:gd name="adj" fmla="val 9677"/>
            </a:avLst>
          </a:prstGeom>
          <a:solidFill>
            <a:srgbClr val="EAF2E4"/>
          </a:solidFill>
          <a:ln w="12700">
            <a:solidFill>
              <a:srgbClr val="EAF2E4"/>
            </a:solidFill>
            <a:prstDash val="solid"/>
          </a:ln>
        </p:spPr>
      </p:sp>
      <p:sp>
        <p:nvSpPr>
          <p:cNvPr id="41" name="Text 32"/>
          <p:cNvSpPr txBox="1"/>
          <p:nvPr/>
        </p:nvSpPr>
        <p:spPr>
          <a:xfrm>
            <a:off x="4435754"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memory → adaptation</a:t>
            </a:r>
            <a:endParaRPr lang="en-US" sz="1250" dirty="0"/>
          </a:p>
        </p:txBody>
      </p:sp>
      <p:sp>
        <p:nvSpPr>
          <p:cNvPr id="42" name="Shape 33"/>
          <p:cNvSpPr/>
          <p:nvPr/>
        </p:nvSpPr>
        <p:spPr>
          <a:xfrm>
            <a:off x="8048549" y="5413248"/>
            <a:ext cx="3503066" cy="566928"/>
          </a:xfrm>
          <a:prstGeom prst="roundRect">
            <a:avLst>
              <a:gd name="adj" fmla="val 9677"/>
            </a:avLst>
          </a:prstGeom>
          <a:solidFill>
            <a:srgbClr val="EAF2E4"/>
          </a:solidFill>
          <a:ln w="12700">
            <a:solidFill>
              <a:srgbClr val="EAF2E4"/>
            </a:solidFill>
            <a:prstDash val="solid"/>
          </a:ln>
        </p:spPr>
      </p:sp>
      <p:sp>
        <p:nvSpPr>
          <p:cNvPr id="43" name="Text 34"/>
          <p:cNvSpPr txBox="1"/>
          <p:nvPr/>
        </p:nvSpPr>
        <p:spPr>
          <a:xfrm>
            <a:off x="8139989"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emergent social structure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Turn interaction off, and the town goes quiet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640080" y="1417320"/>
            <a:ext cx="10911535" cy="1444752"/>
          </a:xfrm>
          <a:prstGeom prst="roundRect">
            <a:avLst>
              <a:gd name="adj" fmla="val 3797"/>
            </a:avLst>
          </a:prstGeom>
          <a:solidFill>
            <a:srgbClr val="EAF2E4"/>
          </a:solidFill>
          <a:ln w="12700">
            <a:solidFill>
              <a:srgbClr val="EAF2E4"/>
            </a:solidFill>
            <a:prstDash val="solid"/>
          </a:ln>
        </p:spPr>
      </p:sp>
      <p:sp>
        <p:nvSpPr>
          <p:cNvPr id="7" name="Text 5"/>
          <p:cNvSpPr txBox="1"/>
          <p:nvPr/>
        </p:nvSpPr>
        <p:spPr>
          <a:xfrm>
            <a:off x="1024128" y="1600200"/>
            <a:ext cx="4572000" cy="201168"/>
          </a:xfrm>
          <a:prstGeom prst="rect">
            <a:avLst/>
          </a:prstGeom>
          <a:noFill/>
          <a:ln/>
        </p:spPr>
        <p:txBody>
          <a:bodyPr wrap="square" lIns="0" tIns="0" rIns="0" bIns="0" rtlCol="0" anchor="ctr"/>
          <a:lstStyle/>
          <a:p>
            <a:pPr algn="l" indent="0" marL="0">
              <a:buNone/>
            </a:pPr>
            <a:r>
              <a:rPr lang="en-US" sz="1000" b="1" spc="130" kern="0" dirty="0">
                <a:solidFill>
                  <a:srgbClr val="2C5F2D"/>
                </a:solidFill>
                <a:latin typeface="Calibri" pitchFamily="34" charset="0"/>
                <a:ea typeface="Calibri" pitchFamily="34" charset="-122"/>
                <a:cs typeface="Calibri" pitchFamily="34" charset="-120"/>
              </a:rPr>
              <a:t>INTERACTION ENABLED</a:t>
            </a:r>
            <a:endParaRPr lang="en-US" sz="1000" dirty="0"/>
          </a:p>
        </p:txBody>
      </p:sp>
      <p:sp>
        <p:nvSpPr>
          <p:cNvPr id="8" name="Shape 6"/>
          <p:cNvSpPr/>
          <p:nvPr/>
        </p:nvSpPr>
        <p:spPr>
          <a:xfrm>
            <a:off x="102412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7"/>
          <p:cNvSpPr txBox="1"/>
          <p:nvPr/>
        </p:nvSpPr>
        <p:spPr>
          <a:xfrm>
            <a:off x="111556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Conversation</a:t>
            </a:r>
            <a:endParaRPr lang="en-US" sz="1250" dirty="0"/>
          </a:p>
        </p:txBody>
      </p:sp>
      <p:sp>
        <p:nvSpPr>
          <p:cNvPr id="10" name="Shape 8"/>
          <p:cNvSpPr/>
          <p:nvPr/>
        </p:nvSpPr>
        <p:spPr>
          <a:xfrm>
            <a:off x="2999232" y="2194560"/>
            <a:ext cx="438912" cy="219456"/>
          </a:xfrm>
          <a:prstGeom prst="rightArrow">
            <a:avLst/>
          </a:prstGeom>
          <a:solidFill>
            <a:srgbClr val="C98A24"/>
          </a:solidFill>
          <a:ln/>
        </p:spPr>
      </p:sp>
      <p:sp>
        <p:nvSpPr>
          <p:cNvPr id="11" name="Shape 9"/>
          <p:cNvSpPr/>
          <p:nvPr/>
        </p:nvSpPr>
        <p:spPr>
          <a:xfrm>
            <a:off x="349300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10"/>
          <p:cNvSpPr txBox="1"/>
          <p:nvPr/>
        </p:nvSpPr>
        <p:spPr>
          <a:xfrm>
            <a:off x="358444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Memory</a:t>
            </a:r>
            <a:endParaRPr lang="en-US" sz="1250" dirty="0"/>
          </a:p>
        </p:txBody>
      </p:sp>
      <p:sp>
        <p:nvSpPr>
          <p:cNvPr id="13" name="Shape 11"/>
          <p:cNvSpPr/>
          <p:nvPr/>
        </p:nvSpPr>
        <p:spPr>
          <a:xfrm>
            <a:off x="5468112" y="2194560"/>
            <a:ext cx="438912" cy="219456"/>
          </a:xfrm>
          <a:prstGeom prst="rightArrow">
            <a:avLst/>
          </a:prstGeom>
          <a:solidFill>
            <a:srgbClr val="C98A24"/>
          </a:solidFill>
          <a:ln/>
        </p:spPr>
      </p:sp>
      <p:sp>
        <p:nvSpPr>
          <p:cNvPr id="14" name="Shape 12"/>
          <p:cNvSpPr/>
          <p:nvPr/>
        </p:nvSpPr>
        <p:spPr>
          <a:xfrm>
            <a:off x="596188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3"/>
          <p:cNvSpPr txBox="1"/>
          <p:nvPr/>
        </p:nvSpPr>
        <p:spPr>
          <a:xfrm>
            <a:off x="605332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Next day's plan</a:t>
            </a:r>
            <a:endParaRPr lang="en-US" sz="1250" dirty="0"/>
          </a:p>
        </p:txBody>
      </p:sp>
      <p:sp>
        <p:nvSpPr>
          <p:cNvPr id="16" name="Shape 14"/>
          <p:cNvSpPr/>
          <p:nvPr/>
        </p:nvSpPr>
        <p:spPr>
          <a:xfrm>
            <a:off x="7936992" y="2194560"/>
            <a:ext cx="438912" cy="219456"/>
          </a:xfrm>
          <a:prstGeom prst="rightArrow">
            <a:avLst/>
          </a:prstGeom>
          <a:solidFill>
            <a:srgbClr val="C98A24"/>
          </a:solidFill>
          <a:ln/>
        </p:spPr>
      </p:sp>
      <p:sp>
        <p:nvSpPr>
          <p:cNvPr id="17" name="Shape 15"/>
          <p:cNvSpPr/>
          <p:nvPr/>
        </p:nvSpPr>
        <p:spPr>
          <a:xfrm>
            <a:off x="8430768" y="1947672"/>
            <a:ext cx="3120847" cy="713232"/>
          </a:xfrm>
          <a:prstGeom prst="roundRect">
            <a:avLst>
              <a:gd name="adj" fmla="val 7692"/>
            </a:avLst>
          </a:prstGeom>
          <a:solidFill>
            <a:srgbClr val="FFFFFF"/>
          </a:solidFill>
          <a:ln w="12700">
            <a:solidFill>
              <a:srgbClr val="E2E7DD"/>
            </a:solidFill>
            <a:prstDash val="solid"/>
          </a:ln>
        </p:spPr>
      </p:sp>
      <p:sp>
        <p:nvSpPr>
          <p:cNvPr id="18" name="Text 16"/>
          <p:cNvSpPr txBox="1"/>
          <p:nvPr/>
        </p:nvSpPr>
        <p:spPr>
          <a:xfrm>
            <a:off x="8522208" y="1947672"/>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richer activities · follow-up meetings · lasting pairs</a:t>
            </a:r>
            <a:endParaRPr lang="en-US" sz="1200" dirty="0"/>
          </a:p>
        </p:txBody>
      </p:sp>
      <p:sp>
        <p:nvSpPr>
          <p:cNvPr id="19" name="Shape 17"/>
          <p:cNvSpPr/>
          <p:nvPr/>
        </p:nvSpPr>
        <p:spPr>
          <a:xfrm>
            <a:off x="640080" y="3127248"/>
            <a:ext cx="10911535" cy="1444752"/>
          </a:xfrm>
          <a:prstGeom prst="roundRect">
            <a:avLst>
              <a:gd name="adj" fmla="val 3797"/>
            </a:avLst>
          </a:prstGeom>
          <a:solidFill>
            <a:srgbClr val="EFEFEA"/>
          </a:solidFill>
          <a:ln w="12700">
            <a:solidFill>
              <a:srgbClr val="EFEFEA"/>
            </a:solidFill>
            <a:prstDash val="solid"/>
          </a:ln>
        </p:spPr>
      </p:sp>
      <p:sp>
        <p:nvSpPr>
          <p:cNvPr id="20" name="Text 18"/>
          <p:cNvSpPr txBox="1"/>
          <p:nvPr/>
        </p:nvSpPr>
        <p:spPr>
          <a:xfrm>
            <a:off x="1024128" y="3310128"/>
            <a:ext cx="4572000" cy="201168"/>
          </a:xfrm>
          <a:prstGeom prst="rect">
            <a:avLst/>
          </a:prstGeom>
          <a:noFill/>
          <a:ln/>
        </p:spPr>
        <p:txBody>
          <a:bodyPr wrap="square" lIns="0" tIns="0" rIns="0" bIns="0" rtlCol="0" anchor="ctr"/>
          <a:lstStyle/>
          <a:p>
            <a:pPr algn="l" indent="0" marL="0">
              <a:buNone/>
            </a:pPr>
            <a:r>
              <a:rPr lang="en-US" sz="1000" b="1" spc="130" kern="0" dirty="0">
                <a:solidFill>
                  <a:srgbClr val="5F6B60"/>
                </a:solidFill>
                <a:latin typeface="Calibri" pitchFamily="34" charset="0"/>
                <a:ea typeface="Calibri" pitchFamily="34" charset="-122"/>
                <a:cs typeface="Calibri" pitchFamily="34" charset="-120"/>
              </a:rPr>
              <a:t>INTERACTION DISABLED</a:t>
            </a:r>
            <a:endParaRPr lang="en-US" sz="1000" dirty="0"/>
          </a:p>
        </p:txBody>
      </p:sp>
      <p:sp>
        <p:nvSpPr>
          <p:cNvPr id="21" name="Shape 19"/>
          <p:cNvSpPr/>
          <p:nvPr/>
        </p:nvSpPr>
        <p:spPr>
          <a:xfrm>
            <a:off x="102412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2" name="Text 20"/>
          <p:cNvSpPr txBox="1"/>
          <p:nvPr/>
        </p:nvSpPr>
        <p:spPr>
          <a:xfrm>
            <a:off x="111556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Conversation</a:t>
            </a:r>
            <a:endParaRPr lang="en-US" sz="1250" dirty="0"/>
          </a:p>
        </p:txBody>
      </p:sp>
      <p:sp>
        <p:nvSpPr>
          <p:cNvPr id="23" name="Shape 21"/>
          <p:cNvSpPr/>
          <p:nvPr/>
        </p:nvSpPr>
        <p:spPr>
          <a:xfrm>
            <a:off x="2999232" y="3904488"/>
            <a:ext cx="438912" cy="219456"/>
          </a:xfrm>
          <a:prstGeom prst="rightArrow">
            <a:avLst/>
          </a:prstGeom>
          <a:solidFill>
            <a:srgbClr val="C9CCC4"/>
          </a:solidFill>
          <a:ln/>
        </p:spPr>
      </p:sp>
      <p:sp>
        <p:nvSpPr>
          <p:cNvPr id="24" name="Shape 22"/>
          <p:cNvSpPr/>
          <p:nvPr/>
        </p:nvSpPr>
        <p:spPr>
          <a:xfrm>
            <a:off x="349300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358444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Memory</a:t>
            </a:r>
            <a:endParaRPr lang="en-US" sz="1250" dirty="0"/>
          </a:p>
        </p:txBody>
      </p:sp>
      <p:sp>
        <p:nvSpPr>
          <p:cNvPr id="26" name="Shape 24"/>
          <p:cNvSpPr/>
          <p:nvPr/>
        </p:nvSpPr>
        <p:spPr>
          <a:xfrm>
            <a:off x="5468112" y="3904488"/>
            <a:ext cx="438912" cy="219456"/>
          </a:xfrm>
          <a:prstGeom prst="rightArrow">
            <a:avLst/>
          </a:prstGeom>
          <a:solidFill>
            <a:srgbClr val="C9CCC4"/>
          </a:solidFill>
          <a:ln/>
        </p:spPr>
      </p:sp>
      <p:sp>
        <p:nvSpPr>
          <p:cNvPr id="27" name="Shape 25"/>
          <p:cNvSpPr/>
          <p:nvPr/>
        </p:nvSpPr>
        <p:spPr>
          <a:xfrm>
            <a:off x="596188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8" name="Text 26"/>
          <p:cNvSpPr txBox="1"/>
          <p:nvPr/>
        </p:nvSpPr>
        <p:spPr>
          <a:xfrm>
            <a:off x="605332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Next day's plan</a:t>
            </a:r>
            <a:endParaRPr lang="en-US" sz="1250" dirty="0"/>
          </a:p>
        </p:txBody>
      </p:sp>
      <p:sp>
        <p:nvSpPr>
          <p:cNvPr id="29" name="Shape 27"/>
          <p:cNvSpPr/>
          <p:nvPr/>
        </p:nvSpPr>
        <p:spPr>
          <a:xfrm>
            <a:off x="7936992" y="3904488"/>
            <a:ext cx="438912" cy="219456"/>
          </a:xfrm>
          <a:prstGeom prst="rightArrow">
            <a:avLst/>
          </a:prstGeom>
          <a:solidFill>
            <a:srgbClr val="C9CCC4"/>
          </a:solidFill>
          <a:ln/>
        </p:spPr>
      </p:sp>
      <p:sp>
        <p:nvSpPr>
          <p:cNvPr id="30" name="Shape 28"/>
          <p:cNvSpPr/>
          <p:nvPr/>
        </p:nvSpPr>
        <p:spPr>
          <a:xfrm>
            <a:off x="8430768" y="3657600"/>
            <a:ext cx="3120847" cy="713232"/>
          </a:xfrm>
          <a:prstGeom prst="roundRect">
            <a:avLst>
              <a:gd name="adj" fmla="val 7692"/>
            </a:avLst>
          </a:prstGeom>
          <a:solidFill>
            <a:srgbClr val="FFFFFF"/>
          </a:solidFill>
          <a:ln w="12700">
            <a:solidFill>
              <a:srgbClr val="E2E7DD"/>
            </a:solidFill>
            <a:prstDash val="solid"/>
          </a:ln>
        </p:spPr>
      </p:sp>
      <p:sp>
        <p:nvSpPr>
          <p:cNvPr id="31" name="Text 29"/>
          <p:cNvSpPr txBox="1"/>
          <p:nvPr/>
        </p:nvSpPr>
        <p:spPr>
          <a:xfrm>
            <a:off x="8522208" y="3657600"/>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5F6B60"/>
                </a:solidFill>
                <a:latin typeface="Calibri" pitchFamily="34" charset="0"/>
                <a:ea typeface="Calibri" pitchFamily="34" charset="-122"/>
                <a:cs typeface="Calibri" pitchFamily="34" charset="-120"/>
              </a:rPr>
              <a:t>repetitive · isolated · schedules stay static</a:t>
            </a:r>
            <a:endParaRPr lang="en-US" sz="1200" dirty="0"/>
          </a:p>
        </p:txBody>
      </p:sp>
      <p:sp>
        <p:nvSpPr>
          <p:cNvPr id="32" name="Shape 30"/>
          <p:cNvSpPr/>
          <p:nvPr/>
        </p:nvSpPr>
        <p:spPr>
          <a:xfrm>
            <a:off x="3044952" y="3840480"/>
            <a:ext cx="347472" cy="347472"/>
          </a:xfrm>
          <a:prstGeom prst="ellipse">
            <a:avLst/>
          </a:prstGeom>
          <a:solidFill>
            <a:srgbClr val="FFFFFF"/>
          </a:solidFill>
          <a:ln w="19050">
            <a:solidFill>
              <a:srgbClr val="A8412F"/>
            </a:solidFill>
            <a:prstDash val="solid"/>
          </a:ln>
        </p:spPr>
      </p:sp>
      <p:sp>
        <p:nvSpPr>
          <p:cNvPr id="33" name="Text 31"/>
          <p:cNvSpPr txBox="1"/>
          <p:nvPr/>
        </p:nvSpPr>
        <p:spPr>
          <a:xfrm>
            <a:off x="3044952" y="3840480"/>
            <a:ext cx="347472" cy="347472"/>
          </a:xfrm>
          <a:prstGeom prst="rect">
            <a:avLst/>
          </a:prstGeom>
          <a:noFill/>
          <a:ln/>
        </p:spPr>
        <p:txBody>
          <a:bodyPr wrap="square" lIns="0" tIns="0" rIns="0" bIns="0" rtlCol="0" anchor="ctr"/>
          <a:lstStyle/>
          <a:p>
            <a:pPr algn="ctr" indent="0" marL="0">
              <a:buNone/>
            </a:pPr>
            <a:r>
              <a:rPr lang="en-US" sz="1200" b="1" dirty="0">
                <a:solidFill>
                  <a:srgbClr val="A8412F"/>
                </a:solidFill>
                <a:latin typeface="Calibri" pitchFamily="34" charset="0"/>
                <a:ea typeface="Calibri" pitchFamily="34" charset="-122"/>
                <a:cs typeface="Calibri" pitchFamily="34" charset="-120"/>
              </a:rPr>
              <a:t>✕</a:t>
            </a:r>
            <a:endParaRPr lang="en-US" sz="1200" dirty="0"/>
          </a:p>
        </p:txBody>
      </p:sp>
      <p:sp>
        <p:nvSpPr>
          <p:cNvPr id="34" name="Shape 32"/>
          <p:cNvSpPr/>
          <p:nvPr/>
        </p:nvSpPr>
        <p:spPr>
          <a:xfrm>
            <a:off x="640080" y="4956048"/>
            <a:ext cx="10911535" cy="1051560"/>
          </a:xfrm>
          <a:prstGeom prst="roundRect">
            <a:avLst>
              <a:gd name="adj" fmla="val 5217"/>
            </a:avLst>
          </a:prstGeom>
          <a:solidFill>
            <a:srgbClr val="1B2E23"/>
          </a:solidFill>
          <a:ln w="12700">
            <a:solidFill>
              <a:srgbClr val="1B2E23"/>
            </a:solidFill>
            <a:prstDash val="solid"/>
          </a:ln>
        </p:spPr>
      </p:sp>
      <p:sp>
        <p:nvSpPr>
          <p:cNvPr id="35" name="Text 33"/>
          <p:cNvSpPr txBox="1"/>
          <p:nvPr/>
        </p:nvSpPr>
        <p:spPr>
          <a:xfrm>
            <a:off x="640080" y="4956048"/>
            <a:ext cx="10911535"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Interaction drives behavioural diversity and day-to-day adaptation</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changes shape as the days pass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640080" y="1371600"/>
            <a:ext cx="640080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572768"/>
            <a:ext cx="5779008"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What memory is made of</a:t>
            </a:r>
            <a:endParaRPr lang="en-US" sz="1500" dirty="0"/>
          </a:p>
        </p:txBody>
      </p:sp>
      <p:sp>
        <p:nvSpPr>
          <p:cNvPr id="8" name="Shape 6"/>
          <p:cNvSpPr/>
          <p:nvPr/>
        </p:nvSpPr>
        <p:spPr>
          <a:xfrm>
            <a:off x="1353312" y="2761488"/>
            <a:ext cx="1051560" cy="2011680"/>
          </a:xfrm>
          <a:prstGeom prst="rect">
            <a:avLst/>
          </a:prstGeom>
          <a:solidFill>
            <a:srgbClr val="EAF2E4"/>
          </a:solidFill>
          <a:ln w="9525">
            <a:solidFill>
              <a:srgbClr val="7FB069"/>
            </a:solidFill>
            <a:prstDash val="solid"/>
          </a:ln>
        </p:spPr>
      </p:sp>
      <p:sp>
        <p:nvSpPr>
          <p:cNvPr id="9" name="Shape 7"/>
          <p:cNvSpPr/>
          <p:nvPr/>
        </p:nvSpPr>
        <p:spPr>
          <a:xfrm>
            <a:off x="1353312" y="2384298"/>
            <a:ext cx="1051560" cy="377190"/>
          </a:xfrm>
          <a:prstGeom prst="rect">
            <a:avLst/>
          </a:prstGeom>
          <a:solidFill>
            <a:srgbClr val="FBF1DC"/>
          </a:solidFill>
          <a:ln w="9525">
            <a:solidFill>
              <a:srgbClr val="C98A24"/>
            </a:solidFill>
            <a:prstDash val="solid"/>
          </a:ln>
        </p:spPr>
      </p:sp>
      <p:sp>
        <p:nvSpPr>
          <p:cNvPr id="10" name="Shape 8"/>
          <p:cNvSpPr/>
          <p:nvPr/>
        </p:nvSpPr>
        <p:spPr>
          <a:xfrm>
            <a:off x="1353312" y="2258568"/>
            <a:ext cx="1051560" cy="125730"/>
          </a:xfrm>
          <a:prstGeom prst="rect">
            <a:avLst/>
          </a:prstGeom>
          <a:solidFill>
            <a:srgbClr val="1B2E23"/>
          </a:solidFill>
          <a:ln w="9525">
            <a:solidFill>
              <a:srgbClr val="1B2E23"/>
            </a:solidFill>
            <a:prstDash val="solid"/>
          </a:ln>
        </p:spPr>
      </p:sp>
      <p:sp>
        <p:nvSpPr>
          <p:cNvPr id="11" name="Text 9"/>
          <p:cNvSpPr txBox="1"/>
          <p:nvPr/>
        </p:nvSpPr>
        <p:spPr>
          <a:xfrm>
            <a:off x="107899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1</a:t>
            </a:r>
            <a:endParaRPr lang="en-US" sz="1150" dirty="0"/>
          </a:p>
        </p:txBody>
      </p:sp>
      <p:sp>
        <p:nvSpPr>
          <p:cNvPr id="12" name="Shape 10"/>
          <p:cNvSpPr/>
          <p:nvPr/>
        </p:nvSpPr>
        <p:spPr>
          <a:xfrm>
            <a:off x="2715768" y="3401568"/>
            <a:ext cx="292608" cy="201168"/>
          </a:xfrm>
          <a:prstGeom prst="rightArrow">
            <a:avLst/>
          </a:prstGeom>
          <a:solidFill>
            <a:srgbClr val="C98A24"/>
          </a:solidFill>
          <a:ln/>
        </p:spPr>
      </p:sp>
      <p:sp>
        <p:nvSpPr>
          <p:cNvPr id="13" name="Shape 11"/>
          <p:cNvSpPr/>
          <p:nvPr/>
        </p:nvSpPr>
        <p:spPr>
          <a:xfrm>
            <a:off x="3319272" y="3641598"/>
            <a:ext cx="1051560" cy="1131570"/>
          </a:xfrm>
          <a:prstGeom prst="rect">
            <a:avLst/>
          </a:prstGeom>
          <a:solidFill>
            <a:srgbClr val="EAF2E4"/>
          </a:solidFill>
          <a:ln w="9525">
            <a:solidFill>
              <a:srgbClr val="7FB069"/>
            </a:solidFill>
            <a:prstDash val="solid"/>
          </a:ln>
        </p:spPr>
      </p:sp>
      <p:sp>
        <p:nvSpPr>
          <p:cNvPr id="14" name="Shape 12"/>
          <p:cNvSpPr/>
          <p:nvPr/>
        </p:nvSpPr>
        <p:spPr>
          <a:xfrm>
            <a:off x="3319272" y="2761488"/>
            <a:ext cx="1051560" cy="880110"/>
          </a:xfrm>
          <a:prstGeom prst="rect">
            <a:avLst/>
          </a:prstGeom>
          <a:solidFill>
            <a:srgbClr val="FBF1DC"/>
          </a:solidFill>
          <a:ln w="9525">
            <a:solidFill>
              <a:srgbClr val="C98A24"/>
            </a:solidFill>
            <a:prstDash val="solid"/>
          </a:ln>
        </p:spPr>
      </p:sp>
      <p:sp>
        <p:nvSpPr>
          <p:cNvPr id="15" name="Shape 13"/>
          <p:cNvSpPr/>
          <p:nvPr/>
        </p:nvSpPr>
        <p:spPr>
          <a:xfrm>
            <a:off x="3319272" y="2258568"/>
            <a:ext cx="1051560" cy="502920"/>
          </a:xfrm>
          <a:prstGeom prst="rect">
            <a:avLst/>
          </a:prstGeom>
          <a:solidFill>
            <a:srgbClr val="1B2E23"/>
          </a:solidFill>
          <a:ln w="9525">
            <a:solidFill>
              <a:srgbClr val="1B2E23"/>
            </a:solidFill>
            <a:prstDash val="solid"/>
          </a:ln>
        </p:spPr>
      </p:sp>
      <p:sp>
        <p:nvSpPr>
          <p:cNvPr id="16" name="Text 14"/>
          <p:cNvSpPr txBox="1"/>
          <p:nvPr/>
        </p:nvSpPr>
        <p:spPr>
          <a:xfrm>
            <a:off x="304495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17" name="Shape 15"/>
          <p:cNvSpPr/>
          <p:nvPr/>
        </p:nvSpPr>
        <p:spPr>
          <a:xfrm>
            <a:off x="4681728" y="3401568"/>
            <a:ext cx="292608" cy="201168"/>
          </a:xfrm>
          <a:prstGeom prst="rightArrow">
            <a:avLst/>
          </a:prstGeom>
          <a:solidFill>
            <a:srgbClr val="C98A24"/>
          </a:solidFill>
          <a:ln/>
        </p:spPr>
      </p:sp>
      <p:sp>
        <p:nvSpPr>
          <p:cNvPr id="18" name="Shape 16"/>
          <p:cNvSpPr/>
          <p:nvPr/>
        </p:nvSpPr>
        <p:spPr>
          <a:xfrm>
            <a:off x="5285232" y="4144518"/>
            <a:ext cx="1051560" cy="628650"/>
          </a:xfrm>
          <a:prstGeom prst="rect">
            <a:avLst/>
          </a:prstGeom>
          <a:solidFill>
            <a:srgbClr val="EAF2E4"/>
          </a:solidFill>
          <a:ln w="9525">
            <a:solidFill>
              <a:srgbClr val="7FB069"/>
            </a:solidFill>
            <a:prstDash val="solid"/>
          </a:ln>
        </p:spPr>
      </p:sp>
      <p:sp>
        <p:nvSpPr>
          <p:cNvPr id="19" name="Shape 17"/>
          <p:cNvSpPr/>
          <p:nvPr/>
        </p:nvSpPr>
        <p:spPr>
          <a:xfrm>
            <a:off x="5285232" y="3264408"/>
            <a:ext cx="1051560" cy="880110"/>
          </a:xfrm>
          <a:prstGeom prst="rect">
            <a:avLst/>
          </a:prstGeom>
          <a:solidFill>
            <a:srgbClr val="FBF1DC"/>
          </a:solidFill>
          <a:ln w="9525">
            <a:solidFill>
              <a:srgbClr val="C98A24"/>
            </a:solidFill>
            <a:prstDash val="solid"/>
          </a:ln>
        </p:spPr>
      </p:sp>
      <p:sp>
        <p:nvSpPr>
          <p:cNvPr id="20" name="Shape 18"/>
          <p:cNvSpPr/>
          <p:nvPr/>
        </p:nvSpPr>
        <p:spPr>
          <a:xfrm>
            <a:off x="5285232" y="2258568"/>
            <a:ext cx="1051560" cy="1005840"/>
          </a:xfrm>
          <a:prstGeom prst="rect">
            <a:avLst/>
          </a:prstGeom>
          <a:solidFill>
            <a:srgbClr val="1B2E23"/>
          </a:solidFill>
          <a:ln w="9525">
            <a:solidFill>
              <a:srgbClr val="1B2E23"/>
            </a:solidFill>
            <a:prstDash val="solid"/>
          </a:ln>
        </p:spPr>
      </p:sp>
      <p:sp>
        <p:nvSpPr>
          <p:cNvPr id="21" name="Text 19"/>
          <p:cNvSpPr txBox="1"/>
          <p:nvPr/>
        </p:nvSpPr>
        <p:spPr>
          <a:xfrm>
            <a:off x="501091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22" name="Shape 20"/>
          <p:cNvSpPr/>
          <p:nvPr/>
        </p:nvSpPr>
        <p:spPr>
          <a:xfrm>
            <a:off x="1097280" y="5230368"/>
            <a:ext cx="201168" cy="201168"/>
          </a:xfrm>
          <a:prstGeom prst="rect">
            <a:avLst/>
          </a:prstGeom>
          <a:solidFill>
            <a:srgbClr val="EAF2E4"/>
          </a:solidFill>
          <a:ln w="9525">
            <a:solidFill>
              <a:srgbClr val="7FB069"/>
            </a:solidFill>
            <a:prstDash val="solid"/>
          </a:ln>
        </p:spPr>
      </p:sp>
      <p:sp>
        <p:nvSpPr>
          <p:cNvPr id="23" name="Text 21"/>
          <p:cNvSpPr txBox="1"/>
          <p:nvPr/>
        </p:nvSpPr>
        <p:spPr>
          <a:xfrm>
            <a:off x="137160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Plans &amp; observations</a:t>
            </a:r>
            <a:endParaRPr lang="en-US" sz="1050" dirty="0"/>
          </a:p>
        </p:txBody>
      </p:sp>
      <p:sp>
        <p:nvSpPr>
          <p:cNvPr id="24" name="Shape 22"/>
          <p:cNvSpPr/>
          <p:nvPr/>
        </p:nvSpPr>
        <p:spPr>
          <a:xfrm>
            <a:off x="3108960" y="5230368"/>
            <a:ext cx="201168" cy="201168"/>
          </a:xfrm>
          <a:prstGeom prst="rect">
            <a:avLst/>
          </a:prstGeom>
          <a:solidFill>
            <a:srgbClr val="FBF1DC"/>
          </a:solidFill>
          <a:ln w="9525">
            <a:solidFill>
              <a:srgbClr val="C98A24"/>
            </a:solidFill>
            <a:prstDash val="solid"/>
          </a:ln>
        </p:spPr>
      </p:sp>
      <p:sp>
        <p:nvSpPr>
          <p:cNvPr id="25" name="Text 23"/>
          <p:cNvSpPr txBox="1"/>
          <p:nvPr/>
        </p:nvSpPr>
        <p:spPr>
          <a:xfrm>
            <a:off x="338328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Conversations</a:t>
            </a:r>
            <a:endParaRPr lang="en-US" sz="1050" dirty="0"/>
          </a:p>
        </p:txBody>
      </p:sp>
      <p:sp>
        <p:nvSpPr>
          <p:cNvPr id="26" name="Shape 24"/>
          <p:cNvSpPr/>
          <p:nvPr/>
        </p:nvSpPr>
        <p:spPr>
          <a:xfrm>
            <a:off x="5120640" y="5230368"/>
            <a:ext cx="201168" cy="201168"/>
          </a:xfrm>
          <a:prstGeom prst="rect">
            <a:avLst/>
          </a:prstGeom>
          <a:solidFill>
            <a:srgbClr val="1B2E23"/>
          </a:solidFill>
          <a:ln w="9525">
            <a:solidFill>
              <a:srgbClr val="1B2E23"/>
            </a:solidFill>
            <a:prstDash val="solid"/>
          </a:ln>
        </p:spPr>
      </p:sp>
      <p:sp>
        <p:nvSpPr>
          <p:cNvPr id="27" name="Text 25"/>
          <p:cNvSpPr txBox="1"/>
          <p:nvPr/>
        </p:nvSpPr>
        <p:spPr>
          <a:xfrm>
            <a:off x="539496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Reflections</a:t>
            </a:r>
            <a:endParaRPr lang="en-US" sz="1050" dirty="0"/>
          </a:p>
        </p:txBody>
      </p:sp>
      <p:sp>
        <p:nvSpPr>
          <p:cNvPr id="28" name="Text 26"/>
          <p:cNvSpPr txBox="1"/>
          <p:nvPr/>
        </p:nvSpPr>
        <p:spPr>
          <a:xfrm>
            <a:off x="950976" y="5541264"/>
            <a:ext cx="577900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schematic — relative composition, not measured proportions</a:t>
            </a:r>
            <a:endParaRPr lang="en-US" sz="900" dirty="0"/>
          </a:p>
        </p:txBody>
      </p:sp>
      <p:sp>
        <p:nvSpPr>
          <p:cNvPr id="29" name="Shape 27"/>
          <p:cNvSpPr/>
          <p:nvPr/>
        </p:nvSpPr>
        <p:spPr>
          <a:xfrm>
            <a:off x="7360920" y="1371600"/>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Text 28"/>
          <p:cNvSpPr txBox="1"/>
          <p:nvPr/>
        </p:nvSpPr>
        <p:spPr>
          <a:xfrm>
            <a:off x="7653528" y="1591056"/>
            <a:ext cx="3605479" cy="292608"/>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Bonds form on their own</a:t>
            </a:r>
            <a:endParaRPr lang="en-US" sz="1500" dirty="0"/>
          </a:p>
        </p:txBody>
      </p:sp>
      <p:sp>
        <p:nvSpPr>
          <p:cNvPr id="31" name="Text 29"/>
          <p:cNvSpPr txBox="1"/>
          <p:nvPr/>
        </p:nvSpPr>
        <p:spPr>
          <a:xfrm>
            <a:off x="7653528" y="2048256"/>
            <a:ext cx="3605479" cy="128016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Repeated meetings → persistent pairs → repeated co-location.</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Nobody wrote a friendship rule.</a:t>
            </a:r>
            <a:endParaRPr lang="en-US" sz="1250" dirty="0"/>
          </a:p>
        </p:txBody>
      </p:sp>
      <p:sp>
        <p:nvSpPr>
          <p:cNvPr id="32" name="Shape 30"/>
          <p:cNvSpPr/>
          <p:nvPr/>
        </p:nvSpPr>
        <p:spPr>
          <a:xfrm>
            <a:off x="7360920" y="3694176"/>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3" name="Text 31"/>
          <p:cNvSpPr txBox="1"/>
          <p:nvPr/>
        </p:nvSpPr>
        <p:spPr>
          <a:xfrm>
            <a:off x="7653528" y="3913632"/>
            <a:ext cx="3605479"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Behaviour follows memory</a:t>
            </a:r>
            <a:endParaRPr lang="en-US" sz="1500" dirty="0"/>
          </a:p>
        </p:txBody>
      </p:sp>
      <p:sp>
        <p:nvSpPr>
          <p:cNvPr id="34" name="Text 32"/>
          <p:cNvSpPr txBox="1"/>
          <p:nvPr/>
        </p:nvSpPr>
        <p:spPr>
          <a:xfrm>
            <a:off x="7653528" y="4370832"/>
            <a:ext cx="3605479" cy="137160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Reflection-derived insight → goal-aligned task selection shifts across days.</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Limit memory, and adaptation weakens.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Where this leaves us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640080" y="1371600"/>
            <a:ext cx="55778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9560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What we showed</a:t>
            </a:r>
            <a:endParaRPr lang="en-US" sz="1700" dirty="0"/>
          </a:p>
        </p:txBody>
      </p:sp>
      <p:sp>
        <p:nvSpPr>
          <p:cNvPr id="8" name="Shape 6"/>
          <p:cNvSpPr/>
          <p:nvPr/>
        </p:nvSpPr>
        <p:spPr>
          <a:xfrm>
            <a:off x="950976" y="2139696"/>
            <a:ext cx="365760" cy="365760"/>
          </a:xfrm>
          <a:prstGeom prst="ellipse">
            <a:avLst/>
          </a:prstGeom>
          <a:solidFill>
            <a:srgbClr val="7FB069"/>
          </a:solidFill>
          <a:ln/>
        </p:spPr>
      </p:sp>
      <p:sp>
        <p:nvSpPr>
          <p:cNvPr id="9" name="Text 7"/>
          <p:cNvSpPr txBox="1"/>
          <p:nvPr/>
        </p:nvSpPr>
        <p:spPr>
          <a:xfrm>
            <a:off x="950976" y="213969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121408"/>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Planning, interaction and reflection linked by one memory loop</a:t>
            </a:r>
            <a:endParaRPr lang="en-US" sz="1300" dirty="0"/>
          </a:p>
        </p:txBody>
      </p:sp>
      <p:sp>
        <p:nvSpPr>
          <p:cNvPr id="11" name="Shape 9"/>
          <p:cNvSpPr/>
          <p:nvPr/>
        </p:nvSpPr>
        <p:spPr>
          <a:xfrm>
            <a:off x="950976" y="3072384"/>
            <a:ext cx="365760" cy="365760"/>
          </a:xfrm>
          <a:prstGeom prst="ellipse">
            <a:avLst/>
          </a:prstGeom>
          <a:solidFill>
            <a:srgbClr val="7FB069"/>
          </a:solidFill>
          <a:ln/>
        </p:spPr>
      </p:sp>
      <p:sp>
        <p:nvSpPr>
          <p:cNvPr id="12" name="Text 10"/>
          <p:cNvSpPr txBox="1"/>
          <p:nvPr/>
        </p:nvSpPr>
        <p:spPr>
          <a:xfrm>
            <a:off x="950976" y="307238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1481328" y="3054096"/>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Importance-based memory + reflection → next-day behaviour</a:t>
            </a:r>
            <a:endParaRPr lang="en-US" sz="1300" dirty="0"/>
          </a:p>
        </p:txBody>
      </p:sp>
      <p:sp>
        <p:nvSpPr>
          <p:cNvPr id="14" name="Shape 12"/>
          <p:cNvSpPr/>
          <p:nvPr/>
        </p:nvSpPr>
        <p:spPr>
          <a:xfrm>
            <a:off x="950976" y="4005072"/>
            <a:ext cx="365760" cy="365760"/>
          </a:xfrm>
          <a:prstGeom prst="ellipse">
            <a:avLst/>
          </a:prstGeom>
          <a:solidFill>
            <a:srgbClr val="7FB069"/>
          </a:solidFill>
          <a:ln/>
        </p:spPr>
      </p:sp>
      <p:sp>
        <p:nvSpPr>
          <p:cNvPr id="15" name="Text 13"/>
          <p:cNvSpPr txBox="1"/>
          <p:nvPr/>
        </p:nvSpPr>
        <p:spPr>
          <a:xfrm>
            <a:off x="950976" y="40050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6" name="Text 14"/>
          <p:cNvSpPr txBox="1"/>
          <p:nvPr/>
        </p:nvSpPr>
        <p:spPr>
          <a:xfrm>
            <a:off x="1481328" y="3986784"/>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Consistent routines, lasting bonds, adaptation — no hand-written rules</a:t>
            </a:r>
            <a:endParaRPr lang="en-US" sz="1300" dirty="0"/>
          </a:p>
        </p:txBody>
      </p:sp>
      <p:sp>
        <p:nvSpPr>
          <p:cNvPr id="17" name="Text 15"/>
          <p:cNvSpPr txBox="1"/>
          <p:nvPr/>
        </p:nvSpPr>
        <p:spPr>
          <a:xfrm>
            <a:off x="1024128" y="4828032"/>
            <a:ext cx="4809744"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AND WE OWN THE LIMITS</a:t>
            </a:r>
            <a:endParaRPr lang="en-US" sz="900" dirty="0"/>
          </a:p>
        </p:txBody>
      </p:sp>
      <p:sp>
        <p:nvSpPr>
          <p:cNvPr id="18" name="Shape 16"/>
          <p:cNvSpPr/>
          <p:nvPr/>
        </p:nvSpPr>
        <p:spPr>
          <a:xfrm>
            <a:off x="1024128" y="5065776"/>
            <a:ext cx="1511808" cy="457200"/>
          </a:xfrm>
          <a:prstGeom prst="roundRect">
            <a:avLst>
              <a:gd name="adj" fmla="val 12000"/>
            </a:avLst>
          </a:prstGeom>
          <a:solidFill>
            <a:srgbClr val="FBF1DC"/>
          </a:solidFill>
          <a:ln w="12700">
            <a:solidFill>
              <a:srgbClr val="EFDFBE"/>
            </a:solidFill>
            <a:prstDash val="solid"/>
          </a:ln>
        </p:spPr>
      </p:sp>
      <p:sp>
        <p:nvSpPr>
          <p:cNvPr id="19" name="Text 17"/>
          <p:cNvSpPr txBox="1"/>
          <p:nvPr/>
        </p:nvSpPr>
        <p:spPr>
          <a:xfrm>
            <a:off x="1115568"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cost</a:t>
            </a:r>
            <a:endParaRPr lang="en-US" sz="1150" dirty="0"/>
          </a:p>
        </p:txBody>
      </p:sp>
      <p:sp>
        <p:nvSpPr>
          <p:cNvPr id="20" name="Shape 18"/>
          <p:cNvSpPr/>
          <p:nvPr/>
        </p:nvSpPr>
        <p:spPr>
          <a:xfrm>
            <a:off x="2673096" y="5065776"/>
            <a:ext cx="1511808" cy="457200"/>
          </a:xfrm>
          <a:prstGeom prst="roundRect">
            <a:avLst>
              <a:gd name="adj" fmla="val 12000"/>
            </a:avLst>
          </a:prstGeom>
          <a:solidFill>
            <a:srgbClr val="FBF1DC"/>
          </a:solidFill>
          <a:ln w="12700">
            <a:solidFill>
              <a:srgbClr val="EFDFBE"/>
            </a:solidFill>
            <a:prstDash val="solid"/>
          </a:ln>
        </p:spPr>
      </p:sp>
      <p:sp>
        <p:nvSpPr>
          <p:cNvPr id="21" name="Text 19"/>
          <p:cNvSpPr txBox="1"/>
          <p:nvPr/>
        </p:nvSpPr>
        <p:spPr>
          <a:xfrm>
            <a:off x="2764536"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scale</a:t>
            </a:r>
            <a:endParaRPr lang="en-US" sz="1150" dirty="0"/>
          </a:p>
        </p:txBody>
      </p:sp>
      <p:sp>
        <p:nvSpPr>
          <p:cNvPr id="22" name="Shape 20"/>
          <p:cNvSpPr/>
          <p:nvPr/>
        </p:nvSpPr>
        <p:spPr>
          <a:xfrm>
            <a:off x="4322064" y="5065776"/>
            <a:ext cx="1511808" cy="457200"/>
          </a:xfrm>
          <a:prstGeom prst="roundRect">
            <a:avLst>
              <a:gd name="adj" fmla="val 12000"/>
            </a:avLst>
          </a:prstGeom>
          <a:solidFill>
            <a:srgbClr val="FBF1DC"/>
          </a:solidFill>
          <a:ln w="12700">
            <a:solidFill>
              <a:srgbClr val="EFDFBE"/>
            </a:solidFill>
            <a:prstDash val="solid"/>
          </a:ln>
        </p:spPr>
      </p:sp>
      <p:sp>
        <p:nvSpPr>
          <p:cNvPr id="23" name="Text 21"/>
          <p:cNvSpPr txBox="1"/>
          <p:nvPr/>
        </p:nvSpPr>
        <p:spPr>
          <a:xfrm>
            <a:off x="4413504"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stochasticity</a:t>
            </a:r>
            <a:endParaRPr lang="en-US" sz="1150" dirty="0"/>
          </a:p>
        </p:txBody>
      </p:sp>
      <p:sp>
        <p:nvSpPr>
          <p:cNvPr id="24" name="Text 22"/>
          <p:cNvSpPr txBox="1"/>
          <p:nvPr/>
        </p:nvSpPr>
        <p:spPr>
          <a:xfrm>
            <a:off x="1024128" y="5568696"/>
            <a:ext cx="48097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quantitative evaluation is the first thing we owe this work</a:t>
            </a:r>
            <a:endParaRPr lang="en-US" sz="1000" dirty="0"/>
          </a:p>
        </p:txBody>
      </p:sp>
      <p:sp>
        <p:nvSpPr>
          <p:cNvPr id="25" name="Text 23"/>
          <p:cNvSpPr txBox="1"/>
          <p:nvPr/>
        </p:nvSpPr>
        <p:spPr>
          <a:xfrm>
            <a:off x="6492240" y="1426464"/>
            <a:ext cx="5077663" cy="329184"/>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Future work</a:t>
            </a:r>
            <a:endParaRPr lang="en-US" sz="1700" dirty="0"/>
          </a:p>
        </p:txBody>
      </p:sp>
      <p:sp>
        <p:nvSpPr>
          <p:cNvPr id="26" name="Shape 24"/>
          <p:cNvSpPr/>
          <p:nvPr/>
        </p:nvSpPr>
        <p:spPr>
          <a:xfrm>
            <a:off x="6473952" y="1920240"/>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7" name="Shape 25"/>
          <p:cNvSpPr/>
          <p:nvPr/>
        </p:nvSpPr>
        <p:spPr>
          <a:xfrm>
            <a:off x="6711696" y="2121408"/>
            <a:ext cx="365760" cy="365760"/>
          </a:xfrm>
          <a:prstGeom prst="ellipse">
            <a:avLst/>
          </a:prstGeom>
          <a:solidFill>
            <a:srgbClr val="C98A24"/>
          </a:solidFill>
          <a:ln/>
        </p:spPr>
      </p:sp>
      <p:sp>
        <p:nvSpPr>
          <p:cNvPr id="28" name="Text 26"/>
          <p:cNvSpPr txBox="1"/>
          <p:nvPr/>
        </p:nvSpPr>
        <p:spPr>
          <a:xfrm>
            <a:off x="6711696" y="21214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9" name="Text 27"/>
          <p:cNvSpPr txBox="1"/>
          <p:nvPr/>
        </p:nvSpPr>
        <p:spPr>
          <a:xfrm>
            <a:off x="7223760" y="2130552"/>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Quantitative evaluation</a:t>
            </a:r>
            <a:endParaRPr lang="en-US" sz="1350" dirty="0"/>
          </a:p>
        </p:txBody>
      </p:sp>
      <p:sp>
        <p:nvSpPr>
          <p:cNvPr id="30" name="Text 28"/>
          <p:cNvSpPr txBox="1"/>
          <p:nvPr/>
        </p:nvSpPr>
        <p:spPr>
          <a:xfrm>
            <a:off x="6748272" y="2523744"/>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network metrics, plan coherence, user studies</a:t>
            </a:r>
            <a:endParaRPr lang="en-US" sz="1150" dirty="0"/>
          </a:p>
        </p:txBody>
      </p:sp>
      <p:sp>
        <p:nvSpPr>
          <p:cNvPr id="31" name="Shape 29"/>
          <p:cNvSpPr/>
          <p:nvPr/>
        </p:nvSpPr>
        <p:spPr>
          <a:xfrm>
            <a:off x="6473952" y="3255264"/>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Shape 30"/>
          <p:cNvSpPr/>
          <p:nvPr/>
        </p:nvSpPr>
        <p:spPr>
          <a:xfrm>
            <a:off x="6711696" y="3456432"/>
            <a:ext cx="365760" cy="365760"/>
          </a:xfrm>
          <a:prstGeom prst="ellipse">
            <a:avLst/>
          </a:prstGeom>
          <a:solidFill>
            <a:srgbClr val="2C5F2D"/>
          </a:solidFill>
          <a:ln/>
        </p:spPr>
      </p:sp>
      <p:sp>
        <p:nvSpPr>
          <p:cNvPr id="33" name="Text 31"/>
          <p:cNvSpPr txBox="1"/>
          <p:nvPr/>
        </p:nvSpPr>
        <p:spPr>
          <a:xfrm>
            <a:off x="6711696" y="34564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34" name="Text 32"/>
          <p:cNvSpPr txBox="1"/>
          <p:nvPr/>
        </p:nvSpPr>
        <p:spPr>
          <a:xfrm>
            <a:off x="7223760" y="3465576"/>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Scale &amp; real time</a:t>
            </a:r>
            <a:endParaRPr lang="en-US" sz="1350" dirty="0"/>
          </a:p>
        </p:txBody>
      </p:sp>
      <p:sp>
        <p:nvSpPr>
          <p:cNvPr id="35" name="Text 33"/>
          <p:cNvSpPr txBox="1"/>
          <p:nvPr/>
        </p:nvSpPr>
        <p:spPr>
          <a:xfrm>
            <a:off x="6748272" y="3858768"/>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larger populations, live reaction</a:t>
            </a:r>
            <a:endParaRPr lang="en-US" sz="1150" dirty="0"/>
          </a:p>
        </p:txBody>
      </p:sp>
      <p:sp>
        <p:nvSpPr>
          <p:cNvPr id="36" name="Shape 34"/>
          <p:cNvSpPr/>
          <p:nvPr/>
        </p:nvSpPr>
        <p:spPr>
          <a:xfrm>
            <a:off x="6473952" y="4590288"/>
            <a:ext cx="5077663" cy="1188720"/>
          </a:xfrm>
          <a:prstGeom prst="roundRect">
            <a:avLst>
              <a:gd name="adj" fmla="val 4615"/>
            </a:avLst>
          </a:prstGeom>
          <a:solidFill>
            <a:srgbClr val="EAF2E4"/>
          </a:solidFill>
          <a:ln w="12700">
            <a:solidFill>
              <a:srgbClr val="EAF2E4"/>
            </a:solidFill>
            <a:prstDash val="solid"/>
          </a:ln>
        </p:spPr>
      </p:sp>
      <p:sp>
        <p:nvSpPr>
          <p:cNvPr id="37" name="Shape 35"/>
          <p:cNvSpPr/>
          <p:nvPr/>
        </p:nvSpPr>
        <p:spPr>
          <a:xfrm>
            <a:off x="6711696" y="4791456"/>
            <a:ext cx="365760" cy="365760"/>
          </a:xfrm>
          <a:prstGeom prst="ellipse">
            <a:avLst/>
          </a:prstGeom>
          <a:solidFill>
            <a:srgbClr val="C98A24"/>
          </a:solidFill>
          <a:ln/>
        </p:spPr>
      </p:sp>
      <p:sp>
        <p:nvSpPr>
          <p:cNvPr id="38" name="Text 36"/>
          <p:cNvSpPr txBox="1"/>
          <p:nvPr/>
        </p:nvSpPr>
        <p:spPr>
          <a:xfrm>
            <a:off x="6711696" y="479145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9" name="Text 37"/>
          <p:cNvSpPr txBox="1"/>
          <p:nvPr/>
        </p:nvSpPr>
        <p:spPr>
          <a:xfrm>
            <a:off x="7223760" y="4800600"/>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Deeper reasoning</a:t>
            </a:r>
            <a:endParaRPr lang="en-US" sz="1350" dirty="0"/>
          </a:p>
        </p:txBody>
      </p:sp>
      <p:sp>
        <p:nvSpPr>
          <p:cNvPr id="40" name="Text 38"/>
          <p:cNvSpPr txBox="1"/>
          <p:nvPr/>
        </p:nvSpPr>
        <p:spPr>
          <a:xfrm>
            <a:off x="6748272" y="5193792"/>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NPCs, education, embodied agents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1463040"/>
            <a:ext cx="10911535"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640080" y="2450592"/>
            <a:ext cx="10911535" cy="365760"/>
          </a:xfrm>
          <a:prstGeom prst="rect">
            <a:avLst/>
          </a:prstGeom>
          <a:noFill/>
          <a:ln/>
        </p:spPr>
        <p:txBody>
          <a:bodyPr wrap="square" lIns="0" tIns="0" rIns="0" bIns="0" rtlCol="0" anchor="ctr"/>
          <a:lstStyle/>
          <a:p>
            <a:pPr indent="0" marL="0">
              <a:buNone/>
            </a:pPr>
            <a:r>
              <a:rPr lang="en-US" sz="1700" dirty="0">
                <a:solidFill>
                  <a:srgbClr val="7FB069"/>
                </a:solidFill>
                <a:latin typeface="Calibri" pitchFamily="34" charset="0"/>
                <a:ea typeface="Calibri" pitchFamily="34" charset="-122"/>
                <a:cs typeface="Calibri" pitchFamily="34" charset="-120"/>
              </a:rPr>
              <a:t>Questions are very welcome.</a:t>
            </a:r>
            <a:endParaRPr lang="en-US" sz="1700" dirty="0"/>
          </a:p>
        </p:txBody>
      </p:sp>
      <p:sp>
        <p:nvSpPr>
          <p:cNvPr id="4" name="Shape 2"/>
          <p:cNvSpPr/>
          <p:nvPr/>
        </p:nvSpPr>
        <p:spPr>
          <a:xfrm>
            <a:off x="640080" y="3108960"/>
            <a:ext cx="5349240" cy="1371600"/>
          </a:xfrm>
          <a:prstGeom prst="roundRect">
            <a:avLst>
              <a:gd name="adj" fmla="val 4000"/>
            </a:avLst>
          </a:prstGeom>
          <a:solidFill>
            <a:srgbClr val="24402F"/>
          </a:solidFill>
          <a:ln w="12700">
            <a:solidFill>
              <a:srgbClr val="2F4E3A"/>
            </a:solidFill>
            <a:prstDash val="solid"/>
          </a:ln>
        </p:spPr>
      </p:sp>
      <p:sp>
        <p:nvSpPr>
          <p:cNvPr id="5" name="Text 3"/>
          <p:cNvSpPr txBox="1"/>
          <p:nvPr/>
        </p:nvSpPr>
        <p:spPr>
          <a:xfrm>
            <a:off x="950976"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Aoao Guo</a:t>
            </a:r>
            <a:endParaRPr lang="en-US" sz="1500" dirty="0"/>
          </a:p>
        </p:txBody>
      </p:sp>
      <p:sp>
        <p:nvSpPr>
          <p:cNvPr id="6" name="Text 4"/>
          <p:cNvSpPr txBox="1"/>
          <p:nvPr/>
        </p:nvSpPr>
        <p:spPr>
          <a:xfrm>
            <a:off x="950976"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Faculty of Life Sciences, University College London</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aoao.guo.25@ucl.ac.uk</a:t>
            </a:r>
            <a:endParaRPr lang="en-US" sz="1200" dirty="0"/>
          </a:p>
        </p:txBody>
      </p:sp>
      <p:sp>
        <p:nvSpPr>
          <p:cNvPr id="7" name="Shape 5"/>
          <p:cNvSpPr/>
          <p:nvPr/>
        </p:nvSpPr>
        <p:spPr>
          <a:xfrm>
            <a:off x="6199632" y="3108960"/>
            <a:ext cx="5349240" cy="1371600"/>
          </a:xfrm>
          <a:prstGeom prst="roundRect">
            <a:avLst>
              <a:gd name="adj" fmla="val 4000"/>
            </a:avLst>
          </a:prstGeom>
          <a:solidFill>
            <a:srgbClr val="24402F"/>
          </a:solidFill>
          <a:ln w="12700">
            <a:solidFill>
              <a:srgbClr val="2F4E3A"/>
            </a:solidFill>
            <a:prstDash val="solid"/>
          </a:ln>
        </p:spPr>
      </p:sp>
      <p:sp>
        <p:nvSpPr>
          <p:cNvPr id="8" name="Text 6"/>
          <p:cNvSpPr txBox="1"/>
          <p:nvPr/>
        </p:nvSpPr>
        <p:spPr>
          <a:xfrm>
            <a:off x="6510528"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Paper 108</a:t>
            </a:r>
            <a:endParaRPr lang="en-US" sz="1500" dirty="0"/>
          </a:p>
        </p:txBody>
      </p:sp>
      <p:sp>
        <p:nvSpPr>
          <p:cNvPr id="9" name="Text 7"/>
          <p:cNvSpPr txBox="1"/>
          <p:nvPr/>
        </p:nvSpPr>
        <p:spPr>
          <a:xfrm>
            <a:off x="6510528"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 Lightweight LLM-Driven Multi-Agent Framework for</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Virtual Society Simulation with Memory Feedback</a:t>
            </a:r>
            <a:endParaRPr lang="en-US" sz="1200" dirty="0"/>
          </a:p>
        </p:txBody>
      </p:sp>
      <p:pic>
        <p:nvPicPr>
          <p:cNvPr id="10" name="Image 0" descr="/tmp/claude-0/-home-user-valentown/d6e1bc7b-94ca-5433-b61a-57600741710e/scratchpad/assets/ron.png">    </p:cNvPr>
          <p:cNvPicPr>
            <a:picLocks noChangeAspect="1"/>
          </p:cNvPicPr>
          <p:nvPr/>
        </p:nvPicPr>
        <p:blipFill>
          <a:blip r:embed="rId1"/>
          <a:stretch>
            <a:fillRect/>
          </a:stretch>
        </p:blipFill>
        <p:spPr>
          <a:xfrm>
            <a:off x="1510568" y="5074920"/>
            <a:ext cx="444833" cy="1051560"/>
          </a:xfrm>
          <a:prstGeom prst="rect">
            <a:avLst/>
          </a:prstGeom>
        </p:spPr>
      </p:pic>
      <p:pic>
        <p:nvPicPr>
          <p:cNvPr id="11" name="Image 1" descr="/tmp/claude-0/-home-user-valentown/d6e1bc7b-94ca-5433-b61a-57600741710e/scratchpad/assets/ella.png">    </p:cNvPr>
          <p:cNvPicPr>
            <a:picLocks noChangeAspect="1"/>
          </p:cNvPicPr>
          <p:nvPr/>
        </p:nvPicPr>
        <p:blipFill>
          <a:blip r:embed="rId2"/>
          <a:stretch>
            <a:fillRect/>
          </a:stretch>
        </p:blipFill>
        <p:spPr>
          <a:xfrm>
            <a:off x="2914493" y="5074920"/>
            <a:ext cx="545559" cy="1051560"/>
          </a:xfrm>
          <a:prstGeom prst="rect">
            <a:avLst/>
          </a:prstGeom>
        </p:spPr>
      </p:pic>
      <p:pic>
        <p:nvPicPr>
          <p:cNvPr id="12" name="Image 2" descr="/tmp/claude-0/-home-user-valentown/d6e1bc7b-94ca-5433-b61a-57600741710e/scratchpad/assets/emma.png">    </p:cNvPr>
          <p:cNvPicPr>
            <a:picLocks noChangeAspect="1"/>
          </p:cNvPicPr>
          <p:nvPr/>
        </p:nvPicPr>
        <p:blipFill>
          <a:blip r:embed="rId3"/>
          <a:stretch>
            <a:fillRect/>
          </a:stretch>
        </p:blipFill>
        <p:spPr>
          <a:xfrm>
            <a:off x="4369526" y="5074920"/>
            <a:ext cx="544068" cy="1051560"/>
          </a:xfrm>
          <a:prstGeom prst="rect">
            <a:avLst/>
          </a:prstGeom>
        </p:spPr>
      </p:pic>
      <p:pic>
        <p:nvPicPr>
          <p:cNvPr id="13" name="Image 3" descr="/tmp/claude-0/-home-user-valentown/d6e1bc7b-94ca-5433-b61a-57600741710e/scratchpad/assets/gavin.png">    </p:cNvPr>
          <p:cNvPicPr>
            <a:picLocks noChangeAspect="1"/>
          </p:cNvPicPr>
          <p:nvPr/>
        </p:nvPicPr>
        <p:blipFill>
          <a:blip r:embed="rId4"/>
          <a:stretch>
            <a:fillRect/>
          </a:stretch>
        </p:blipFill>
        <p:spPr>
          <a:xfrm>
            <a:off x="5857062" y="5074920"/>
            <a:ext cx="477571" cy="1051560"/>
          </a:xfrm>
          <a:prstGeom prst="rect">
            <a:avLst/>
          </a:prstGeom>
        </p:spPr>
      </p:pic>
      <p:pic>
        <p:nvPicPr>
          <p:cNvPr id="14" name="Image 4" descr="/tmp/claude-0/-home-user-valentown/d6e1bc7b-94ca-5433-b61a-57600741710e/scratchpad/assets/adam.png">    </p:cNvPr>
          <p:cNvPicPr>
            <a:picLocks noChangeAspect="1"/>
          </p:cNvPicPr>
          <p:nvPr/>
        </p:nvPicPr>
        <p:blipFill>
          <a:blip r:embed="rId5"/>
          <a:stretch>
            <a:fillRect/>
          </a:stretch>
        </p:blipFill>
        <p:spPr>
          <a:xfrm>
            <a:off x="7299685" y="5074920"/>
            <a:ext cx="500901" cy="1051560"/>
          </a:xfrm>
          <a:prstGeom prst="rect">
            <a:avLst/>
          </a:prstGeom>
        </p:spPr>
      </p:pic>
      <p:pic>
        <p:nvPicPr>
          <p:cNvPr id="15" name="Image 5" descr="/tmp/claude-0/-home-user-valentown/d6e1bc7b-94ca-5433-b61a-57600741710e/scratchpad/assets/mia.png">    </p:cNvPr>
          <p:cNvPicPr>
            <a:picLocks noChangeAspect="1"/>
          </p:cNvPicPr>
          <p:nvPr/>
        </p:nvPicPr>
        <p:blipFill>
          <a:blip r:embed="rId6"/>
          <a:stretch>
            <a:fillRect/>
          </a:stretch>
        </p:blipFill>
        <p:spPr>
          <a:xfrm>
            <a:off x="8746799" y="5074920"/>
            <a:ext cx="515248" cy="1051560"/>
          </a:xfrm>
          <a:prstGeom prst="rect">
            <a:avLst/>
          </a:prstGeom>
        </p:spPr>
      </p:pic>
      <p:pic>
        <p:nvPicPr>
          <p:cNvPr id="16" name="Image 6" descr="/tmp/claude-0/-home-user-valentown/d6e1bc7b-94ca-5433-b61a-57600741710e/scratchpad/assets/arthur.png">    </p:cNvPr>
          <p:cNvPicPr>
            <a:picLocks noChangeAspect="1"/>
          </p:cNvPicPr>
          <p:nvPr/>
        </p:nvPicPr>
        <p:blipFill>
          <a:blip r:embed="rId7"/>
          <a:stretch>
            <a:fillRect/>
          </a:stretch>
        </p:blipFill>
        <p:spPr>
          <a:xfrm>
            <a:off x="10182454" y="5074920"/>
            <a:ext cx="552515" cy="1051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FRAMEWORK</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A backend that thinks, a frontend that shows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B1</a:t>
            </a:r>
            <a:endParaRPr lang="en-US" sz="900" dirty="0"/>
          </a:p>
        </p:txBody>
      </p:sp>
      <p:sp>
        <p:nvSpPr>
          <p:cNvPr id="6" name="Shape 4"/>
          <p:cNvSpPr/>
          <p:nvPr/>
        </p:nvSpPr>
        <p:spPr>
          <a:xfrm>
            <a:off x="640080" y="1371600"/>
            <a:ext cx="5120640" cy="4663440"/>
          </a:xfrm>
          <a:prstGeom prst="roundRect">
            <a:avLst>
              <a:gd name="adj" fmla="val 1176"/>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1_architecture.png">    </p:cNvPr>
          <p:cNvPicPr>
            <a:picLocks noChangeAspect="1"/>
          </p:cNvPicPr>
          <p:nvPr/>
        </p:nvPicPr>
        <p:blipFill>
          <a:blip r:embed="rId1"/>
          <a:stretch>
            <a:fillRect/>
          </a:stretch>
        </p:blipFill>
        <p:spPr>
          <a:xfrm>
            <a:off x="1257300" y="1481328"/>
            <a:ext cx="3886200" cy="4041418"/>
          </a:xfrm>
          <a:prstGeom prst="rect">
            <a:avLst/>
          </a:prstGeom>
        </p:spPr>
      </p:pic>
      <p:sp>
        <p:nvSpPr>
          <p:cNvPr id="8" name="Text 5"/>
          <p:cNvSpPr txBox="1"/>
          <p:nvPr/>
        </p:nvSpPr>
        <p:spPr>
          <a:xfrm>
            <a:off x="640080" y="5614416"/>
            <a:ext cx="5120640"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1  Overview of the proposed framework</a:t>
            </a:r>
            <a:endParaRPr lang="en-US" sz="1000" dirty="0"/>
          </a:p>
        </p:txBody>
      </p:sp>
      <p:sp>
        <p:nvSpPr>
          <p:cNvPr id="9" name="Shape 6"/>
          <p:cNvSpPr/>
          <p:nvPr/>
        </p:nvSpPr>
        <p:spPr>
          <a:xfrm>
            <a:off x="6126480" y="1371600"/>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0" name="Text 7"/>
          <p:cNvSpPr txBox="1"/>
          <p:nvPr/>
        </p:nvSpPr>
        <p:spPr>
          <a:xfrm>
            <a:off x="6437376" y="1572768"/>
            <a:ext cx="4803343" cy="310896"/>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Backend · Python</a:t>
            </a:r>
            <a:endParaRPr lang="en-US" sz="1500" dirty="0"/>
          </a:p>
        </p:txBody>
      </p:sp>
      <p:sp>
        <p:nvSpPr>
          <p:cNvPr id="11" name="Text 8"/>
          <p:cNvSpPr txBox="1"/>
          <p:nvPr/>
        </p:nvSpPr>
        <p:spPr>
          <a:xfrm>
            <a:off x="6437376" y="1975104"/>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Planning, dialogue, reflection, memory —</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the only part that calls the LLM</a:t>
            </a:r>
            <a:endParaRPr lang="en-US" sz="1200" dirty="0"/>
          </a:p>
        </p:txBody>
      </p:sp>
      <p:sp>
        <p:nvSpPr>
          <p:cNvPr id="12" name="Shape 9"/>
          <p:cNvSpPr/>
          <p:nvPr/>
        </p:nvSpPr>
        <p:spPr>
          <a:xfrm>
            <a:off x="6126480" y="2999232"/>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3" name="Text 10"/>
          <p:cNvSpPr txBox="1"/>
          <p:nvPr/>
        </p:nvSpPr>
        <p:spPr>
          <a:xfrm>
            <a:off x="6437376" y="3200400"/>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Frontend · Phaser</a:t>
            </a:r>
            <a:endParaRPr lang="en-US" sz="1500" dirty="0"/>
          </a:p>
        </p:txBody>
      </p:sp>
      <p:sp>
        <p:nvSpPr>
          <p:cNvPr id="14" name="Text 11"/>
          <p:cNvSpPr txBox="1"/>
          <p:nvPr/>
        </p:nvSpPr>
        <p:spPr>
          <a:xfrm>
            <a:off x="6437376" y="3602736"/>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Town, movement and conversations,</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served over a REST API</a:t>
            </a:r>
            <a:endParaRPr lang="en-US" sz="1200" dirty="0"/>
          </a:p>
        </p:txBody>
      </p:sp>
      <p:sp>
        <p:nvSpPr>
          <p:cNvPr id="15" name="Shape 12"/>
          <p:cNvSpPr/>
          <p:nvPr/>
        </p:nvSpPr>
        <p:spPr>
          <a:xfrm>
            <a:off x="6126480" y="4626864"/>
            <a:ext cx="5425135" cy="1417320"/>
          </a:xfrm>
          <a:prstGeom prst="roundRect">
            <a:avLst>
              <a:gd name="adj" fmla="val 3871"/>
            </a:avLst>
          </a:prstGeom>
          <a:solidFill>
            <a:srgbClr val="EAF2E4"/>
          </a:solidFill>
          <a:ln w="12700">
            <a:solidFill>
              <a:srgbClr val="EAF2E4"/>
            </a:solidFill>
            <a:prstDash val="solid"/>
          </a:ln>
        </p:spPr>
      </p:sp>
      <p:sp>
        <p:nvSpPr>
          <p:cNvPr id="16" name="Text 13"/>
          <p:cNvSpPr txBox="1"/>
          <p:nvPr/>
        </p:nvSpPr>
        <p:spPr>
          <a:xfrm>
            <a:off x="6437376" y="4828032"/>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Five modules</a:t>
            </a:r>
            <a:endParaRPr lang="en-US" sz="1500" dirty="0"/>
          </a:p>
        </p:txBody>
      </p:sp>
      <p:sp>
        <p:nvSpPr>
          <p:cNvPr id="17" name="Text 14"/>
          <p:cNvSpPr txBox="1"/>
          <p:nvPr/>
        </p:nvSpPr>
        <p:spPr>
          <a:xfrm>
            <a:off x="6437376" y="5230368"/>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Agent Manager · Scheduler · Interaction</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Engine · LLM Interface · Memory Manager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IMPLEMENTATION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Valentown: the framework, running</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B2</a:t>
            </a:r>
            <a:endParaRPr lang="en-US" sz="900" dirty="0"/>
          </a:p>
        </p:txBody>
      </p:sp>
      <p:sp>
        <p:nvSpPr>
          <p:cNvPr id="6" name="Shape 4"/>
          <p:cNvSpPr/>
          <p:nvPr/>
        </p:nvSpPr>
        <p:spPr>
          <a:xfrm>
            <a:off x="640080" y="1371600"/>
            <a:ext cx="7863840" cy="4569714"/>
          </a:xfrm>
          <a:prstGeom prst="roundRect">
            <a:avLst>
              <a:gd name="adj" fmla="val 120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screenshot.jpg">    </p:cNvPr>
          <p:cNvPicPr>
            <a:picLocks noChangeAspect="1"/>
          </p:cNvPicPr>
          <p:nvPr/>
        </p:nvPicPr>
        <p:blipFill>
          <a:blip r:embed="rId1"/>
          <a:stretch>
            <a:fillRect/>
          </a:stretch>
        </p:blipFill>
        <p:spPr>
          <a:xfrm>
            <a:off x="713232" y="1444752"/>
            <a:ext cx="7717536" cy="4341114"/>
          </a:xfrm>
          <a:prstGeom prst="rect">
            <a:avLst/>
          </a:prstGeom>
        </p:spPr>
      </p:pic>
      <p:sp>
        <p:nvSpPr>
          <p:cNvPr id="8" name="Shape 5"/>
          <p:cNvSpPr/>
          <p:nvPr/>
        </p:nvSpPr>
        <p:spPr>
          <a:xfrm>
            <a:off x="8823960" y="137160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6"/>
          <p:cNvSpPr txBox="1"/>
          <p:nvPr/>
        </p:nvSpPr>
        <p:spPr>
          <a:xfrm>
            <a:off x="9043416" y="151790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Valentown</a:t>
            </a:r>
            <a:endParaRPr lang="en-US" sz="1450" dirty="0"/>
          </a:p>
        </p:txBody>
      </p:sp>
      <p:sp>
        <p:nvSpPr>
          <p:cNvPr id="10" name="Text 7"/>
          <p:cNvSpPr txBox="1"/>
          <p:nvPr/>
        </p:nvSpPr>
        <p:spPr>
          <a:xfrm>
            <a:off x="9043416" y="186537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homes · shop · pharmacy · café · park</a:t>
            </a:r>
            <a:endParaRPr lang="en-US" sz="1100" dirty="0"/>
          </a:p>
        </p:txBody>
      </p:sp>
      <p:sp>
        <p:nvSpPr>
          <p:cNvPr id="11" name="Shape 8"/>
          <p:cNvSpPr/>
          <p:nvPr/>
        </p:nvSpPr>
        <p:spPr>
          <a:xfrm>
            <a:off x="8823960" y="256032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9"/>
          <p:cNvSpPr txBox="1"/>
          <p:nvPr/>
        </p:nvSpPr>
        <p:spPr>
          <a:xfrm>
            <a:off x="9043416" y="270662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7 residents</a:t>
            </a:r>
            <a:endParaRPr lang="en-US" sz="1450" dirty="0"/>
          </a:p>
        </p:txBody>
      </p:sp>
      <p:sp>
        <p:nvSpPr>
          <p:cNvPr id="13" name="Text 10"/>
          <p:cNvSpPr txBox="1"/>
          <p:nvPr/>
        </p:nvSpPr>
        <p:spPr>
          <a:xfrm>
            <a:off x="9043416" y="305409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own age, role, personality, goals</a:t>
            </a:r>
            <a:endParaRPr lang="en-US" sz="1100" dirty="0"/>
          </a:p>
        </p:txBody>
      </p:sp>
      <p:sp>
        <p:nvSpPr>
          <p:cNvPr id="14" name="Shape 11"/>
          <p:cNvSpPr/>
          <p:nvPr/>
        </p:nvSpPr>
        <p:spPr>
          <a:xfrm>
            <a:off x="8823960" y="374904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2"/>
          <p:cNvSpPr txBox="1"/>
          <p:nvPr/>
        </p:nvSpPr>
        <p:spPr>
          <a:xfrm>
            <a:off x="9043416" y="389534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DeepSeek API</a:t>
            </a:r>
            <a:endParaRPr lang="en-US" sz="1450" dirty="0"/>
          </a:p>
        </p:txBody>
      </p:sp>
      <p:sp>
        <p:nvSpPr>
          <p:cNvPr id="16" name="Text 13"/>
          <p:cNvSpPr txBox="1"/>
          <p:nvPr/>
        </p:nvSpPr>
        <p:spPr>
          <a:xfrm>
            <a:off x="9043416" y="424281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schedules · dialogue · reflection</a:t>
            </a:r>
            <a:endParaRPr lang="en-US" sz="1100" dirty="0"/>
          </a:p>
        </p:txBody>
      </p:sp>
      <p:sp>
        <p:nvSpPr>
          <p:cNvPr id="17" name="Shape 14"/>
          <p:cNvSpPr/>
          <p:nvPr/>
        </p:nvSpPr>
        <p:spPr>
          <a:xfrm>
            <a:off x="8823960" y="4937760"/>
            <a:ext cx="2727655" cy="1024128"/>
          </a:xfrm>
          <a:prstGeom prst="roundRect">
            <a:avLst>
              <a:gd name="adj" fmla="val 5357"/>
            </a:avLst>
          </a:prstGeom>
          <a:solidFill>
            <a:srgbClr val="EAF2E4"/>
          </a:solidFill>
          <a:ln w="12700">
            <a:solidFill>
              <a:srgbClr val="EAF2E4"/>
            </a:solidFill>
            <a:prstDash val="solid"/>
          </a:ln>
        </p:spPr>
      </p:sp>
      <p:sp>
        <p:nvSpPr>
          <p:cNvPr id="18" name="Text 15"/>
          <p:cNvSpPr txBox="1"/>
          <p:nvPr/>
        </p:nvSpPr>
        <p:spPr>
          <a:xfrm>
            <a:off x="9043416" y="508406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Python + Phaser</a:t>
            </a:r>
            <a:endParaRPr lang="en-US" sz="1450" dirty="0"/>
          </a:p>
        </p:txBody>
      </p:sp>
      <p:sp>
        <p:nvSpPr>
          <p:cNvPr id="19" name="Text 16"/>
          <p:cNvSpPr txBox="1"/>
          <p:nvPr/>
        </p:nvSpPr>
        <p:spPr>
          <a:xfrm>
            <a:off x="9043416" y="543153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pre-computed, replayed over REST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DISCUSSION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this buys us, and what it costs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B3</a:t>
            </a:r>
            <a:endParaRPr lang="en-US" sz="900" dirty="0"/>
          </a:p>
        </p:txBody>
      </p:sp>
      <p:sp>
        <p:nvSpPr>
          <p:cNvPr id="6" name="Shape 4"/>
          <p:cNvSpPr/>
          <p:nvPr/>
        </p:nvSpPr>
        <p:spPr>
          <a:xfrm>
            <a:off x="640080"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7274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Advantages</a:t>
            </a:r>
            <a:endParaRPr lang="en-US" sz="1700" dirty="0"/>
          </a:p>
        </p:txBody>
      </p:sp>
      <p:sp>
        <p:nvSpPr>
          <p:cNvPr id="8" name="Shape 6"/>
          <p:cNvSpPr/>
          <p:nvPr/>
        </p:nvSpPr>
        <p:spPr>
          <a:xfrm>
            <a:off x="950976" y="2194560"/>
            <a:ext cx="365760" cy="365760"/>
          </a:xfrm>
          <a:prstGeom prst="ellipse">
            <a:avLst/>
          </a:prstGeom>
          <a:solidFill>
            <a:srgbClr val="7FB069"/>
          </a:solidFill>
          <a:ln/>
        </p:spPr>
      </p:sp>
      <p:sp>
        <p:nvSpPr>
          <p:cNvPr id="9" name="Text 7"/>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Lightweight &amp; reproducible</a:t>
            </a:r>
            <a:endParaRPr lang="en-US" sz="1400" dirty="0"/>
          </a:p>
        </p:txBody>
      </p:sp>
      <p:sp>
        <p:nvSpPr>
          <p:cNvPr id="11" name="Text 9"/>
          <p:cNvSpPr txBox="1"/>
          <p:nvPr/>
        </p:nvSpPr>
        <p:spPr>
          <a:xfrm>
            <a:off x="1481328"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explicit pipeline, deterministic triggers</a:t>
            </a:r>
            <a:endParaRPr lang="en-US" sz="1200" dirty="0"/>
          </a:p>
        </p:txBody>
      </p:sp>
      <p:sp>
        <p:nvSpPr>
          <p:cNvPr id="12" name="Shape 10"/>
          <p:cNvSpPr/>
          <p:nvPr/>
        </p:nvSpPr>
        <p:spPr>
          <a:xfrm>
            <a:off x="950976" y="3154680"/>
            <a:ext cx="365760" cy="365760"/>
          </a:xfrm>
          <a:prstGeom prst="ellipse">
            <a:avLst/>
          </a:prstGeom>
          <a:solidFill>
            <a:srgbClr val="7FB069"/>
          </a:solidFill>
          <a:ln/>
        </p:spPr>
      </p:sp>
      <p:sp>
        <p:nvSpPr>
          <p:cNvPr id="13" name="Text 11"/>
          <p:cNvSpPr txBox="1"/>
          <p:nvPr/>
        </p:nvSpPr>
        <p:spPr>
          <a:xfrm>
            <a:off x="950976"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481328"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Controllable</a:t>
            </a:r>
            <a:endParaRPr lang="en-US" sz="1400" dirty="0"/>
          </a:p>
        </p:txBody>
      </p:sp>
      <p:sp>
        <p:nvSpPr>
          <p:cNvPr id="15" name="Text 13"/>
          <p:cNvSpPr txBox="1"/>
          <p:nvPr/>
        </p:nvSpPr>
        <p:spPr>
          <a:xfrm>
            <a:off x="1481328"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schedules, co-location rules, human feedback</a:t>
            </a:r>
            <a:endParaRPr lang="en-US" sz="1200" dirty="0"/>
          </a:p>
        </p:txBody>
      </p:sp>
      <p:sp>
        <p:nvSpPr>
          <p:cNvPr id="16" name="Shape 14"/>
          <p:cNvSpPr/>
          <p:nvPr/>
        </p:nvSpPr>
        <p:spPr>
          <a:xfrm>
            <a:off x="950976" y="4114800"/>
            <a:ext cx="365760" cy="365760"/>
          </a:xfrm>
          <a:prstGeom prst="ellipse">
            <a:avLst/>
          </a:prstGeom>
          <a:solidFill>
            <a:srgbClr val="7FB069"/>
          </a:solidFill>
          <a:ln/>
        </p:spPr>
      </p:sp>
      <p:sp>
        <p:nvSpPr>
          <p:cNvPr id="17" name="Text 15"/>
          <p:cNvSpPr txBox="1"/>
          <p:nvPr/>
        </p:nvSpPr>
        <p:spPr>
          <a:xfrm>
            <a:off x="950976"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481328"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Extendable</a:t>
            </a:r>
            <a:endParaRPr lang="en-US" sz="1400" dirty="0"/>
          </a:p>
        </p:txBody>
      </p:sp>
      <p:sp>
        <p:nvSpPr>
          <p:cNvPr id="19" name="Text 17"/>
          <p:cNvSpPr txBox="1"/>
          <p:nvPr/>
        </p:nvSpPr>
        <p:spPr>
          <a:xfrm>
            <a:off x="1481328"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every module swaps independently</a:t>
            </a:r>
            <a:endParaRPr lang="en-US" sz="1200" dirty="0"/>
          </a:p>
        </p:txBody>
      </p:sp>
      <p:sp>
        <p:nvSpPr>
          <p:cNvPr id="20" name="Shape 18"/>
          <p:cNvSpPr/>
          <p:nvPr/>
        </p:nvSpPr>
        <p:spPr>
          <a:xfrm>
            <a:off x="6199632"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Text 19"/>
          <p:cNvSpPr txBox="1"/>
          <p:nvPr/>
        </p:nvSpPr>
        <p:spPr>
          <a:xfrm>
            <a:off x="6510528" y="1609344"/>
            <a:ext cx="4727448" cy="292608"/>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Limitations</a:t>
            </a:r>
            <a:endParaRPr lang="en-US" sz="1700" dirty="0"/>
          </a:p>
        </p:txBody>
      </p:sp>
      <p:sp>
        <p:nvSpPr>
          <p:cNvPr id="22" name="Shape 20"/>
          <p:cNvSpPr/>
          <p:nvPr/>
        </p:nvSpPr>
        <p:spPr>
          <a:xfrm>
            <a:off x="6510528" y="2194560"/>
            <a:ext cx="365760" cy="365760"/>
          </a:xfrm>
          <a:prstGeom prst="ellipse">
            <a:avLst/>
          </a:prstGeom>
          <a:solidFill>
            <a:srgbClr val="C98A24"/>
          </a:solidFill>
          <a:ln/>
        </p:spPr>
      </p:sp>
      <p:sp>
        <p:nvSpPr>
          <p:cNvPr id="23" name="Text 21"/>
          <p:cNvSpPr txBox="1"/>
          <p:nvPr/>
        </p:nvSpPr>
        <p:spPr>
          <a:xfrm>
            <a:off x="6510528"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4" name="Text 22"/>
          <p:cNvSpPr txBox="1"/>
          <p:nvPr/>
        </p:nvSpPr>
        <p:spPr>
          <a:xfrm>
            <a:off x="7040880"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Cost</a:t>
            </a:r>
            <a:endParaRPr lang="en-US" sz="1400" dirty="0"/>
          </a:p>
        </p:txBody>
      </p:sp>
      <p:sp>
        <p:nvSpPr>
          <p:cNvPr id="25" name="Text 23"/>
          <p:cNvSpPr txBox="1"/>
          <p:nvPr/>
        </p:nvSpPr>
        <p:spPr>
          <a:xfrm>
            <a:off x="7040880"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API calls scale with agents × days</a:t>
            </a:r>
            <a:endParaRPr lang="en-US" sz="1200" dirty="0"/>
          </a:p>
        </p:txBody>
      </p:sp>
      <p:sp>
        <p:nvSpPr>
          <p:cNvPr id="26" name="Shape 24"/>
          <p:cNvSpPr/>
          <p:nvPr/>
        </p:nvSpPr>
        <p:spPr>
          <a:xfrm>
            <a:off x="6510528" y="3154680"/>
            <a:ext cx="365760" cy="365760"/>
          </a:xfrm>
          <a:prstGeom prst="ellipse">
            <a:avLst/>
          </a:prstGeom>
          <a:solidFill>
            <a:srgbClr val="C98A24"/>
          </a:solidFill>
          <a:ln/>
        </p:spPr>
      </p:sp>
      <p:sp>
        <p:nvSpPr>
          <p:cNvPr id="27" name="Text 25"/>
          <p:cNvSpPr txBox="1"/>
          <p:nvPr/>
        </p:nvSpPr>
        <p:spPr>
          <a:xfrm>
            <a:off x="6510528"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txBox="1"/>
          <p:nvPr/>
        </p:nvSpPr>
        <p:spPr>
          <a:xfrm>
            <a:off x="7040880"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Scale</a:t>
            </a:r>
            <a:endParaRPr lang="en-US" sz="1400" dirty="0"/>
          </a:p>
        </p:txBody>
      </p:sp>
      <p:sp>
        <p:nvSpPr>
          <p:cNvPr id="29" name="Text 27"/>
          <p:cNvSpPr txBox="1"/>
          <p:nvPr/>
        </p:nvSpPr>
        <p:spPr>
          <a:xfrm>
            <a:off x="7040880"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small population, simple town</a:t>
            </a:r>
            <a:endParaRPr lang="en-US" sz="1200" dirty="0"/>
          </a:p>
        </p:txBody>
      </p:sp>
      <p:sp>
        <p:nvSpPr>
          <p:cNvPr id="30" name="Shape 28"/>
          <p:cNvSpPr/>
          <p:nvPr/>
        </p:nvSpPr>
        <p:spPr>
          <a:xfrm>
            <a:off x="6510528" y="4114800"/>
            <a:ext cx="365760" cy="365760"/>
          </a:xfrm>
          <a:prstGeom prst="ellipse">
            <a:avLst/>
          </a:prstGeom>
          <a:solidFill>
            <a:srgbClr val="C98A24"/>
          </a:solidFill>
          <a:ln/>
        </p:spPr>
      </p:sp>
      <p:sp>
        <p:nvSpPr>
          <p:cNvPr id="31" name="Text 29"/>
          <p:cNvSpPr txBox="1"/>
          <p:nvPr/>
        </p:nvSpPr>
        <p:spPr>
          <a:xfrm>
            <a:off x="6510528"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2" name="Text 30"/>
          <p:cNvSpPr txBox="1"/>
          <p:nvPr/>
        </p:nvSpPr>
        <p:spPr>
          <a:xfrm>
            <a:off x="7040880"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Stochasticity</a:t>
            </a:r>
            <a:endParaRPr lang="en-US" sz="1400" dirty="0"/>
          </a:p>
        </p:txBody>
      </p:sp>
      <p:sp>
        <p:nvSpPr>
          <p:cNvPr id="33" name="Text 31"/>
          <p:cNvSpPr txBox="1"/>
          <p:nvPr/>
        </p:nvSpPr>
        <p:spPr>
          <a:xfrm>
            <a:off x="7040880"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runs vary — strict metrics are hard</a:t>
            </a:r>
            <a:endParaRPr lang="en-US" sz="1200" dirty="0"/>
          </a:p>
        </p:txBody>
      </p:sp>
      <p:sp>
        <p:nvSpPr>
          <p:cNvPr id="34" name="Shape 32"/>
          <p:cNvSpPr/>
          <p:nvPr/>
        </p:nvSpPr>
        <p:spPr>
          <a:xfrm>
            <a:off x="1024128" y="5047488"/>
            <a:ext cx="841248" cy="475488"/>
          </a:xfrm>
          <a:prstGeom prst="roundRect">
            <a:avLst>
              <a:gd name="adj" fmla="val 19231"/>
            </a:avLst>
          </a:prstGeom>
          <a:solidFill>
            <a:srgbClr val="EAF2E4"/>
          </a:solidFill>
          <a:ln w="12700">
            <a:solidFill>
              <a:srgbClr val="7FB069"/>
            </a:solidFill>
            <a:prstDash val="solid"/>
          </a:ln>
        </p:spPr>
      </p:sp>
      <p:sp>
        <p:nvSpPr>
          <p:cNvPr id="35" name="Shape 33"/>
          <p:cNvSpPr/>
          <p:nvPr/>
        </p:nvSpPr>
        <p:spPr>
          <a:xfrm>
            <a:off x="1993392" y="5047488"/>
            <a:ext cx="841248" cy="475488"/>
          </a:xfrm>
          <a:prstGeom prst="roundRect">
            <a:avLst>
              <a:gd name="adj" fmla="val 19231"/>
            </a:avLst>
          </a:prstGeom>
          <a:solidFill>
            <a:srgbClr val="EAF2E4"/>
          </a:solidFill>
          <a:ln w="12700">
            <a:solidFill>
              <a:srgbClr val="7FB069"/>
            </a:solidFill>
            <a:prstDash val="solid"/>
          </a:ln>
        </p:spPr>
      </p:sp>
      <p:sp>
        <p:nvSpPr>
          <p:cNvPr id="36" name="Shape 34"/>
          <p:cNvSpPr/>
          <p:nvPr/>
        </p:nvSpPr>
        <p:spPr>
          <a:xfrm>
            <a:off x="2962656" y="4919472"/>
            <a:ext cx="841248" cy="475488"/>
          </a:xfrm>
          <a:prstGeom prst="roundRect">
            <a:avLst>
              <a:gd name="adj" fmla="val 19231"/>
            </a:avLst>
          </a:prstGeom>
          <a:solidFill>
            <a:srgbClr val="C98A24"/>
          </a:solidFill>
          <a:ln w="12700">
            <a:solidFill>
              <a:srgbClr val="C98A24"/>
            </a:solidFill>
            <a:prstDash val="solid"/>
          </a:ln>
        </p:spPr>
      </p:sp>
      <p:sp>
        <p:nvSpPr>
          <p:cNvPr id="37" name="Shape 35"/>
          <p:cNvSpPr/>
          <p:nvPr/>
        </p:nvSpPr>
        <p:spPr>
          <a:xfrm>
            <a:off x="3931920" y="5047488"/>
            <a:ext cx="841248" cy="475488"/>
          </a:xfrm>
          <a:prstGeom prst="roundRect">
            <a:avLst>
              <a:gd name="adj" fmla="val 19231"/>
            </a:avLst>
          </a:prstGeom>
          <a:solidFill>
            <a:srgbClr val="EAF2E4"/>
          </a:solidFill>
          <a:ln w="12700">
            <a:solidFill>
              <a:srgbClr val="7FB069"/>
            </a:solidFill>
            <a:prstDash val="solid"/>
          </a:ln>
        </p:spPr>
      </p:sp>
      <p:sp>
        <p:nvSpPr>
          <p:cNvPr id="38" name="Shape 36"/>
          <p:cNvSpPr/>
          <p:nvPr/>
        </p:nvSpPr>
        <p:spPr>
          <a:xfrm>
            <a:off x="4901184" y="5047488"/>
            <a:ext cx="841248" cy="475488"/>
          </a:xfrm>
          <a:prstGeom prst="roundRect">
            <a:avLst>
              <a:gd name="adj" fmla="val 19231"/>
            </a:avLst>
          </a:prstGeom>
          <a:solidFill>
            <a:srgbClr val="EAF2E4"/>
          </a:solidFill>
          <a:ln w="12700">
            <a:solidFill>
              <a:srgbClr val="7FB069"/>
            </a:solidFill>
            <a:prstDash val="solid"/>
          </a:ln>
        </p:spPr>
      </p:sp>
      <p:sp>
        <p:nvSpPr>
          <p:cNvPr id="39" name="Text 37"/>
          <p:cNvSpPr txBox="1"/>
          <p:nvPr/>
        </p:nvSpPr>
        <p:spPr>
          <a:xfrm>
            <a:off x="1024128"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any module can be swapped without touching the others</a:t>
            </a:r>
            <a:endParaRPr lang="en-US" sz="1000" dirty="0"/>
          </a:p>
        </p:txBody>
      </p:sp>
      <p:sp>
        <p:nvSpPr>
          <p:cNvPr id="40" name="Shape 38"/>
          <p:cNvSpPr/>
          <p:nvPr/>
        </p:nvSpPr>
        <p:spPr>
          <a:xfrm>
            <a:off x="6583680" y="5047488"/>
            <a:ext cx="1344168" cy="475488"/>
          </a:xfrm>
          <a:prstGeom prst="roundRect">
            <a:avLst>
              <a:gd name="adj" fmla="val 11538"/>
            </a:avLst>
          </a:prstGeom>
          <a:solidFill>
            <a:srgbClr val="FBF1DC"/>
          </a:solidFill>
          <a:ln w="12700">
            <a:solidFill>
              <a:srgbClr val="EFDFBE"/>
            </a:solidFill>
            <a:prstDash val="solid"/>
          </a:ln>
        </p:spPr>
      </p:sp>
      <p:sp>
        <p:nvSpPr>
          <p:cNvPr id="41" name="Text 39"/>
          <p:cNvSpPr txBox="1"/>
          <p:nvPr/>
        </p:nvSpPr>
        <p:spPr>
          <a:xfrm>
            <a:off x="6675120"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agents</a:t>
            </a:r>
            <a:endParaRPr lang="en-US" sz="1150" dirty="0"/>
          </a:p>
        </p:txBody>
      </p:sp>
      <p:sp>
        <p:nvSpPr>
          <p:cNvPr id="42" name="Text 40"/>
          <p:cNvSpPr txBox="1"/>
          <p:nvPr/>
        </p:nvSpPr>
        <p:spPr>
          <a:xfrm>
            <a:off x="7927848"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3" name="Shape 41"/>
          <p:cNvSpPr/>
          <p:nvPr/>
        </p:nvSpPr>
        <p:spPr>
          <a:xfrm>
            <a:off x="8202168" y="5047488"/>
            <a:ext cx="1344168" cy="475488"/>
          </a:xfrm>
          <a:prstGeom prst="roundRect">
            <a:avLst>
              <a:gd name="adj" fmla="val 11538"/>
            </a:avLst>
          </a:prstGeom>
          <a:solidFill>
            <a:srgbClr val="FBF1DC"/>
          </a:solidFill>
          <a:ln w="12700">
            <a:solidFill>
              <a:srgbClr val="EFDFBE"/>
            </a:solidFill>
            <a:prstDash val="solid"/>
          </a:ln>
        </p:spPr>
      </p:sp>
      <p:sp>
        <p:nvSpPr>
          <p:cNvPr id="44" name="Text 42"/>
          <p:cNvSpPr txBox="1"/>
          <p:nvPr/>
        </p:nvSpPr>
        <p:spPr>
          <a:xfrm>
            <a:off x="8293608"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days</a:t>
            </a:r>
            <a:endParaRPr lang="en-US" sz="1150" dirty="0"/>
          </a:p>
        </p:txBody>
      </p:sp>
      <p:sp>
        <p:nvSpPr>
          <p:cNvPr id="45" name="Text 43"/>
          <p:cNvSpPr txBox="1"/>
          <p:nvPr/>
        </p:nvSpPr>
        <p:spPr>
          <a:xfrm>
            <a:off x="9546336"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6" name="Shape 44"/>
          <p:cNvSpPr/>
          <p:nvPr/>
        </p:nvSpPr>
        <p:spPr>
          <a:xfrm>
            <a:off x="9820656" y="5047488"/>
            <a:ext cx="1344168" cy="475488"/>
          </a:xfrm>
          <a:prstGeom prst="roundRect">
            <a:avLst>
              <a:gd name="adj" fmla="val 11538"/>
            </a:avLst>
          </a:prstGeom>
          <a:solidFill>
            <a:srgbClr val="FBF1DC"/>
          </a:solidFill>
          <a:ln w="12700">
            <a:solidFill>
              <a:srgbClr val="EFDFBE"/>
            </a:solidFill>
            <a:prstDash val="solid"/>
          </a:ln>
        </p:spPr>
      </p:sp>
      <p:sp>
        <p:nvSpPr>
          <p:cNvPr id="47" name="Text 45"/>
          <p:cNvSpPr txBox="1"/>
          <p:nvPr/>
        </p:nvSpPr>
        <p:spPr>
          <a:xfrm>
            <a:off x="9912096"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conversations</a:t>
            </a:r>
            <a:endParaRPr lang="en-US" sz="1150" dirty="0"/>
          </a:p>
        </p:txBody>
      </p:sp>
      <p:sp>
        <p:nvSpPr>
          <p:cNvPr id="48" name="Text 46"/>
          <p:cNvSpPr txBox="1"/>
          <p:nvPr/>
        </p:nvSpPr>
        <p:spPr>
          <a:xfrm>
            <a:off x="6583680"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every plan, conversation and reflection is an API call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Lightweight LLM-Driven Multi-Agent Framework for Virtual Society Simulation with Memory Feedback</dc:title>
  <dc:subject>PptxGenJS Presentation</dc:subject>
  <dc:creator>Aoao Guo</dc:creator>
  <cp:lastModifiedBy>Aoao Guo</cp:lastModifiedBy>
  <cp:revision>1</cp:revision>
  <dcterms:created xsi:type="dcterms:W3CDTF">2026-08-27T00:38:38Z</dcterms:created>
  <dcterms:modified xsi:type="dcterms:W3CDTF">2026-08-27T00:38:38Z</dcterms:modified>
</cp:coreProperties>
</file>