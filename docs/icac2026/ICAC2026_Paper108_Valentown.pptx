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afternoon. I'm Aoao Guo, from University College London, and this is joint work with Xinyi Tao, Huakang Li and Xuewu Dai. We present a lightweight, LLM-driven multi-agent framework for simulating a virtual society, built around a memory feedback loop. Our system is a small town called Valentown, with seven residents who plan their own days, meet each other, remember what happened, and adapt because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Multi-agent simulation is the standard way to model complex systems: social networks, transport, smart cities. But classical agent-based models run on predefined rules. They capture macro patterns well and human behaviour badly — no context, no planning, no memory.
Large language models changed what an agent can do. An LLM agent produces coherent language, keeps context, and imitates parts of human reasoning.
But something is still missing. Most LLM agent systems are reactive: they answer the prompt in front of them. There is no daily structure, and interaction is ad hoc. So behaviour drifts, the dynamics are hard to control, and results are hard to reproduce. That is the gap we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question is: how do we design a virtual society where agents are structured, evolving and controllable at the same time?
That breaks into three requirements, and each one is answered by one mechanism. These are also our three contributions.
Temporal structure: behaviour has to be organised as a day. Our answer is a schedule-driven agent design.
Evolution: yesterday has to change tomorrow. Our answer is a memory-based feedback loop.
Controllability: interaction must follow an explicit rule, and a human should be able to step in. Our answer is a deterministic co-location trigger, plus optional human-in-the-loop feedback.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two mechanisms.
Schedule-driven behaviour. Instead of asking an agent what to do at every moment, the day starts with an explicit schedule. The prompt combines identity, personality and goals with memories retrieved as context, and the model returns activities and the destinations they imply. That is what makes routines coherent over time, and interpretable for us.
Second, interaction. We do not sample conversations at random. Two agents talk when they are in the same place in the same period — plain co-location. The rule is deterministic, so the social dynamics are reproducible; what gets said is still generated by the model.
That is the design principle of the paper: deterministic when, generative what.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mechanism, and the heart of the paper: memory.
Everything an agent produces goes into one store. Plans are kept as behavioural records, conversations as social experience, reflections as summaries. Every entry has a category, a timestamp and an importance score.
And everything reads from that store. Planning retrieves relevant memories, dialogue retrieves recent history, and reflection summarises the important ones into compact insight and writes it back. That is the loop in the figure.
Retrieval favours recent and high-importance entries, and the store stays bounded, so agents keep what mattered.
Two notes. A person can write feedback directly into memory, through the same channel. And the language model itself is stateless — all continuity lives in the memory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INSERT THE VIDEO OVER THE FRAME BEFORE THE TALK. Set it to start automatically, and check the sound is muted. Roughly 180 words over two minutes — leave gaps and let the town play.
[start] Rather than describe the system, let me show it running.
This is Valentown. The whole town is on one plane: homes along the top, the café, supermarket and pharmacy below, a park on the left. Everything you see was produced by the Python backend — planning, dialogue and reflection, and the only calls to DeepSeek — and the client simply replays it.
[~20 s] Watch one resident. He wakes at home, and the schedule he generated at the start of the day sends him out to a destination. Nobody is steering him.
[~50 s] Here two residents arrive at the same place in the same period — that is the co-location trigger firing. What they say is generated from their context and recent memory, and it goes straight back into memory.
[~1:30] At the end of the day each agent reflects on what happened, and that reflection is what tomorrow's plan is built on. On day one there is nothing to reflect on, so agents plan straight from their profile.
[end] So the schedule, the trigger and the memory loop from the last three slides — this is all of it,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experiments we use seven agents: a supermarket owner, a pharmacist, a couple with a seven-year-old, a family teacher and an architect. Their attributes ground everything the model generates.
We run multiple consecutive virtual days, each a full cycle. Scheduling is deterministic while the generated content is stochastic — a reproducible pipeline with diverse behaviour inside it.
And we ask three questions: what interaction does, what memory does, and whether social structure emerges.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experiment is an ablation on interaction.
With interaction on, agents produce richer and more varied behaviour. The reason is mechanical: a conversation puts new context into memory, and memory is an input to the next plan. So what someone said to you yesterday shows up in what you do today. We see agents scheduling follow-ups, returning to the same places, and repeated contact reinforcing specific pairs.
With interaction off, the town goes quiet. No new social information enters the system, agents fall back on their initial goals, and schedules stay static across days.
So interaction is not decoration here — it drives diversity and adaptation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result is about memory over time.
Memory content does not stay the same. Early on it is mostly plans and observations. As the days pass, conversations and reflections become prominent. Later, high-importance interaction and reflection memories form the dominant context for new decisions — the store turns from a log of activity into accumulated experience.
And that content tracks behaviour. Agents with rich interaction and reflection memories adapt more and behave more coherently. Repeated interaction between two agents forms a persistent bond, visible later as repeated co-location. Nobody wrote a friendship rule; it comes out of memory plus retrieval. Where memory influence is limited, adaptation is weaker.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We presented a schedule-driven multi-agent framework in which planning, interaction and reflection are linked through a memory-centred feedback loop. Importance-based memory keeps what mattered, and reflection turns it into insight that guides the next day.
The experiments show these simple mechanisms are enough: agents develop consistent routines, form lasting relationships and adapt from experience, with no hand-written behavioural rules.
We are open about the limits. Every plan, conversation and reflection is an API call, so cost scales with agents times days; the study is small; and generated output varies between runs, which is why our evaluation is qualitative.
That sets the agenda: quantitative evaluation first, then scale and real-time reaction, then deeper reasoning — with applications to game NPCs, education and embodied agents.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very much for your attention. I am happy to take questions.
(Four backup slides follow: architecture, execution flow, the client as a still image, and the full advantages/limitations.)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Use if asked how the system is put together. The backend, in Python, does planning, dialogue, reflection and memory management, and is the only part that calls the language model — through the DeepSeek API. The frontend, in Phaser, renders the town over a REST interface. Five modules underneath — Agent Manager, Scheduler, Interaction Engine, LLM Interface, Memory Manager — each replaceable on its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Use for a question about the execution order. Nine steps: initialise, first-day check, reflect, generate the plan, store it, determine the destination, move and interact, log the conversation, return. Day one plans straight from the profile; every later day reflects on memory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 and the fallback if the video will not play. This is the same client as a still image: talk through it exactly as you would have talked over the video.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full advantages and limitations, if the discussion goes there. Lightweight and reproducible (explicit pipeline, deterministic triggers); controllable (schedules, co-location rules, human feedback); extendable (every module swaps independently). Against: cost that scales with agents times days, a small-scale study, and run-to-run variation that makes strict quantitative evaluation hard.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slideLayout" Target="../slideLayouts/slideLayout1.xml"/><Relationship Id="rId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1.png"/><Relationship Id="rId5" Type="http://schemas.openxmlformats.org/officeDocument/2006/relationships/image" Target="../media/image-4-2.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slideLayout" Target="../slideLayouts/slideLayout1.xml"/><Relationship Id="rId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slideLayout" Target="../slideLayouts/slideLayout1.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slideLayout" Target="../slideLayouts/slideLayout1.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E23"/>
        </a:solidFill>
      </p:bgPr>
    </p:bg>
    <p:spTree>
      <p:nvGrpSpPr>
        <p:cNvPr id="1" name=""/>
        <p:cNvGrpSpPr/>
        <p:nvPr/>
      </p:nvGrpSpPr>
      <p:grpSpPr>
        <a:xfrm>
          <a:off x="0" y="0"/>
          <a:ext cx="0" cy="0"/>
          <a:chOff x="0" y="0"/>
          <a:chExt cx="0" cy="0"/>
        </a:xfrm>
      </p:grpSpPr>
      <p:sp>
        <p:nvSpPr>
          <p:cNvPr id="2" name="Text 0"/>
          <p:cNvSpPr txBox="1"/>
          <p:nvPr/>
        </p:nvSpPr>
        <p:spPr>
          <a:xfrm>
            <a:off x="640080" y="502920"/>
            <a:ext cx="10911535" cy="274320"/>
          </a:xfrm>
          <a:prstGeom prst="rect">
            <a:avLst/>
          </a:prstGeom>
          <a:noFill/>
          <a:ln/>
        </p:spPr>
        <p:txBody>
          <a:bodyPr wrap="square" lIns="0" tIns="0" rIns="0" bIns="0" rtlCol="0" anchor="ctr"/>
          <a:lstStyle/>
          <a:p>
            <a:pPr indent="0" marL="0">
              <a:buNone/>
            </a:pPr>
            <a:r>
              <a:rPr lang="en-US" sz="1200" b="1" spc="120" kern="0" dirty="0">
                <a:solidFill>
                  <a:srgbClr val="7FB069"/>
                </a:solidFill>
                <a:latin typeface="Calibri" pitchFamily="34" charset="0"/>
                <a:ea typeface="Calibri" pitchFamily="34" charset="-122"/>
                <a:cs typeface="Calibri" pitchFamily="34" charset="-120"/>
              </a:rPr>
              <a:t>ICAC 2026  ·  International Conference on Automation and Computing</a:t>
            </a:r>
            <a:endParaRPr lang="en-US" sz="1200" dirty="0"/>
          </a:p>
        </p:txBody>
      </p:sp>
      <p:sp>
        <p:nvSpPr>
          <p:cNvPr id="3" name="Text 1"/>
          <p:cNvSpPr txBox="1"/>
          <p:nvPr/>
        </p:nvSpPr>
        <p:spPr>
          <a:xfrm>
            <a:off x="640080" y="1143000"/>
            <a:ext cx="10424160" cy="1691640"/>
          </a:xfrm>
          <a:prstGeom prst="rect">
            <a:avLst/>
          </a:prstGeom>
          <a:noFill/>
          <a:ln/>
        </p:spPr>
        <p:txBody>
          <a:bodyPr wrap="square" lIns="0" tIns="0" rIns="0" bIns="0" rtlCol="0" anchor="t"/>
          <a:lstStyle/>
          <a:p>
            <a:pPr indent="0" marL="0">
              <a:lnSpc>
                <a:spcPts val="4200"/>
              </a:lnSpc>
              <a:buNone/>
            </a:pPr>
            <a:r>
              <a:rPr lang="en-US" sz="3600" b="1" dirty="0">
                <a:solidFill>
                  <a:srgbClr val="FFFFFF"/>
                </a:solidFill>
                <a:latin typeface="Cambria" pitchFamily="34" charset="0"/>
                <a:ea typeface="Cambria" pitchFamily="34" charset="-122"/>
                <a:cs typeface="Cambria" pitchFamily="34" charset="-120"/>
              </a:rPr>
              <a:t>A Lightweight LLM-Driven Multi-Agent Framework for Virtual Society Simulation with Memory Feedback</a:t>
            </a:r>
            <a:endParaRPr lang="en-US" sz="3600" dirty="0"/>
          </a:p>
        </p:txBody>
      </p:sp>
      <p:sp>
        <p:nvSpPr>
          <p:cNvPr id="4" name="Text 2"/>
          <p:cNvSpPr txBox="1"/>
          <p:nvPr/>
        </p:nvSpPr>
        <p:spPr>
          <a:xfrm>
            <a:off x="640080" y="3035808"/>
            <a:ext cx="10911535" cy="310896"/>
          </a:xfrm>
          <a:prstGeom prst="rect">
            <a:avLst/>
          </a:prstGeom>
          <a:noFill/>
          <a:ln/>
        </p:spPr>
        <p:txBody>
          <a:bodyPr wrap="square" lIns="0" tIns="0" rIns="0" bIns="0" rtlCol="0" anchor="ctr"/>
          <a:lstStyle/>
          <a:p>
            <a:pPr indent="0" marL="0">
              <a:buNone/>
            </a:pPr>
            <a:r>
              <a:rPr lang="en-US" sz="1600" b="1" dirty="0">
                <a:solidFill>
                  <a:srgbClr val="EAF2E4"/>
                </a:solidFill>
                <a:latin typeface="Calibri" pitchFamily="34" charset="0"/>
                <a:ea typeface="Calibri" pitchFamily="34" charset="-122"/>
                <a:cs typeface="Calibri" pitchFamily="34" charset="-120"/>
              </a:rPr>
              <a:t>Aoao Guo   ·   Xinyi Tao   ·   Huakang Li   ·   Xuewu Dai</a:t>
            </a:r>
            <a:endParaRPr lang="en-US" sz="1600" dirty="0"/>
          </a:p>
        </p:txBody>
      </p:sp>
      <p:sp>
        <p:nvSpPr>
          <p:cNvPr id="5" name="Text 3"/>
          <p:cNvSpPr txBox="1"/>
          <p:nvPr/>
        </p:nvSpPr>
        <p:spPr>
          <a:xfrm>
            <a:off x="640080" y="3401568"/>
            <a:ext cx="10911535" cy="274320"/>
          </a:xfrm>
          <a:prstGeom prst="rect">
            <a:avLst/>
          </a:prstGeom>
          <a:noFill/>
          <a:ln/>
        </p:spPr>
        <p:txBody>
          <a:bodyPr wrap="square" lIns="0" tIns="0" rIns="0" bIns="0" rtlCol="0" anchor="ctr"/>
          <a:lstStyle/>
          <a:p>
            <a:pPr indent="0" marL="0">
              <a:buNone/>
            </a:pPr>
            <a:r>
              <a:rPr lang="en-US" sz="1150" dirty="0">
                <a:solidFill>
                  <a:srgbClr val="A9BBA9"/>
                </a:solidFill>
                <a:latin typeface="Calibri" pitchFamily="34" charset="0"/>
                <a:ea typeface="Calibri" pitchFamily="34" charset="-122"/>
                <a:cs typeface="Calibri" pitchFamily="34" charset="-120"/>
              </a:rPr>
              <a:t>University College London   |   Xi'an Jiaotong-Liverpool University   |   Northumbria University</a:t>
            </a:r>
            <a:endParaRPr lang="en-US" sz="1150" dirty="0"/>
          </a:p>
        </p:txBody>
      </p:sp>
      <p:sp>
        <p:nvSpPr>
          <p:cNvPr id="6" name="Text 4"/>
          <p:cNvSpPr txBox="1"/>
          <p:nvPr/>
        </p:nvSpPr>
        <p:spPr>
          <a:xfrm>
            <a:off x="640080" y="3913632"/>
            <a:ext cx="10911535" cy="274320"/>
          </a:xfrm>
          <a:prstGeom prst="rect">
            <a:avLst/>
          </a:prstGeom>
          <a:noFill/>
          <a:ln/>
        </p:spPr>
        <p:txBody>
          <a:bodyPr wrap="square" lIns="0" tIns="0" rIns="0" bIns="0" rtlCol="0" anchor="ctr"/>
          <a:lstStyle/>
          <a:p>
            <a:pPr indent="0" marL="0">
              <a:buNone/>
            </a:pPr>
            <a:r>
              <a:rPr lang="en-US" sz="1150" dirty="0">
                <a:solidFill>
                  <a:srgbClr val="C98A24"/>
                </a:solidFill>
                <a:latin typeface="Calibri" pitchFamily="34" charset="0"/>
                <a:ea typeface="Calibri" pitchFamily="34" charset="-122"/>
                <a:cs typeface="Calibri" pitchFamily="34" charset="-120"/>
              </a:rPr>
              <a:t>Paper 108   ·   Parallel Session 3: Robotics &amp; Autonomous Systems   ·   Thursday 27 August 2026</a:t>
            </a:r>
            <a:endParaRPr lang="en-US" sz="1150" dirty="0"/>
          </a:p>
        </p:txBody>
      </p:sp>
      <p:sp>
        <p:nvSpPr>
          <p:cNvPr id="7" name="Shape 5"/>
          <p:cNvSpPr/>
          <p:nvPr/>
        </p:nvSpPr>
        <p:spPr>
          <a:xfrm>
            <a:off x="640080" y="4681728"/>
            <a:ext cx="10911535" cy="1572768"/>
          </a:xfrm>
          <a:prstGeom prst="roundRect">
            <a:avLst>
              <a:gd name="adj" fmla="val 3488"/>
            </a:avLst>
          </a:prstGeom>
          <a:solidFill>
            <a:srgbClr val="EAF2E4"/>
          </a:solidFill>
          <a:ln w="12700">
            <a:solidFill>
              <a:srgbClr val="EAF2E4"/>
            </a:solidFill>
            <a:prstDash val="solid"/>
          </a:ln>
        </p:spPr>
      </p:sp>
      <p:pic>
        <p:nvPicPr>
          <p:cNvPr id="8" name="Image 0" descr="/tmp/claude-0/-home-user-valentown/d6e1bc7b-94ca-5433-b61a-57600741710e/scratchpad/assets/ron.png">    </p:cNvPr>
          <p:cNvPicPr>
            <a:picLocks noChangeAspect="1"/>
          </p:cNvPicPr>
          <p:nvPr/>
        </p:nvPicPr>
        <p:blipFill>
          <a:blip r:embed="rId1"/>
          <a:stretch>
            <a:fillRect/>
          </a:stretch>
        </p:blipFill>
        <p:spPr>
          <a:xfrm>
            <a:off x="1504765" y="4956048"/>
            <a:ext cx="456437" cy="1078992"/>
          </a:xfrm>
          <a:prstGeom prst="rect">
            <a:avLst/>
          </a:prstGeom>
        </p:spPr>
      </p:pic>
      <p:pic>
        <p:nvPicPr>
          <p:cNvPr id="9" name="Image 1" descr="/tmp/claude-0/-home-user-valentown/d6e1bc7b-94ca-5433-b61a-57600741710e/scratchpad/assets/ella.png">    </p:cNvPr>
          <p:cNvPicPr>
            <a:picLocks noChangeAspect="1"/>
          </p:cNvPicPr>
          <p:nvPr/>
        </p:nvPicPr>
        <p:blipFill>
          <a:blip r:embed="rId2"/>
          <a:stretch>
            <a:fillRect/>
          </a:stretch>
        </p:blipFill>
        <p:spPr>
          <a:xfrm>
            <a:off x="2907377" y="4956048"/>
            <a:ext cx="559791" cy="1078992"/>
          </a:xfrm>
          <a:prstGeom prst="rect">
            <a:avLst/>
          </a:prstGeom>
        </p:spPr>
      </p:pic>
      <p:pic>
        <p:nvPicPr>
          <p:cNvPr id="10" name="Image 2" descr="/tmp/claude-0/-home-user-valentown/d6e1bc7b-94ca-5433-b61a-57600741710e/scratchpad/assets/emma.png">    </p:cNvPr>
          <p:cNvPicPr>
            <a:picLocks noChangeAspect="1"/>
          </p:cNvPicPr>
          <p:nvPr/>
        </p:nvPicPr>
        <p:blipFill>
          <a:blip r:embed="rId3"/>
          <a:stretch>
            <a:fillRect/>
          </a:stretch>
        </p:blipFill>
        <p:spPr>
          <a:xfrm>
            <a:off x="4362429" y="4956048"/>
            <a:ext cx="558261" cy="1078992"/>
          </a:xfrm>
          <a:prstGeom prst="rect">
            <a:avLst/>
          </a:prstGeom>
        </p:spPr>
      </p:pic>
      <p:pic>
        <p:nvPicPr>
          <p:cNvPr id="11" name="Image 3" descr="/tmp/claude-0/-home-user-valentown/d6e1bc7b-94ca-5433-b61a-57600741710e/scratchpad/assets/gavin.png">    </p:cNvPr>
          <p:cNvPicPr>
            <a:picLocks noChangeAspect="1"/>
          </p:cNvPicPr>
          <p:nvPr/>
        </p:nvPicPr>
        <p:blipFill>
          <a:blip r:embed="rId4"/>
          <a:stretch>
            <a:fillRect/>
          </a:stretch>
        </p:blipFill>
        <p:spPr>
          <a:xfrm>
            <a:off x="5850833" y="4956048"/>
            <a:ext cx="490029" cy="1078992"/>
          </a:xfrm>
          <a:prstGeom prst="rect">
            <a:avLst/>
          </a:prstGeom>
        </p:spPr>
      </p:pic>
      <p:pic>
        <p:nvPicPr>
          <p:cNvPr id="12" name="Image 4" descr="/tmp/claude-0/-home-user-valentown/d6e1bc7b-94ca-5433-b61a-57600741710e/scratchpad/assets/adam.png">    </p:cNvPr>
          <p:cNvPicPr>
            <a:picLocks noChangeAspect="1"/>
          </p:cNvPicPr>
          <p:nvPr/>
        </p:nvPicPr>
        <p:blipFill>
          <a:blip r:embed="rId5"/>
          <a:stretch>
            <a:fillRect/>
          </a:stretch>
        </p:blipFill>
        <p:spPr>
          <a:xfrm>
            <a:off x="7293152" y="4956048"/>
            <a:ext cx="513968" cy="1078992"/>
          </a:xfrm>
          <a:prstGeom prst="rect">
            <a:avLst/>
          </a:prstGeom>
        </p:spPr>
      </p:pic>
      <p:pic>
        <p:nvPicPr>
          <p:cNvPr id="13" name="Image 5" descr="/tmp/claude-0/-home-user-valentown/d6e1bc7b-94ca-5433-b61a-57600741710e/scratchpad/assets/mia.png">    </p:cNvPr>
          <p:cNvPicPr>
            <a:picLocks noChangeAspect="1"/>
          </p:cNvPicPr>
          <p:nvPr/>
        </p:nvPicPr>
        <p:blipFill>
          <a:blip r:embed="rId6"/>
          <a:stretch>
            <a:fillRect/>
          </a:stretch>
        </p:blipFill>
        <p:spPr>
          <a:xfrm>
            <a:off x="8740079" y="4956048"/>
            <a:ext cx="528689" cy="1078992"/>
          </a:xfrm>
          <a:prstGeom prst="rect">
            <a:avLst/>
          </a:prstGeom>
        </p:spPr>
      </p:pic>
      <p:pic>
        <p:nvPicPr>
          <p:cNvPr id="14" name="Image 6" descr="/tmp/claude-0/-home-user-valentown/d6e1bc7b-94ca-5433-b61a-57600741710e/scratchpad/assets/arthur.png">    </p:cNvPr>
          <p:cNvPicPr>
            <a:picLocks noChangeAspect="1"/>
          </p:cNvPicPr>
          <p:nvPr/>
        </p:nvPicPr>
        <p:blipFill>
          <a:blip r:embed="rId7"/>
          <a:stretch>
            <a:fillRect/>
          </a:stretch>
        </p:blipFill>
        <p:spPr>
          <a:xfrm>
            <a:off x="10175247" y="4956048"/>
            <a:ext cx="566928" cy="1078992"/>
          </a:xfrm>
          <a:prstGeom prst="rect">
            <a:avLst/>
          </a:prstGeom>
        </p:spPr>
      </p:pic>
      <p:sp>
        <p:nvSpPr>
          <p:cNvPr id="15" name="Text 6"/>
          <p:cNvSpPr txBox="1"/>
          <p:nvPr/>
        </p:nvSpPr>
        <p:spPr>
          <a:xfrm>
            <a:off x="640080" y="6382512"/>
            <a:ext cx="10911535" cy="274320"/>
          </a:xfrm>
          <a:prstGeom prst="rect">
            <a:avLst/>
          </a:prstGeom>
          <a:noFill/>
          <a:ln/>
        </p:spPr>
        <p:txBody>
          <a:bodyPr wrap="square" lIns="0" tIns="0" rIns="0" bIns="0" rtlCol="0" anchor="ctr"/>
          <a:lstStyle/>
          <a:p>
            <a:pPr algn="ctr" indent="0" marL="0">
              <a:buNone/>
            </a:pPr>
            <a:r>
              <a:rPr lang="en-US" sz="1100" i="1" dirty="0">
                <a:solidFill>
                  <a:srgbClr val="A9BBA9"/>
                </a:solidFill>
                <a:latin typeface="Calibri" pitchFamily="34" charset="0"/>
                <a:ea typeface="Calibri" pitchFamily="34" charset="-122"/>
                <a:cs typeface="Calibri" pitchFamily="34" charset="-120"/>
              </a:rPr>
              <a:t>Valentown — seven residents who plan, meet, remember and adapt</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8F4"/>
        </a:solidFill>
      </p:bgPr>
    </p:bg>
    <p:spTree>
      <p:nvGrpSpPr>
        <p:cNvPr id="1" name=""/>
        <p:cNvGrpSpPr/>
        <p:nvPr/>
      </p:nvGrpSpPr>
      <p:grpSpPr>
        <a:xfrm>
          <a:off x="0" y="0"/>
          <a:ext cx="0" cy="0"/>
          <a:chOff x="0" y="0"/>
          <a:chExt cx="0" cy="0"/>
        </a:xfrm>
      </p:grpSpPr>
      <p:sp>
        <p:nvSpPr>
          <p:cNvPr id="2" name="Text 0"/>
          <p:cNvSpPr txBox="1"/>
          <p:nvPr/>
        </p:nvSpPr>
        <p:spPr>
          <a:xfrm>
            <a:off x="640080" y="329184"/>
            <a:ext cx="10911535" cy="237744"/>
          </a:xfrm>
          <a:prstGeom prst="rect">
            <a:avLst/>
          </a:prstGeom>
          <a:noFill/>
          <a:ln/>
        </p:spPr>
        <p:txBody>
          <a:bodyPr wrap="square" lIns="0" tIns="0" rIns="0" bIns="0" rtlCol="0" anchor="ctr"/>
          <a:lstStyle/>
          <a:p>
            <a:pPr indent="0" marL="0">
              <a:buNone/>
            </a:pPr>
            <a:r>
              <a:rPr lang="en-US" sz="1100" b="1" spc="160" kern="0" dirty="0">
                <a:solidFill>
                  <a:srgbClr val="2C5F2D"/>
                </a:solidFill>
                <a:latin typeface="Calibri" pitchFamily="34" charset="0"/>
                <a:ea typeface="Calibri" pitchFamily="34" charset="-122"/>
                <a:cs typeface="Calibri" pitchFamily="34" charset="-120"/>
              </a:rPr>
              <a:t>MOTIVATION</a:t>
            </a:r>
            <a:endParaRPr lang="en-US" sz="1100" dirty="0"/>
          </a:p>
        </p:txBody>
      </p:sp>
      <p:sp>
        <p:nvSpPr>
          <p:cNvPr id="3" name="Text 1"/>
          <p:cNvSpPr txBox="1"/>
          <p:nvPr/>
        </p:nvSpPr>
        <p:spPr>
          <a:xfrm>
            <a:off x="640080" y="585216"/>
            <a:ext cx="10911535" cy="731520"/>
          </a:xfrm>
          <a:prstGeom prst="rect">
            <a:avLst/>
          </a:prstGeom>
          <a:noFill/>
          <a:ln/>
        </p:spPr>
        <p:txBody>
          <a:bodyPr wrap="square" lIns="0" tIns="0" rIns="0" bIns="0" rtlCol="0" anchor="t"/>
          <a:lstStyle/>
          <a:p>
            <a:pPr indent="0" marL="0">
              <a:buNone/>
            </a:pPr>
            <a:r>
              <a:rPr lang="en-US" sz="3000" b="1" dirty="0">
                <a:solidFill>
                  <a:srgbClr val="1B2E23"/>
                </a:solidFill>
                <a:latin typeface="Cambria" pitchFamily="34" charset="0"/>
                <a:ea typeface="Cambria" pitchFamily="34" charset="-122"/>
                <a:cs typeface="Cambria" pitchFamily="34" charset="-120"/>
              </a:rPr>
              <a:t>Two ways to simulate people</a:t>
            </a:r>
            <a:endParaRPr lang="en-US" sz="3000" dirty="0"/>
          </a:p>
        </p:txBody>
      </p:sp>
      <p:sp>
        <p:nvSpPr>
          <p:cNvPr id="4" name="Text 2"/>
          <p:cNvSpPr txBox="1"/>
          <p:nvPr/>
        </p:nvSpPr>
        <p:spPr>
          <a:xfrm>
            <a:off x="640080" y="6419088"/>
            <a:ext cx="5486400" cy="256032"/>
          </a:xfrm>
          <a:prstGeom prst="rect">
            <a:avLst/>
          </a:prstGeom>
          <a:noFill/>
          <a:ln/>
        </p:spPr>
        <p:txBody>
          <a:bodyPr wrap="square" lIns="0" tIns="0" rIns="0" bIns="0" rtlCol="0" anchor="ctr"/>
          <a:lstStyle/>
          <a:p>
            <a:pPr indent="0" marL="0">
              <a:buNone/>
            </a:pPr>
            <a:r>
              <a:rPr lang="en-US" sz="900" dirty="0">
                <a:solidFill>
                  <a:srgbClr val="5F6B60"/>
                </a:solidFill>
                <a:latin typeface="Calibri" pitchFamily="34" charset="0"/>
                <a:ea typeface="Calibri" pitchFamily="34" charset="-122"/>
                <a:cs typeface="Calibri" pitchFamily="34" charset="-120"/>
              </a:rPr>
              <a:t>ICAC 2026  ·  Paper 108  ·  Valentown</a:t>
            </a:r>
            <a:endParaRPr lang="en-US" sz="900" dirty="0"/>
          </a:p>
        </p:txBody>
      </p:sp>
      <p:sp>
        <p:nvSpPr>
          <p:cNvPr id="5" name="Text 3"/>
          <p:cNvSpPr txBox="1"/>
          <p:nvPr/>
        </p:nvSpPr>
        <p:spPr>
          <a:xfrm>
            <a:off x="10454335" y="6419088"/>
            <a:ext cx="1097280" cy="256032"/>
          </a:xfrm>
          <a:prstGeom prst="rect">
            <a:avLst/>
          </a:prstGeom>
          <a:noFill/>
          <a:ln/>
        </p:spPr>
        <p:txBody>
          <a:bodyPr wrap="square" lIns="0" tIns="0" rIns="0" bIns="0" rtlCol="0" anchor="ctr"/>
          <a:lstStyle/>
          <a:p>
            <a:pPr algn="r" indent="0" marL="0">
              <a:buNone/>
            </a:pPr>
            <a:r>
              <a:rPr lang="en-US" sz="900" dirty="0">
                <a:solidFill>
                  <a:srgbClr val="5F6B60"/>
                </a:solidFill>
                <a:latin typeface="Calibri" pitchFamily="34" charset="0"/>
                <a:ea typeface="Calibri" pitchFamily="34" charset="-122"/>
                <a:cs typeface="Calibri" pitchFamily="34" charset="-120"/>
              </a:rPr>
              <a:t>2</a:t>
            </a:r>
            <a:endParaRPr lang="en-US" sz="900" dirty="0"/>
          </a:p>
        </p:txBody>
      </p:sp>
      <p:sp>
        <p:nvSpPr>
          <p:cNvPr id="6" name="Shape 4"/>
          <p:cNvSpPr/>
          <p:nvPr/>
        </p:nvSpPr>
        <p:spPr>
          <a:xfrm>
            <a:off x="640080" y="1417320"/>
            <a:ext cx="5349240" cy="3200400"/>
          </a:xfrm>
          <a:prstGeom prst="roundRect">
            <a:avLst>
              <a:gd name="adj" fmla="val 1714"/>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7" name="Shape 5"/>
          <p:cNvSpPr/>
          <p:nvPr/>
        </p:nvSpPr>
        <p:spPr>
          <a:xfrm>
            <a:off x="932688" y="1664208"/>
            <a:ext cx="384048" cy="384048"/>
          </a:xfrm>
          <a:prstGeom prst="ellipse">
            <a:avLst/>
          </a:prstGeom>
          <a:solidFill>
            <a:srgbClr val="2C5F2D"/>
          </a:solidFill>
          <a:ln/>
        </p:spPr>
      </p:sp>
      <p:sp>
        <p:nvSpPr>
          <p:cNvPr id="8" name="Text 6"/>
          <p:cNvSpPr txBox="1"/>
          <p:nvPr/>
        </p:nvSpPr>
        <p:spPr>
          <a:xfrm>
            <a:off x="932688" y="166420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R</a:t>
            </a:r>
            <a:endParaRPr lang="en-US" sz="1300" dirty="0"/>
          </a:p>
        </p:txBody>
      </p:sp>
      <p:sp>
        <p:nvSpPr>
          <p:cNvPr id="9" name="Text 7"/>
          <p:cNvSpPr txBox="1"/>
          <p:nvPr/>
        </p:nvSpPr>
        <p:spPr>
          <a:xfrm>
            <a:off x="1481328" y="1709928"/>
            <a:ext cx="4251960" cy="292608"/>
          </a:xfrm>
          <a:prstGeom prst="rect">
            <a:avLst/>
          </a:prstGeom>
          <a:noFill/>
          <a:ln/>
        </p:spPr>
        <p:txBody>
          <a:bodyPr wrap="square" lIns="0" tIns="0" rIns="0" bIns="0" rtlCol="0" anchor="ctr"/>
          <a:lstStyle/>
          <a:p>
            <a:pPr indent="0" marL="0">
              <a:buNone/>
            </a:pPr>
            <a:r>
              <a:rPr lang="en-US" sz="1500" b="1" dirty="0">
                <a:solidFill>
                  <a:srgbClr val="1B2E23"/>
                </a:solidFill>
                <a:latin typeface="Cambria" pitchFamily="34" charset="0"/>
                <a:ea typeface="Cambria" pitchFamily="34" charset="-122"/>
                <a:cs typeface="Cambria" pitchFamily="34" charset="-120"/>
              </a:rPr>
              <a:t>Rule-based agent models</a:t>
            </a:r>
            <a:endParaRPr lang="en-US" sz="1500" dirty="0"/>
          </a:p>
        </p:txBody>
      </p:sp>
      <p:sp>
        <p:nvSpPr>
          <p:cNvPr id="10" name="Shape 8"/>
          <p:cNvSpPr/>
          <p:nvPr/>
        </p:nvSpPr>
        <p:spPr>
          <a:xfrm>
            <a:off x="1143000" y="2395728"/>
            <a:ext cx="1783080" cy="658368"/>
          </a:xfrm>
          <a:prstGeom prst="roundRect">
            <a:avLst>
              <a:gd name="adj" fmla="val 8333"/>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11" name="Text 9"/>
          <p:cNvSpPr txBox="1"/>
          <p:nvPr/>
        </p:nvSpPr>
        <p:spPr>
          <a:xfrm>
            <a:off x="1234440" y="2395728"/>
            <a:ext cx="1600200" cy="658368"/>
          </a:xfrm>
          <a:prstGeom prst="rect">
            <a:avLst/>
          </a:prstGeom>
          <a:noFill/>
          <a:ln/>
        </p:spPr>
        <p:txBody>
          <a:bodyPr wrap="square" lIns="0" tIns="0" rIns="0" bIns="0" rtlCol="0" anchor="ctr"/>
          <a:lstStyle/>
          <a:p>
            <a:pPr algn="ctr" indent="0" marL="0">
              <a:lnSpc>
                <a:spcPts val="1400"/>
              </a:lnSpc>
              <a:buNone/>
            </a:pPr>
            <a:r>
              <a:rPr lang="en-US" sz="1250" b="1" dirty="0">
                <a:solidFill>
                  <a:srgbClr val="1B2E23"/>
                </a:solidFill>
                <a:latin typeface="Calibri" pitchFamily="34" charset="0"/>
                <a:ea typeface="Calibri" pitchFamily="34" charset="-122"/>
                <a:cs typeface="Calibri" pitchFamily="34" charset="-120"/>
              </a:rPr>
              <a:t>Fixed rules</a:t>
            </a:r>
            <a:endParaRPr lang="en-US" sz="1250" dirty="0"/>
          </a:p>
        </p:txBody>
      </p:sp>
      <p:sp>
        <p:nvSpPr>
          <p:cNvPr id="12" name="Shape 10"/>
          <p:cNvSpPr/>
          <p:nvPr/>
        </p:nvSpPr>
        <p:spPr>
          <a:xfrm>
            <a:off x="3090672" y="2615184"/>
            <a:ext cx="457200" cy="219456"/>
          </a:xfrm>
          <a:prstGeom prst="rightArrow">
            <a:avLst/>
          </a:prstGeom>
          <a:solidFill>
            <a:srgbClr val="C98A24"/>
          </a:solidFill>
          <a:ln/>
        </p:spPr>
      </p:sp>
      <p:sp>
        <p:nvSpPr>
          <p:cNvPr id="13" name="Shape 11"/>
          <p:cNvSpPr/>
          <p:nvPr/>
        </p:nvSpPr>
        <p:spPr>
          <a:xfrm>
            <a:off x="3712464" y="2395728"/>
            <a:ext cx="1783080" cy="658368"/>
          </a:xfrm>
          <a:prstGeom prst="roundRect">
            <a:avLst>
              <a:gd name="adj" fmla="val 8333"/>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14" name="Text 12"/>
          <p:cNvSpPr txBox="1"/>
          <p:nvPr/>
        </p:nvSpPr>
        <p:spPr>
          <a:xfrm>
            <a:off x="3803904" y="2395728"/>
            <a:ext cx="1600200" cy="658368"/>
          </a:xfrm>
          <a:prstGeom prst="rect">
            <a:avLst/>
          </a:prstGeom>
          <a:noFill/>
          <a:ln/>
        </p:spPr>
        <p:txBody>
          <a:bodyPr wrap="square" lIns="0" tIns="0" rIns="0" bIns="0" rtlCol="0" anchor="ctr"/>
          <a:lstStyle/>
          <a:p>
            <a:pPr algn="ctr" indent="0" marL="0">
              <a:lnSpc>
                <a:spcPts val="1400"/>
              </a:lnSpc>
              <a:buNone/>
            </a:pPr>
            <a:r>
              <a:rPr lang="en-US" sz="1250" b="1" dirty="0">
                <a:solidFill>
                  <a:srgbClr val="1B2E23"/>
                </a:solidFill>
                <a:latin typeface="Calibri" pitchFamily="34" charset="0"/>
                <a:ea typeface="Calibri" pitchFamily="34" charset="-122"/>
                <a:cs typeface="Calibri" pitchFamily="34" charset="-120"/>
              </a:rPr>
              <a:t>Action</a:t>
            </a:r>
            <a:endParaRPr lang="en-US" sz="1250" dirty="0"/>
          </a:p>
        </p:txBody>
      </p:sp>
      <p:sp>
        <p:nvSpPr>
          <p:cNvPr id="15" name="Text 13"/>
          <p:cNvSpPr txBox="1"/>
          <p:nvPr/>
        </p:nvSpPr>
        <p:spPr>
          <a:xfrm>
            <a:off x="950976" y="3145536"/>
            <a:ext cx="4727448" cy="237744"/>
          </a:xfrm>
          <a:prstGeom prst="rect">
            <a:avLst/>
          </a:prstGeom>
          <a:noFill/>
          <a:ln/>
        </p:spPr>
        <p:txBody>
          <a:bodyPr wrap="square" lIns="0" tIns="0" rIns="0" bIns="0" rtlCol="0" anchor="ctr"/>
          <a:lstStyle/>
          <a:p>
            <a:pPr algn="ctr" indent="0" marL="0">
              <a:buNone/>
            </a:pPr>
            <a:r>
              <a:rPr lang="en-US" sz="950" i="1" dirty="0">
                <a:solidFill>
                  <a:srgbClr val="5F6B60"/>
                </a:solidFill>
                <a:latin typeface="Calibri" pitchFamily="34" charset="0"/>
                <a:ea typeface="Calibri" pitchFamily="34" charset="-122"/>
                <a:cs typeface="Calibri" pitchFamily="34" charset="-120"/>
              </a:rPr>
              <a:t>same input → the same behaviour, every day</a:t>
            </a:r>
            <a:endParaRPr lang="en-US" sz="950" dirty="0"/>
          </a:p>
        </p:txBody>
      </p:sp>
      <p:sp>
        <p:nvSpPr>
          <p:cNvPr id="16" name="Shape 14"/>
          <p:cNvSpPr/>
          <p:nvPr/>
        </p:nvSpPr>
        <p:spPr>
          <a:xfrm>
            <a:off x="1143000" y="3529584"/>
            <a:ext cx="4352544" cy="420624"/>
          </a:xfrm>
          <a:prstGeom prst="roundRect">
            <a:avLst>
              <a:gd name="adj" fmla="val 13043"/>
            </a:avLst>
          </a:prstGeom>
          <a:solidFill>
            <a:srgbClr val="EFEFEA"/>
          </a:solidFill>
          <a:ln w="12700">
            <a:solidFill>
              <a:srgbClr val="EFEFEA"/>
            </a:solidFill>
            <a:prstDash val="solid"/>
          </a:ln>
        </p:spPr>
      </p:sp>
      <p:sp>
        <p:nvSpPr>
          <p:cNvPr id="17" name="Text 15"/>
          <p:cNvSpPr txBox="1"/>
          <p:nvPr/>
        </p:nvSpPr>
        <p:spPr>
          <a:xfrm>
            <a:off x="1234440" y="3529584"/>
            <a:ext cx="4169664" cy="420624"/>
          </a:xfrm>
          <a:prstGeom prst="rect">
            <a:avLst/>
          </a:prstGeom>
          <a:noFill/>
          <a:ln/>
        </p:spPr>
        <p:txBody>
          <a:bodyPr wrap="square" lIns="0" tIns="0" rIns="0" bIns="0" rtlCol="0" anchor="ctr"/>
          <a:lstStyle/>
          <a:p>
            <a:pPr algn="ctr" indent="0" marL="0">
              <a:lnSpc>
                <a:spcPts val="1400"/>
              </a:lnSpc>
              <a:buNone/>
            </a:pPr>
            <a:r>
              <a:rPr lang="en-US" sz="1100" b="1" dirty="0">
                <a:solidFill>
                  <a:srgbClr val="5F6B60"/>
                </a:solidFill>
                <a:latin typeface="Calibri" pitchFamily="34" charset="0"/>
                <a:ea typeface="Calibri" pitchFamily="34" charset="-122"/>
                <a:cs typeface="Calibri" pitchFamily="34" charset="-120"/>
              </a:rPr>
              <a:t>No context · no planning · no memory</a:t>
            </a:r>
            <a:endParaRPr lang="en-US" sz="1100" dirty="0"/>
          </a:p>
        </p:txBody>
      </p:sp>
      <p:sp>
        <p:nvSpPr>
          <p:cNvPr id="18" name="Shape 16"/>
          <p:cNvSpPr/>
          <p:nvPr/>
        </p:nvSpPr>
        <p:spPr>
          <a:xfrm>
            <a:off x="1143000" y="4023360"/>
            <a:ext cx="4352544" cy="420624"/>
          </a:xfrm>
          <a:prstGeom prst="roundRect">
            <a:avLst>
              <a:gd name="adj" fmla="val 13043"/>
            </a:avLst>
          </a:prstGeom>
          <a:solidFill>
            <a:srgbClr val="EFEFEA"/>
          </a:solidFill>
          <a:ln w="12700">
            <a:solidFill>
              <a:srgbClr val="EFEFEA"/>
            </a:solidFill>
            <a:prstDash val="solid"/>
          </a:ln>
        </p:spPr>
      </p:sp>
      <p:sp>
        <p:nvSpPr>
          <p:cNvPr id="19" name="Text 17"/>
          <p:cNvSpPr txBox="1"/>
          <p:nvPr/>
        </p:nvSpPr>
        <p:spPr>
          <a:xfrm>
            <a:off x="1234440" y="4023360"/>
            <a:ext cx="4169664" cy="420624"/>
          </a:xfrm>
          <a:prstGeom prst="rect">
            <a:avLst/>
          </a:prstGeom>
          <a:noFill/>
          <a:ln/>
        </p:spPr>
        <p:txBody>
          <a:bodyPr wrap="square" lIns="0" tIns="0" rIns="0" bIns="0" rtlCol="0" anchor="ctr"/>
          <a:lstStyle/>
          <a:p>
            <a:pPr algn="ctr" indent="0" marL="0">
              <a:lnSpc>
                <a:spcPts val="1400"/>
              </a:lnSpc>
              <a:buNone/>
            </a:pPr>
            <a:r>
              <a:rPr lang="en-US" sz="1100" b="1" dirty="0">
                <a:solidFill>
                  <a:srgbClr val="5F6B60"/>
                </a:solidFill>
                <a:latin typeface="Calibri" pitchFamily="34" charset="0"/>
                <a:ea typeface="Calibri" pitchFamily="34" charset="-122"/>
                <a:cs typeface="Calibri" pitchFamily="34" charset="-120"/>
              </a:rPr>
              <a:t>Macro patterns yes — human-like behaviour no</a:t>
            </a:r>
            <a:endParaRPr lang="en-US" sz="1100" dirty="0"/>
          </a:p>
        </p:txBody>
      </p:sp>
      <p:sp>
        <p:nvSpPr>
          <p:cNvPr id="20" name="Shape 18"/>
          <p:cNvSpPr/>
          <p:nvPr/>
        </p:nvSpPr>
        <p:spPr>
          <a:xfrm>
            <a:off x="6199632" y="1417320"/>
            <a:ext cx="5349240" cy="3200400"/>
          </a:xfrm>
          <a:prstGeom prst="roundRect">
            <a:avLst>
              <a:gd name="adj" fmla="val 1714"/>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21" name="Shape 19"/>
          <p:cNvSpPr/>
          <p:nvPr/>
        </p:nvSpPr>
        <p:spPr>
          <a:xfrm>
            <a:off x="6492240" y="1664208"/>
            <a:ext cx="384048" cy="384048"/>
          </a:xfrm>
          <a:prstGeom prst="ellipse">
            <a:avLst/>
          </a:prstGeom>
          <a:solidFill>
            <a:srgbClr val="7FB069"/>
          </a:solidFill>
          <a:ln/>
        </p:spPr>
      </p:sp>
      <p:sp>
        <p:nvSpPr>
          <p:cNvPr id="22" name="Text 20"/>
          <p:cNvSpPr txBox="1"/>
          <p:nvPr/>
        </p:nvSpPr>
        <p:spPr>
          <a:xfrm>
            <a:off x="6492240" y="166420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L</a:t>
            </a:r>
            <a:endParaRPr lang="en-US" sz="1300" dirty="0"/>
          </a:p>
        </p:txBody>
      </p:sp>
      <p:sp>
        <p:nvSpPr>
          <p:cNvPr id="23" name="Text 21"/>
          <p:cNvSpPr txBox="1"/>
          <p:nvPr/>
        </p:nvSpPr>
        <p:spPr>
          <a:xfrm>
            <a:off x="7040880" y="1709928"/>
            <a:ext cx="4251960" cy="292608"/>
          </a:xfrm>
          <a:prstGeom prst="rect">
            <a:avLst/>
          </a:prstGeom>
          <a:noFill/>
          <a:ln/>
        </p:spPr>
        <p:txBody>
          <a:bodyPr wrap="square" lIns="0" tIns="0" rIns="0" bIns="0" rtlCol="0" anchor="ctr"/>
          <a:lstStyle/>
          <a:p>
            <a:pPr indent="0" marL="0">
              <a:buNone/>
            </a:pPr>
            <a:r>
              <a:rPr lang="en-US" sz="1500" b="1" dirty="0">
                <a:solidFill>
                  <a:srgbClr val="1B2E23"/>
                </a:solidFill>
                <a:latin typeface="Cambria" pitchFamily="34" charset="0"/>
                <a:ea typeface="Cambria" pitchFamily="34" charset="-122"/>
                <a:cs typeface="Cambria" pitchFamily="34" charset="-120"/>
              </a:rPr>
              <a:t>LLM-driven agents</a:t>
            </a:r>
            <a:endParaRPr lang="en-US" sz="1500" dirty="0"/>
          </a:p>
        </p:txBody>
      </p:sp>
      <p:sp>
        <p:nvSpPr>
          <p:cNvPr id="24" name="Shape 22"/>
          <p:cNvSpPr/>
          <p:nvPr/>
        </p:nvSpPr>
        <p:spPr>
          <a:xfrm>
            <a:off x="6729984" y="2395728"/>
            <a:ext cx="1170432" cy="658368"/>
          </a:xfrm>
          <a:prstGeom prst="roundRect">
            <a:avLst>
              <a:gd name="adj" fmla="val 8333"/>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25" name="Text 23"/>
          <p:cNvSpPr txBox="1"/>
          <p:nvPr/>
        </p:nvSpPr>
        <p:spPr>
          <a:xfrm>
            <a:off x="6821424" y="2395728"/>
            <a:ext cx="987552" cy="658368"/>
          </a:xfrm>
          <a:prstGeom prst="rect">
            <a:avLst/>
          </a:prstGeom>
          <a:noFill/>
          <a:ln/>
        </p:spPr>
        <p:txBody>
          <a:bodyPr wrap="square" lIns="0" tIns="0" rIns="0" bIns="0" rtlCol="0" anchor="ctr"/>
          <a:lstStyle/>
          <a:p>
            <a:pPr algn="ctr" indent="0" marL="0">
              <a:lnSpc>
                <a:spcPts val="1400"/>
              </a:lnSpc>
              <a:buNone/>
            </a:pPr>
            <a:r>
              <a:rPr lang="en-US" sz="1250" b="1" dirty="0">
                <a:solidFill>
                  <a:srgbClr val="1B2E23"/>
                </a:solidFill>
                <a:latin typeface="Calibri" pitchFamily="34" charset="0"/>
                <a:ea typeface="Calibri" pitchFamily="34" charset="-122"/>
                <a:cs typeface="Calibri" pitchFamily="34" charset="-120"/>
              </a:rPr>
              <a:t>Prompt</a:t>
            </a:r>
            <a:endParaRPr lang="en-US" sz="1250" dirty="0"/>
          </a:p>
        </p:txBody>
      </p:sp>
      <p:sp>
        <p:nvSpPr>
          <p:cNvPr id="26" name="Shape 24"/>
          <p:cNvSpPr/>
          <p:nvPr/>
        </p:nvSpPr>
        <p:spPr>
          <a:xfrm>
            <a:off x="7918704" y="2615184"/>
            <a:ext cx="347472" cy="219456"/>
          </a:xfrm>
          <a:prstGeom prst="rightArrow">
            <a:avLst/>
          </a:prstGeom>
          <a:solidFill>
            <a:srgbClr val="C98A24"/>
          </a:solidFill>
          <a:ln/>
        </p:spPr>
      </p:sp>
      <p:sp>
        <p:nvSpPr>
          <p:cNvPr id="27" name="Shape 25"/>
          <p:cNvSpPr/>
          <p:nvPr/>
        </p:nvSpPr>
        <p:spPr>
          <a:xfrm>
            <a:off x="8284464" y="2395728"/>
            <a:ext cx="1170432" cy="658368"/>
          </a:xfrm>
          <a:prstGeom prst="roundRect">
            <a:avLst>
              <a:gd name="adj" fmla="val 8333"/>
            </a:avLst>
          </a:prstGeom>
          <a:solidFill>
            <a:srgbClr val="EAF2E4"/>
          </a:solidFill>
          <a:ln w="12700">
            <a:solidFill>
              <a:srgbClr val="EAF2E4"/>
            </a:solidFill>
            <a:prstDash val="solid"/>
          </a:ln>
        </p:spPr>
      </p:sp>
      <p:sp>
        <p:nvSpPr>
          <p:cNvPr id="28" name="Text 26"/>
          <p:cNvSpPr txBox="1"/>
          <p:nvPr/>
        </p:nvSpPr>
        <p:spPr>
          <a:xfrm>
            <a:off x="8375904" y="2395728"/>
            <a:ext cx="987552" cy="658368"/>
          </a:xfrm>
          <a:prstGeom prst="rect">
            <a:avLst/>
          </a:prstGeom>
          <a:noFill/>
          <a:ln/>
        </p:spPr>
        <p:txBody>
          <a:bodyPr wrap="square" lIns="0" tIns="0" rIns="0" bIns="0" rtlCol="0" anchor="ctr"/>
          <a:lstStyle/>
          <a:p>
            <a:pPr algn="ctr" indent="0" marL="0">
              <a:lnSpc>
                <a:spcPts val="1400"/>
              </a:lnSpc>
              <a:buNone/>
            </a:pPr>
            <a:r>
              <a:rPr lang="en-US" sz="1250" b="1" dirty="0">
                <a:solidFill>
                  <a:srgbClr val="1B2E23"/>
                </a:solidFill>
                <a:latin typeface="Calibri" pitchFamily="34" charset="0"/>
                <a:ea typeface="Calibri" pitchFamily="34" charset="-122"/>
                <a:cs typeface="Calibri" pitchFamily="34" charset="-120"/>
              </a:rPr>
              <a:t>LLM</a:t>
            </a:r>
            <a:endParaRPr lang="en-US" sz="1250" dirty="0"/>
          </a:p>
        </p:txBody>
      </p:sp>
      <p:sp>
        <p:nvSpPr>
          <p:cNvPr id="29" name="Shape 27"/>
          <p:cNvSpPr/>
          <p:nvPr/>
        </p:nvSpPr>
        <p:spPr>
          <a:xfrm>
            <a:off x="9473184" y="2615184"/>
            <a:ext cx="347472" cy="219456"/>
          </a:xfrm>
          <a:prstGeom prst="rightArrow">
            <a:avLst/>
          </a:prstGeom>
          <a:solidFill>
            <a:srgbClr val="C98A24"/>
          </a:solidFill>
          <a:ln/>
        </p:spPr>
      </p:sp>
      <p:sp>
        <p:nvSpPr>
          <p:cNvPr id="30" name="Shape 28"/>
          <p:cNvSpPr/>
          <p:nvPr/>
        </p:nvSpPr>
        <p:spPr>
          <a:xfrm>
            <a:off x="9838944" y="2395728"/>
            <a:ext cx="1170432" cy="658368"/>
          </a:xfrm>
          <a:prstGeom prst="roundRect">
            <a:avLst>
              <a:gd name="adj" fmla="val 8333"/>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31" name="Text 29"/>
          <p:cNvSpPr txBox="1"/>
          <p:nvPr/>
        </p:nvSpPr>
        <p:spPr>
          <a:xfrm>
            <a:off x="9930384" y="2395728"/>
            <a:ext cx="987552" cy="658368"/>
          </a:xfrm>
          <a:prstGeom prst="rect">
            <a:avLst/>
          </a:prstGeom>
          <a:noFill/>
          <a:ln/>
        </p:spPr>
        <p:txBody>
          <a:bodyPr wrap="square" lIns="0" tIns="0" rIns="0" bIns="0" rtlCol="0" anchor="ctr"/>
          <a:lstStyle/>
          <a:p>
            <a:pPr algn="ctr" indent="0" marL="0">
              <a:lnSpc>
                <a:spcPts val="1400"/>
              </a:lnSpc>
              <a:buNone/>
            </a:pPr>
            <a:r>
              <a:rPr lang="en-US" sz="1250" b="1" dirty="0">
                <a:solidFill>
                  <a:srgbClr val="1B2E23"/>
                </a:solidFill>
                <a:latin typeface="Calibri" pitchFamily="34" charset="0"/>
                <a:ea typeface="Calibri" pitchFamily="34" charset="-122"/>
                <a:cs typeface="Calibri" pitchFamily="34" charset="-120"/>
              </a:rPr>
              <a:t>Action</a:t>
            </a:r>
            <a:endParaRPr lang="en-US" sz="1250" dirty="0"/>
          </a:p>
        </p:txBody>
      </p:sp>
      <p:sp>
        <p:nvSpPr>
          <p:cNvPr id="32" name="Text 30"/>
          <p:cNvSpPr txBox="1"/>
          <p:nvPr/>
        </p:nvSpPr>
        <p:spPr>
          <a:xfrm>
            <a:off x="6510528" y="3145536"/>
            <a:ext cx="4727448" cy="237744"/>
          </a:xfrm>
          <a:prstGeom prst="rect">
            <a:avLst/>
          </a:prstGeom>
          <a:noFill/>
          <a:ln/>
        </p:spPr>
        <p:txBody>
          <a:bodyPr wrap="square" lIns="0" tIns="0" rIns="0" bIns="0" rtlCol="0" anchor="ctr"/>
          <a:lstStyle/>
          <a:p>
            <a:pPr algn="ctr" indent="0" marL="0">
              <a:buNone/>
            </a:pPr>
            <a:r>
              <a:rPr lang="en-US" sz="950" i="1" dirty="0">
                <a:solidFill>
                  <a:srgbClr val="5F6B60"/>
                </a:solidFill>
                <a:latin typeface="Calibri" pitchFamily="34" charset="0"/>
                <a:ea typeface="Calibri" pitchFamily="34" charset="-122"/>
                <a:cs typeface="Calibri" pitchFamily="34" charset="-120"/>
              </a:rPr>
              <a:t>fluent — but one step at a time</a:t>
            </a:r>
            <a:endParaRPr lang="en-US" sz="950" dirty="0"/>
          </a:p>
        </p:txBody>
      </p:sp>
      <p:sp>
        <p:nvSpPr>
          <p:cNvPr id="33" name="Shape 31"/>
          <p:cNvSpPr/>
          <p:nvPr/>
        </p:nvSpPr>
        <p:spPr>
          <a:xfrm>
            <a:off x="6702552" y="3529584"/>
            <a:ext cx="4352544" cy="420624"/>
          </a:xfrm>
          <a:prstGeom prst="roundRect">
            <a:avLst>
              <a:gd name="adj" fmla="val 13043"/>
            </a:avLst>
          </a:prstGeom>
          <a:solidFill>
            <a:srgbClr val="EAF2E4"/>
          </a:solidFill>
          <a:ln w="12700">
            <a:solidFill>
              <a:srgbClr val="EAF2E4"/>
            </a:solidFill>
            <a:prstDash val="solid"/>
          </a:ln>
        </p:spPr>
      </p:sp>
      <p:sp>
        <p:nvSpPr>
          <p:cNvPr id="34" name="Text 32"/>
          <p:cNvSpPr txBox="1"/>
          <p:nvPr/>
        </p:nvSpPr>
        <p:spPr>
          <a:xfrm>
            <a:off x="6793992" y="3529584"/>
            <a:ext cx="4169664" cy="420624"/>
          </a:xfrm>
          <a:prstGeom prst="rect">
            <a:avLst/>
          </a:prstGeom>
          <a:noFill/>
          <a:ln/>
        </p:spPr>
        <p:txBody>
          <a:bodyPr wrap="square" lIns="0" tIns="0" rIns="0" bIns="0" rtlCol="0" anchor="ctr"/>
          <a:lstStyle/>
          <a:p>
            <a:pPr algn="ctr" indent="0" marL="0">
              <a:lnSpc>
                <a:spcPts val="1400"/>
              </a:lnSpc>
              <a:buNone/>
            </a:pPr>
            <a:r>
              <a:rPr lang="en-US" sz="1100" b="1" dirty="0">
                <a:solidFill>
                  <a:srgbClr val="1B2E23"/>
                </a:solidFill>
                <a:latin typeface="Calibri" pitchFamily="34" charset="0"/>
                <a:ea typeface="Calibri" pitchFamily="34" charset="-122"/>
                <a:cs typeface="Calibri" pitchFamily="34" charset="-120"/>
              </a:rPr>
              <a:t>Reactive: answers the prompt in front of it</a:t>
            </a:r>
            <a:endParaRPr lang="en-US" sz="1100" dirty="0"/>
          </a:p>
        </p:txBody>
      </p:sp>
      <p:sp>
        <p:nvSpPr>
          <p:cNvPr id="35" name="Shape 33"/>
          <p:cNvSpPr/>
          <p:nvPr/>
        </p:nvSpPr>
        <p:spPr>
          <a:xfrm>
            <a:off x="6702552" y="4023360"/>
            <a:ext cx="4352544" cy="420624"/>
          </a:xfrm>
          <a:prstGeom prst="roundRect">
            <a:avLst>
              <a:gd name="adj" fmla="val 13043"/>
            </a:avLst>
          </a:prstGeom>
          <a:solidFill>
            <a:srgbClr val="EAF2E4"/>
          </a:solidFill>
          <a:ln w="12700">
            <a:solidFill>
              <a:srgbClr val="EAF2E4"/>
            </a:solidFill>
            <a:prstDash val="solid"/>
          </a:ln>
        </p:spPr>
      </p:sp>
      <p:sp>
        <p:nvSpPr>
          <p:cNvPr id="36" name="Text 34"/>
          <p:cNvSpPr txBox="1"/>
          <p:nvPr/>
        </p:nvSpPr>
        <p:spPr>
          <a:xfrm>
            <a:off x="6793992" y="4023360"/>
            <a:ext cx="4169664" cy="420624"/>
          </a:xfrm>
          <a:prstGeom prst="rect">
            <a:avLst/>
          </a:prstGeom>
          <a:noFill/>
          <a:ln/>
        </p:spPr>
        <p:txBody>
          <a:bodyPr wrap="square" lIns="0" tIns="0" rIns="0" bIns="0" rtlCol="0" anchor="ctr"/>
          <a:lstStyle/>
          <a:p>
            <a:pPr algn="ctr" indent="0" marL="0">
              <a:lnSpc>
                <a:spcPts val="1400"/>
              </a:lnSpc>
              <a:buNone/>
            </a:pPr>
            <a:r>
              <a:rPr lang="en-US" sz="1100" b="1" dirty="0">
                <a:solidFill>
                  <a:srgbClr val="1B2E23"/>
                </a:solidFill>
                <a:latin typeface="Calibri" pitchFamily="34" charset="0"/>
                <a:ea typeface="Calibri" pitchFamily="34" charset="-122"/>
                <a:cs typeface="Calibri" pitchFamily="34" charset="-120"/>
              </a:rPr>
              <a:t>Interaction ad hoc or random · no day structure</a:t>
            </a:r>
            <a:endParaRPr lang="en-US" sz="1100" dirty="0"/>
          </a:p>
        </p:txBody>
      </p:sp>
      <p:sp>
        <p:nvSpPr>
          <p:cNvPr id="37" name="Shape 35"/>
          <p:cNvSpPr/>
          <p:nvPr/>
        </p:nvSpPr>
        <p:spPr>
          <a:xfrm>
            <a:off x="640080" y="4937760"/>
            <a:ext cx="10911535" cy="1005840"/>
          </a:xfrm>
          <a:prstGeom prst="roundRect">
            <a:avLst>
              <a:gd name="adj" fmla="val 5455"/>
            </a:avLst>
          </a:prstGeom>
          <a:solidFill>
            <a:srgbClr val="FBF1DC"/>
          </a:solidFill>
          <a:ln w="12700">
            <a:solidFill>
              <a:srgbClr val="EFDFBE"/>
            </a:solidFill>
            <a:prstDash val="solid"/>
          </a:ln>
        </p:spPr>
      </p:sp>
      <p:sp>
        <p:nvSpPr>
          <p:cNvPr id="38" name="Text 36"/>
          <p:cNvSpPr txBox="1"/>
          <p:nvPr/>
        </p:nvSpPr>
        <p:spPr>
          <a:xfrm>
            <a:off x="640080" y="4937760"/>
            <a:ext cx="10911535" cy="1005840"/>
          </a:xfrm>
          <a:prstGeom prst="rect">
            <a:avLst/>
          </a:prstGeom>
          <a:noFill/>
          <a:ln/>
        </p:spPr>
        <p:txBody>
          <a:bodyPr wrap="square" lIns="0" tIns="0" rIns="0" bIns="0" rtlCol="0" anchor="ctr"/>
          <a:lstStyle/>
          <a:p>
            <a:pPr algn="ctr" indent="0" marL="0">
              <a:buNone/>
            </a:pPr>
            <a:r>
              <a:rPr lang="en-US" sz="1700" b="1" dirty="0">
                <a:solidFill>
                  <a:srgbClr val="1B2E23"/>
                </a:solidFill>
                <a:latin typeface="Cambria" pitchFamily="34" charset="0"/>
                <a:ea typeface="Cambria" pitchFamily="34" charset="-122"/>
                <a:cs typeface="Cambria" pitchFamily="34" charset="-120"/>
              </a:rPr>
              <a:t>Missing: explicit structure for behaviour, interaction and feedback</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8F4"/>
        </a:solidFill>
      </p:bgPr>
    </p:bg>
    <p:spTree>
      <p:nvGrpSpPr>
        <p:cNvPr id="1" name=""/>
        <p:cNvGrpSpPr/>
        <p:nvPr/>
      </p:nvGrpSpPr>
      <p:grpSpPr>
        <a:xfrm>
          <a:off x="0" y="0"/>
          <a:ext cx="0" cy="0"/>
          <a:chOff x="0" y="0"/>
          <a:chExt cx="0" cy="0"/>
        </a:xfrm>
      </p:grpSpPr>
      <p:sp>
        <p:nvSpPr>
          <p:cNvPr id="2" name="Text 0"/>
          <p:cNvSpPr txBox="1"/>
          <p:nvPr/>
        </p:nvSpPr>
        <p:spPr>
          <a:xfrm>
            <a:off x="640080" y="329184"/>
            <a:ext cx="10911535" cy="237744"/>
          </a:xfrm>
          <a:prstGeom prst="rect">
            <a:avLst/>
          </a:prstGeom>
          <a:noFill/>
          <a:ln/>
        </p:spPr>
        <p:txBody>
          <a:bodyPr wrap="square" lIns="0" tIns="0" rIns="0" bIns="0" rtlCol="0" anchor="ctr"/>
          <a:lstStyle/>
          <a:p>
            <a:pPr indent="0" marL="0">
              <a:buNone/>
            </a:pPr>
            <a:r>
              <a:rPr lang="en-US" sz="1100" b="1" spc="160" kern="0" dirty="0">
                <a:solidFill>
                  <a:srgbClr val="2C5F2D"/>
                </a:solidFill>
                <a:latin typeface="Calibri" pitchFamily="34" charset="0"/>
                <a:ea typeface="Calibri" pitchFamily="34" charset="-122"/>
                <a:cs typeface="Calibri" pitchFamily="34" charset="-120"/>
              </a:rPr>
              <a:t>PROBLEM STATEMENT</a:t>
            </a:r>
            <a:endParaRPr lang="en-US" sz="1100" dirty="0"/>
          </a:p>
        </p:txBody>
      </p:sp>
      <p:sp>
        <p:nvSpPr>
          <p:cNvPr id="3" name="Text 1"/>
          <p:cNvSpPr txBox="1"/>
          <p:nvPr/>
        </p:nvSpPr>
        <p:spPr>
          <a:xfrm>
            <a:off x="640080" y="585216"/>
            <a:ext cx="10911535" cy="731520"/>
          </a:xfrm>
          <a:prstGeom prst="rect">
            <a:avLst/>
          </a:prstGeom>
          <a:noFill/>
          <a:ln/>
        </p:spPr>
        <p:txBody>
          <a:bodyPr wrap="square" lIns="0" tIns="0" rIns="0" bIns="0" rtlCol="0" anchor="t"/>
          <a:lstStyle/>
          <a:p>
            <a:pPr indent="0" marL="0">
              <a:buNone/>
            </a:pPr>
            <a:r>
              <a:rPr lang="en-US" sz="3000" b="1" dirty="0">
                <a:solidFill>
                  <a:srgbClr val="1B2E23"/>
                </a:solidFill>
                <a:latin typeface="Cambria" pitchFamily="34" charset="0"/>
                <a:ea typeface="Cambria" pitchFamily="34" charset="-122"/>
                <a:cs typeface="Cambria" pitchFamily="34" charset="-120"/>
              </a:rPr>
              <a:t>One question, three requirements</a:t>
            </a:r>
            <a:endParaRPr lang="en-US" sz="3000" dirty="0"/>
          </a:p>
        </p:txBody>
      </p:sp>
      <p:sp>
        <p:nvSpPr>
          <p:cNvPr id="4" name="Text 2"/>
          <p:cNvSpPr txBox="1"/>
          <p:nvPr/>
        </p:nvSpPr>
        <p:spPr>
          <a:xfrm>
            <a:off x="640080" y="6419088"/>
            <a:ext cx="5486400" cy="256032"/>
          </a:xfrm>
          <a:prstGeom prst="rect">
            <a:avLst/>
          </a:prstGeom>
          <a:noFill/>
          <a:ln/>
        </p:spPr>
        <p:txBody>
          <a:bodyPr wrap="square" lIns="0" tIns="0" rIns="0" bIns="0" rtlCol="0" anchor="ctr"/>
          <a:lstStyle/>
          <a:p>
            <a:pPr indent="0" marL="0">
              <a:buNone/>
            </a:pPr>
            <a:r>
              <a:rPr lang="en-US" sz="900" dirty="0">
                <a:solidFill>
                  <a:srgbClr val="5F6B60"/>
                </a:solidFill>
                <a:latin typeface="Calibri" pitchFamily="34" charset="0"/>
                <a:ea typeface="Calibri" pitchFamily="34" charset="-122"/>
                <a:cs typeface="Calibri" pitchFamily="34" charset="-120"/>
              </a:rPr>
              <a:t>ICAC 2026  ·  Paper 108  ·  Valentown</a:t>
            </a:r>
            <a:endParaRPr lang="en-US" sz="900" dirty="0"/>
          </a:p>
        </p:txBody>
      </p:sp>
      <p:sp>
        <p:nvSpPr>
          <p:cNvPr id="5" name="Text 3"/>
          <p:cNvSpPr txBox="1"/>
          <p:nvPr/>
        </p:nvSpPr>
        <p:spPr>
          <a:xfrm>
            <a:off x="10454335" y="6419088"/>
            <a:ext cx="1097280" cy="256032"/>
          </a:xfrm>
          <a:prstGeom prst="rect">
            <a:avLst/>
          </a:prstGeom>
          <a:noFill/>
          <a:ln/>
        </p:spPr>
        <p:txBody>
          <a:bodyPr wrap="square" lIns="0" tIns="0" rIns="0" bIns="0" rtlCol="0" anchor="ctr"/>
          <a:lstStyle/>
          <a:p>
            <a:pPr algn="r" indent="0" marL="0">
              <a:buNone/>
            </a:pPr>
            <a:r>
              <a:rPr lang="en-US" sz="900" dirty="0">
                <a:solidFill>
                  <a:srgbClr val="5F6B60"/>
                </a:solidFill>
                <a:latin typeface="Calibri" pitchFamily="34" charset="0"/>
                <a:ea typeface="Calibri" pitchFamily="34" charset="-122"/>
                <a:cs typeface="Calibri" pitchFamily="34" charset="-120"/>
              </a:rPr>
              <a:t>3</a:t>
            </a:r>
            <a:endParaRPr lang="en-US" sz="900" dirty="0"/>
          </a:p>
        </p:txBody>
      </p:sp>
      <p:sp>
        <p:nvSpPr>
          <p:cNvPr id="6" name="Shape 4"/>
          <p:cNvSpPr/>
          <p:nvPr/>
        </p:nvSpPr>
        <p:spPr>
          <a:xfrm>
            <a:off x="640080" y="1417320"/>
            <a:ext cx="10911535" cy="1060704"/>
          </a:xfrm>
          <a:prstGeom prst="roundRect">
            <a:avLst>
              <a:gd name="adj" fmla="val 5172"/>
            </a:avLst>
          </a:prstGeom>
          <a:solidFill>
            <a:srgbClr val="1B2E23"/>
          </a:solidFill>
          <a:ln w="12700">
            <a:solidFill>
              <a:srgbClr val="1B2E23"/>
            </a:solidFill>
            <a:prstDash val="solid"/>
          </a:ln>
        </p:spPr>
      </p:sp>
      <p:sp>
        <p:nvSpPr>
          <p:cNvPr id="7" name="Text 5"/>
          <p:cNvSpPr txBox="1"/>
          <p:nvPr/>
        </p:nvSpPr>
        <p:spPr>
          <a:xfrm>
            <a:off x="1024128" y="1417320"/>
            <a:ext cx="10143439" cy="1060704"/>
          </a:xfrm>
          <a:prstGeom prst="rect">
            <a:avLst/>
          </a:prstGeom>
          <a:noFill/>
          <a:ln/>
        </p:spPr>
        <p:txBody>
          <a:bodyPr wrap="square" lIns="0" tIns="0" rIns="0" bIns="0" rtlCol="0" anchor="ctr"/>
          <a:lstStyle/>
          <a:p>
            <a:pPr indent="0" marL="0">
              <a:lnSpc>
                <a:spcPts val="2400"/>
              </a:lnSpc>
              <a:buNone/>
            </a:pPr>
            <a:r>
              <a:rPr lang="en-US" sz="1800" i="1" dirty="0">
                <a:solidFill>
                  <a:srgbClr val="FFFFFF"/>
                </a:solidFill>
                <a:latin typeface="Cambria" pitchFamily="34" charset="0"/>
                <a:ea typeface="Cambria" pitchFamily="34" charset="-122"/>
                <a:cs typeface="Cambria" pitchFamily="34" charset="-120"/>
              </a:rPr>
              <a:t>How can we design a virtual society whose agents are structured, evolving and controllable over time?</a:t>
            </a:r>
            <a:endParaRPr lang="en-US" sz="1800" dirty="0"/>
          </a:p>
        </p:txBody>
      </p:sp>
      <p:sp>
        <p:nvSpPr>
          <p:cNvPr id="8" name="Shape 6"/>
          <p:cNvSpPr/>
          <p:nvPr/>
        </p:nvSpPr>
        <p:spPr>
          <a:xfrm>
            <a:off x="640080" y="2788920"/>
            <a:ext cx="3502152" cy="3063240"/>
          </a:xfrm>
          <a:prstGeom prst="roundRect">
            <a:avLst>
              <a:gd name="adj" fmla="val 1791"/>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9" name="Shape 7"/>
          <p:cNvSpPr/>
          <p:nvPr/>
        </p:nvSpPr>
        <p:spPr>
          <a:xfrm>
            <a:off x="950976" y="3054096"/>
            <a:ext cx="420624" cy="420624"/>
          </a:xfrm>
          <a:prstGeom prst="ellipse">
            <a:avLst/>
          </a:prstGeom>
          <a:solidFill>
            <a:srgbClr val="7FB069"/>
          </a:solidFill>
          <a:ln/>
        </p:spPr>
      </p:sp>
      <p:sp>
        <p:nvSpPr>
          <p:cNvPr id="10" name="Text 8"/>
          <p:cNvSpPr txBox="1"/>
          <p:nvPr/>
        </p:nvSpPr>
        <p:spPr>
          <a:xfrm>
            <a:off x="950976" y="305409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9"/>
          <p:cNvSpPr txBox="1"/>
          <p:nvPr/>
        </p:nvSpPr>
        <p:spPr>
          <a:xfrm>
            <a:off x="1499616" y="3118104"/>
            <a:ext cx="2404872" cy="292608"/>
          </a:xfrm>
          <a:prstGeom prst="rect">
            <a:avLst/>
          </a:prstGeom>
          <a:noFill/>
          <a:ln/>
        </p:spPr>
        <p:txBody>
          <a:bodyPr wrap="square" lIns="0" tIns="0" rIns="0" bIns="0" rtlCol="0" anchor="ctr"/>
          <a:lstStyle/>
          <a:p>
            <a:pPr indent="0" marL="0">
              <a:buNone/>
            </a:pPr>
            <a:r>
              <a:rPr lang="en-US" sz="1450" b="1" dirty="0">
                <a:solidFill>
                  <a:srgbClr val="1B2E23"/>
                </a:solidFill>
                <a:latin typeface="Cambria" pitchFamily="34" charset="0"/>
                <a:ea typeface="Cambria" pitchFamily="34" charset="-122"/>
                <a:cs typeface="Cambria" pitchFamily="34" charset="-120"/>
              </a:rPr>
              <a:t>Temporal structure</a:t>
            </a:r>
            <a:endParaRPr lang="en-US" sz="1450" dirty="0"/>
          </a:p>
        </p:txBody>
      </p:sp>
      <p:sp>
        <p:nvSpPr>
          <p:cNvPr id="12" name="Text 10"/>
          <p:cNvSpPr txBox="1"/>
          <p:nvPr/>
        </p:nvSpPr>
        <p:spPr>
          <a:xfrm>
            <a:off x="950976" y="3712464"/>
            <a:ext cx="2880360" cy="731520"/>
          </a:xfrm>
          <a:prstGeom prst="rect">
            <a:avLst/>
          </a:prstGeom>
          <a:noFill/>
          <a:ln/>
        </p:spPr>
        <p:txBody>
          <a:bodyPr wrap="square" lIns="0" tIns="0" rIns="0" bIns="0" rtlCol="0" anchor="t"/>
          <a:lstStyle/>
          <a:p>
            <a:pPr indent="0" marL="0">
              <a:lnSpc>
                <a:spcPts val="1600"/>
              </a:lnSpc>
              <a:buNone/>
            </a:pPr>
            <a:r>
              <a:rPr lang="en-US" sz="1250" dirty="0">
                <a:solidFill>
                  <a:srgbClr val="1F2A22"/>
                </a:solidFill>
                <a:latin typeface="Calibri" pitchFamily="34" charset="0"/>
                <a:ea typeface="Calibri" pitchFamily="34" charset="-122"/>
                <a:cs typeface="Calibri" pitchFamily="34" charset="-120"/>
              </a:rPr>
              <a:t>A day — not a stream of reactions</a:t>
            </a:r>
            <a:endParaRPr lang="en-US" sz="1250" dirty="0"/>
          </a:p>
        </p:txBody>
      </p:sp>
      <p:sp>
        <p:nvSpPr>
          <p:cNvPr id="13" name="Text 11"/>
          <p:cNvSpPr txBox="1"/>
          <p:nvPr/>
        </p:nvSpPr>
        <p:spPr>
          <a:xfrm>
            <a:off x="1042416" y="4626864"/>
            <a:ext cx="2697480" cy="201168"/>
          </a:xfrm>
          <a:prstGeom prst="rect">
            <a:avLst/>
          </a:prstGeom>
          <a:noFill/>
          <a:ln/>
        </p:spPr>
        <p:txBody>
          <a:bodyPr wrap="square" lIns="0" tIns="0" rIns="0" bIns="0" rtlCol="0" anchor="ctr"/>
          <a:lstStyle/>
          <a:p>
            <a:pPr algn="l" indent="0" marL="0">
              <a:buNone/>
            </a:pPr>
            <a:r>
              <a:rPr lang="en-US" sz="900" b="1" spc="130" kern="0" dirty="0">
                <a:solidFill>
                  <a:srgbClr val="2C5F2D"/>
                </a:solidFill>
                <a:latin typeface="Calibri" pitchFamily="34" charset="0"/>
                <a:ea typeface="Calibri" pitchFamily="34" charset="-122"/>
                <a:cs typeface="Calibri" pitchFamily="34" charset="-120"/>
              </a:rPr>
              <a:t>OUR ANSWER</a:t>
            </a:r>
            <a:endParaRPr lang="en-US" sz="900" dirty="0"/>
          </a:p>
        </p:txBody>
      </p:sp>
      <p:sp>
        <p:nvSpPr>
          <p:cNvPr id="14" name="Shape 12"/>
          <p:cNvSpPr/>
          <p:nvPr/>
        </p:nvSpPr>
        <p:spPr>
          <a:xfrm>
            <a:off x="896112" y="4837176"/>
            <a:ext cx="2990088" cy="822960"/>
          </a:xfrm>
          <a:prstGeom prst="roundRect">
            <a:avLst>
              <a:gd name="adj" fmla="val 6667"/>
            </a:avLst>
          </a:prstGeom>
          <a:solidFill>
            <a:srgbClr val="EAF2E4"/>
          </a:solidFill>
          <a:ln w="12700">
            <a:solidFill>
              <a:srgbClr val="EAF2E4"/>
            </a:solidFill>
            <a:prstDash val="solid"/>
          </a:ln>
        </p:spPr>
      </p:sp>
      <p:sp>
        <p:nvSpPr>
          <p:cNvPr id="15" name="Text 13"/>
          <p:cNvSpPr txBox="1"/>
          <p:nvPr/>
        </p:nvSpPr>
        <p:spPr>
          <a:xfrm>
            <a:off x="987552" y="4837176"/>
            <a:ext cx="2807208" cy="822960"/>
          </a:xfrm>
          <a:prstGeom prst="rect">
            <a:avLst/>
          </a:prstGeom>
          <a:noFill/>
          <a:ln/>
        </p:spPr>
        <p:txBody>
          <a:bodyPr wrap="square" lIns="0" tIns="0" rIns="0" bIns="0" rtlCol="0" anchor="ctr"/>
          <a:lstStyle/>
          <a:p>
            <a:pPr algn="ctr" indent="0" marL="0">
              <a:lnSpc>
                <a:spcPts val="1400"/>
              </a:lnSpc>
              <a:buNone/>
            </a:pPr>
            <a:r>
              <a:rPr lang="en-US" sz="1200" b="1" dirty="0">
                <a:solidFill>
                  <a:srgbClr val="1B2E23"/>
                </a:solidFill>
                <a:latin typeface="Calibri" pitchFamily="34" charset="0"/>
                <a:ea typeface="Calibri" pitchFamily="34" charset="-122"/>
                <a:cs typeface="Calibri" pitchFamily="34" charset="-120"/>
              </a:rPr>
              <a:t>Schedule-driven agents</a:t>
            </a:r>
            <a:endParaRPr lang="en-US" sz="1200" dirty="0"/>
          </a:p>
        </p:txBody>
      </p:sp>
      <p:sp>
        <p:nvSpPr>
          <p:cNvPr id="16" name="Shape 14"/>
          <p:cNvSpPr/>
          <p:nvPr/>
        </p:nvSpPr>
        <p:spPr>
          <a:xfrm>
            <a:off x="4343400" y="2788920"/>
            <a:ext cx="3502152" cy="3063240"/>
          </a:xfrm>
          <a:prstGeom prst="roundRect">
            <a:avLst>
              <a:gd name="adj" fmla="val 1791"/>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17" name="Shape 15"/>
          <p:cNvSpPr/>
          <p:nvPr/>
        </p:nvSpPr>
        <p:spPr>
          <a:xfrm>
            <a:off x="4654296" y="3054096"/>
            <a:ext cx="420624" cy="420624"/>
          </a:xfrm>
          <a:prstGeom prst="ellipse">
            <a:avLst/>
          </a:prstGeom>
          <a:solidFill>
            <a:srgbClr val="2C5F2D"/>
          </a:solidFill>
          <a:ln/>
        </p:spPr>
      </p:sp>
      <p:sp>
        <p:nvSpPr>
          <p:cNvPr id="18" name="Text 16"/>
          <p:cNvSpPr txBox="1"/>
          <p:nvPr/>
        </p:nvSpPr>
        <p:spPr>
          <a:xfrm>
            <a:off x="4654296" y="305409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9" name="Text 17"/>
          <p:cNvSpPr txBox="1"/>
          <p:nvPr/>
        </p:nvSpPr>
        <p:spPr>
          <a:xfrm>
            <a:off x="5202936" y="3118104"/>
            <a:ext cx="2404872" cy="292608"/>
          </a:xfrm>
          <a:prstGeom prst="rect">
            <a:avLst/>
          </a:prstGeom>
          <a:noFill/>
          <a:ln/>
        </p:spPr>
        <p:txBody>
          <a:bodyPr wrap="square" lIns="0" tIns="0" rIns="0" bIns="0" rtlCol="0" anchor="ctr"/>
          <a:lstStyle/>
          <a:p>
            <a:pPr indent="0" marL="0">
              <a:buNone/>
            </a:pPr>
            <a:r>
              <a:rPr lang="en-US" sz="1450" b="1" dirty="0">
                <a:solidFill>
                  <a:srgbClr val="1B2E23"/>
                </a:solidFill>
                <a:latin typeface="Cambria" pitchFamily="34" charset="0"/>
                <a:ea typeface="Cambria" pitchFamily="34" charset="-122"/>
                <a:cs typeface="Cambria" pitchFamily="34" charset="-120"/>
              </a:rPr>
              <a:t>Behavioural evolution</a:t>
            </a:r>
            <a:endParaRPr lang="en-US" sz="1450" dirty="0"/>
          </a:p>
        </p:txBody>
      </p:sp>
      <p:sp>
        <p:nvSpPr>
          <p:cNvPr id="20" name="Text 18"/>
          <p:cNvSpPr txBox="1"/>
          <p:nvPr/>
        </p:nvSpPr>
        <p:spPr>
          <a:xfrm>
            <a:off x="4654296" y="3712464"/>
            <a:ext cx="2880360" cy="731520"/>
          </a:xfrm>
          <a:prstGeom prst="rect">
            <a:avLst/>
          </a:prstGeom>
          <a:noFill/>
          <a:ln/>
        </p:spPr>
        <p:txBody>
          <a:bodyPr wrap="square" lIns="0" tIns="0" rIns="0" bIns="0" rtlCol="0" anchor="t"/>
          <a:lstStyle/>
          <a:p>
            <a:pPr indent="0" marL="0">
              <a:lnSpc>
                <a:spcPts val="1600"/>
              </a:lnSpc>
              <a:buNone/>
            </a:pPr>
            <a:r>
              <a:rPr lang="en-US" sz="1250" dirty="0">
                <a:solidFill>
                  <a:srgbClr val="1F2A22"/>
                </a:solidFill>
                <a:latin typeface="Calibri" pitchFamily="34" charset="0"/>
                <a:ea typeface="Calibri" pitchFamily="34" charset="-122"/>
                <a:cs typeface="Calibri" pitchFamily="34" charset="-120"/>
              </a:rPr>
              <a:t>Yesterday changes tomorrow</a:t>
            </a:r>
            <a:endParaRPr lang="en-US" sz="1250" dirty="0"/>
          </a:p>
        </p:txBody>
      </p:sp>
      <p:sp>
        <p:nvSpPr>
          <p:cNvPr id="21" name="Text 19"/>
          <p:cNvSpPr txBox="1"/>
          <p:nvPr/>
        </p:nvSpPr>
        <p:spPr>
          <a:xfrm>
            <a:off x="4745736" y="4626864"/>
            <a:ext cx="2697480" cy="201168"/>
          </a:xfrm>
          <a:prstGeom prst="rect">
            <a:avLst/>
          </a:prstGeom>
          <a:noFill/>
          <a:ln/>
        </p:spPr>
        <p:txBody>
          <a:bodyPr wrap="square" lIns="0" tIns="0" rIns="0" bIns="0" rtlCol="0" anchor="ctr"/>
          <a:lstStyle/>
          <a:p>
            <a:pPr algn="l" indent="0" marL="0">
              <a:buNone/>
            </a:pPr>
            <a:r>
              <a:rPr lang="en-US" sz="900" b="1" spc="130" kern="0" dirty="0">
                <a:solidFill>
                  <a:srgbClr val="2C5F2D"/>
                </a:solidFill>
                <a:latin typeface="Calibri" pitchFamily="34" charset="0"/>
                <a:ea typeface="Calibri" pitchFamily="34" charset="-122"/>
                <a:cs typeface="Calibri" pitchFamily="34" charset="-120"/>
              </a:rPr>
              <a:t>OUR ANSWER</a:t>
            </a:r>
            <a:endParaRPr lang="en-US" sz="900" dirty="0"/>
          </a:p>
        </p:txBody>
      </p:sp>
      <p:sp>
        <p:nvSpPr>
          <p:cNvPr id="22" name="Shape 20"/>
          <p:cNvSpPr/>
          <p:nvPr/>
        </p:nvSpPr>
        <p:spPr>
          <a:xfrm>
            <a:off x="4599432" y="4837176"/>
            <a:ext cx="2990088" cy="822960"/>
          </a:xfrm>
          <a:prstGeom prst="roundRect">
            <a:avLst>
              <a:gd name="adj" fmla="val 6667"/>
            </a:avLst>
          </a:prstGeom>
          <a:solidFill>
            <a:srgbClr val="EAF2E4"/>
          </a:solidFill>
          <a:ln w="12700">
            <a:solidFill>
              <a:srgbClr val="EAF2E4"/>
            </a:solidFill>
            <a:prstDash val="solid"/>
          </a:ln>
        </p:spPr>
      </p:sp>
      <p:sp>
        <p:nvSpPr>
          <p:cNvPr id="23" name="Text 21"/>
          <p:cNvSpPr txBox="1"/>
          <p:nvPr/>
        </p:nvSpPr>
        <p:spPr>
          <a:xfrm>
            <a:off x="4690872" y="4837176"/>
            <a:ext cx="2807208" cy="822960"/>
          </a:xfrm>
          <a:prstGeom prst="rect">
            <a:avLst/>
          </a:prstGeom>
          <a:noFill/>
          <a:ln/>
        </p:spPr>
        <p:txBody>
          <a:bodyPr wrap="square" lIns="0" tIns="0" rIns="0" bIns="0" rtlCol="0" anchor="ctr"/>
          <a:lstStyle/>
          <a:p>
            <a:pPr algn="ctr" indent="0" marL="0">
              <a:lnSpc>
                <a:spcPts val="1400"/>
              </a:lnSpc>
              <a:buNone/>
            </a:pPr>
            <a:r>
              <a:rPr lang="en-US" sz="1200" b="1" dirty="0">
                <a:solidFill>
                  <a:srgbClr val="1B2E23"/>
                </a:solidFill>
                <a:latin typeface="Calibri" pitchFamily="34" charset="0"/>
                <a:ea typeface="Calibri" pitchFamily="34" charset="-122"/>
                <a:cs typeface="Calibri" pitchFamily="34" charset="-120"/>
              </a:rPr>
              <a:t>Memory feedback loop</a:t>
            </a:r>
            <a:endParaRPr lang="en-US" sz="1200" dirty="0"/>
          </a:p>
        </p:txBody>
      </p:sp>
      <p:sp>
        <p:nvSpPr>
          <p:cNvPr id="24" name="Shape 22"/>
          <p:cNvSpPr/>
          <p:nvPr/>
        </p:nvSpPr>
        <p:spPr>
          <a:xfrm>
            <a:off x="8046720" y="2788920"/>
            <a:ext cx="3502152" cy="3063240"/>
          </a:xfrm>
          <a:prstGeom prst="roundRect">
            <a:avLst>
              <a:gd name="adj" fmla="val 1791"/>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25" name="Shape 23"/>
          <p:cNvSpPr/>
          <p:nvPr/>
        </p:nvSpPr>
        <p:spPr>
          <a:xfrm>
            <a:off x="8357616" y="3054096"/>
            <a:ext cx="420624" cy="420624"/>
          </a:xfrm>
          <a:prstGeom prst="ellipse">
            <a:avLst/>
          </a:prstGeom>
          <a:solidFill>
            <a:srgbClr val="C98A24"/>
          </a:solidFill>
          <a:ln/>
        </p:spPr>
      </p:sp>
      <p:sp>
        <p:nvSpPr>
          <p:cNvPr id="26" name="Text 24"/>
          <p:cNvSpPr txBox="1"/>
          <p:nvPr/>
        </p:nvSpPr>
        <p:spPr>
          <a:xfrm>
            <a:off x="8357616" y="305409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7" name="Text 25"/>
          <p:cNvSpPr txBox="1"/>
          <p:nvPr/>
        </p:nvSpPr>
        <p:spPr>
          <a:xfrm>
            <a:off x="8906256" y="3118104"/>
            <a:ext cx="2404872" cy="292608"/>
          </a:xfrm>
          <a:prstGeom prst="rect">
            <a:avLst/>
          </a:prstGeom>
          <a:noFill/>
          <a:ln/>
        </p:spPr>
        <p:txBody>
          <a:bodyPr wrap="square" lIns="0" tIns="0" rIns="0" bIns="0" rtlCol="0" anchor="ctr"/>
          <a:lstStyle/>
          <a:p>
            <a:pPr indent="0" marL="0">
              <a:buNone/>
            </a:pPr>
            <a:r>
              <a:rPr lang="en-US" sz="1450" b="1" dirty="0">
                <a:solidFill>
                  <a:srgbClr val="1B2E23"/>
                </a:solidFill>
                <a:latin typeface="Cambria" pitchFamily="34" charset="0"/>
                <a:ea typeface="Cambria" pitchFamily="34" charset="-122"/>
                <a:cs typeface="Cambria" pitchFamily="34" charset="-120"/>
              </a:rPr>
              <a:t>Controllability</a:t>
            </a:r>
            <a:endParaRPr lang="en-US" sz="1450" dirty="0"/>
          </a:p>
        </p:txBody>
      </p:sp>
      <p:sp>
        <p:nvSpPr>
          <p:cNvPr id="28" name="Text 26"/>
          <p:cNvSpPr txBox="1"/>
          <p:nvPr/>
        </p:nvSpPr>
        <p:spPr>
          <a:xfrm>
            <a:off x="8357616" y="3712464"/>
            <a:ext cx="2880360" cy="731520"/>
          </a:xfrm>
          <a:prstGeom prst="rect">
            <a:avLst/>
          </a:prstGeom>
          <a:noFill/>
          <a:ln/>
        </p:spPr>
        <p:txBody>
          <a:bodyPr wrap="square" lIns="0" tIns="0" rIns="0" bIns="0" rtlCol="0" anchor="t"/>
          <a:lstStyle/>
          <a:p>
            <a:pPr indent="0" marL="0">
              <a:lnSpc>
                <a:spcPts val="1600"/>
              </a:lnSpc>
              <a:buNone/>
            </a:pPr>
            <a:r>
              <a:rPr lang="en-US" sz="1250" dirty="0">
                <a:solidFill>
                  <a:srgbClr val="1F2A22"/>
                </a:solidFill>
                <a:latin typeface="Calibri" pitchFamily="34" charset="0"/>
                <a:ea typeface="Calibri" pitchFamily="34" charset="-122"/>
                <a:cs typeface="Calibri" pitchFamily="34" charset="-120"/>
              </a:rPr>
              <a:t>An explicit rule, plus a human override</a:t>
            </a:r>
            <a:endParaRPr lang="en-US" sz="1250" dirty="0"/>
          </a:p>
        </p:txBody>
      </p:sp>
      <p:sp>
        <p:nvSpPr>
          <p:cNvPr id="29" name="Text 27"/>
          <p:cNvSpPr txBox="1"/>
          <p:nvPr/>
        </p:nvSpPr>
        <p:spPr>
          <a:xfrm>
            <a:off x="8449056" y="4626864"/>
            <a:ext cx="2697480" cy="201168"/>
          </a:xfrm>
          <a:prstGeom prst="rect">
            <a:avLst/>
          </a:prstGeom>
          <a:noFill/>
          <a:ln/>
        </p:spPr>
        <p:txBody>
          <a:bodyPr wrap="square" lIns="0" tIns="0" rIns="0" bIns="0" rtlCol="0" anchor="ctr"/>
          <a:lstStyle/>
          <a:p>
            <a:pPr algn="l" indent="0" marL="0">
              <a:buNone/>
            </a:pPr>
            <a:r>
              <a:rPr lang="en-US" sz="900" b="1" spc="130" kern="0" dirty="0">
                <a:solidFill>
                  <a:srgbClr val="2C5F2D"/>
                </a:solidFill>
                <a:latin typeface="Calibri" pitchFamily="34" charset="0"/>
                <a:ea typeface="Calibri" pitchFamily="34" charset="-122"/>
                <a:cs typeface="Calibri" pitchFamily="34" charset="-120"/>
              </a:rPr>
              <a:t>OUR ANSWER</a:t>
            </a:r>
            <a:endParaRPr lang="en-US" sz="900" dirty="0"/>
          </a:p>
        </p:txBody>
      </p:sp>
      <p:sp>
        <p:nvSpPr>
          <p:cNvPr id="30" name="Shape 28"/>
          <p:cNvSpPr/>
          <p:nvPr/>
        </p:nvSpPr>
        <p:spPr>
          <a:xfrm>
            <a:off x="8302752" y="4837176"/>
            <a:ext cx="2990088" cy="822960"/>
          </a:xfrm>
          <a:prstGeom prst="roundRect">
            <a:avLst>
              <a:gd name="adj" fmla="val 6667"/>
            </a:avLst>
          </a:prstGeom>
          <a:solidFill>
            <a:srgbClr val="EAF2E4"/>
          </a:solidFill>
          <a:ln w="12700">
            <a:solidFill>
              <a:srgbClr val="EAF2E4"/>
            </a:solidFill>
            <a:prstDash val="solid"/>
          </a:ln>
        </p:spPr>
      </p:sp>
      <p:sp>
        <p:nvSpPr>
          <p:cNvPr id="31" name="Text 29"/>
          <p:cNvSpPr txBox="1"/>
          <p:nvPr/>
        </p:nvSpPr>
        <p:spPr>
          <a:xfrm>
            <a:off x="8394192" y="4837176"/>
            <a:ext cx="2807208" cy="822960"/>
          </a:xfrm>
          <a:prstGeom prst="rect">
            <a:avLst/>
          </a:prstGeom>
          <a:noFill/>
          <a:ln/>
        </p:spPr>
        <p:txBody>
          <a:bodyPr wrap="square" lIns="0" tIns="0" rIns="0" bIns="0" rtlCol="0" anchor="ctr"/>
          <a:lstStyle/>
          <a:p>
            <a:pPr algn="ctr" indent="0" marL="0">
              <a:lnSpc>
                <a:spcPts val="1400"/>
              </a:lnSpc>
              <a:buNone/>
            </a:pPr>
            <a:r>
              <a:rPr lang="en-US" sz="1200" b="1" dirty="0">
                <a:solidFill>
                  <a:srgbClr val="1B2E23"/>
                </a:solidFill>
                <a:latin typeface="Calibri" pitchFamily="34" charset="0"/>
                <a:ea typeface="Calibri" pitchFamily="34" charset="-122"/>
                <a:cs typeface="Calibri" pitchFamily="34" charset="-120"/>
              </a:rPr>
              <a:t>Co-location trigger + human-in-the-loop</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8F4"/>
        </a:solidFill>
      </p:bgPr>
    </p:bg>
    <p:spTree>
      <p:nvGrpSpPr>
        <p:cNvPr id="1" name=""/>
        <p:cNvGrpSpPr/>
        <p:nvPr/>
      </p:nvGrpSpPr>
      <p:grpSpPr>
        <a:xfrm>
          <a:off x="0" y="0"/>
          <a:ext cx="0" cy="0"/>
          <a:chOff x="0" y="0"/>
          <a:chExt cx="0" cy="0"/>
        </a:xfrm>
      </p:grpSpPr>
      <p:sp>
        <p:nvSpPr>
          <p:cNvPr id="2" name="Text 0"/>
          <p:cNvSpPr txBox="1"/>
          <p:nvPr/>
        </p:nvSpPr>
        <p:spPr>
          <a:xfrm>
            <a:off x="640080" y="329184"/>
            <a:ext cx="10911535" cy="237744"/>
          </a:xfrm>
          <a:prstGeom prst="rect">
            <a:avLst/>
          </a:prstGeom>
          <a:noFill/>
          <a:ln/>
        </p:spPr>
        <p:txBody>
          <a:bodyPr wrap="square" lIns="0" tIns="0" rIns="0" bIns="0" rtlCol="0" anchor="ctr"/>
          <a:lstStyle/>
          <a:p>
            <a:pPr indent="0" marL="0">
              <a:buNone/>
            </a:pPr>
            <a:r>
              <a:rPr lang="en-US" sz="1100" b="1" spc="160" kern="0" dirty="0">
                <a:solidFill>
                  <a:srgbClr val="2C5F2D"/>
                </a:solidFill>
                <a:latin typeface="Calibri" pitchFamily="34" charset="0"/>
                <a:ea typeface="Calibri" pitchFamily="34" charset="-122"/>
                <a:cs typeface="Calibri" pitchFamily="34" charset="-120"/>
              </a:rPr>
              <a:t>MECHANISM 1 &amp; 2</a:t>
            </a:r>
            <a:endParaRPr lang="en-US" sz="1100" dirty="0"/>
          </a:p>
        </p:txBody>
      </p:sp>
      <p:sp>
        <p:nvSpPr>
          <p:cNvPr id="3" name="Text 1"/>
          <p:cNvSpPr txBox="1"/>
          <p:nvPr/>
        </p:nvSpPr>
        <p:spPr>
          <a:xfrm>
            <a:off x="640080" y="585216"/>
            <a:ext cx="10911535" cy="731520"/>
          </a:xfrm>
          <a:prstGeom prst="rect">
            <a:avLst/>
          </a:prstGeom>
          <a:noFill/>
          <a:ln/>
        </p:spPr>
        <p:txBody>
          <a:bodyPr wrap="square" lIns="0" tIns="0" rIns="0" bIns="0" rtlCol="0" anchor="t"/>
          <a:lstStyle/>
          <a:p>
            <a:pPr indent="0" marL="0">
              <a:buNone/>
            </a:pPr>
            <a:r>
              <a:rPr lang="en-US" sz="3000" b="1" dirty="0">
                <a:solidFill>
                  <a:srgbClr val="1B2E23"/>
                </a:solidFill>
                <a:latin typeface="Cambria" pitchFamily="34" charset="0"/>
                <a:ea typeface="Cambria" pitchFamily="34" charset="-122"/>
                <a:cs typeface="Cambria" pitchFamily="34" charset="-120"/>
              </a:rPr>
              <a:t>Plan the day, then let the town decide who meets</a:t>
            </a:r>
            <a:endParaRPr lang="en-US" sz="3000" dirty="0"/>
          </a:p>
        </p:txBody>
      </p:sp>
      <p:sp>
        <p:nvSpPr>
          <p:cNvPr id="4" name="Text 2"/>
          <p:cNvSpPr txBox="1"/>
          <p:nvPr/>
        </p:nvSpPr>
        <p:spPr>
          <a:xfrm>
            <a:off x="640080" y="6419088"/>
            <a:ext cx="5486400" cy="256032"/>
          </a:xfrm>
          <a:prstGeom prst="rect">
            <a:avLst/>
          </a:prstGeom>
          <a:noFill/>
          <a:ln/>
        </p:spPr>
        <p:txBody>
          <a:bodyPr wrap="square" lIns="0" tIns="0" rIns="0" bIns="0" rtlCol="0" anchor="ctr"/>
          <a:lstStyle/>
          <a:p>
            <a:pPr indent="0" marL="0">
              <a:buNone/>
            </a:pPr>
            <a:r>
              <a:rPr lang="en-US" sz="900" dirty="0">
                <a:solidFill>
                  <a:srgbClr val="5F6B60"/>
                </a:solidFill>
                <a:latin typeface="Calibri" pitchFamily="34" charset="0"/>
                <a:ea typeface="Calibri" pitchFamily="34" charset="-122"/>
                <a:cs typeface="Calibri" pitchFamily="34" charset="-120"/>
              </a:rPr>
              <a:t>ICAC 2026  ·  Paper 108  ·  Valentown</a:t>
            </a:r>
            <a:endParaRPr lang="en-US" sz="900" dirty="0"/>
          </a:p>
        </p:txBody>
      </p:sp>
      <p:sp>
        <p:nvSpPr>
          <p:cNvPr id="5" name="Text 3"/>
          <p:cNvSpPr txBox="1"/>
          <p:nvPr/>
        </p:nvSpPr>
        <p:spPr>
          <a:xfrm>
            <a:off x="10454335" y="6419088"/>
            <a:ext cx="1097280" cy="256032"/>
          </a:xfrm>
          <a:prstGeom prst="rect">
            <a:avLst/>
          </a:prstGeom>
          <a:noFill/>
          <a:ln/>
        </p:spPr>
        <p:txBody>
          <a:bodyPr wrap="square" lIns="0" tIns="0" rIns="0" bIns="0" rtlCol="0" anchor="ctr"/>
          <a:lstStyle/>
          <a:p>
            <a:pPr algn="r" indent="0" marL="0">
              <a:buNone/>
            </a:pPr>
            <a:r>
              <a:rPr lang="en-US" sz="900" dirty="0">
                <a:solidFill>
                  <a:srgbClr val="5F6B60"/>
                </a:solidFill>
                <a:latin typeface="Calibri" pitchFamily="34" charset="0"/>
                <a:ea typeface="Calibri" pitchFamily="34" charset="-122"/>
                <a:cs typeface="Calibri" pitchFamily="34" charset="-120"/>
              </a:rPr>
              <a:t>4</a:t>
            </a:r>
            <a:endParaRPr lang="en-US" sz="900" dirty="0"/>
          </a:p>
        </p:txBody>
      </p:sp>
      <p:sp>
        <p:nvSpPr>
          <p:cNvPr id="6" name="Shape 4"/>
          <p:cNvSpPr/>
          <p:nvPr/>
        </p:nvSpPr>
        <p:spPr>
          <a:xfrm>
            <a:off x="640080" y="1371600"/>
            <a:ext cx="5349240" cy="3017520"/>
          </a:xfrm>
          <a:prstGeom prst="roundRect">
            <a:avLst>
              <a:gd name="adj" fmla="val 1818"/>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7" name="Shape 5"/>
          <p:cNvSpPr/>
          <p:nvPr/>
        </p:nvSpPr>
        <p:spPr>
          <a:xfrm>
            <a:off x="932688" y="1609344"/>
            <a:ext cx="384048" cy="384048"/>
          </a:xfrm>
          <a:prstGeom prst="ellipse">
            <a:avLst/>
          </a:prstGeom>
          <a:solidFill>
            <a:srgbClr val="7FB069"/>
          </a:solidFill>
          <a:ln/>
        </p:spPr>
      </p:sp>
      <p:sp>
        <p:nvSpPr>
          <p:cNvPr id="8" name="Text 6"/>
          <p:cNvSpPr txBox="1"/>
          <p:nvPr/>
        </p:nvSpPr>
        <p:spPr>
          <a:xfrm>
            <a:off x="932688" y="1609344"/>
            <a:ext cx="384048" cy="384048"/>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1</a:t>
            </a:r>
            <a:endParaRPr lang="en-US" sz="1350" dirty="0"/>
          </a:p>
        </p:txBody>
      </p:sp>
      <p:sp>
        <p:nvSpPr>
          <p:cNvPr id="9" name="Text 7"/>
          <p:cNvSpPr txBox="1"/>
          <p:nvPr/>
        </p:nvSpPr>
        <p:spPr>
          <a:xfrm>
            <a:off x="1481328" y="1655064"/>
            <a:ext cx="4251960" cy="292608"/>
          </a:xfrm>
          <a:prstGeom prst="rect">
            <a:avLst/>
          </a:prstGeom>
          <a:noFill/>
          <a:ln/>
        </p:spPr>
        <p:txBody>
          <a:bodyPr wrap="square" lIns="0" tIns="0" rIns="0" bIns="0" rtlCol="0" anchor="ctr"/>
          <a:lstStyle/>
          <a:p>
            <a:pPr indent="0" marL="0">
              <a:buNone/>
            </a:pPr>
            <a:r>
              <a:rPr lang="en-US" sz="1500" b="1" dirty="0">
                <a:solidFill>
                  <a:srgbClr val="1B2E23"/>
                </a:solidFill>
                <a:latin typeface="Cambria" pitchFamily="34" charset="0"/>
                <a:ea typeface="Cambria" pitchFamily="34" charset="-122"/>
                <a:cs typeface="Cambria" pitchFamily="34" charset="-120"/>
              </a:rPr>
              <a:t>Schedule-driven day</a:t>
            </a:r>
            <a:endParaRPr lang="en-US" sz="1500" dirty="0"/>
          </a:p>
        </p:txBody>
      </p:sp>
      <p:sp>
        <p:nvSpPr>
          <p:cNvPr id="10" name="Shape 8"/>
          <p:cNvSpPr/>
          <p:nvPr/>
        </p:nvSpPr>
        <p:spPr>
          <a:xfrm>
            <a:off x="950976" y="2103120"/>
            <a:ext cx="4727448" cy="457200"/>
          </a:xfrm>
          <a:prstGeom prst="roundRect">
            <a:avLst>
              <a:gd name="adj" fmla="val 12000"/>
            </a:avLst>
          </a:prstGeom>
          <a:solidFill>
            <a:srgbClr val="FBF1DC"/>
          </a:solidFill>
          <a:ln w="12700">
            <a:solidFill>
              <a:srgbClr val="EFDFBE"/>
            </a:solidFill>
            <a:prstDash val="solid"/>
          </a:ln>
        </p:spPr>
      </p:sp>
      <p:sp>
        <p:nvSpPr>
          <p:cNvPr id="11" name="Text 9"/>
          <p:cNvSpPr txBox="1"/>
          <p:nvPr/>
        </p:nvSpPr>
        <p:spPr>
          <a:xfrm>
            <a:off x="1042416" y="2103120"/>
            <a:ext cx="4544568" cy="457200"/>
          </a:xfrm>
          <a:prstGeom prst="rect">
            <a:avLst/>
          </a:prstGeom>
          <a:noFill/>
          <a:ln/>
        </p:spPr>
        <p:txBody>
          <a:bodyPr wrap="square" lIns="0" tIns="0" rIns="0" bIns="0" rtlCol="0" anchor="ctr"/>
          <a:lstStyle/>
          <a:p>
            <a:pPr algn="ctr" indent="0" marL="0">
              <a:lnSpc>
                <a:spcPts val="1400"/>
              </a:lnSpc>
              <a:buNone/>
            </a:pPr>
            <a:r>
              <a:rPr lang="en-US" sz="1150" b="1" dirty="0">
                <a:solidFill>
                  <a:srgbClr val="1B2E23"/>
                </a:solidFill>
                <a:latin typeface="Calibri" pitchFamily="34" charset="0"/>
                <a:ea typeface="Calibri" pitchFamily="34" charset="-122"/>
                <a:cs typeface="Calibri" pitchFamily="34" charset="-120"/>
              </a:rPr>
              <a:t>identity + goals + memory   →   one day's plan</a:t>
            </a:r>
            <a:endParaRPr lang="en-US" sz="1150" dirty="0"/>
          </a:p>
        </p:txBody>
      </p:sp>
      <p:pic>
        <p:nvPicPr>
          <p:cNvPr id="12" name="Image 0" descr="/tmp/claude-0/-home-user-valentown/d6e1bc7b-94ca-5433-b61a-57600741710e/scratchpad/assets/loc_home.png">    </p:cNvPr>
          <p:cNvPicPr>
            <a:picLocks noChangeAspect="1"/>
          </p:cNvPicPr>
          <p:nvPr/>
        </p:nvPicPr>
        <p:blipFill>
          <a:blip r:embed="rId1"/>
          <a:stretch>
            <a:fillRect/>
          </a:stretch>
        </p:blipFill>
        <p:spPr>
          <a:xfrm>
            <a:off x="960120" y="2687275"/>
            <a:ext cx="868680" cy="842309"/>
          </a:xfrm>
          <a:prstGeom prst="rect">
            <a:avLst/>
          </a:prstGeom>
        </p:spPr>
      </p:pic>
      <p:sp>
        <p:nvSpPr>
          <p:cNvPr id="13" name="Text 10"/>
          <p:cNvSpPr txBox="1"/>
          <p:nvPr/>
        </p:nvSpPr>
        <p:spPr>
          <a:xfrm>
            <a:off x="850392" y="3566160"/>
            <a:ext cx="1088136" cy="201168"/>
          </a:xfrm>
          <a:prstGeom prst="rect">
            <a:avLst/>
          </a:prstGeom>
          <a:noFill/>
          <a:ln/>
        </p:spPr>
        <p:txBody>
          <a:bodyPr wrap="square" lIns="0" tIns="0" rIns="0" bIns="0" rtlCol="0" anchor="ctr"/>
          <a:lstStyle/>
          <a:p>
            <a:pPr algn="ctr" indent="0" marL="0">
              <a:buNone/>
            </a:pPr>
            <a:r>
              <a:rPr lang="en-US" sz="900" b="1" dirty="0">
                <a:solidFill>
                  <a:srgbClr val="5F6B60"/>
                </a:solidFill>
                <a:latin typeface="Calibri" pitchFamily="34" charset="0"/>
                <a:ea typeface="Calibri" pitchFamily="34" charset="-122"/>
                <a:cs typeface="Calibri" pitchFamily="34" charset="-120"/>
              </a:rPr>
              <a:t>07:00 home</a:t>
            </a:r>
            <a:endParaRPr lang="en-US" sz="900" dirty="0"/>
          </a:p>
        </p:txBody>
      </p:sp>
      <p:sp>
        <p:nvSpPr>
          <p:cNvPr id="14" name="Shape 11"/>
          <p:cNvSpPr/>
          <p:nvPr/>
        </p:nvSpPr>
        <p:spPr>
          <a:xfrm>
            <a:off x="1883664" y="3145536"/>
            <a:ext cx="301752" cy="54864"/>
          </a:xfrm>
          <a:prstGeom prst="rect">
            <a:avLst/>
          </a:prstGeom>
          <a:solidFill>
            <a:srgbClr val="C98A24"/>
          </a:solidFill>
          <a:ln/>
        </p:spPr>
      </p:sp>
      <p:pic>
        <p:nvPicPr>
          <p:cNvPr id="15" name="Image 1" descr="/tmp/claude-0/-home-user-valentown/d6e1bc7b-94ca-5433-b61a-57600741710e/scratchpad/assets/loc_cafe.png">    </p:cNvPr>
          <p:cNvPicPr>
            <a:picLocks noChangeAspect="1"/>
          </p:cNvPicPr>
          <p:nvPr/>
        </p:nvPicPr>
        <p:blipFill>
          <a:blip r:embed="rId2"/>
          <a:stretch>
            <a:fillRect/>
          </a:stretch>
        </p:blipFill>
        <p:spPr>
          <a:xfrm>
            <a:off x="2240280" y="2828435"/>
            <a:ext cx="868680" cy="701149"/>
          </a:xfrm>
          <a:prstGeom prst="rect">
            <a:avLst/>
          </a:prstGeom>
        </p:spPr>
      </p:pic>
      <p:sp>
        <p:nvSpPr>
          <p:cNvPr id="16" name="Text 12"/>
          <p:cNvSpPr txBox="1"/>
          <p:nvPr/>
        </p:nvSpPr>
        <p:spPr>
          <a:xfrm>
            <a:off x="2130552" y="3566160"/>
            <a:ext cx="1088136" cy="201168"/>
          </a:xfrm>
          <a:prstGeom prst="rect">
            <a:avLst/>
          </a:prstGeom>
          <a:noFill/>
          <a:ln/>
        </p:spPr>
        <p:txBody>
          <a:bodyPr wrap="square" lIns="0" tIns="0" rIns="0" bIns="0" rtlCol="0" anchor="ctr"/>
          <a:lstStyle/>
          <a:p>
            <a:pPr algn="ctr" indent="0" marL="0">
              <a:buNone/>
            </a:pPr>
            <a:r>
              <a:rPr lang="en-US" sz="900" b="1" dirty="0">
                <a:solidFill>
                  <a:srgbClr val="5F6B60"/>
                </a:solidFill>
                <a:latin typeface="Calibri" pitchFamily="34" charset="0"/>
                <a:ea typeface="Calibri" pitchFamily="34" charset="-122"/>
                <a:cs typeface="Calibri" pitchFamily="34" charset="-120"/>
              </a:rPr>
              <a:t>12:00 café</a:t>
            </a:r>
            <a:endParaRPr lang="en-US" sz="900" dirty="0"/>
          </a:p>
        </p:txBody>
      </p:sp>
      <p:sp>
        <p:nvSpPr>
          <p:cNvPr id="17" name="Shape 13"/>
          <p:cNvSpPr/>
          <p:nvPr/>
        </p:nvSpPr>
        <p:spPr>
          <a:xfrm>
            <a:off x="3163824" y="3145536"/>
            <a:ext cx="301752" cy="54864"/>
          </a:xfrm>
          <a:prstGeom prst="rect">
            <a:avLst/>
          </a:prstGeom>
          <a:solidFill>
            <a:srgbClr val="C98A24"/>
          </a:solidFill>
          <a:ln/>
        </p:spPr>
      </p:sp>
      <p:pic>
        <p:nvPicPr>
          <p:cNvPr id="18" name="Image 2" descr="/tmp/claude-0/-home-user-valentown/d6e1bc7b-94ca-5433-b61a-57600741710e/scratchpad/assets/loc_shop.png">    </p:cNvPr>
          <p:cNvPicPr>
            <a:picLocks noChangeAspect="1"/>
          </p:cNvPicPr>
          <p:nvPr/>
        </p:nvPicPr>
        <p:blipFill>
          <a:blip r:embed="rId3"/>
          <a:stretch>
            <a:fillRect/>
          </a:stretch>
        </p:blipFill>
        <p:spPr>
          <a:xfrm>
            <a:off x="3520440" y="2943225"/>
            <a:ext cx="868680" cy="586359"/>
          </a:xfrm>
          <a:prstGeom prst="rect">
            <a:avLst/>
          </a:prstGeom>
        </p:spPr>
      </p:pic>
      <p:sp>
        <p:nvSpPr>
          <p:cNvPr id="19" name="Text 14"/>
          <p:cNvSpPr txBox="1"/>
          <p:nvPr/>
        </p:nvSpPr>
        <p:spPr>
          <a:xfrm>
            <a:off x="3410712" y="3566160"/>
            <a:ext cx="1088136" cy="201168"/>
          </a:xfrm>
          <a:prstGeom prst="rect">
            <a:avLst/>
          </a:prstGeom>
          <a:noFill/>
          <a:ln/>
        </p:spPr>
        <p:txBody>
          <a:bodyPr wrap="square" lIns="0" tIns="0" rIns="0" bIns="0" rtlCol="0" anchor="ctr"/>
          <a:lstStyle/>
          <a:p>
            <a:pPr algn="ctr" indent="0" marL="0">
              <a:buNone/>
            </a:pPr>
            <a:r>
              <a:rPr lang="en-US" sz="900" b="1" dirty="0">
                <a:solidFill>
                  <a:srgbClr val="5F6B60"/>
                </a:solidFill>
                <a:latin typeface="Calibri" pitchFamily="34" charset="0"/>
                <a:ea typeface="Calibri" pitchFamily="34" charset="-122"/>
                <a:cs typeface="Calibri" pitchFamily="34" charset="-120"/>
              </a:rPr>
              <a:t>15:00 shop</a:t>
            </a:r>
            <a:endParaRPr lang="en-US" sz="900" dirty="0"/>
          </a:p>
        </p:txBody>
      </p:sp>
      <p:sp>
        <p:nvSpPr>
          <p:cNvPr id="20" name="Shape 15"/>
          <p:cNvSpPr/>
          <p:nvPr/>
        </p:nvSpPr>
        <p:spPr>
          <a:xfrm>
            <a:off x="4443984" y="3145536"/>
            <a:ext cx="301752" cy="54864"/>
          </a:xfrm>
          <a:prstGeom prst="rect">
            <a:avLst/>
          </a:prstGeom>
          <a:solidFill>
            <a:srgbClr val="C98A24"/>
          </a:solidFill>
          <a:ln/>
        </p:spPr>
      </p:sp>
      <p:pic>
        <p:nvPicPr>
          <p:cNvPr id="21" name="Image 3" descr="/tmp/claude-0/-home-user-valentown/d6e1bc7b-94ca-5433-b61a-57600741710e/scratchpad/assets/loc_home.png">    </p:cNvPr>
          <p:cNvPicPr>
            <a:picLocks noChangeAspect="1"/>
          </p:cNvPicPr>
          <p:nvPr/>
        </p:nvPicPr>
        <p:blipFill>
          <a:blip r:embed="rId4"/>
          <a:stretch>
            <a:fillRect/>
          </a:stretch>
        </p:blipFill>
        <p:spPr>
          <a:xfrm>
            <a:off x="4800600" y="2687275"/>
            <a:ext cx="868680" cy="842309"/>
          </a:xfrm>
          <a:prstGeom prst="rect">
            <a:avLst/>
          </a:prstGeom>
        </p:spPr>
      </p:pic>
      <p:sp>
        <p:nvSpPr>
          <p:cNvPr id="22" name="Text 16"/>
          <p:cNvSpPr txBox="1"/>
          <p:nvPr/>
        </p:nvSpPr>
        <p:spPr>
          <a:xfrm>
            <a:off x="4690872" y="3566160"/>
            <a:ext cx="1088136" cy="201168"/>
          </a:xfrm>
          <a:prstGeom prst="rect">
            <a:avLst/>
          </a:prstGeom>
          <a:noFill/>
          <a:ln/>
        </p:spPr>
        <p:txBody>
          <a:bodyPr wrap="square" lIns="0" tIns="0" rIns="0" bIns="0" rtlCol="0" anchor="ctr"/>
          <a:lstStyle/>
          <a:p>
            <a:pPr algn="ctr" indent="0" marL="0">
              <a:buNone/>
            </a:pPr>
            <a:r>
              <a:rPr lang="en-US" sz="900" b="1" dirty="0">
                <a:solidFill>
                  <a:srgbClr val="5F6B60"/>
                </a:solidFill>
                <a:latin typeface="Calibri" pitchFamily="34" charset="0"/>
                <a:ea typeface="Calibri" pitchFamily="34" charset="-122"/>
                <a:cs typeface="Calibri" pitchFamily="34" charset="-120"/>
              </a:rPr>
              <a:t>20:00 home</a:t>
            </a:r>
            <a:endParaRPr lang="en-US" sz="900" dirty="0"/>
          </a:p>
        </p:txBody>
      </p:sp>
      <p:sp>
        <p:nvSpPr>
          <p:cNvPr id="23" name="Text 17"/>
          <p:cNvSpPr txBox="1"/>
          <p:nvPr/>
        </p:nvSpPr>
        <p:spPr>
          <a:xfrm>
            <a:off x="950976" y="3858768"/>
            <a:ext cx="4727448" cy="237744"/>
          </a:xfrm>
          <a:prstGeom prst="rect">
            <a:avLst/>
          </a:prstGeom>
          <a:noFill/>
          <a:ln/>
        </p:spPr>
        <p:txBody>
          <a:bodyPr wrap="square" lIns="0" tIns="0" rIns="0" bIns="0" rtlCol="0" anchor="ctr"/>
          <a:lstStyle/>
          <a:p>
            <a:pPr algn="ctr" indent="0" marL="0">
              <a:buNone/>
            </a:pPr>
            <a:r>
              <a:rPr lang="en-US" sz="900" i="1" dirty="0">
                <a:solidFill>
                  <a:srgbClr val="5F6B60"/>
                </a:solidFill>
                <a:latin typeface="Calibri" pitchFamily="34" charset="0"/>
                <a:ea typeface="Calibri" pitchFamily="34" charset="-122"/>
                <a:cs typeface="Calibri" pitchFamily="34" charset="-120"/>
              </a:rPr>
              <a:t>one generated day, illustrative</a:t>
            </a:r>
            <a:endParaRPr lang="en-US" sz="900" dirty="0"/>
          </a:p>
        </p:txBody>
      </p:sp>
      <p:sp>
        <p:nvSpPr>
          <p:cNvPr id="24" name="Shape 18"/>
          <p:cNvSpPr/>
          <p:nvPr/>
        </p:nvSpPr>
        <p:spPr>
          <a:xfrm>
            <a:off x="6199632" y="1371600"/>
            <a:ext cx="5349240" cy="3017520"/>
          </a:xfrm>
          <a:prstGeom prst="roundRect">
            <a:avLst>
              <a:gd name="adj" fmla="val 1818"/>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25" name="Shape 19"/>
          <p:cNvSpPr/>
          <p:nvPr/>
        </p:nvSpPr>
        <p:spPr>
          <a:xfrm>
            <a:off x="6492240" y="1609344"/>
            <a:ext cx="384048" cy="384048"/>
          </a:xfrm>
          <a:prstGeom prst="ellipse">
            <a:avLst/>
          </a:prstGeom>
          <a:solidFill>
            <a:srgbClr val="2C5F2D"/>
          </a:solidFill>
          <a:ln/>
        </p:spPr>
      </p:sp>
      <p:sp>
        <p:nvSpPr>
          <p:cNvPr id="26" name="Text 20"/>
          <p:cNvSpPr txBox="1"/>
          <p:nvPr/>
        </p:nvSpPr>
        <p:spPr>
          <a:xfrm>
            <a:off x="6492240" y="1609344"/>
            <a:ext cx="384048" cy="384048"/>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2</a:t>
            </a:r>
            <a:endParaRPr lang="en-US" sz="1350" dirty="0"/>
          </a:p>
        </p:txBody>
      </p:sp>
      <p:sp>
        <p:nvSpPr>
          <p:cNvPr id="27" name="Text 21"/>
          <p:cNvSpPr txBox="1"/>
          <p:nvPr/>
        </p:nvSpPr>
        <p:spPr>
          <a:xfrm>
            <a:off x="7040880" y="1655064"/>
            <a:ext cx="4251960" cy="292608"/>
          </a:xfrm>
          <a:prstGeom prst="rect">
            <a:avLst/>
          </a:prstGeom>
          <a:noFill/>
          <a:ln/>
        </p:spPr>
        <p:txBody>
          <a:bodyPr wrap="square" lIns="0" tIns="0" rIns="0" bIns="0" rtlCol="0" anchor="ctr"/>
          <a:lstStyle/>
          <a:p>
            <a:pPr indent="0" marL="0">
              <a:buNone/>
            </a:pPr>
            <a:r>
              <a:rPr lang="en-US" sz="1500" b="1" dirty="0">
                <a:solidFill>
                  <a:srgbClr val="1B2E23"/>
                </a:solidFill>
                <a:latin typeface="Cambria" pitchFamily="34" charset="0"/>
                <a:ea typeface="Cambria" pitchFamily="34" charset="-122"/>
                <a:cs typeface="Cambria" pitchFamily="34" charset="-120"/>
              </a:rPr>
              <a:t>Co-location interaction</a:t>
            </a:r>
            <a:endParaRPr lang="en-US" sz="1500" dirty="0"/>
          </a:p>
        </p:txBody>
      </p:sp>
      <p:pic>
        <p:nvPicPr>
          <p:cNvPr id="28" name="Image 4" descr="/tmp/claude-0/-home-user-valentown/d6e1bc7b-94ca-5433-b61a-57600741710e/scratchpad/assets/loc_cafe.png">    </p:cNvPr>
          <p:cNvPicPr>
            <a:picLocks noChangeAspect="1"/>
          </p:cNvPicPr>
          <p:nvPr/>
        </p:nvPicPr>
        <p:blipFill>
          <a:blip r:embed="rId5"/>
          <a:stretch>
            <a:fillRect/>
          </a:stretch>
        </p:blipFill>
        <p:spPr>
          <a:xfrm>
            <a:off x="7964424" y="2053481"/>
            <a:ext cx="1828800" cy="1476103"/>
          </a:xfrm>
          <a:prstGeom prst="rect">
            <a:avLst/>
          </a:prstGeom>
        </p:spPr>
      </p:pic>
      <p:pic>
        <p:nvPicPr>
          <p:cNvPr id="29" name="Image 5" descr="/tmp/claude-0/-home-user-valentown/d6e1bc7b-94ca-5433-b61a-57600741710e/scratchpad/assets/ron.png">    </p:cNvPr>
          <p:cNvPicPr>
            <a:picLocks noChangeAspect="1"/>
          </p:cNvPicPr>
          <p:nvPr/>
        </p:nvPicPr>
        <p:blipFill>
          <a:blip r:embed="rId6"/>
          <a:stretch>
            <a:fillRect/>
          </a:stretch>
        </p:blipFill>
        <p:spPr>
          <a:xfrm>
            <a:off x="7205854" y="2450592"/>
            <a:ext cx="456437" cy="1078992"/>
          </a:xfrm>
          <a:prstGeom prst="rect">
            <a:avLst/>
          </a:prstGeom>
        </p:spPr>
      </p:pic>
      <p:pic>
        <p:nvPicPr>
          <p:cNvPr id="30" name="Image 6" descr="/tmp/claude-0/-home-user-valentown/d6e1bc7b-94ca-5433-b61a-57600741710e/scratchpad/assets/mia.png">    </p:cNvPr>
          <p:cNvPicPr>
            <a:picLocks noChangeAspect="1"/>
          </p:cNvPicPr>
          <p:nvPr/>
        </p:nvPicPr>
        <p:blipFill>
          <a:blip r:embed="rId7"/>
          <a:stretch>
            <a:fillRect/>
          </a:stretch>
        </p:blipFill>
        <p:spPr>
          <a:xfrm>
            <a:off x="10068375" y="2450592"/>
            <a:ext cx="528689" cy="1078992"/>
          </a:xfrm>
          <a:prstGeom prst="rect">
            <a:avLst/>
          </a:prstGeom>
        </p:spPr>
      </p:pic>
      <p:sp>
        <p:nvSpPr>
          <p:cNvPr id="31" name="Shape 22"/>
          <p:cNvSpPr/>
          <p:nvPr/>
        </p:nvSpPr>
        <p:spPr>
          <a:xfrm>
            <a:off x="6510528" y="3675888"/>
            <a:ext cx="4727448" cy="457200"/>
          </a:xfrm>
          <a:prstGeom prst="roundRect">
            <a:avLst>
              <a:gd name="adj" fmla="val 12000"/>
            </a:avLst>
          </a:prstGeom>
          <a:solidFill>
            <a:srgbClr val="EAF2E4"/>
          </a:solidFill>
          <a:ln w="12700">
            <a:solidFill>
              <a:srgbClr val="EAF2E4"/>
            </a:solidFill>
            <a:prstDash val="solid"/>
          </a:ln>
        </p:spPr>
      </p:sp>
      <p:sp>
        <p:nvSpPr>
          <p:cNvPr id="32" name="Text 23"/>
          <p:cNvSpPr txBox="1"/>
          <p:nvPr/>
        </p:nvSpPr>
        <p:spPr>
          <a:xfrm>
            <a:off x="6601968" y="3675888"/>
            <a:ext cx="4544568" cy="457200"/>
          </a:xfrm>
          <a:prstGeom prst="rect">
            <a:avLst/>
          </a:prstGeom>
          <a:noFill/>
          <a:ln/>
        </p:spPr>
        <p:txBody>
          <a:bodyPr wrap="square" lIns="0" tIns="0" rIns="0" bIns="0" rtlCol="0" anchor="ctr"/>
          <a:lstStyle/>
          <a:p>
            <a:pPr algn="ctr" indent="0" marL="0">
              <a:lnSpc>
                <a:spcPts val="1400"/>
              </a:lnSpc>
              <a:buNone/>
            </a:pPr>
            <a:r>
              <a:rPr lang="en-US" sz="1200" b="1" dirty="0">
                <a:solidFill>
                  <a:srgbClr val="2C5F2D"/>
                </a:solidFill>
                <a:latin typeface="Calibri" pitchFamily="34" charset="0"/>
                <a:ea typeface="Calibri" pitchFamily="34" charset="-122"/>
                <a:cs typeface="Calibri" pitchFamily="34" charset="-120"/>
              </a:rPr>
              <a:t>same place  +  same period   →   they talk</a:t>
            </a:r>
            <a:endParaRPr lang="en-US" sz="1200" dirty="0"/>
          </a:p>
        </p:txBody>
      </p:sp>
      <p:sp>
        <p:nvSpPr>
          <p:cNvPr id="33" name="Shape 24"/>
          <p:cNvSpPr/>
          <p:nvPr/>
        </p:nvSpPr>
        <p:spPr>
          <a:xfrm>
            <a:off x="640080" y="4754880"/>
            <a:ext cx="10911535" cy="1234440"/>
          </a:xfrm>
          <a:prstGeom prst="roundRect">
            <a:avLst>
              <a:gd name="adj" fmla="val 4444"/>
            </a:avLst>
          </a:prstGeom>
          <a:solidFill>
            <a:srgbClr val="1B2E23"/>
          </a:solidFill>
          <a:ln w="12700">
            <a:solidFill>
              <a:srgbClr val="1B2E23"/>
            </a:solidFill>
            <a:prstDash val="solid"/>
          </a:ln>
        </p:spPr>
      </p:sp>
      <p:sp>
        <p:nvSpPr>
          <p:cNvPr id="34" name="Text 25"/>
          <p:cNvSpPr txBox="1"/>
          <p:nvPr/>
        </p:nvSpPr>
        <p:spPr>
          <a:xfrm>
            <a:off x="640080" y="4882896"/>
            <a:ext cx="10911535" cy="402336"/>
          </a:xfrm>
          <a:prstGeom prst="rect">
            <a:avLst/>
          </a:prstGeom>
          <a:noFill/>
          <a:ln/>
        </p:spPr>
        <p:txBody>
          <a:bodyPr wrap="square" lIns="0" tIns="0" rIns="0" bIns="0" rtlCol="0" anchor="ctr"/>
          <a:lstStyle/>
          <a:p>
            <a:pPr algn="ctr" indent="0" marL="0">
              <a:buNone/>
            </a:pPr>
            <a:r>
              <a:rPr lang="en-US" sz="2100" b="1" dirty="0">
                <a:solidFill>
                  <a:srgbClr val="FFFFFF"/>
                </a:solidFill>
                <a:latin typeface="Cambria" pitchFamily="34" charset="0"/>
                <a:ea typeface="Cambria" pitchFamily="34" charset="-122"/>
                <a:cs typeface="Cambria" pitchFamily="34" charset="-120"/>
              </a:rPr>
              <a:t>Deterministic when  ·  generative what</a:t>
            </a:r>
            <a:endParaRPr lang="en-US" sz="2100" dirty="0"/>
          </a:p>
        </p:txBody>
      </p:sp>
      <p:sp>
        <p:nvSpPr>
          <p:cNvPr id="35" name="Text 26"/>
          <p:cNvSpPr txBox="1"/>
          <p:nvPr/>
        </p:nvSpPr>
        <p:spPr>
          <a:xfrm>
            <a:off x="640080" y="5358384"/>
            <a:ext cx="10911535" cy="274320"/>
          </a:xfrm>
          <a:prstGeom prst="rect">
            <a:avLst/>
          </a:prstGeom>
          <a:noFill/>
          <a:ln/>
        </p:spPr>
        <p:txBody>
          <a:bodyPr wrap="square" lIns="0" tIns="0" rIns="0" bIns="0" rtlCol="0" anchor="ctr"/>
          <a:lstStyle/>
          <a:p>
            <a:pPr algn="ctr" indent="0" marL="0">
              <a:buNone/>
            </a:pPr>
            <a:r>
              <a:rPr lang="en-US" sz="1250" dirty="0">
                <a:solidFill>
                  <a:srgbClr val="7FB069"/>
                </a:solidFill>
                <a:latin typeface="Calibri" pitchFamily="34" charset="0"/>
                <a:ea typeface="Calibri" pitchFamily="34" charset="-122"/>
                <a:cs typeface="Calibri" pitchFamily="34" charset="-120"/>
              </a:rPr>
              <a:t>the framework controls the dynamics — the model supplies the diversity</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8F4"/>
        </a:solidFill>
      </p:bgPr>
    </p:bg>
    <p:spTree>
      <p:nvGrpSpPr>
        <p:cNvPr id="1" name=""/>
        <p:cNvGrpSpPr/>
        <p:nvPr/>
      </p:nvGrpSpPr>
      <p:grpSpPr>
        <a:xfrm>
          <a:off x="0" y="0"/>
          <a:ext cx="0" cy="0"/>
          <a:chOff x="0" y="0"/>
          <a:chExt cx="0" cy="0"/>
        </a:xfrm>
      </p:grpSpPr>
      <p:sp>
        <p:nvSpPr>
          <p:cNvPr id="2" name="Text 0"/>
          <p:cNvSpPr txBox="1"/>
          <p:nvPr/>
        </p:nvSpPr>
        <p:spPr>
          <a:xfrm>
            <a:off x="640080" y="329184"/>
            <a:ext cx="10911535" cy="237744"/>
          </a:xfrm>
          <a:prstGeom prst="rect">
            <a:avLst/>
          </a:prstGeom>
          <a:noFill/>
          <a:ln/>
        </p:spPr>
        <p:txBody>
          <a:bodyPr wrap="square" lIns="0" tIns="0" rIns="0" bIns="0" rtlCol="0" anchor="ctr"/>
          <a:lstStyle/>
          <a:p>
            <a:pPr indent="0" marL="0">
              <a:buNone/>
            </a:pPr>
            <a:r>
              <a:rPr lang="en-US" sz="1100" b="1" spc="160" kern="0" dirty="0">
                <a:solidFill>
                  <a:srgbClr val="2C5F2D"/>
                </a:solidFill>
                <a:latin typeface="Calibri" pitchFamily="34" charset="0"/>
                <a:ea typeface="Calibri" pitchFamily="34" charset="-122"/>
                <a:cs typeface="Calibri" pitchFamily="34" charset="-120"/>
              </a:rPr>
              <a:t>MECHANISM 3</a:t>
            </a:r>
            <a:endParaRPr lang="en-US" sz="1100" dirty="0"/>
          </a:p>
        </p:txBody>
      </p:sp>
      <p:sp>
        <p:nvSpPr>
          <p:cNvPr id="3" name="Text 1"/>
          <p:cNvSpPr txBox="1"/>
          <p:nvPr/>
        </p:nvSpPr>
        <p:spPr>
          <a:xfrm>
            <a:off x="640080" y="585216"/>
            <a:ext cx="10911535" cy="731520"/>
          </a:xfrm>
          <a:prstGeom prst="rect">
            <a:avLst/>
          </a:prstGeom>
          <a:noFill/>
          <a:ln/>
        </p:spPr>
        <p:txBody>
          <a:bodyPr wrap="square" lIns="0" tIns="0" rIns="0" bIns="0" rtlCol="0" anchor="t"/>
          <a:lstStyle/>
          <a:p>
            <a:pPr indent="0" marL="0">
              <a:buNone/>
            </a:pPr>
            <a:r>
              <a:rPr lang="en-US" sz="3000" b="1" dirty="0">
                <a:solidFill>
                  <a:srgbClr val="1B2E23"/>
                </a:solidFill>
                <a:latin typeface="Cambria" pitchFamily="34" charset="0"/>
                <a:ea typeface="Cambria" pitchFamily="34" charset="-122"/>
                <a:cs typeface="Cambria" pitchFamily="34" charset="-120"/>
              </a:rPr>
              <a:t>Memory is where the days connect</a:t>
            </a:r>
            <a:endParaRPr lang="en-US" sz="3000" dirty="0"/>
          </a:p>
        </p:txBody>
      </p:sp>
      <p:sp>
        <p:nvSpPr>
          <p:cNvPr id="4" name="Text 2"/>
          <p:cNvSpPr txBox="1"/>
          <p:nvPr/>
        </p:nvSpPr>
        <p:spPr>
          <a:xfrm>
            <a:off x="640080" y="6419088"/>
            <a:ext cx="5486400" cy="256032"/>
          </a:xfrm>
          <a:prstGeom prst="rect">
            <a:avLst/>
          </a:prstGeom>
          <a:noFill/>
          <a:ln/>
        </p:spPr>
        <p:txBody>
          <a:bodyPr wrap="square" lIns="0" tIns="0" rIns="0" bIns="0" rtlCol="0" anchor="ctr"/>
          <a:lstStyle/>
          <a:p>
            <a:pPr indent="0" marL="0">
              <a:buNone/>
            </a:pPr>
            <a:r>
              <a:rPr lang="en-US" sz="900" dirty="0">
                <a:solidFill>
                  <a:srgbClr val="5F6B60"/>
                </a:solidFill>
                <a:latin typeface="Calibri" pitchFamily="34" charset="0"/>
                <a:ea typeface="Calibri" pitchFamily="34" charset="-122"/>
                <a:cs typeface="Calibri" pitchFamily="34" charset="-120"/>
              </a:rPr>
              <a:t>ICAC 2026  ·  Paper 108  ·  Valentown</a:t>
            </a:r>
            <a:endParaRPr lang="en-US" sz="900" dirty="0"/>
          </a:p>
        </p:txBody>
      </p:sp>
      <p:sp>
        <p:nvSpPr>
          <p:cNvPr id="5" name="Text 3"/>
          <p:cNvSpPr txBox="1"/>
          <p:nvPr/>
        </p:nvSpPr>
        <p:spPr>
          <a:xfrm>
            <a:off x="10454335" y="6419088"/>
            <a:ext cx="1097280" cy="256032"/>
          </a:xfrm>
          <a:prstGeom prst="rect">
            <a:avLst/>
          </a:prstGeom>
          <a:noFill/>
          <a:ln/>
        </p:spPr>
        <p:txBody>
          <a:bodyPr wrap="square" lIns="0" tIns="0" rIns="0" bIns="0" rtlCol="0" anchor="ctr"/>
          <a:lstStyle/>
          <a:p>
            <a:pPr algn="r" indent="0" marL="0">
              <a:buNone/>
            </a:pPr>
            <a:r>
              <a:rPr lang="en-US" sz="900" dirty="0">
                <a:solidFill>
                  <a:srgbClr val="5F6B60"/>
                </a:solidFill>
                <a:latin typeface="Calibri" pitchFamily="34" charset="0"/>
                <a:ea typeface="Calibri" pitchFamily="34" charset="-122"/>
                <a:cs typeface="Calibri" pitchFamily="34" charset="-120"/>
              </a:rPr>
              <a:t>5</a:t>
            </a:r>
            <a:endParaRPr lang="en-US" sz="900" dirty="0"/>
          </a:p>
        </p:txBody>
      </p:sp>
      <p:sp>
        <p:nvSpPr>
          <p:cNvPr id="6" name="Shape 4"/>
          <p:cNvSpPr/>
          <p:nvPr/>
        </p:nvSpPr>
        <p:spPr>
          <a:xfrm>
            <a:off x="640080" y="1371600"/>
            <a:ext cx="5532120" cy="3291840"/>
          </a:xfrm>
          <a:prstGeom prst="roundRect">
            <a:avLst>
              <a:gd name="adj" fmla="val 1667"/>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7" name="Shape 5"/>
          <p:cNvSpPr/>
          <p:nvPr/>
        </p:nvSpPr>
        <p:spPr>
          <a:xfrm>
            <a:off x="932688" y="1609344"/>
            <a:ext cx="384048" cy="384048"/>
          </a:xfrm>
          <a:prstGeom prst="ellipse">
            <a:avLst/>
          </a:prstGeom>
          <a:solidFill>
            <a:srgbClr val="C98A24"/>
          </a:solidFill>
          <a:ln/>
        </p:spPr>
      </p:sp>
      <p:sp>
        <p:nvSpPr>
          <p:cNvPr id="8" name="Text 6"/>
          <p:cNvSpPr txBox="1"/>
          <p:nvPr/>
        </p:nvSpPr>
        <p:spPr>
          <a:xfrm>
            <a:off x="932688" y="1609344"/>
            <a:ext cx="384048" cy="384048"/>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3</a:t>
            </a:r>
            <a:endParaRPr lang="en-US" sz="1350" dirty="0"/>
          </a:p>
        </p:txBody>
      </p:sp>
      <p:sp>
        <p:nvSpPr>
          <p:cNvPr id="9" name="Text 7"/>
          <p:cNvSpPr txBox="1"/>
          <p:nvPr/>
        </p:nvSpPr>
        <p:spPr>
          <a:xfrm>
            <a:off x="1481328" y="1655064"/>
            <a:ext cx="4434840" cy="292608"/>
          </a:xfrm>
          <a:prstGeom prst="rect">
            <a:avLst/>
          </a:prstGeom>
          <a:noFill/>
          <a:ln/>
        </p:spPr>
        <p:txBody>
          <a:bodyPr wrap="square" lIns="0" tIns="0" rIns="0" bIns="0" rtlCol="0" anchor="ctr"/>
          <a:lstStyle/>
          <a:p>
            <a:pPr indent="0" marL="0">
              <a:buNone/>
            </a:pPr>
            <a:r>
              <a:rPr lang="en-US" sz="1500" b="1" dirty="0">
                <a:solidFill>
                  <a:srgbClr val="1B2E23"/>
                </a:solidFill>
                <a:latin typeface="Cambria" pitchFamily="34" charset="0"/>
                <a:ea typeface="Cambria" pitchFamily="34" charset="-122"/>
                <a:cs typeface="Cambria" pitchFamily="34" charset="-120"/>
              </a:rPr>
              <a:t>Memory-based feedback loop</a:t>
            </a:r>
            <a:endParaRPr lang="en-US" sz="1500" dirty="0"/>
          </a:p>
        </p:txBody>
      </p:sp>
      <p:sp>
        <p:nvSpPr>
          <p:cNvPr id="10" name="Text 8"/>
          <p:cNvSpPr txBox="1"/>
          <p:nvPr/>
        </p:nvSpPr>
        <p:spPr>
          <a:xfrm>
            <a:off x="950976" y="2148840"/>
            <a:ext cx="4910328" cy="201168"/>
          </a:xfrm>
          <a:prstGeom prst="rect">
            <a:avLst/>
          </a:prstGeom>
          <a:noFill/>
          <a:ln/>
        </p:spPr>
        <p:txBody>
          <a:bodyPr wrap="square" lIns="0" tIns="0" rIns="0" bIns="0" rtlCol="0" anchor="ctr"/>
          <a:lstStyle/>
          <a:p>
            <a:pPr algn="l" indent="0" marL="0">
              <a:buNone/>
            </a:pPr>
            <a:r>
              <a:rPr lang="en-US" sz="900" b="1" spc="130" kern="0" dirty="0">
                <a:solidFill>
                  <a:srgbClr val="C98A24"/>
                </a:solidFill>
                <a:latin typeface="Calibri" pitchFamily="34" charset="0"/>
                <a:ea typeface="Calibri" pitchFamily="34" charset="-122"/>
                <a:cs typeface="Calibri" pitchFamily="34" charset="-120"/>
              </a:rPr>
              <a:t>WRITTEN IN</a:t>
            </a:r>
            <a:endParaRPr lang="en-US" sz="900" dirty="0"/>
          </a:p>
        </p:txBody>
      </p:sp>
      <p:sp>
        <p:nvSpPr>
          <p:cNvPr id="11" name="Shape 9"/>
          <p:cNvSpPr/>
          <p:nvPr/>
        </p:nvSpPr>
        <p:spPr>
          <a:xfrm>
            <a:off x="950976" y="2377440"/>
            <a:ext cx="1575816" cy="457200"/>
          </a:xfrm>
          <a:prstGeom prst="roundRect">
            <a:avLst>
              <a:gd name="adj" fmla="val 12000"/>
            </a:avLst>
          </a:prstGeom>
          <a:solidFill>
            <a:srgbClr val="FBF1DC"/>
          </a:solidFill>
          <a:ln w="12700">
            <a:solidFill>
              <a:srgbClr val="EFDFBE"/>
            </a:solidFill>
            <a:prstDash val="solid"/>
          </a:ln>
        </p:spPr>
      </p:sp>
      <p:sp>
        <p:nvSpPr>
          <p:cNvPr id="12" name="Text 10"/>
          <p:cNvSpPr txBox="1"/>
          <p:nvPr/>
        </p:nvSpPr>
        <p:spPr>
          <a:xfrm>
            <a:off x="1042416" y="2377440"/>
            <a:ext cx="1392936" cy="457200"/>
          </a:xfrm>
          <a:prstGeom prst="rect">
            <a:avLst/>
          </a:prstGeom>
          <a:noFill/>
          <a:ln/>
        </p:spPr>
        <p:txBody>
          <a:bodyPr wrap="square" lIns="0" tIns="0" rIns="0" bIns="0" rtlCol="0" anchor="ctr"/>
          <a:lstStyle/>
          <a:p>
            <a:pPr algn="ctr" indent="0" marL="0">
              <a:lnSpc>
                <a:spcPts val="1400"/>
              </a:lnSpc>
              <a:buNone/>
            </a:pPr>
            <a:r>
              <a:rPr lang="en-US" sz="1100" b="1" dirty="0">
                <a:solidFill>
                  <a:srgbClr val="1B2E23"/>
                </a:solidFill>
                <a:latin typeface="Calibri" pitchFamily="34" charset="0"/>
                <a:ea typeface="Calibri" pitchFamily="34" charset="-122"/>
                <a:cs typeface="Calibri" pitchFamily="34" charset="-120"/>
              </a:rPr>
              <a:t>Plans</a:t>
            </a:r>
            <a:endParaRPr lang="en-US" sz="1100" dirty="0"/>
          </a:p>
        </p:txBody>
      </p:sp>
      <p:sp>
        <p:nvSpPr>
          <p:cNvPr id="13" name="Shape 11"/>
          <p:cNvSpPr/>
          <p:nvPr/>
        </p:nvSpPr>
        <p:spPr>
          <a:xfrm>
            <a:off x="2618232" y="2377440"/>
            <a:ext cx="1575816" cy="457200"/>
          </a:xfrm>
          <a:prstGeom prst="roundRect">
            <a:avLst>
              <a:gd name="adj" fmla="val 12000"/>
            </a:avLst>
          </a:prstGeom>
          <a:solidFill>
            <a:srgbClr val="FBF1DC"/>
          </a:solidFill>
          <a:ln w="12700">
            <a:solidFill>
              <a:srgbClr val="EFDFBE"/>
            </a:solidFill>
            <a:prstDash val="solid"/>
          </a:ln>
        </p:spPr>
      </p:sp>
      <p:sp>
        <p:nvSpPr>
          <p:cNvPr id="14" name="Text 12"/>
          <p:cNvSpPr txBox="1"/>
          <p:nvPr/>
        </p:nvSpPr>
        <p:spPr>
          <a:xfrm>
            <a:off x="2709672" y="2377440"/>
            <a:ext cx="1392936" cy="457200"/>
          </a:xfrm>
          <a:prstGeom prst="rect">
            <a:avLst/>
          </a:prstGeom>
          <a:noFill/>
          <a:ln/>
        </p:spPr>
        <p:txBody>
          <a:bodyPr wrap="square" lIns="0" tIns="0" rIns="0" bIns="0" rtlCol="0" anchor="ctr"/>
          <a:lstStyle/>
          <a:p>
            <a:pPr algn="ctr" indent="0" marL="0">
              <a:lnSpc>
                <a:spcPts val="1400"/>
              </a:lnSpc>
              <a:buNone/>
            </a:pPr>
            <a:r>
              <a:rPr lang="en-US" sz="1100" b="1" dirty="0">
                <a:solidFill>
                  <a:srgbClr val="1B2E23"/>
                </a:solidFill>
                <a:latin typeface="Calibri" pitchFamily="34" charset="0"/>
                <a:ea typeface="Calibri" pitchFamily="34" charset="-122"/>
                <a:cs typeface="Calibri" pitchFamily="34" charset="-120"/>
              </a:rPr>
              <a:t>Conversations</a:t>
            </a:r>
            <a:endParaRPr lang="en-US" sz="1100" dirty="0"/>
          </a:p>
        </p:txBody>
      </p:sp>
      <p:sp>
        <p:nvSpPr>
          <p:cNvPr id="15" name="Shape 13"/>
          <p:cNvSpPr/>
          <p:nvPr/>
        </p:nvSpPr>
        <p:spPr>
          <a:xfrm>
            <a:off x="4285488" y="2377440"/>
            <a:ext cx="1575816" cy="457200"/>
          </a:xfrm>
          <a:prstGeom prst="roundRect">
            <a:avLst>
              <a:gd name="adj" fmla="val 12000"/>
            </a:avLst>
          </a:prstGeom>
          <a:solidFill>
            <a:srgbClr val="FBF1DC"/>
          </a:solidFill>
          <a:ln w="12700">
            <a:solidFill>
              <a:srgbClr val="EFDFBE"/>
            </a:solidFill>
            <a:prstDash val="solid"/>
          </a:ln>
        </p:spPr>
      </p:sp>
      <p:sp>
        <p:nvSpPr>
          <p:cNvPr id="16" name="Text 14"/>
          <p:cNvSpPr txBox="1"/>
          <p:nvPr/>
        </p:nvSpPr>
        <p:spPr>
          <a:xfrm>
            <a:off x="4376928" y="2377440"/>
            <a:ext cx="1392936" cy="457200"/>
          </a:xfrm>
          <a:prstGeom prst="rect">
            <a:avLst/>
          </a:prstGeom>
          <a:noFill/>
          <a:ln/>
        </p:spPr>
        <p:txBody>
          <a:bodyPr wrap="square" lIns="0" tIns="0" rIns="0" bIns="0" rtlCol="0" anchor="ctr"/>
          <a:lstStyle/>
          <a:p>
            <a:pPr algn="ctr" indent="0" marL="0">
              <a:lnSpc>
                <a:spcPts val="1400"/>
              </a:lnSpc>
              <a:buNone/>
            </a:pPr>
            <a:r>
              <a:rPr lang="en-US" sz="1100" b="1" dirty="0">
                <a:solidFill>
                  <a:srgbClr val="1B2E23"/>
                </a:solidFill>
                <a:latin typeface="Calibri" pitchFamily="34" charset="0"/>
                <a:ea typeface="Calibri" pitchFamily="34" charset="-122"/>
                <a:cs typeface="Calibri" pitchFamily="34" charset="-120"/>
              </a:rPr>
              <a:t>Reflections</a:t>
            </a:r>
            <a:endParaRPr lang="en-US" sz="1100" dirty="0"/>
          </a:p>
        </p:txBody>
      </p:sp>
      <p:sp>
        <p:nvSpPr>
          <p:cNvPr id="17" name="Text 15"/>
          <p:cNvSpPr txBox="1"/>
          <p:nvPr/>
        </p:nvSpPr>
        <p:spPr>
          <a:xfrm>
            <a:off x="950976" y="3017520"/>
            <a:ext cx="4910328" cy="201168"/>
          </a:xfrm>
          <a:prstGeom prst="rect">
            <a:avLst/>
          </a:prstGeom>
          <a:noFill/>
          <a:ln/>
        </p:spPr>
        <p:txBody>
          <a:bodyPr wrap="square" lIns="0" tIns="0" rIns="0" bIns="0" rtlCol="0" anchor="ctr"/>
          <a:lstStyle/>
          <a:p>
            <a:pPr algn="l" indent="0" marL="0">
              <a:buNone/>
            </a:pPr>
            <a:r>
              <a:rPr lang="en-US" sz="900" b="1" spc="130" kern="0" dirty="0">
                <a:solidFill>
                  <a:srgbClr val="2C5F2D"/>
                </a:solidFill>
                <a:latin typeface="Calibri" pitchFamily="34" charset="0"/>
                <a:ea typeface="Calibri" pitchFamily="34" charset="-122"/>
                <a:cs typeface="Calibri" pitchFamily="34" charset="-120"/>
              </a:rPr>
              <a:t>READ OUT</a:t>
            </a:r>
            <a:endParaRPr lang="en-US" sz="900" dirty="0"/>
          </a:p>
        </p:txBody>
      </p:sp>
      <p:sp>
        <p:nvSpPr>
          <p:cNvPr id="18" name="Shape 16"/>
          <p:cNvSpPr/>
          <p:nvPr/>
        </p:nvSpPr>
        <p:spPr>
          <a:xfrm>
            <a:off x="950976" y="3246120"/>
            <a:ext cx="1575816" cy="457200"/>
          </a:xfrm>
          <a:prstGeom prst="roundRect">
            <a:avLst>
              <a:gd name="adj" fmla="val 12000"/>
            </a:avLst>
          </a:prstGeom>
          <a:solidFill>
            <a:srgbClr val="EAF2E4"/>
          </a:solidFill>
          <a:ln w="12700">
            <a:solidFill>
              <a:srgbClr val="EAF2E4"/>
            </a:solidFill>
            <a:prstDash val="solid"/>
          </a:ln>
        </p:spPr>
      </p:sp>
      <p:sp>
        <p:nvSpPr>
          <p:cNvPr id="19" name="Text 17"/>
          <p:cNvSpPr txBox="1"/>
          <p:nvPr/>
        </p:nvSpPr>
        <p:spPr>
          <a:xfrm>
            <a:off x="1042416" y="3246120"/>
            <a:ext cx="1392936" cy="457200"/>
          </a:xfrm>
          <a:prstGeom prst="rect">
            <a:avLst/>
          </a:prstGeom>
          <a:noFill/>
          <a:ln/>
        </p:spPr>
        <p:txBody>
          <a:bodyPr wrap="square" lIns="0" tIns="0" rIns="0" bIns="0" rtlCol="0" anchor="ctr"/>
          <a:lstStyle/>
          <a:p>
            <a:pPr algn="ctr" indent="0" marL="0">
              <a:lnSpc>
                <a:spcPts val="1400"/>
              </a:lnSpc>
              <a:buNone/>
            </a:pPr>
            <a:r>
              <a:rPr lang="en-US" sz="1100" b="1" dirty="0">
                <a:solidFill>
                  <a:srgbClr val="1B2E23"/>
                </a:solidFill>
                <a:latin typeface="Calibri" pitchFamily="34" charset="0"/>
                <a:ea typeface="Calibri" pitchFamily="34" charset="-122"/>
                <a:cs typeface="Calibri" pitchFamily="34" charset="-120"/>
              </a:rPr>
              <a:t>Planning</a:t>
            </a:r>
            <a:endParaRPr lang="en-US" sz="1100" dirty="0"/>
          </a:p>
        </p:txBody>
      </p:sp>
      <p:sp>
        <p:nvSpPr>
          <p:cNvPr id="20" name="Shape 18"/>
          <p:cNvSpPr/>
          <p:nvPr/>
        </p:nvSpPr>
        <p:spPr>
          <a:xfrm>
            <a:off x="2618232" y="3246120"/>
            <a:ext cx="1575816" cy="457200"/>
          </a:xfrm>
          <a:prstGeom prst="roundRect">
            <a:avLst>
              <a:gd name="adj" fmla="val 12000"/>
            </a:avLst>
          </a:prstGeom>
          <a:solidFill>
            <a:srgbClr val="EAF2E4"/>
          </a:solidFill>
          <a:ln w="12700">
            <a:solidFill>
              <a:srgbClr val="EAF2E4"/>
            </a:solidFill>
            <a:prstDash val="solid"/>
          </a:ln>
        </p:spPr>
      </p:sp>
      <p:sp>
        <p:nvSpPr>
          <p:cNvPr id="21" name="Text 19"/>
          <p:cNvSpPr txBox="1"/>
          <p:nvPr/>
        </p:nvSpPr>
        <p:spPr>
          <a:xfrm>
            <a:off x="2709672" y="3246120"/>
            <a:ext cx="1392936" cy="457200"/>
          </a:xfrm>
          <a:prstGeom prst="rect">
            <a:avLst/>
          </a:prstGeom>
          <a:noFill/>
          <a:ln/>
        </p:spPr>
        <p:txBody>
          <a:bodyPr wrap="square" lIns="0" tIns="0" rIns="0" bIns="0" rtlCol="0" anchor="ctr"/>
          <a:lstStyle/>
          <a:p>
            <a:pPr algn="ctr" indent="0" marL="0">
              <a:lnSpc>
                <a:spcPts val="1400"/>
              </a:lnSpc>
              <a:buNone/>
            </a:pPr>
            <a:r>
              <a:rPr lang="en-US" sz="1100" b="1" dirty="0">
                <a:solidFill>
                  <a:srgbClr val="1B2E23"/>
                </a:solidFill>
                <a:latin typeface="Calibri" pitchFamily="34" charset="0"/>
                <a:ea typeface="Calibri" pitchFamily="34" charset="-122"/>
                <a:cs typeface="Calibri" pitchFamily="34" charset="-120"/>
              </a:rPr>
              <a:t>Dialogue</a:t>
            </a:r>
            <a:endParaRPr lang="en-US" sz="1100" dirty="0"/>
          </a:p>
        </p:txBody>
      </p:sp>
      <p:sp>
        <p:nvSpPr>
          <p:cNvPr id="22" name="Shape 20"/>
          <p:cNvSpPr/>
          <p:nvPr/>
        </p:nvSpPr>
        <p:spPr>
          <a:xfrm>
            <a:off x="4285488" y="3246120"/>
            <a:ext cx="1575816" cy="457200"/>
          </a:xfrm>
          <a:prstGeom prst="roundRect">
            <a:avLst>
              <a:gd name="adj" fmla="val 12000"/>
            </a:avLst>
          </a:prstGeom>
          <a:solidFill>
            <a:srgbClr val="EAF2E4"/>
          </a:solidFill>
          <a:ln w="12700">
            <a:solidFill>
              <a:srgbClr val="EAF2E4"/>
            </a:solidFill>
            <a:prstDash val="solid"/>
          </a:ln>
        </p:spPr>
      </p:sp>
      <p:sp>
        <p:nvSpPr>
          <p:cNvPr id="23" name="Text 21"/>
          <p:cNvSpPr txBox="1"/>
          <p:nvPr/>
        </p:nvSpPr>
        <p:spPr>
          <a:xfrm>
            <a:off x="4376928" y="3246120"/>
            <a:ext cx="1392936" cy="457200"/>
          </a:xfrm>
          <a:prstGeom prst="rect">
            <a:avLst/>
          </a:prstGeom>
          <a:noFill/>
          <a:ln/>
        </p:spPr>
        <p:txBody>
          <a:bodyPr wrap="square" lIns="0" tIns="0" rIns="0" bIns="0" rtlCol="0" anchor="ctr"/>
          <a:lstStyle/>
          <a:p>
            <a:pPr algn="ctr" indent="0" marL="0">
              <a:lnSpc>
                <a:spcPts val="1400"/>
              </a:lnSpc>
              <a:buNone/>
            </a:pPr>
            <a:r>
              <a:rPr lang="en-US" sz="1100" b="1" dirty="0">
                <a:solidFill>
                  <a:srgbClr val="1B2E23"/>
                </a:solidFill>
                <a:latin typeface="Calibri" pitchFamily="34" charset="0"/>
                <a:ea typeface="Calibri" pitchFamily="34" charset="-122"/>
                <a:cs typeface="Calibri" pitchFamily="34" charset="-120"/>
              </a:rPr>
              <a:t>Reflection</a:t>
            </a:r>
            <a:endParaRPr lang="en-US" sz="1100" dirty="0"/>
          </a:p>
        </p:txBody>
      </p:sp>
      <p:sp>
        <p:nvSpPr>
          <p:cNvPr id="24" name="Text 22"/>
          <p:cNvSpPr txBox="1"/>
          <p:nvPr/>
        </p:nvSpPr>
        <p:spPr>
          <a:xfrm>
            <a:off x="950976" y="3913632"/>
            <a:ext cx="4910328" cy="274320"/>
          </a:xfrm>
          <a:prstGeom prst="rect">
            <a:avLst/>
          </a:prstGeom>
          <a:noFill/>
          <a:ln/>
        </p:spPr>
        <p:txBody>
          <a:bodyPr wrap="square" lIns="0" tIns="0" rIns="0" bIns="0" rtlCol="0" anchor="ctr"/>
          <a:lstStyle/>
          <a:p>
            <a:pPr algn="ctr" indent="0" marL="0">
              <a:buNone/>
            </a:pPr>
            <a:r>
              <a:rPr lang="en-US" sz="1200" dirty="0">
                <a:solidFill>
                  <a:srgbClr val="1F2A22"/>
                </a:solidFill>
                <a:latin typeface="Calibri" pitchFamily="34" charset="0"/>
                <a:ea typeface="Calibri" pitchFamily="34" charset="-122"/>
                <a:cs typeface="Calibri" pitchFamily="34" charset="-120"/>
              </a:rPr>
              <a:t>Every entry: category · timestamp · importance score</a:t>
            </a:r>
            <a:endParaRPr lang="en-US" sz="1200" dirty="0"/>
          </a:p>
        </p:txBody>
      </p:sp>
      <p:sp>
        <p:nvSpPr>
          <p:cNvPr id="25" name="Text 23"/>
          <p:cNvSpPr txBox="1"/>
          <p:nvPr/>
        </p:nvSpPr>
        <p:spPr>
          <a:xfrm>
            <a:off x="950976" y="4187952"/>
            <a:ext cx="4910328" cy="274320"/>
          </a:xfrm>
          <a:prstGeom prst="rect">
            <a:avLst/>
          </a:prstGeom>
          <a:noFill/>
          <a:ln/>
        </p:spPr>
        <p:txBody>
          <a:bodyPr wrap="square" lIns="0" tIns="0" rIns="0" bIns="0" rtlCol="0" anchor="ctr"/>
          <a:lstStyle/>
          <a:p>
            <a:pPr algn="ctr" indent="0" marL="0">
              <a:buNone/>
            </a:pPr>
            <a:r>
              <a:rPr lang="en-US" sz="1200" dirty="0">
                <a:solidFill>
                  <a:srgbClr val="1F2A22"/>
                </a:solidFill>
                <a:latin typeface="Calibri" pitchFamily="34" charset="0"/>
                <a:ea typeface="Calibri" pitchFamily="34" charset="-122"/>
                <a:cs typeface="Calibri" pitchFamily="34" charset="-120"/>
              </a:rPr>
              <a:t>Retrieval: recent + important · the store stays bounded</a:t>
            </a:r>
            <a:endParaRPr lang="en-US" sz="1200" dirty="0"/>
          </a:p>
        </p:txBody>
      </p:sp>
      <p:sp>
        <p:nvSpPr>
          <p:cNvPr id="26" name="Shape 24"/>
          <p:cNvSpPr/>
          <p:nvPr/>
        </p:nvSpPr>
        <p:spPr>
          <a:xfrm>
            <a:off x="640080" y="4864608"/>
            <a:ext cx="5532120" cy="1115568"/>
          </a:xfrm>
          <a:prstGeom prst="roundRect">
            <a:avLst>
              <a:gd name="adj" fmla="val 4918"/>
            </a:avLst>
          </a:prstGeom>
          <a:solidFill>
            <a:srgbClr val="FBF1DC"/>
          </a:solidFill>
          <a:ln w="12700">
            <a:solidFill>
              <a:srgbClr val="EFDFBE"/>
            </a:solidFill>
            <a:prstDash val="solid"/>
          </a:ln>
        </p:spPr>
      </p:sp>
      <p:sp>
        <p:nvSpPr>
          <p:cNvPr id="27" name="Text 25"/>
          <p:cNvSpPr txBox="1"/>
          <p:nvPr/>
        </p:nvSpPr>
        <p:spPr>
          <a:xfrm>
            <a:off x="950976" y="5010912"/>
            <a:ext cx="4910328" cy="201168"/>
          </a:xfrm>
          <a:prstGeom prst="rect">
            <a:avLst/>
          </a:prstGeom>
          <a:noFill/>
          <a:ln/>
        </p:spPr>
        <p:txBody>
          <a:bodyPr wrap="square" lIns="0" tIns="0" rIns="0" bIns="0" rtlCol="0" anchor="ctr"/>
          <a:lstStyle/>
          <a:p>
            <a:pPr algn="l" indent="0" marL="0">
              <a:buNone/>
            </a:pPr>
            <a:r>
              <a:rPr lang="en-US" sz="900" b="1" spc="130" kern="0" dirty="0">
                <a:solidFill>
                  <a:srgbClr val="C98A24"/>
                </a:solidFill>
                <a:latin typeface="Calibri" pitchFamily="34" charset="0"/>
                <a:ea typeface="Calibri" pitchFamily="34" charset="-122"/>
                <a:cs typeface="Calibri" pitchFamily="34" charset="-120"/>
              </a:rPr>
              <a:t>OPTIONAL: HUMAN IN THE LOOP</a:t>
            </a:r>
            <a:endParaRPr lang="en-US" sz="900" dirty="0"/>
          </a:p>
        </p:txBody>
      </p:sp>
      <p:sp>
        <p:nvSpPr>
          <p:cNvPr id="28" name="Text 26"/>
          <p:cNvSpPr txBox="1"/>
          <p:nvPr/>
        </p:nvSpPr>
        <p:spPr>
          <a:xfrm>
            <a:off x="950976" y="5266944"/>
            <a:ext cx="4910328" cy="548640"/>
          </a:xfrm>
          <a:prstGeom prst="rect">
            <a:avLst/>
          </a:prstGeom>
          <a:noFill/>
          <a:ln/>
        </p:spPr>
        <p:txBody>
          <a:bodyPr wrap="square" lIns="0" tIns="0" rIns="0" bIns="0" rtlCol="0" anchor="t"/>
          <a:lstStyle/>
          <a:p>
            <a:pPr indent="0" marL="0">
              <a:lnSpc>
                <a:spcPts val="1600"/>
              </a:lnSpc>
              <a:buNone/>
            </a:pPr>
            <a:r>
              <a:rPr lang="en-US" sz="1250" dirty="0">
                <a:solidFill>
                  <a:srgbClr val="1B2E23"/>
                </a:solidFill>
                <a:latin typeface="Calibri" pitchFamily="34" charset="0"/>
                <a:ea typeface="Calibri" pitchFamily="34" charset="-122"/>
                <a:cs typeface="Calibri" pitchFamily="34" charset="-120"/>
              </a:rPr>
              <a:t>Feedback written into the same memory channel</a:t>
            </a:r>
            <a:endParaRPr lang="en-US" sz="1250" dirty="0"/>
          </a:p>
        </p:txBody>
      </p:sp>
      <p:sp>
        <p:nvSpPr>
          <p:cNvPr id="29" name="Shape 27"/>
          <p:cNvSpPr/>
          <p:nvPr/>
        </p:nvSpPr>
        <p:spPr>
          <a:xfrm>
            <a:off x="6537960" y="1371600"/>
            <a:ext cx="5013655" cy="3291840"/>
          </a:xfrm>
          <a:prstGeom prst="roundRect">
            <a:avLst>
              <a:gd name="adj" fmla="val 1667"/>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pic>
        <p:nvPicPr>
          <p:cNvPr id="30" name="Image 0" descr="/tmp/claude-0/-home-user-valentown/d6e1bc7b-94ca-5433-b61a-57600741710e/scratchpad/assets/fig3_memory.png">    </p:cNvPr>
          <p:cNvPicPr>
            <a:picLocks noChangeAspect="1"/>
          </p:cNvPicPr>
          <p:nvPr/>
        </p:nvPicPr>
        <p:blipFill>
          <a:blip r:embed="rId1"/>
          <a:stretch>
            <a:fillRect/>
          </a:stretch>
        </p:blipFill>
        <p:spPr>
          <a:xfrm>
            <a:off x="6647688" y="1644153"/>
            <a:ext cx="4794199" cy="2563854"/>
          </a:xfrm>
          <a:prstGeom prst="rect">
            <a:avLst/>
          </a:prstGeom>
        </p:spPr>
      </p:pic>
      <p:sp>
        <p:nvSpPr>
          <p:cNvPr id="31" name="Text 28"/>
          <p:cNvSpPr txBox="1"/>
          <p:nvPr/>
        </p:nvSpPr>
        <p:spPr>
          <a:xfrm>
            <a:off x="6537960" y="4297680"/>
            <a:ext cx="5013655" cy="237744"/>
          </a:xfrm>
          <a:prstGeom prst="rect">
            <a:avLst/>
          </a:prstGeom>
          <a:noFill/>
          <a:ln/>
        </p:spPr>
        <p:txBody>
          <a:bodyPr wrap="square" lIns="0" tIns="0" rIns="0" bIns="0" rtlCol="0" anchor="ctr"/>
          <a:lstStyle/>
          <a:p>
            <a:pPr algn="ctr" indent="0" marL="0">
              <a:buNone/>
            </a:pPr>
            <a:r>
              <a:rPr lang="en-US" sz="1000" i="1" dirty="0">
                <a:solidFill>
                  <a:srgbClr val="5F6B60"/>
                </a:solidFill>
                <a:latin typeface="Calibri" pitchFamily="34" charset="0"/>
                <a:ea typeface="Calibri" pitchFamily="34" charset="-122"/>
                <a:cs typeface="Calibri" pitchFamily="34" charset="-120"/>
              </a:rPr>
              <a:t>Fig. 3  Memory-centred feedback loop</a:t>
            </a:r>
            <a:endParaRPr lang="en-US" sz="1000" dirty="0"/>
          </a:p>
        </p:txBody>
      </p:sp>
      <p:sp>
        <p:nvSpPr>
          <p:cNvPr id="32" name="Shape 29"/>
          <p:cNvSpPr/>
          <p:nvPr/>
        </p:nvSpPr>
        <p:spPr>
          <a:xfrm>
            <a:off x="6537960" y="4864608"/>
            <a:ext cx="5013655" cy="1115568"/>
          </a:xfrm>
          <a:prstGeom prst="roundRect">
            <a:avLst>
              <a:gd name="adj" fmla="val 4918"/>
            </a:avLst>
          </a:prstGeom>
          <a:solidFill>
            <a:srgbClr val="EAF2E4"/>
          </a:solidFill>
          <a:ln w="12700">
            <a:solidFill>
              <a:srgbClr val="EAF2E4"/>
            </a:solidFill>
            <a:prstDash val="solid"/>
          </a:ln>
        </p:spPr>
      </p:sp>
      <p:sp>
        <p:nvSpPr>
          <p:cNvPr id="33" name="Text 30"/>
          <p:cNvSpPr txBox="1"/>
          <p:nvPr/>
        </p:nvSpPr>
        <p:spPr>
          <a:xfrm>
            <a:off x="6812280" y="4864608"/>
            <a:ext cx="4465015" cy="1115568"/>
          </a:xfrm>
          <a:prstGeom prst="rect">
            <a:avLst/>
          </a:prstGeom>
          <a:noFill/>
          <a:ln/>
        </p:spPr>
        <p:txBody>
          <a:bodyPr wrap="square" lIns="0" tIns="0" rIns="0" bIns="0" rtlCol="0" anchor="ctr"/>
          <a:lstStyle/>
          <a:p>
            <a:pPr algn="ctr" indent="0" marL="0">
              <a:lnSpc>
                <a:spcPts val="2000"/>
              </a:lnSpc>
              <a:buNone/>
            </a:pPr>
            <a:r>
              <a:rPr lang="en-US" sz="1450" b="1" dirty="0">
                <a:solidFill>
                  <a:srgbClr val="1B2E23"/>
                </a:solidFill>
                <a:latin typeface="Cambria" pitchFamily="34" charset="0"/>
                <a:ea typeface="Cambria" pitchFamily="34" charset="-122"/>
                <a:cs typeface="Cambria" pitchFamily="34" charset="-120"/>
              </a:rPr>
              <a:t>The LLM stays stateless — all continuity lives in memory</a:t>
            </a:r>
            <a:endParaRPr lang="en-US" sz="14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B2E23"/>
        </a:solidFill>
      </p:bgPr>
    </p:bg>
    <p:spTree>
      <p:nvGrpSpPr>
        <p:cNvPr id="1" name=""/>
        <p:cNvGrpSpPr/>
        <p:nvPr/>
      </p:nvGrpSpPr>
      <p:grpSpPr>
        <a:xfrm>
          <a:off x="0" y="0"/>
          <a:ext cx="0" cy="0"/>
          <a:chOff x="0" y="0"/>
          <a:chExt cx="0" cy="0"/>
        </a:xfrm>
      </p:grpSpPr>
      <p:sp>
        <p:nvSpPr>
          <p:cNvPr id="2" name="Text 0"/>
          <p:cNvSpPr txBox="1"/>
          <p:nvPr/>
        </p:nvSpPr>
        <p:spPr>
          <a:xfrm>
            <a:off x="640080" y="274320"/>
            <a:ext cx="1463040" cy="310896"/>
          </a:xfrm>
          <a:prstGeom prst="rect">
            <a:avLst/>
          </a:prstGeom>
          <a:noFill/>
          <a:ln/>
        </p:spPr>
        <p:txBody>
          <a:bodyPr wrap="square" lIns="0" tIns="0" rIns="0" bIns="0" rtlCol="0" anchor="ctr"/>
          <a:lstStyle/>
          <a:p>
            <a:pPr indent="0" marL="0">
              <a:buNone/>
            </a:pPr>
            <a:r>
              <a:rPr lang="en-US" sz="1100" b="1" spc="160" kern="0" dirty="0">
                <a:solidFill>
                  <a:srgbClr val="7FB069"/>
                </a:solidFill>
                <a:latin typeface="Calibri" pitchFamily="34" charset="0"/>
                <a:ea typeface="Calibri" pitchFamily="34" charset="-122"/>
                <a:cs typeface="Calibri" pitchFamily="34" charset="-120"/>
              </a:rPr>
              <a:t>DEMO</a:t>
            </a:r>
            <a:endParaRPr lang="en-US" sz="1100" dirty="0"/>
          </a:p>
        </p:txBody>
      </p:sp>
      <p:sp>
        <p:nvSpPr>
          <p:cNvPr id="3" name="Text 1"/>
          <p:cNvSpPr txBox="1"/>
          <p:nvPr/>
        </p:nvSpPr>
        <p:spPr>
          <a:xfrm>
            <a:off x="1920240" y="274320"/>
            <a:ext cx="5943600" cy="310896"/>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Valentown, running</a:t>
            </a:r>
            <a:endParaRPr lang="en-US" sz="1700" dirty="0"/>
          </a:p>
        </p:txBody>
      </p:sp>
      <p:sp>
        <p:nvSpPr>
          <p:cNvPr id="4" name="Text 2"/>
          <p:cNvSpPr txBox="1"/>
          <p:nvPr/>
        </p:nvSpPr>
        <p:spPr>
          <a:xfrm>
            <a:off x="7894015" y="274320"/>
            <a:ext cx="3657600" cy="310896"/>
          </a:xfrm>
          <a:prstGeom prst="rect">
            <a:avLst/>
          </a:prstGeom>
          <a:noFill/>
          <a:ln/>
        </p:spPr>
        <p:txBody>
          <a:bodyPr wrap="square" lIns="0" tIns="0" rIns="0" bIns="0" rtlCol="0" anchor="ctr"/>
          <a:lstStyle/>
          <a:p>
            <a:pPr algn="r" indent="0" marL="0">
              <a:buNone/>
            </a:pPr>
            <a:r>
              <a:rPr lang="en-US" sz="1000" dirty="0">
                <a:solidFill>
                  <a:srgbClr val="7C8F7C"/>
                </a:solidFill>
                <a:latin typeface="Calibri" pitchFamily="34" charset="0"/>
                <a:ea typeface="Calibri" pitchFamily="34" charset="-122"/>
                <a:cs typeface="Calibri" pitchFamily="34" charset="-120"/>
              </a:rPr>
              <a:t>Paper 108  ·  Valentown</a:t>
            </a:r>
            <a:endParaRPr lang="en-US" sz="1000" dirty="0"/>
          </a:p>
        </p:txBody>
      </p:sp>
      <p:sp>
        <p:nvSpPr>
          <p:cNvPr id="5" name="Shape 3"/>
          <p:cNvSpPr/>
          <p:nvPr/>
        </p:nvSpPr>
        <p:spPr>
          <a:xfrm>
            <a:off x="1249528" y="804672"/>
            <a:ext cx="9692640" cy="5452110"/>
          </a:xfrm>
          <a:prstGeom prst="roundRect">
            <a:avLst>
              <a:gd name="adj" fmla="val 1006"/>
            </a:avLst>
          </a:prstGeom>
          <a:solidFill>
            <a:srgbClr val="24402F"/>
          </a:solidFill>
          <a:ln w="12700">
            <a:solidFill>
              <a:srgbClr val="2F4E3A"/>
            </a:solidFill>
            <a:prstDash val="solid"/>
          </a:ln>
        </p:spPr>
      </p:sp>
      <p:pic>
        <p:nvPicPr>
          <p:cNvPr id="6" name="Image 0" descr="/tmp/claude-0/-home-user-valentown/d6e1bc7b-94ca-5433-b61a-57600741710e/scratchpad/assets/screenshot.jpg">    </p:cNvPr>
          <p:cNvPicPr>
            <a:picLocks noChangeAspect="1"/>
          </p:cNvPicPr>
          <p:nvPr/>
        </p:nvPicPr>
        <p:blipFill>
          <a:blip r:embed="rId1"/>
          <a:stretch>
            <a:fillRect/>
          </a:stretch>
        </p:blipFill>
        <p:spPr>
          <a:xfrm>
            <a:off x="1313536" y="868680"/>
            <a:ext cx="9564624" cy="5324094"/>
          </a:xfrm>
          <a:prstGeom prst="rect">
            <a:avLst/>
          </a:prstGeom>
        </p:spPr>
      </p:pic>
      <p:sp>
        <p:nvSpPr>
          <p:cNvPr id="7" name="Text 4"/>
          <p:cNvSpPr txBox="1"/>
          <p:nvPr/>
        </p:nvSpPr>
        <p:spPr>
          <a:xfrm>
            <a:off x="640080" y="6366510"/>
            <a:ext cx="10911535" cy="292608"/>
          </a:xfrm>
          <a:prstGeom prst="rect">
            <a:avLst/>
          </a:prstGeom>
          <a:noFill/>
          <a:ln/>
        </p:spPr>
        <p:txBody>
          <a:bodyPr wrap="square" lIns="0" tIns="0" rIns="0" bIns="0" rtlCol="0" anchor="ctr"/>
          <a:lstStyle/>
          <a:p>
            <a:pPr algn="ctr" indent="0" marL="0">
              <a:buNone/>
            </a:pPr>
            <a:r>
              <a:rPr lang="en-US" sz="1250" dirty="0">
                <a:solidFill>
                  <a:srgbClr val="EAF2E4"/>
                </a:solidFill>
                <a:latin typeface="Calibri" pitchFamily="34" charset="0"/>
                <a:ea typeface="Calibri" pitchFamily="34" charset="-122"/>
                <a:cs typeface="Calibri" pitchFamily="34" charset="-120"/>
              </a:rPr>
              <a:t>a day planned overnight</a:t>
            </a:r>
            <a:pPr algn="ctr" indent="0" marL="0">
              <a:buNone/>
            </a:pPr>
            <a:r>
              <a:rPr lang="en-US" sz="1250" dirty="0">
                <a:solidFill>
                  <a:srgbClr val="C98A24"/>
                </a:solidFill>
                <a:latin typeface="Calibri" pitchFamily="34" charset="0"/>
                <a:ea typeface="Calibri" pitchFamily="34" charset="-122"/>
                <a:cs typeface="Calibri" pitchFamily="34" charset="-120"/>
              </a:rPr>
              <a:t>   ·   </a:t>
            </a:r>
            <a:pPr algn="ctr" indent="0" marL="0">
              <a:buNone/>
            </a:pPr>
            <a:r>
              <a:rPr lang="en-US" sz="1250" dirty="0">
                <a:solidFill>
                  <a:srgbClr val="EAF2E4"/>
                </a:solidFill>
                <a:latin typeface="Calibri" pitchFamily="34" charset="0"/>
                <a:ea typeface="Calibri" pitchFamily="34" charset="-122"/>
                <a:cs typeface="Calibri" pitchFamily="34" charset="-120"/>
              </a:rPr>
              <a:t>two residents meeting at the same place</a:t>
            </a:r>
            <a:pPr algn="ctr" indent="0" marL="0">
              <a:buNone/>
            </a:pPr>
            <a:r>
              <a:rPr lang="en-US" sz="1250" dirty="0">
                <a:solidFill>
                  <a:srgbClr val="C98A24"/>
                </a:solidFill>
                <a:latin typeface="Calibri" pitchFamily="34" charset="0"/>
                <a:ea typeface="Calibri" pitchFamily="34" charset="-122"/>
                <a:cs typeface="Calibri" pitchFamily="34" charset="-120"/>
              </a:rPr>
              <a:t>   ·   </a:t>
            </a:r>
            <a:pPr algn="ctr" indent="0" marL="0">
              <a:buNone/>
            </a:pPr>
            <a:r>
              <a:rPr lang="en-US" sz="1250" dirty="0">
                <a:solidFill>
                  <a:srgbClr val="EAF2E4"/>
                </a:solidFill>
                <a:latin typeface="Calibri" pitchFamily="34" charset="0"/>
                <a:ea typeface="Calibri" pitchFamily="34" charset="-122"/>
                <a:cs typeface="Calibri" pitchFamily="34" charset="-120"/>
              </a:rPr>
              <a:t>reflection reshaping tomorrow</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8F4"/>
        </a:solidFill>
      </p:bgPr>
    </p:bg>
    <p:spTree>
      <p:nvGrpSpPr>
        <p:cNvPr id="1" name=""/>
        <p:cNvGrpSpPr/>
        <p:nvPr/>
      </p:nvGrpSpPr>
      <p:grpSpPr>
        <a:xfrm>
          <a:off x="0" y="0"/>
          <a:ext cx="0" cy="0"/>
          <a:chOff x="0" y="0"/>
          <a:chExt cx="0" cy="0"/>
        </a:xfrm>
      </p:grpSpPr>
      <p:sp>
        <p:nvSpPr>
          <p:cNvPr id="2" name="Text 0"/>
          <p:cNvSpPr txBox="1"/>
          <p:nvPr/>
        </p:nvSpPr>
        <p:spPr>
          <a:xfrm>
            <a:off x="640080" y="329184"/>
            <a:ext cx="10911535" cy="237744"/>
          </a:xfrm>
          <a:prstGeom prst="rect">
            <a:avLst/>
          </a:prstGeom>
          <a:noFill/>
          <a:ln/>
        </p:spPr>
        <p:txBody>
          <a:bodyPr wrap="square" lIns="0" tIns="0" rIns="0" bIns="0" rtlCol="0" anchor="ctr"/>
          <a:lstStyle/>
          <a:p>
            <a:pPr indent="0" marL="0">
              <a:buNone/>
            </a:pPr>
            <a:r>
              <a:rPr lang="en-US" sz="1100" b="1" spc="160" kern="0" dirty="0">
                <a:solidFill>
                  <a:srgbClr val="2C5F2D"/>
                </a:solidFill>
                <a:latin typeface="Calibri" pitchFamily="34" charset="0"/>
                <a:ea typeface="Calibri" pitchFamily="34" charset="-122"/>
                <a:cs typeface="Calibri" pitchFamily="34" charset="-120"/>
              </a:rPr>
              <a:t>EXPERIMENTS</a:t>
            </a:r>
            <a:endParaRPr lang="en-US" sz="1100" dirty="0"/>
          </a:p>
        </p:txBody>
      </p:sp>
      <p:sp>
        <p:nvSpPr>
          <p:cNvPr id="3" name="Text 1"/>
          <p:cNvSpPr txBox="1"/>
          <p:nvPr/>
        </p:nvSpPr>
        <p:spPr>
          <a:xfrm>
            <a:off x="640080" y="585216"/>
            <a:ext cx="10911535" cy="731520"/>
          </a:xfrm>
          <a:prstGeom prst="rect">
            <a:avLst/>
          </a:prstGeom>
          <a:noFill/>
          <a:ln/>
        </p:spPr>
        <p:txBody>
          <a:bodyPr wrap="square" lIns="0" tIns="0" rIns="0" bIns="0" rtlCol="0" anchor="t"/>
          <a:lstStyle/>
          <a:p>
            <a:pPr indent="0" marL="0">
              <a:buNone/>
            </a:pPr>
            <a:r>
              <a:rPr lang="en-US" sz="3000" b="1" dirty="0">
                <a:solidFill>
                  <a:srgbClr val="1B2E23"/>
                </a:solidFill>
                <a:latin typeface="Cambria" pitchFamily="34" charset="0"/>
                <a:ea typeface="Cambria" pitchFamily="34" charset="-122"/>
                <a:cs typeface="Cambria" pitchFamily="34" charset="-120"/>
              </a:rPr>
              <a:t>What we ran, and what we looked for</a:t>
            </a:r>
            <a:endParaRPr lang="en-US" sz="3000" dirty="0"/>
          </a:p>
        </p:txBody>
      </p:sp>
      <p:sp>
        <p:nvSpPr>
          <p:cNvPr id="4" name="Text 2"/>
          <p:cNvSpPr txBox="1"/>
          <p:nvPr/>
        </p:nvSpPr>
        <p:spPr>
          <a:xfrm>
            <a:off x="640080" y="6419088"/>
            <a:ext cx="5486400" cy="256032"/>
          </a:xfrm>
          <a:prstGeom prst="rect">
            <a:avLst/>
          </a:prstGeom>
          <a:noFill/>
          <a:ln/>
        </p:spPr>
        <p:txBody>
          <a:bodyPr wrap="square" lIns="0" tIns="0" rIns="0" bIns="0" rtlCol="0" anchor="ctr"/>
          <a:lstStyle/>
          <a:p>
            <a:pPr indent="0" marL="0">
              <a:buNone/>
            </a:pPr>
            <a:r>
              <a:rPr lang="en-US" sz="900" dirty="0">
                <a:solidFill>
                  <a:srgbClr val="5F6B60"/>
                </a:solidFill>
                <a:latin typeface="Calibri" pitchFamily="34" charset="0"/>
                <a:ea typeface="Calibri" pitchFamily="34" charset="-122"/>
                <a:cs typeface="Calibri" pitchFamily="34" charset="-120"/>
              </a:rPr>
              <a:t>ICAC 2026  ·  Paper 108  ·  Valentown</a:t>
            </a:r>
            <a:endParaRPr lang="en-US" sz="900" dirty="0"/>
          </a:p>
        </p:txBody>
      </p:sp>
      <p:sp>
        <p:nvSpPr>
          <p:cNvPr id="5" name="Text 3"/>
          <p:cNvSpPr txBox="1"/>
          <p:nvPr/>
        </p:nvSpPr>
        <p:spPr>
          <a:xfrm>
            <a:off x="10454335" y="6419088"/>
            <a:ext cx="1097280" cy="256032"/>
          </a:xfrm>
          <a:prstGeom prst="rect">
            <a:avLst/>
          </a:prstGeom>
          <a:noFill/>
          <a:ln/>
        </p:spPr>
        <p:txBody>
          <a:bodyPr wrap="square" lIns="0" tIns="0" rIns="0" bIns="0" rtlCol="0" anchor="ctr"/>
          <a:lstStyle/>
          <a:p>
            <a:pPr algn="r" indent="0" marL="0">
              <a:buNone/>
            </a:pPr>
            <a:r>
              <a:rPr lang="en-US" sz="900" dirty="0">
                <a:solidFill>
                  <a:srgbClr val="5F6B60"/>
                </a:solidFill>
                <a:latin typeface="Calibri" pitchFamily="34" charset="0"/>
                <a:ea typeface="Calibri" pitchFamily="34" charset="-122"/>
                <a:cs typeface="Calibri" pitchFamily="34" charset="-120"/>
              </a:rPr>
              <a:t>7</a:t>
            </a:r>
            <a:endParaRPr lang="en-US" sz="900" dirty="0"/>
          </a:p>
        </p:txBody>
      </p:sp>
      <p:sp>
        <p:nvSpPr>
          <p:cNvPr id="6" name="Shape 4"/>
          <p:cNvSpPr/>
          <p:nvPr/>
        </p:nvSpPr>
        <p:spPr>
          <a:xfrm>
            <a:off x="640080" y="1371600"/>
            <a:ext cx="10911535" cy="1975104"/>
          </a:xfrm>
          <a:prstGeom prst="roundRect">
            <a:avLst>
              <a:gd name="adj" fmla="val 2778"/>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pic>
        <p:nvPicPr>
          <p:cNvPr id="7" name="Image 0" descr="/tmp/claude-0/-home-user-valentown/d6e1bc7b-94ca-5433-b61a-57600741710e/scratchpad/assets/ron.png">    </p:cNvPr>
          <p:cNvPicPr>
            <a:picLocks noChangeAspect="1"/>
          </p:cNvPicPr>
          <p:nvPr/>
        </p:nvPicPr>
        <p:blipFill>
          <a:blip r:embed="rId1"/>
          <a:stretch>
            <a:fillRect/>
          </a:stretch>
        </p:blipFill>
        <p:spPr>
          <a:xfrm>
            <a:off x="1470872" y="1810512"/>
            <a:ext cx="367470" cy="868680"/>
          </a:xfrm>
          <a:prstGeom prst="rect">
            <a:avLst/>
          </a:prstGeom>
        </p:spPr>
      </p:pic>
      <p:sp>
        <p:nvSpPr>
          <p:cNvPr id="8" name="Text 5"/>
          <p:cNvSpPr txBox="1"/>
          <p:nvPr/>
        </p:nvSpPr>
        <p:spPr>
          <a:xfrm>
            <a:off x="914400" y="2734056"/>
            <a:ext cx="1480414" cy="201168"/>
          </a:xfrm>
          <a:prstGeom prst="rect">
            <a:avLst/>
          </a:prstGeom>
          <a:noFill/>
          <a:ln/>
        </p:spPr>
        <p:txBody>
          <a:bodyPr wrap="square" lIns="0" tIns="0" rIns="0" bIns="0" rtlCol="0" anchor="ctr"/>
          <a:lstStyle/>
          <a:p>
            <a:pPr algn="ctr" indent="0" marL="0">
              <a:buNone/>
            </a:pPr>
            <a:r>
              <a:rPr lang="en-US" sz="1050" b="1" dirty="0">
                <a:solidFill>
                  <a:srgbClr val="1B2E23"/>
                </a:solidFill>
                <a:latin typeface="Calibri" pitchFamily="34" charset="0"/>
                <a:ea typeface="Calibri" pitchFamily="34" charset="-122"/>
                <a:cs typeface="Calibri" pitchFamily="34" charset="-120"/>
              </a:rPr>
              <a:t>Ron Parker</a:t>
            </a:r>
            <a:endParaRPr lang="en-US" sz="1050" dirty="0"/>
          </a:p>
        </p:txBody>
      </p:sp>
      <p:sp>
        <p:nvSpPr>
          <p:cNvPr id="9" name="Text 6"/>
          <p:cNvSpPr txBox="1"/>
          <p:nvPr/>
        </p:nvSpPr>
        <p:spPr>
          <a:xfrm>
            <a:off x="914400" y="2935224"/>
            <a:ext cx="1480414" cy="182880"/>
          </a:xfrm>
          <a:prstGeom prst="rect">
            <a:avLst/>
          </a:prstGeom>
          <a:noFill/>
          <a:ln/>
        </p:spPr>
        <p:txBody>
          <a:bodyPr wrap="square" lIns="0" tIns="0" rIns="0" bIns="0" rtlCol="0" anchor="ctr"/>
          <a:lstStyle/>
          <a:p>
            <a:pPr algn="ctr" indent="0" marL="0">
              <a:buNone/>
            </a:pPr>
            <a:r>
              <a:rPr lang="en-US" sz="900" dirty="0">
                <a:solidFill>
                  <a:srgbClr val="5F6B60"/>
                </a:solidFill>
                <a:latin typeface="Calibri" pitchFamily="34" charset="0"/>
                <a:ea typeface="Calibri" pitchFamily="34" charset="-122"/>
                <a:cs typeface="Calibri" pitchFamily="34" charset="-120"/>
              </a:rPr>
              <a:t>60 · supermarket owner</a:t>
            </a:r>
            <a:endParaRPr lang="en-US" sz="900" dirty="0"/>
          </a:p>
        </p:txBody>
      </p:sp>
      <p:pic>
        <p:nvPicPr>
          <p:cNvPr id="10" name="Image 1" descr="/tmp/claude-0/-home-user-valentown/d6e1bc7b-94ca-5433-b61a-57600741710e/scratchpad/assets/ella.png">    </p:cNvPr>
          <p:cNvPicPr>
            <a:picLocks noChangeAspect="1"/>
          </p:cNvPicPr>
          <p:nvPr/>
        </p:nvPicPr>
        <p:blipFill>
          <a:blip r:embed="rId2"/>
          <a:stretch>
            <a:fillRect/>
          </a:stretch>
        </p:blipFill>
        <p:spPr>
          <a:xfrm>
            <a:off x="2909681" y="1810512"/>
            <a:ext cx="450679" cy="868680"/>
          </a:xfrm>
          <a:prstGeom prst="rect">
            <a:avLst/>
          </a:prstGeom>
        </p:spPr>
      </p:pic>
      <p:sp>
        <p:nvSpPr>
          <p:cNvPr id="11" name="Text 7"/>
          <p:cNvSpPr txBox="1"/>
          <p:nvPr/>
        </p:nvSpPr>
        <p:spPr>
          <a:xfrm>
            <a:off x="2394814" y="2734056"/>
            <a:ext cx="1480414" cy="201168"/>
          </a:xfrm>
          <a:prstGeom prst="rect">
            <a:avLst/>
          </a:prstGeom>
          <a:noFill/>
          <a:ln/>
        </p:spPr>
        <p:txBody>
          <a:bodyPr wrap="square" lIns="0" tIns="0" rIns="0" bIns="0" rtlCol="0" anchor="ctr"/>
          <a:lstStyle/>
          <a:p>
            <a:pPr algn="ctr" indent="0" marL="0">
              <a:buNone/>
            </a:pPr>
            <a:r>
              <a:rPr lang="en-US" sz="1050" b="1" dirty="0">
                <a:solidFill>
                  <a:srgbClr val="1B2E23"/>
                </a:solidFill>
                <a:latin typeface="Calibri" pitchFamily="34" charset="0"/>
                <a:ea typeface="Calibri" pitchFamily="34" charset="-122"/>
                <a:cs typeface="Calibri" pitchFamily="34" charset="-120"/>
              </a:rPr>
              <a:t>Ella Parker</a:t>
            </a:r>
            <a:endParaRPr lang="en-US" sz="1050" dirty="0"/>
          </a:p>
        </p:txBody>
      </p:sp>
      <p:sp>
        <p:nvSpPr>
          <p:cNvPr id="12" name="Text 8"/>
          <p:cNvSpPr txBox="1"/>
          <p:nvPr/>
        </p:nvSpPr>
        <p:spPr>
          <a:xfrm>
            <a:off x="2394814" y="2935224"/>
            <a:ext cx="1480414" cy="182880"/>
          </a:xfrm>
          <a:prstGeom prst="rect">
            <a:avLst/>
          </a:prstGeom>
          <a:noFill/>
          <a:ln/>
        </p:spPr>
        <p:txBody>
          <a:bodyPr wrap="square" lIns="0" tIns="0" rIns="0" bIns="0" rtlCol="0" anchor="ctr"/>
          <a:lstStyle/>
          <a:p>
            <a:pPr algn="ctr" indent="0" marL="0">
              <a:buNone/>
            </a:pPr>
            <a:r>
              <a:rPr lang="en-US" sz="900" dirty="0">
                <a:solidFill>
                  <a:srgbClr val="5F6B60"/>
                </a:solidFill>
                <a:latin typeface="Calibri" pitchFamily="34" charset="0"/>
                <a:ea typeface="Calibri" pitchFamily="34" charset="-122"/>
                <a:cs typeface="Calibri" pitchFamily="34" charset="-120"/>
              </a:rPr>
              <a:t>58 · pharmacy owner</a:t>
            </a:r>
            <a:endParaRPr lang="en-US" sz="900" dirty="0"/>
          </a:p>
        </p:txBody>
      </p:sp>
      <p:pic>
        <p:nvPicPr>
          <p:cNvPr id="13" name="Image 2" descr="/tmp/claude-0/-home-user-valentown/d6e1bc7b-94ca-5433-b61a-57600741710e/scratchpad/assets/emma.png">    </p:cNvPr>
          <p:cNvPicPr>
            <a:picLocks noChangeAspect="1"/>
          </p:cNvPicPr>
          <p:nvPr/>
        </p:nvPicPr>
        <p:blipFill>
          <a:blip r:embed="rId3"/>
          <a:stretch>
            <a:fillRect/>
          </a:stretch>
        </p:blipFill>
        <p:spPr>
          <a:xfrm>
            <a:off x="4390710" y="1810512"/>
            <a:ext cx="449447" cy="868680"/>
          </a:xfrm>
          <a:prstGeom prst="rect">
            <a:avLst/>
          </a:prstGeom>
        </p:spPr>
      </p:pic>
      <p:sp>
        <p:nvSpPr>
          <p:cNvPr id="14" name="Text 9"/>
          <p:cNvSpPr txBox="1"/>
          <p:nvPr/>
        </p:nvSpPr>
        <p:spPr>
          <a:xfrm>
            <a:off x="3875227" y="2734056"/>
            <a:ext cx="1480414" cy="201168"/>
          </a:xfrm>
          <a:prstGeom prst="rect">
            <a:avLst/>
          </a:prstGeom>
          <a:noFill/>
          <a:ln/>
        </p:spPr>
        <p:txBody>
          <a:bodyPr wrap="square" lIns="0" tIns="0" rIns="0" bIns="0" rtlCol="0" anchor="ctr"/>
          <a:lstStyle/>
          <a:p>
            <a:pPr algn="ctr" indent="0" marL="0">
              <a:buNone/>
            </a:pPr>
            <a:r>
              <a:rPr lang="en-US" sz="1050" b="1" dirty="0">
                <a:solidFill>
                  <a:srgbClr val="1B2E23"/>
                </a:solidFill>
                <a:latin typeface="Calibri" pitchFamily="34" charset="0"/>
                <a:ea typeface="Calibri" pitchFamily="34" charset="-122"/>
                <a:cs typeface="Calibri" pitchFamily="34" charset="-120"/>
              </a:rPr>
              <a:t>Emma Harris</a:t>
            </a:r>
            <a:endParaRPr lang="en-US" sz="1050" dirty="0"/>
          </a:p>
        </p:txBody>
      </p:sp>
      <p:sp>
        <p:nvSpPr>
          <p:cNvPr id="15" name="Text 10"/>
          <p:cNvSpPr txBox="1"/>
          <p:nvPr/>
        </p:nvSpPr>
        <p:spPr>
          <a:xfrm>
            <a:off x="3875227" y="2935224"/>
            <a:ext cx="1480414" cy="182880"/>
          </a:xfrm>
          <a:prstGeom prst="rect">
            <a:avLst/>
          </a:prstGeom>
          <a:noFill/>
          <a:ln/>
        </p:spPr>
        <p:txBody>
          <a:bodyPr wrap="square" lIns="0" tIns="0" rIns="0" bIns="0" rtlCol="0" anchor="ctr"/>
          <a:lstStyle/>
          <a:p>
            <a:pPr algn="ctr" indent="0" marL="0">
              <a:buNone/>
            </a:pPr>
            <a:r>
              <a:rPr lang="en-US" sz="900" dirty="0">
                <a:solidFill>
                  <a:srgbClr val="5F6B60"/>
                </a:solidFill>
                <a:latin typeface="Calibri" pitchFamily="34" charset="0"/>
                <a:ea typeface="Calibri" pitchFamily="34" charset="-122"/>
                <a:cs typeface="Calibri" pitchFamily="34" charset="-120"/>
              </a:rPr>
              <a:t>30 · mother</a:t>
            </a:r>
            <a:endParaRPr lang="en-US" sz="900" dirty="0"/>
          </a:p>
        </p:txBody>
      </p:sp>
      <p:pic>
        <p:nvPicPr>
          <p:cNvPr id="16" name="Image 3" descr="/tmp/claude-0/-home-user-valentown/d6e1bc7b-94ca-5433-b61a-57600741710e/scratchpad/assets/gavin.png">    </p:cNvPr>
          <p:cNvPicPr>
            <a:picLocks noChangeAspect="1"/>
          </p:cNvPicPr>
          <p:nvPr/>
        </p:nvPicPr>
        <p:blipFill>
          <a:blip r:embed="rId4"/>
          <a:stretch>
            <a:fillRect/>
          </a:stretch>
        </p:blipFill>
        <p:spPr>
          <a:xfrm>
            <a:off x="5898590" y="1810512"/>
            <a:ext cx="394515" cy="868680"/>
          </a:xfrm>
          <a:prstGeom prst="rect">
            <a:avLst/>
          </a:prstGeom>
        </p:spPr>
      </p:pic>
      <p:sp>
        <p:nvSpPr>
          <p:cNvPr id="17" name="Text 11"/>
          <p:cNvSpPr txBox="1"/>
          <p:nvPr/>
        </p:nvSpPr>
        <p:spPr>
          <a:xfrm>
            <a:off x="5355641" y="2734056"/>
            <a:ext cx="1480414" cy="201168"/>
          </a:xfrm>
          <a:prstGeom prst="rect">
            <a:avLst/>
          </a:prstGeom>
          <a:noFill/>
          <a:ln/>
        </p:spPr>
        <p:txBody>
          <a:bodyPr wrap="square" lIns="0" tIns="0" rIns="0" bIns="0" rtlCol="0" anchor="ctr"/>
          <a:lstStyle/>
          <a:p>
            <a:pPr algn="ctr" indent="0" marL="0">
              <a:buNone/>
            </a:pPr>
            <a:r>
              <a:rPr lang="en-US" sz="1050" b="1" dirty="0">
                <a:solidFill>
                  <a:srgbClr val="1B2E23"/>
                </a:solidFill>
                <a:latin typeface="Calibri" pitchFamily="34" charset="0"/>
                <a:ea typeface="Calibri" pitchFamily="34" charset="-122"/>
                <a:cs typeface="Calibri" pitchFamily="34" charset="-120"/>
              </a:rPr>
              <a:t>Gavin Harris</a:t>
            </a:r>
            <a:endParaRPr lang="en-US" sz="1050" dirty="0"/>
          </a:p>
        </p:txBody>
      </p:sp>
      <p:sp>
        <p:nvSpPr>
          <p:cNvPr id="18" name="Text 12"/>
          <p:cNvSpPr txBox="1"/>
          <p:nvPr/>
        </p:nvSpPr>
        <p:spPr>
          <a:xfrm>
            <a:off x="5355641" y="2935224"/>
            <a:ext cx="1480414" cy="182880"/>
          </a:xfrm>
          <a:prstGeom prst="rect">
            <a:avLst/>
          </a:prstGeom>
          <a:noFill/>
          <a:ln/>
        </p:spPr>
        <p:txBody>
          <a:bodyPr wrap="square" lIns="0" tIns="0" rIns="0" bIns="0" rtlCol="0" anchor="ctr"/>
          <a:lstStyle/>
          <a:p>
            <a:pPr algn="ctr" indent="0" marL="0">
              <a:buNone/>
            </a:pPr>
            <a:r>
              <a:rPr lang="en-US" sz="900" dirty="0">
                <a:solidFill>
                  <a:srgbClr val="5F6B60"/>
                </a:solidFill>
                <a:latin typeface="Calibri" pitchFamily="34" charset="0"/>
                <a:ea typeface="Calibri" pitchFamily="34" charset="-122"/>
                <a:cs typeface="Calibri" pitchFamily="34" charset="-120"/>
              </a:rPr>
              <a:t>32 · father</a:t>
            </a:r>
            <a:endParaRPr lang="en-US" sz="900" dirty="0"/>
          </a:p>
        </p:txBody>
      </p:sp>
      <p:pic>
        <p:nvPicPr>
          <p:cNvPr id="19" name="Image 4" descr="/tmp/claude-0/-home-user-valentown/d6e1bc7b-94ca-5433-b61a-57600741710e/scratchpad/assets/adam.png">    </p:cNvPr>
          <p:cNvPicPr>
            <a:picLocks noChangeAspect="1"/>
          </p:cNvPicPr>
          <p:nvPr/>
        </p:nvPicPr>
        <p:blipFill>
          <a:blip r:embed="rId5"/>
          <a:stretch>
            <a:fillRect/>
          </a:stretch>
        </p:blipFill>
        <p:spPr>
          <a:xfrm>
            <a:off x="7369367" y="1810512"/>
            <a:ext cx="413788" cy="868680"/>
          </a:xfrm>
          <a:prstGeom prst="rect">
            <a:avLst/>
          </a:prstGeom>
        </p:spPr>
      </p:pic>
      <p:sp>
        <p:nvSpPr>
          <p:cNvPr id="20" name="Text 13"/>
          <p:cNvSpPr txBox="1"/>
          <p:nvPr/>
        </p:nvSpPr>
        <p:spPr>
          <a:xfrm>
            <a:off x="6836054" y="2734056"/>
            <a:ext cx="1480414" cy="201168"/>
          </a:xfrm>
          <a:prstGeom prst="rect">
            <a:avLst/>
          </a:prstGeom>
          <a:noFill/>
          <a:ln/>
        </p:spPr>
        <p:txBody>
          <a:bodyPr wrap="square" lIns="0" tIns="0" rIns="0" bIns="0" rtlCol="0" anchor="ctr"/>
          <a:lstStyle/>
          <a:p>
            <a:pPr algn="ctr" indent="0" marL="0">
              <a:buNone/>
            </a:pPr>
            <a:r>
              <a:rPr lang="en-US" sz="1050" b="1" dirty="0">
                <a:solidFill>
                  <a:srgbClr val="1B2E23"/>
                </a:solidFill>
                <a:latin typeface="Calibri" pitchFamily="34" charset="0"/>
                <a:ea typeface="Calibri" pitchFamily="34" charset="-122"/>
                <a:cs typeface="Calibri" pitchFamily="34" charset="-120"/>
              </a:rPr>
              <a:t>Adam Harris</a:t>
            </a:r>
            <a:endParaRPr lang="en-US" sz="1050" dirty="0"/>
          </a:p>
        </p:txBody>
      </p:sp>
      <p:sp>
        <p:nvSpPr>
          <p:cNvPr id="21" name="Text 14"/>
          <p:cNvSpPr txBox="1"/>
          <p:nvPr/>
        </p:nvSpPr>
        <p:spPr>
          <a:xfrm>
            <a:off x="6836054" y="2935224"/>
            <a:ext cx="1480414" cy="182880"/>
          </a:xfrm>
          <a:prstGeom prst="rect">
            <a:avLst/>
          </a:prstGeom>
          <a:noFill/>
          <a:ln/>
        </p:spPr>
        <p:txBody>
          <a:bodyPr wrap="square" lIns="0" tIns="0" rIns="0" bIns="0" rtlCol="0" anchor="ctr"/>
          <a:lstStyle/>
          <a:p>
            <a:pPr algn="ctr" indent="0" marL="0">
              <a:buNone/>
            </a:pPr>
            <a:r>
              <a:rPr lang="en-US" sz="900" dirty="0">
                <a:solidFill>
                  <a:srgbClr val="5F6B60"/>
                </a:solidFill>
                <a:latin typeface="Calibri" pitchFamily="34" charset="0"/>
                <a:ea typeface="Calibri" pitchFamily="34" charset="-122"/>
                <a:cs typeface="Calibri" pitchFamily="34" charset="-120"/>
              </a:rPr>
              <a:t>7 · child</a:t>
            </a:r>
            <a:endParaRPr lang="en-US" sz="900" dirty="0"/>
          </a:p>
        </p:txBody>
      </p:sp>
      <p:pic>
        <p:nvPicPr>
          <p:cNvPr id="22" name="Image 5" descr="/tmp/claude-0/-home-user-valentown/d6e1bc7b-94ca-5433-b61a-57600741710e/scratchpad/assets/mia.png">    </p:cNvPr>
          <p:cNvPicPr>
            <a:picLocks noChangeAspect="1"/>
          </p:cNvPicPr>
          <p:nvPr/>
        </p:nvPicPr>
        <p:blipFill>
          <a:blip r:embed="rId6"/>
          <a:stretch>
            <a:fillRect/>
          </a:stretch>
        </p:blipFill>
        <p:spPr>
          <a:xfrm>
            <a:off x="8843855" y="1810512"/>
            <a:ext cx="425640" cy="868680"/>
          </a:xfrm>
          <a:prstGeom prst="rect">
            <a:avLst/>
          </a:prstGeom>
        </p:spPr>
      </p:pic>
      <p:sp>
        <p:nvSpPr>
          <p:cNvPr id="23" name="Text 15"/>
          <p:cNvSpPr txBox="1"/>
          <p:nvPr/>
        </p:nvSpPr>
        <p:spPr>
          <a:xfrm>
            <a:off x="8316468" y="2734056"/>
            <a:ext cx="1480414" cy="201168"/>
          </a:xfrm>
          <a:prstGeom prst="rect">
            <a:avLst/>
          </a:prstGeom>
          <a:noFill/>
          <a:ln/>
        </p:spPr>
        <p:txBody>
          <a:bodyPr wrap="square" lIns="0" tIns="0" rIns="0" bIns="0" rtlCol="0" anchor="ctr"/>
          <a:lstStyle/>
          <a:p>
            <a:pPr algn="ctr" indent="0" marL="0">
              <a:buNone/>
            </a:pPr>
            <a:r>
              <a:rPr lang="en-US" sz="1050" b="1" dirty="0">
                <a:solidFill>
                  <a:srgbClr val="1B2E23"/>
                </a:solidFill>
                <a:latin typeface="Calibri" pitchFamily="34" charset="0"/>
                <a:ea typeface="Calibri" pitchFamily="34" charset="-122"/>
                <a:cs typeface="Calibri" pitchFamily="34" charset="-120"/>
              </a:rPr>
              <a:t>Mia Thompson</a:t>
            </a:r>
            <a:endParaRPr lang="en-US" sz="1050" dirty="0"/>
          </a:p>
        </p:txBody>
      </p:sp>
      <p:sp>
        <p:nvSpPr>
          <p:cNvPr id="24" name="Text 16"/>
          <p:cNvSpPr txBox="1"/>
          <p:nvPr/>
        </p:nvSpPr>
        <p:spPr>
          <a:xfrm>
            <a:off x="8316468" y="2935224"/>
            <a:ext cx="1480414" cy="182880"/>
          </a:xfrm>
          <a:prstGeom prst="rect">
            <a:avLst/>
          </a:prstGeom>
          <a:noFill/>
          <a:ln/>
        </p:spPr>
        <p:txBody>
          <a:bodyPr wrap="square" lIns="0" tIns="0" rIns="0" bIns="0" rtlCol="0" anchor="ctr"/>
          <a:lstStyle/>
          <a:p>
            <a:pPr algn="ctr" indent="0" marL="0">
              <a:buNone/>
            </a:pPr>
            <a:r>
              <a:rPr lang="en-US" sz="900" dirty="0">
                <a:solidFill>
                  <a:srgbClr val="5F6B60"/>
                </a:solidFill>
                <a:latin typeface="Calibri" pitchFamily="34" charset="0"/>
                <a:ea typeface="Calibri" pitchFamily="34" charset="-122"/>
                <a:cs typeface="Calibri" pitchFamily="34" charset="-120"/>
              </a:rPr>
              <a:t>28 · family teacher</a:t>
            </a:r>
            <a:endParaRPr lang="en-US" sz="900" dirty="0"/>
          </a:p>
        </p:txBody>
      </p:sp>
      <p:pic>
        <p:nvPicPr>
          <p:cNvPr id="25" name="Image 6" descr="/tmp/claude-0/-home-user-valentown/d6e1bc7b-94ca-5433-b61a-57600741710e/scratchpad/assets/arthur.png">    </p:cNvPr>
          <p:cNvPicPr>
            <a:picLocks noChangeAspect="1"/>
          </p:cNvPicPr>
          <p:nvPr/>
        </p:nvPicPr>
        <p:blipFill>
          <a:blip r:embed="rId7"/>
          <a:stretch>
            <a:fillRect/>
          </a:stretch>
        </p:blipFill>
        <p:spPr>
          <a:xfrm>
            <a:off x="10308876" y="1810512"/>
            <a:ext cx="456425" cy="868680"/>
          </a:xfrm>
          <a:prstGeom prst="rect">
            <a:avLst/>
          </a:prstGeom>
        </p:spPr>
      </p:pic>
      <p:sp>
        <p:nvSpPr>
          <p:cNvPr id="26" name="Text 17"/>
          <p:cNvSpPr txBox="1"/>
          <p:nvPr/>
        </p:nvSpPr>
        <p:spPr>
          <a:xfrm>
            <a:off x="9796882" y="2734056"/>
            <a:ext cx="1480414" cy="201168"/>
          </a:xfrm>
          <a:prstGeom prst="rect">
            <a:avLst/>
          </a:prstGeom>
          <a:noFill/>
          <a:ln/>
        </p:spPr>
        <p:txBody>
          <a:bodyPr wrap="square" lIns="0" tIns="0" rIns="0" bIns="0" rtlCol="0" anchor="ctr"/>
          <a:lstStyle/>
          <a:p>
            <a:pPr algn="ctr" indent="0" marL="0">
              <a:buNone/>
            </a:pPr>
            <a:r>
              <a:rPr lang="en-US" sz="1050" b="1" dirty="0">
                <a:solidFill>
                  <a:srgbClr val="1B2E23"/>
                </a:solidFill>
                <a:latin typeface="Calibri" pitchFamily="34" charset="0"/>
                <a:ea typeface="Calibri" pitchFamily="34" charset="-122"/>
                <a:cs typeface="Calibri" pitchFamily="34" charset="-120"/>
              </a:rPr>
              <a:t>Arthur Morgan</a:t>
            </a:r>
            <a:endParaRPr lang="en-US" sz="1050" dirty="0"/>
          </a:p>
        </p:txBody>
      </p:sp>
      <p:sp>
        <p:nvSpPr>
          <p:cNvPr id="27" name="Text 18"/>
          <p:cNvSpPr txBox="1"/>
          <p:nvPr/>
        </p:nvSpPr>
        <p:spPr>
          <a:xfrm>
            <a:off x="9796882" y="2935224"/>
            <a:ext cx="1480414" cy="182880"/>
          </a:xfrm>
          <a:prstGeom prst="rect">
            <a:avLst/>
          </a:prstGeom>
          <a:noFill/>
          <a:ln/>
        </p:spPr>
        <p:txBody>
          <a:bodyPr wrap="square" lIns="0" tIns="0" rIns="0" bIns="0" rtlCol="0" anchor="ctr"/>
          <a:lstStyle/>
          <a:p>
            <a:pPr algn="ctr" indent="0" marL="0">
              <a:buNone/>
            </a:pPr>
            <a:r>
              <a:rPr lang="en-US" sz="900" dirty="0">
                <a:solidFill>
                  <a:srgbClr val="5F6B60"/>
                </a:solidFill>
                <a:latin typeface="Calibri" pitchFamily="34" charset="0"/>
                <a:ea typeface="Calibri" pitchFamily="34" charset="-122"/>
                <a:cs typeface="Calibri" pitchFamily="34" charset="-120"/>
              </a:rPr>
              <a:t>29 · architect</a:t>
            </a:r>
            <a:endParaRPr lang="en-US" sz="900" dirty="0"/>
          </a:p>
        </p:txBody>
      </p:sp>
      <p:sp>
        <p:nvSpPr>
          <p:cNvPr id="28" name="Shape 19"/>
          <p:cNvSpPr/>
          <p:nvPr/>
        </p:nvSpPr>
        <p:spPr>
          <a:xfrm>
            <a:off x="640080" y="3566160"/>
            <a:ext cx="3502152" cy="1371600"/>
          </a:xfrm>
          <a:prstGeom prst="roundRect">
            <a:avLst>
              <a:gd name="adj" fmla="val 4000"/>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29" name="Text 20"/>
          <p:cNvSpPr txBox="1"/>
          <p:nvPr/>
        </p:nvSpPr>
        <p:spPr>
          <a:xfrm>
            <a:off x="914400" y="3712464"/>
            <a:ext cx="2953512" cy="292608"/>
          </a:xfrm>
          <a:prstGeom prst="rect">
            <a:avLst/>
          </a:prstGeom>
          <a:noFill/>
          <a:ln/>
        </p:spPr>
        <p:txBody>
          <a:bodyPr wrap="square" lIns="0" tIns="0" rIns="0" bIns="0" rtlCol="0" anchor="ctr"/>
          <a:lstStyle/>
          <a:p>
            <a:pPr indent="0" marL="0">
              <a:buNone/>
            </a:pPr>
            <a:r>
              <a:rPr lang="en-US" sz="1400" b="1" dirty="0">
                <a:solidFill>
                  <a:srgbClr val="1B2E23"/>
                </a:solidFill>
                <a:latin typeface="Cambria" pitchFamily="34" charset="0"/>
                <a:ea typeface="Cambria" pitchFamily="34" charset="-122"/>
                <a:cs typeface="Cambria" pitchFamily="34" charset="-120"/>
              </a:rPr>
              <a:t>Environment</a:t>
            </a:r>
            <a:endParaRPr lang="en-US" sz="1400" dirty="0"/>
          </a:p>
        </p:txBody>
      </p:sp>
      <p:sp>
        <p:nvSpPr>
          <p:cNvPr id="30" name="Text 21"/>
          <p:cNvSpPr txBox="1"/>
          <p:nvPr/>
        </p:nvSpPr>
        <p:spPr>
          <a:xfrm>
            <a:off x="914400" y="4096512"/>
            <a:ext cx="2953512" cy="731520"/>
          </a:xfrm>
          <a:prstGeom prst="rect">
            <a:avLst/>
          </a:prstGeom>
          <a:noFill/>
          <a:ln/>
        </p:spPr>
        <p:txBody>
          <a:bodyPr wrap="square" lIns="0" tIns="0" rIns="0" bIns="0" rtlCol="0" anchor="t"/>
          <a:lstStyle/>
          <a:p>
            <a:pPr indent="0" marL="0">
              <a:lnSpc>
                <a:spcPts val="1500"/>
              </a:lnSpc>
              <a:buNone/>
            </a:pPr>
            <a:r>
              <a:rPr lang="en-US" sz="1150" dirty="0">
                <a:solidFill>
                  <a:srgbClr val="1F2A22"/>
                </a:solidFill>
                <a:latin typeface="Calibri" pitchFamily="34" charset="0"/>
                <a:ea typeface="Calibri" pitchFamily="34" charset="-122"/>
                <a:cs typeface="Calibri" pitchFamily="34" charset="-120"/>
              </a:rPr>
              <a:t>predefined locations;</a:t>
            </a:r>
            <a:endParaRPr lang="en-US" sz="1150" dirty="0"/>
          </a:p>
          <a:p>
            <a:pPr indent="0" marL="0">
              <a:lnSpc>
                <a:spcPts val="1500"/>
              </a:lnSpc>
              <a:buNone/>
            </a:pPr>
            <a:r>
              <a:rPr lang="en-US" sz="1150" dirty="0">
                <a:solidFill>
                  <a:srgbClr val="1F2A22"/>
                </a:solidFill>
                <a:latin typeface="Calibri" pitchFamily="34" charset="0"/>
                <a:ea typeface="Calibri" pitchFamily="34" charset="-122"/>
                <a:cs typeface="Calibri" pitchFamily="34" charset="-120"/>
              </a:rPr>
              <a:t>co-location enables interaction</a:t>
            </a:r>
            <a:endParaRPr lang="en-US" sz="1150" dirty="0"/>
          </a:p>
        </p:txBody>
      </p:sp>
      <p:sp>
        <p:nvSpPr>
          <p:cNvPr id="31" name="Shape 22"/>
          <p:cNvSpPr/>
          <p:nvPr/>
        </p:nvSpPr>
        <p:spPr>
          <a:xfrm>
            <a:off x="4343400" y="3566160"/>
            <a:ext cx="3502152" cy="1371600"/>
          </a:xfrm>
          <a:prstGeom prst="roundRect">
            <a:avLst>
              <a:gd name="adj" fmla="val 4000"/>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32" name="Text 23"/>
          <p:cNvSpPr txBox="1"/>
          <p:nvPr/>
        </p:nvSpPr>
        <p:spPr>
          <a:xfrm>
            <a:off x="4617720" y="3712464"/>
            <a:ext cx="2953512" cy="292608"/>
          </a:xfrm>
          <a:prstGeom prst="rect">
            <a:avLst/>
          </a:prstGeom>
          <a:noFill/>
          <a:ln/>
        </p:spPr>
        <p:txBody>
          <a:bodyPr wrap="square" lIns="0" tIns="0" rIns="0" bIns="0" rtlCol="0" anchor="ctr"/>
          <a:lstStyle/>
          <a:p>
            <a:pPr indent="0" marL="0">
              <a:buNone/>
            </a:pPr>
            <a:r>
              <a:rPr lang="en-US" sz="1400" b="1" dirty="0">
                <a:solidFill>
                  <a:srgbClr val="2C5F2D"/>
                </a:solidFill>
                <a:latin typeface="Cambria" pitchFamily="34" charset="0"/>
                <a:ea typeface="Cambria" pitchFamily="34" charset="-122"/>
                <a:cs typeface="Cambria" pitchFamily="34" charset="-120"/>
              </a:rPr>
              <a:t>Duration</a:t>
            </a:r>
            <a:endParaRPr lang="en-US" sz="1400" dirty="0"/>
          </a:p>
        </p:txBody>
      </p:sp>
      <p:sp>
        <p:nvSpPr>
          <p:cNvPr id="33" name="Text 24"/>
          <p:cNvSpPr txBox="1"/>
          <p:nvPr/>
        </p:nvSpPr>
        <p:spPr>
          <a:xfrm>
            <a:off x="4617720" y="4096512"/>
            <a:ext cx="2953512" cy="731520"/>
          </a:xfrm>
          <a:prstGeom prst="rect">
            <a:avLst/>
          </a:prstGeom>
          <a:noFill/>
          <a:ln/>
        </p:spPr>
        <p:txBody>
          <a:bodyPr wrap="square" lIns="0" tIns="0" rIns="0" bIns="0" rtlCol="0" anchor="t"/>
          <a:lstStyle/>
          <a:p>
            <a:pPr indent="0" marL="0">
              <a:lnSpc>
                <a:spcPts val="1500"/>
              </a:lnSpc>
              <a:buNone/>
            </a:pPr>
            <a:r>
              <a:rPr lang="en-US" sz="1150" dirty="0">
                <a:solidFill>
                  <a:srgbClr val="1F2A22"/>
                </a:solidFill>
                <a:latin typeface="Calibri" pitchFamily="34" charset="0"/>
                <a:ea typeface="Calibri" pitchFamily="34" charset="-122"/>
                <a:cs typeface="Calibri" pitchFamily="34" charset="-120"/>
              </a:rPr>
              <a:t>multiple consecutive days,</a:t>
            </a:r>
            <a:endParaRPr lang="en-US" sz="1150" dirty="0"/>
          </a:p>
          <a:p>
            <a:pPr indent="0" marL="0">
              <a:lnSpc>
                <a:spcPts val="1500"/>
              </a:lnSpc>
              <a:buNone/>
            </a:pPr>
            <a:r>
              <a:rPr lang="en-US" sz="1150" dirty="0">
                <a:solidFill>
                  <a:srgbClr val="1F2A22"/>
                </a:solidFill>
                <a:latin typeface="Calibri" pitchFamily="34" charset="0"/>
                <a:ea typeface="Calibri" pitchFamily="34" charset="-122"/>
                <a:cs typeface="Calibri" pitchFamily="34" charset="-120"/>
              </a:rPr>
              <a:t>a full cycle each day</a:t>
            </a:r>
            <a:endParaRPr lang="en-US" sz="1150" dirty="0"/>
          </a:p>
        </p:txBody>
      </p:sp>
      <p:sp>
        <p:nvSpPr>
          <p:cNvPr id="34" name="Shape 25"/>
          <p:cNvSpPr/>
          <p:nvPr/>
        </p:nvSpPr>
        <p:spPr>
          <a:xfrm>
            <a:off x="8046720" y="3566160"/>
            <a:ext cx="3502152" cy="1371600"/>
          </a:xfrm>
          <a:prstGeom prst="roundRect">
            <a:avLst>
              <a:gd name="adj" fmla="val 4000"/>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35" name="Text 26"/>
          <p:cNvSpPr txBox="1"/>
          <p:nvPr/>
        </p:nvSpPr>
        <p:spPr>
          <a:xfrm>
            <a:off x="8321040" y="3712464"/>
            <a:ext cx="2953512" cy="292608"/>
          </a:xfrm>
          <a:prstGeom prst="rect">
            <a:avLst/>
          </a:prstGeom>
          <a:noFill/>
          <a:ln/>
        </p:spPr>
        <p:txBody>
          <a:bodyPr wrap="square" lIns="0" tIns="0" rIns="0" bIns="0" rtlCol="0" anchor="ctr"/>
          <a:lstStyle/>
          <a:p>
            <a:pPr indent="0" marL="0">
              <a:buNone/>
            </a:pPr>
            <a:r>
              <a:rPr lang="en-US" sz="1400" b="1" dirty="0">
                <a:solidFill>
                  <a:srgbClr val="1B2E23"/>
                </a:solidFill>
                <a:latin typeface="Cambria" pitchFamily="34" charset="0"/>
                <a:ea typeface="Cambria" pitchFamily="34" charset="-122"/>
                <a:cs typeface="Cambria" pitchFamily="34" charset="-120"/>
              </a:rPr>
              <a:t>Execution</a:t>
            </a:r>
            <a:endParaRPr lang="en-US" sz="1400" dirty="0"/>
          </a:p>
        </p:txBody>
      </p:sp>
      <p:sp>
        <p:nvSpPr>
          <p:cNvPr id="36" name="Text 27"/>
          <p:cNvSpPr txBox="1"/>
          <p:nvPr/>
        </p:nvSpPr>
        <p:spPr>
          <a:xfrm>
            <a:off x="8321040" y="4096512"/>
            <a:ext cx="2953512" cy="731520"/>
          </a:xfrm>
          <a:prstGeom prst="rect">
            <a:avLst/>
          </a:prstGeom>
          <a:noFill/>
          <a:ln/>
        </p:spPr>
        <p:txBody>
          <a:bodyPr wrap="square" lIns="0" tIns="0" rIns="0" bIns="0" rtlCol="0" anchor="t"/>
          <a:lstStyle/>
          <a:p>
            <a:pPr indent="0" marL="0">
              <a:lnSpc>
                <a:spcPts val="1500"/>
              </a:lnSpc>
              <a:buNone/>
            </a:pPr>
            <a:r>
              <a:rPr lang="en-US" sz="1150" dirty="0">
                <a:solidFill>
                  <a:srgbClr val="1F2A22"/>
                </a:solidFill>
                <a:latin typeface="Calibri" pitchFamily="34" charset="0"/>
                <a:ea typeface="Calibri" pitchFamily="34" charset="-122"/>
                <a:cs typeface="Calibri" pitchFamily="34" charset="-120"/>
              </a:rPr>
              <a:t>deterministic triggers,</a:t>
            </a:r>
            <a:endParaRPr lang="en-US" sz="1150" dirty="0"/>
          </a:p>
          <a:p>
            <a:pPr indent="0" marL="0">
              <a:lnSpc>
                <a:spcPts val="1500"/>
              </a:lnSpc>
              <a:buNone/>
            </a:pPr>
            <a:r>
              <a:rPr lang="en-US" sz="1150" dirty="0">
                <a:solidFill>
                  <a:srgbClr val="1F2A22"/>
                </a:solidFill>
                <a:latin typeface="Calibri" pitchFamily="34" charset="0"/>
                <a:ea typeface="Calibri" pitchFamily="34" charset="-122"/>
                <a:cs typeface="Calibri" pitchFamily="34" charset="-120"/>
              </a:rPr>
              <a:t>stochastic content</a:t>
            </a:r>
            <a:endParaRPr lang="en-US" sz="1150" dirty="0"/>
          </a:p>
        </p:txBody>
      </p:sp>
      <p:sp>
        <p:nvSpPr>
          <p:cNvPr id="37" name="Text 28"/>
          <p:cNvSpPr txBox="1"/>
          <p:nvPr/>
        </p:nvSpPr>
        <p:spPr>
          <a:xfrm>
            <a:off x="658368" y="5175504"/>
            <a:ext cx="10911535" cy="201168"/>
          </a:xfrm>
          <a:prstGeom prst="rect">
            <a:avLst/>
          </a:prstGeom>
          <a:noFill/>
          <a:ln/>
        </p:spPr>
        <p:txBody>
          <a:bodyPr wrap="square" lIns="0" tIns="0" rIns="0" bIns="0" rtlCol="0" anchor="ctr"/>
          <a:lstStyle/>
          <a:p>
            <a:pPr algn="l" indent="0" marL="0">
              <a:buNone/>
            </a:pPr>
            <a:r>
              <a:rPr lang="en-US" sz="900" b="1" spc="130" kern="0" dirty="0">
                <a:solidFill>
                  <a:srgbClr val="2C5F2D"/>
                </a:solidFill>
                <a:latin typeface="Calibri" pitchFamily="34" charset="0"/>
                <a:ea typeface="Calibri" pitchFamily="34" charset="-122"/>
                <a:cs typeface="Calibri" pitchFamily="34" charset="-120"/>
              </a:rPr>
              <a:t>WE LOOK AT</a:t>
            </a:r>
            <a:endParaRPr lang="en-US" sz="900" dirty="0"/>
          </a:p>
        </p:txBody>
      </p:sp>
      <p:sp>
        <p:nvSpPr>
          <p:cNvPr id="38" name="Shape 29"/>
          <p:cNvSpPr/>
          <p:nvPr/>
        </p:nvSpPr>
        <p:spPr>
          <a:xfrm>
            <a:off x="640080" y="5413248"/>
            <a:ext cx="3503066" cy="566928"/>
          </a:xfrm>
          <a:prstGeom prst="roundRect">
            <a:avLst>
              <a:gd name="adj" fmla="val 9677"/>
            </a:avLst>
          </a:prstGeom>
          <a:solidFill>
            <a:srgbClr val="EAF2E4"/>
          </a:solidFill>
          <a:ln w="12700">
            <a:solidFill>
              <a:srgbClr val="EAF2E4"/>
            </a:solidFill>
            <a:prstDash val="solid"/>
          </a:ln>
        </p:spPr>
      </p:sp>
      <p:sp>
        <p:nvSpPr>
          <p:cNvPr id="39" name="Text 30"/>
          <p:cNvSpPr txBox="1"/>
          <p:nvPr/>
        </p:nvSpPr>
        <p:spPr>
          <a:xfrm>
            <a:off x="731520" y="5413248"/>
            <a:ext cx="3320186" cy="566928"/>
          </a:xfrm>
          <a:prstGeom prst="rect">
            <a:avLst/>
          </a:prstGeom>
          <a:noFill/>
          <a:ln/>
        </p:spPr>
        <p:txBody>
          <a:bodyPr wrap="square" lIns="0" tIns="0" rIns="0" bIns="0" rtlCol="0" anchor="ctr"/>
          <a:lstStyle/>
          <a:p>
            <a:pPr algn="ctr" indent="0" marL="0">
              <a:lnSpc>
                <a:spcPts val="1400"/>
              </a:lnSpc>
              <a:buNone/>
            </a:pPr>
            <a:r>
              <a:rPr lang="en-US" sz="1250" b="1" dirty="0">
                <a:solidFill>
                  <a:srgbClr val="2C5F2D"/>
                </a:solidFill>
                <a:latin typeface="Calibri" pitchFamily="34" charset="0"/>
                <a:ea typeface="Calibri" pitchFamily="34" charset="-122"/>
                <a:cs typeface="Calibri" pitchFamily="34" charset="-120"/>
              </a:rPr>
              <a:t>interaction → behaviour</a:t>
            </a:r>
            <a:endParaRPr lang="en-US" sz="1250" dirty="0"/>
          </a:p>
        </p:txBody>
      </p:sp>
      <p:sp>
        <p:nvSpPr>
          <p:cNvPr id="40" name="Shape 31"/>
          <p:cNvSpPr/>
          <p:nvPr/>
        </p:nvSpPr>
        <p:spPr>
          <a:xfrm>
            <a:off x="4344314" y="5413248"/>
            <a:ext cx="3503066" cy="566928"/>
          </a:xfrm>
          <a:prstGeom prst="roundRect">
            <a:avLst>
              <a:gd name="adj" fmla="val 9677"/>
            </a:avLst>
          </a:prstGeom>
          <a:solidFill>
            <a:srgbClr val="EAF2E4"/>
          </a:solidFill>
          <a:ln w="12700">
            <a:solidFill>
              <a:srgbClr val="EAF2E4"/>
            </a:solidFill>
            <a:prstDash val="solid"/>
          </a:ln>
        </p:spPr>
      </p:sp>
      <p:sp>
        <p:nvSpPr>
          <p:cNvPr id="41" name="Text 32"/>
          <p:cNvSpPr txBox="1"/>
          <p:nvPr/>
        </p:nvSpPr>
        <p:spPr>
          <a:xfrm>
            <a:off x="4435754" y="5413248"/>
            <a:ext cx="3320186" cy="566928"/>
          </a:xfrm>
          <a:prstGeom prst="rect">
            <a:avLst/>
          </a:prstGeom>
          <a:noFill/>
          <a:ln/>
        </p:spPr>
        <p:txBody>
          <a:bodyPr wrap="square" lIns="0" tIns="0" rIns="0" bIns="0" rtlCol="0" anchor="ctr"/>
          <a:lstStyle/>
          <a:p>
            <a:pPr algn="ctr" indent="0" marL="0">
              <a:lnSpc>
                <a:spcPts val="1400"/>
              </a:lnSpc>
              <a:buNone/>
            </a:pPr>
            <a:r>
              <a:rPr lang="en-US" sz="1250" b="1" dirty="0">
                <a:solidFill>
                  <a:srgbClr val="2C5F2D"/>
                </a:solidFill>
                <a:latin typeface="Calibri" pitchFamily="34" charset="0"/>
                <a:ea typeface="Calibri" pitchFamily="34" charset="-122"/>
                <a:cs typeface="Calibri" pitchFamily="34" charset="-120"/>
              </a:rPr>
              <a:t>memory → adaptation</a:t>
            </a:r>
            <a:endParaRPr lang="en-US" sz="1250" dirty="0"/>
          </a:p>
        </p:txBody>
      </p:sp>
      <p:sp>
        <p:nvSpPr>
          <p:cNvPr id="42" name="Shape 33"/>
          <p:cNvSpPr/>
          <p:nvPr/>
        </p:nvSpPr>
        <p:spPr>
          <a:xfrm>
            <a:off x="8048549" y="5413248"/>
            <a:ext cx="3503066" cy="566928"/>
          </a:xfrm>
          <a:prstGeom prst="roundRect">
            <a:avLst>
              <a:gd name="adj" fmla="val 9677"/>
            </a:avLst>
          </a:prstGeom>
          <a:solidFill>
            <a:srgbClr val="EAF2E4"/>
          </a:solidFill>
          <a:ln w="12700">
            <a:solidFill>
              <a:srgbClr val="EAF2E4"/>
            </a:solidFill>
            <a:prstDash val="solid"/>
          </a:ln>
        </p:spPr>
      </p:sp>
      <p:sp>
        <p:nvSpPr>
          <p:cNvPr id="43" name="Text 34"/>
          <p:cNvSpPr txBox="1"/>
          <p:nvPr/>
        </p:nvSpPr>
        <p:spPr>
          <a:xfrm>
            <a:off x="8139989" y="5413248"/>
            <a:ext cx="3320186" cy="566928"/>
          </a:xfrm>
          <a:prstGeom prst="rect">
            <a:avLst/>
          </a:prstGeom>
          <a:noFill/>
          <a:ln/>
        </p:spPr>
        <p:txBody>
          <a:bodyPr wrap="square" lIns="0" tIns="0" rIns="0" bIns="0" rtlCol="0" anchor="ctr"/>
          <a:lstStyle/>
          <a:p>
            <a:pPr algn="ctr" indent="0" marL="0">
              <a:lnSpc>
                <a:spcPts val="1400"/>
              </a:lnSpc>
              <a:buNone/>
            </a:pPr>
            <a:r>
              <a:rPr lang="en-US" sz="1250" b="1" dirty="0">
                <a:solidFill>
                  <a:srgbClr val="2C5F2D"/>
                </a:solidFill>
                <a:latin typeface="Calibri" pitchFamily="34" charset="0"/>
                <a:ea typeface="Calibri" pitchFamily="34" charset="-122"/>
                <a:cs typeface="Calibri" pitchFamily="34" charset="-120"/>
              </a:rPr>
              <a:t>emergent social structure</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8F4"/>
        </a:solidFill>
      </p:bgPr>
    </p:bg>
    <p:spTree>
      <p:nvGrpSpPr>
        <p:cNvPr id="1" name=""/>
        <p:cNvGrpSpPr/>
        <p:nvPr/>
      </p:nvGrpSpPr>
      <p:grpSpPr>
        <a:xfrm>
          <a:off x="0" y="0"/>
          <a:ext cx="0" cy="0"/>
          <a:chOff x="0" y="0"/>
          <a:chExt cx="0" cy="0"/>
        </a:xfrm>
      </p:grpSpPr>
      <p:sp>
        <p:nvSpPr>
          <p:cNvPr id="2" name="Text 0"/>
          <p:cNvSpPr txBox="1"/>
          <p:nvPr/>
        </p:nvSpPr>
        <p:spPr>
          <a:xfrm>
            <a:off x="640080" y="329184"/>
            <a:ext cx="10911535" cy="237744"/>
          </a:xfrm>
          <a:prstGeom prst="rect">
            <a:avLst/>
          </a:prstGeom>
          <a:noFill/>
          <a:ln/>
        </p:spPr>
        <p:txBody>
          <a:bodyPr wrap="square" lIns="0" tIns="0" rIns="0" bIns="0" rtlCol="0" anchor="ctr"/>
          <a:lstStyle/>
          <a:p>
            <a:pPr indent="0" marL="0">
              <a:buNone/>
            </a:pPr>
            <a:r>
              <a:rPr lang="en-US" sz="1100" b="1" spc="160" kern="0" dirty="0">
                <a:solidFill>
                  <a:srgbClr val="2C5F2D"/>
                </a:solidFill>
                <a:latin typeface="Calibri" pitchFamily="34" charset="0"/>
                <a:ea typeface="Calibri" pitchFamily="34" charset="-122"/>
                <a:cs typeface="Calibri" pitchFamily="34" charset="-120"/>
              </a:rPr>
              <a:t>RESULT 1</a:t>
            </a:r>
            <a:endParaRPr lang="en-US" sz="1100" dirty="0"/>
          </a:p>
        </p:txBody>
      </p:sp>
      <p:sp>
        <p:nvSpPr>
          <p:cNvPr id="3" name="Text 1"/>
          <p:cNvSpPr txBox="1"/>
          <p:nvPr/>
        </p:nvSpPr>
        <p:spPr>
          <a:xfrm>
            <a:off x="640080" y="585216"/>
            <a:ext cx="10911535" cy="731520"/>
          </a:xfrm>
          <a:prstGeom prst="rect">
            <a:avLst/>
          </a:prstGeom>
          <a:noFill/>
          <a:ln/>
        </p:spPr>
        <p:txBody>
          <a:bodyPr wrap="square" lIns="0" tIns="0" rIns="0" bIns="0" rtlCol="0" anchor="t"/>
          <a:lstStyle/>
          <a:p>
            <a:pPr indent="0" marL="0">
              <a:buNone/>
            </a:pPr>
            <a:r>
              <a:rPr lang="en-US" sz="3000" b="1" dirty="0">
                <a:solidFill>
                  <a:srgbClr val="1B2E23"/>
                </a:solidFill>
                <a:latin typeface="Cambria" pitchFamily="34" charset="0"/>
                <a:ea typeface="Cambria" pitchFamily="34" charset="-122"/>
                <a:cs typeface="Cambria" pitchFamily="34" charset="-120"/>
              </a:rPr>
              <a:t>Turn interaction off, and the town goes quiet</a:t>
            </a:r>
            <a:endParaRPr lang="en-US" sz="3000" dirty="0"/>
          </a:p>
        </p:txBody>
      </p:sp>
      <p:sp>
        <p:nvSpPr>
          <p:cNvPr id="4" name="Text 2"/>
          <p:cNvSpPr txBox="1"/>
          <p:nvPr/>
        </p:nvSpPr>
        <p:spPr>
          <a:xfrm>
            <a:off x="640080" y="6419088"/>
            <a:ext cx="5486400" cy="256032"/>
          </a:xfrm>
          <a:prstGeom prst="rect">
            <a:avLst/>
          </a:prstGeom>
          <a:noFill/>
          <a:ln/>
        </p:spPr>
        <p:txBody>
          <a:bodyPr wrap="square" lIns="0" tIns="0" rIns="0" bIns="0" rtlCol="0" anchor="ctr"/>
          <a:lstStyle/>
          <a:p>
            <a:pPr indent="0" marL="0">
              <a:buNone/>
            </a:pPr>
            <a:r>
              <a:rPr lang="en-US" sz="900" dirty="0">
                <a:solidFill>
                  <a:srgbClr val="5F6B60"/>
                </a:solidFill>
                <a:latin typeface="Calibri" pitchFamily="34" charset="0"/>
                <a:ea typeface="Calibri" pitchFamily="34" charset="-122"/>
                <a:cs typeface="Calibri" pitchFamily="34" charset="-120"/>
              </a:rPr>
              <a:t>ICAC 2026  ·  Paper 108  ·  Valentown</a:t>
            </a:r>
            <a:endParaRPr lang="en-US" sz="900" dirty="0"/>
          </a:p>
        </p:txBody>
      </p:sp>
      <p:sp>
        <p:nvSpPr>
          <p:cNvPr id="5" name="Text 3"/>
          <p:cNvSpPr txBox="1"/>
          <p:nvPr/>
        </p:nvSpPr>
        <p:spPr>
          <a:xfrm>
            <a:off x="10454335" y="6419088"/>
            <a:ext cx="1097280" cy="256032"/>
          </a:xfrm>
          <a:prstGeom prst="rect">
            <a:avLst/>
          </a:prstGeom>
          <a:noFill/>
          <a:ln/>
        </p:spPr>
        <p:txBody>
          <a:bodyPr wrap="square" lIns="0" tIns="0" rIns="0" bIns="0" rtlCol="0" anchor="ctr"/>
          <a:lstStyle/>
          <a:p>
            <a:pPr algn="r" indent="0" marL="0">
              <a:buNone/>
            </a:pPr>
            <a:r>
              <a:rPr lang="en-US" sz="900" dirty="0">
                <a:solidFill>
                  <a:srgbClr val="5F6B60"/>
                </a:solidFill>
                <a:latin typeface="Calibri" pitchFamily="34" charset="0"/>
                <a:ea typeface="Calibri" pitchFamily="34" charset="-122"/>
                <a:cs typeface="Calibri" pitchFamily="34" charset="-120"/>
              </a:rPr>
              <a:t>8</a:t>
            </a:r>
            <a:endParaRPr lang="en-US" sz="900" dirty="0"/>
          </a:p>
        </p:txBody>
      </p:sp>
      <p:sp>
        <p:nvSpPr>
          <p:cNvPr id="6" name="Shape 4"/>
          <p:cNvSpPr/>
          <p:nvPr/>
        </p:nvSpPr>
        <p:spPr>
          <a:xfrm>
            <a:off x="640080" y="1417320"/>
            <a:ext cx="10911535" cy="1444752"/>
          </a:xfrm>
          <a:prstGeom prst="roundRect">
            <a:avLst>
              <a:gd name="adj" fmla="val 3797"/>
            </a:avLst>
          </a:prstGeom>
          <a:solidFill>
            <a:srgbClr val="EAF2E4"/>
          </a:solidFill>
          <a:ln w="12700">
            <a:solidFill>
              <a:srgbClr val="EAF2E4"/>
            </a:solidFill>
            <a:prstDash val="solid"/>
          </a:ln>
        </p:spPr>
      </p:sp>
      <p:sp>
        <p:nvSpPr>
          <p:cNvPr id="7" name="Text 5"/>
          <p:cNvSpPr txBox="1"/>
          <p:nvPr/>
        </p:nvSpPr>
        <p:spPr>
          <a:xfrm>
            <a:off x="1024128" y="1600200"/>
            <a:ext cx="4572000" cy="201168"/>
          </a:xfrm>
          <a:prstGeom prst="rect">
            <a:avLst/>
          </a:prstGeom>
          <a:noFill/>
          <a:ln/>
        </p:spPr>
        <p:txBody>
          <a:bodyPr wrap="square" lIns="0" tIns="0" rIns="0" bIns="0" rtlCol="0" anchor="ctr"/>
          <a:lstStyle/>
          <a:p>
            <a:pPr algn="l" indent="0" marL="0">
              <a:buNone/>
            </a:pPr>
            <a:r>
              <a:rPr lang="en-US" sz="1000" b="1" spc="130" kern="0" dirty="0">
                <a:solidFill>
                  <a:srgbClr val="2C5F2D"/>
                </a:solidFill>
                <a:latin typeface="Calibri" pitchFamily="34" charset="0"/>
                <a:ea typeface="Calibri" pitchFamily="34" charset="-122"/>
                <a:cs typeface="Calibri" pitchFamily="34" charset="-120"/>
              </a:rPr>
              <a:t>INTERACTION ENABLED</a:t>
            </a:r>
            <a:endParaRPr lang="en-US" sz="1000" dirty="0"/>
          </a:p>
        </p:txBody>
      </p:sp>
      <p:sp>
        <p:nvSpPr>
          <p:cNvPr id="8" name="Shape 6"/>
          <p:cNvSpPr/>
          <p:nvPr/>
        </p:nvSpPr>
        <p:spPr>
          <a:xfrm>
            <a:off x="1024128" y="1947672"/>
            <a:ext cx="1920240" cy="713232"/>
          </a:xfrm>
          <a:prstGeom prst="roundRect">
            <a:avLst>
              <a:gd name="adj" fmla="val 7692"/>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9" name="Text 7"/>
          <p:cNvSpPr txBox="1"/>
          <p:nvPr/>
        </p:nvSpPr>
        <p:spPr>
          <a:xfrm>
            <a:off x="1115568" y="1947672"/>
            <a:ext cx="1737360" cy="713232"/>
          </a:xfrm>
          <a:prstGeom prst="rect">
            <a:avLst/>
          </a:prstGeom>
          <a:noFill/>
          <a:ln/>
        </p:spPr>
        <p:txBody>
          <a:bodyPr wrap="square" lIns="0" tIns="0" rIns="0" bIns="0" rtlCol="0" anchor="ctr"/>
          <a:lstStyle/>
          <a:p>
            <a:pPr algn="ctr" indent="0" marL="0">
              <a:lnSpc>
                <a:spcPts val="1400"/>
              </a:lnSpc>
              <a:buNone/>
            </a:pPr>
            <a:r>
              <a:rPr lang="en-US" sz="1250" b="1" dirty="0">
                <a:solidFill>
                  <a:srgbClr val="1B2E23"/>
                </a:solidFill>
                <a:latin typeface="Calibri" pitchFamily="34" charset="0"/>
                <a:ea typeface="Calibri" pitchFamily="34" charset="-122"/>
                <a:cs typeface="Calibri" pitchFamily="34" charset="-120"/>
              </a:rPr>
              <a:t>Conversation</a:t>
            </a:r>
            <a:endParaRPr lang="en-US" sz="1250" dirty="0"/>
          </a:p>
        </p:txBody>
      </p:sp>
      <p:sp>
        <p:nvSpPr>
          <p:cNvPr id="10" name="Shape 8"/>
          <p:cNvSpPr/>
          <p:nvPr/>
        </p:nvSpPr>
        <p:spPr>
          <a:xfrm>
            <a:off x="2999232" y="2194560"/>
            <a:ext cx="438912" cy="219456"/>
          </a:xfrm>
          <a:prstGeom prst="rightArrow">
            <a:avLst/>
          </a:prstGeom>
          <a:solidFill>
            <a:srgbClr val="C98A24"/>
          </a:solidFill>
          <a:ln/>
        </p:spPr>
      </p:sp>
      <p:sp>
        <p:nvSpPr>
          <p:cNvPr id="11" name="Shape 9"/>
          <p:cNvSpPr/>
          <p:nvPr/>
        </p:nvSpPr>
        <p:spPr>
          <a:xfrm>
            <a:off x="3493008" y="1947672"/>
            <a:ext cx="1920240" cy="713232"/>
          </a:xfrm>
          <a:prstGeom prst="roundRect">
            <a:avLst>
              <a:gd name="adj" fmla="val 7692"/>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12" name="Text 10"/>
          <p:cNvSpPr txBox="1"/>
          <p:nvPr/>
        </p:nvSpPr>
        <p:spPr>
          <a:xfrm>
            <a:off x="3584448" y="1947672"/>
            <a:ext cx="1737360" cy="713232"/>
          </a:xfrm>
          <a:prstGeom prst="rect">
            <a:avLst/>
          </a:prstGeom>
          <a:noFill/>
          <a:ln/>
        </p:spPr>
        <p:txBody>
          <a:bodyPr wrap="square" lIns="0" tIns="0" rIns="0" bIns="0" rtlCol="0" anchor="ctr"/>
          <a:lstStyle/>
          <a:p>
            <a:pPr algn="ctr" indent="0" marL="0">
              <a:lnSpc>
                <a:spcPts val="1400"/>
              </a:lnSpc>
              <a:buNone/>
            </a:pPr>
            <a:r>
              <a:rPr lang="en-US" sz="1250" b="1" dirty="0">
                <a:solidFill>
                  <a:srgbClr val="1B2E23"/>
                </a:solidFill>
                <a:latin typeface="Calibri" pitchFamily="34" charset="0"/>
                <a:ea typeface="Calibri" pitchFamily="34" charset="-122"/>
                <a:cs typeface="Calibri" pitchFamily="34" charset="-120"/>
              </a:rPr>
              <a:t>Memory</a:t>
            </a:r>
            <a:endParaRPr lang="en-US" sz="1250" dirty="0"/>
          </a:p>
        </p:txBody>
      </p:sp>
      <p:sp>
        <p:nvSpPr>
          <p:cNvPr id="13" name="Shape 11"/>
          <p:cNvSpPr/>
          <p:nvPr/>
        </p:nvSpPr>
        <p:spPr>
          <a:xfrm>
            <a:off x="5468112" y="2194560"/>
            <a:ext cx="438912" cy="219456"/>
          </a:xfrm>
          <a:prstGeom prst="rightArrow">
            <a:avLst/>
          </a:prstGeom>
          <a:solidFill>
            <a:srgbClr val="C98A24"/>
          </a:solidFill>
          <a:ln/>
        </p:spPr>
      </p:sp>
      <p:sp>
        <p:nvSpPr>
          <p:cNvPr id="14" name="Shape 12"/>
          <p:cNvSpPr/>
          <p:nvPr/>
        </p:nvSpPr>
        <p:spPr>
          <a:xfrm>
            <a:off x="5961888" y="1947672"/>
            <a:ext cx="1920240" cy="713232"/>
          </a:xfrm>
          <a:prstGeom prst="roundRect">
            <a:avLst>
              <a:gd name="adj" fmla="val 7692"/>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15" name="Text 13"/>
          <p:cNvSpPr txBox="1"/>
          <p:nvPr/>
        </p:nvSpPr>
        <p:spPr>
          <a:xfrm>
            <a:off x="6053328" y="1947672"/>
            <a:ext cx="1737360" cy="713232"/>
          </a:xfrm>
          <a:prstGeom prst="rect">
            <a:avLst/>
          </a:prstGeom>
          <a:noFill/>
          <a:ln/>
        </p:spPr>
        <p:txBody>
          <a:bodyPr wrap="square" lIns="0" tIns="0" rIns="0" bIns="0" rtlCol="0" anchor="ctr"/>
          <a:lstStyle/>
          <a:p>
            <a:pPr algn="ctr" indent="0" marL="0">
              <a:lnSpc>
                <a:spcPts val="1400"/>
              </a:lnSpc>
              <a:buNone/>
            </a:pPr>
            <a:r>
              <a:rPr lang="en-US" sz="1250" b="1" dirty="0">
                <a:solidFill>
                  <a:srgbClr val="1B2E23"/>
                </a:solidFill>
                <a:latin typeface="Calibri" pitchFamily="34" charset="0"/>
                <a:ea typeface="Calibri" pitchFamily="34" charset="-122"/>
                <a:cs typeface="Calibri" pitchFamily="34" charset="-120"/>
              </a:rPr>
              <a:t>Next day's plan</a:t>
            </a:r>
            <a:endParaRPr lang="en-US" sz="1250" dirty="0"/>
          </a:p>
        </p:txBody>
      </p:sp>
      <p:sp>
        <p:nvSpPr>
          <p:cNvPr id="16" name="Shape 14"/>
          <p:cNvSpPr/>
          <p:nvPr/>
        </p:nvSpPr>
        <p:spPr>
          <a:xfrm>
            <a:off x="7936992" y="2194560"/>
            <a:ext cx="438912" cy="219456"/>
          </a:xfrm>
          <a:prstGeom prst="rightArrow">
            <a:avLst/>
          </a:prstGeom>
          <a:solidFill>
            <a:srgbClr val="C98A24"/>
          </a:solidFill>
          <a:ln/>
        </p:spPr>
      </p:sp>
      <p:sp>
        <p:nvSpPr>
          <p:cNvPr id="17" name="Shape 15"/>
          <p:cNvSpPr/>
          <p:nvPr/>
        </p:nvSpPr>
        <p:spPr>
          <a:xfrm>
            <a:off x="8430768" y="1947672"/>
            <a:ext cx="3120847" cy="713232"/>
          </a:xfrm>
          <a:prstGeom prst="roundRect">
            <a:avLst>
              <a:gd name="adj" fmla="val 7692"/>
            </a:avLst>
          </a:prstGeom>
          <a:solidFill>
            <a:srgbClr val="FFFFFF"/>
          </a:solidFill>
          <a:ln w="12700">
            <a:solidFill>
              <a:srgbClr val="E2E7DD"/>
            </a:solidFill>
            <a:prstDash val="solid"/>
          </a:ln>
        </p:spPr>
      </p:sp>
      <p:sp>
        <p:nvSpPr>
          <p:cNvPr id="18" name="Text 16"/>
          <p:cNvSpPr txBox="1"/>
          <p:nvPr/>
        </p:nvSpPr>
        <p:spPr>
          <a:xfrm>
            <a:off x="8522208" y="1947672"/>
            <a:ext cx="2937967" cy="713232"/>
          </a:xfrm>
          <a:prstGeom prst="rect">
            <a:avLst/>
          </a:prstGeom>
          <a:noFill/>
          <a:ln/>
        </p:spPr>
        <p:txBody>
          <a:bodyPr wrap="square" lIns="0" tIns="0" rIns="0" bIns="0" rtlCol="0" anchor="ctr"/>
          <a:lstStyle/>
          <a:p>
            <a:pPr algn="ctr" indent="0" marL="0">
              <a:lnSpc>
                <a:spcPts val="1400"/>
              </a:lnSpc>
              <a:buNone/>
            </a:pPr>
            <a:r>
              <a:rPr lang="en-US" sz="1200" b="1" dirty="0">
                <a:solidFill>
                  <a:srgbClr val="1B2E23"/>
                </a:solidFill>
                <a:latin typeface="Calibri" pitchFamily="34" charset="0"/>
                <a:ea typeface="Calibri" pitchFamily="34" charset="-122"/>
                <a:cs typeface="Calibri" pitchFamily="34" charset="-120"/>
              </a:rPr>
              <a:t>richer activities · follow-up meetings · lasting pairs</a:t>
            </a:r>
            <a:endParaRPr lang="en-US" sz="1200" dirty="0"/>
          </a:p>
        </p:txBody>
      </p:sp>
      <p:sp>
        <p:nvSpPr>
          <p:cNvPr id="19" name="Shape 17"/>
          <p:cNvSpPr/>
          <p:nvPr/>
        </p:nvSpPr>
        <p:spPr>
          <a:xfrm>
            <a:off x="640080" y="3127248"/>
            <a:ext cx="10911535" cy="1444752"/>
          </a:xfrm>
          <a:prstGeom prst="roundRect">
            <a:avLst>
              <a:gd name="adj" fmla="val 3797"/>
            </a:avLst>
          </a:prstGeom>
          <a:solidFill>
            <a:srgbClr val="EFEFEA"/>
          </a:solidFill>
          <a:ln w="12700">
            <a:solidFill>
              <a:srgbClr val="EFEFEA"/>
            </a:solidFill>
            <a:prstDash val="solid"/>
          </a:ln>
        </p:spPr>
      </p:sp>
      <p:sp>
        <p:nvSpPr>
          <p:cNvPr id="20" name="Text 18"/>
          <p:cNvSpPr txBox="1"/>
          <p:nvPr/>
        </p:nvSpPr>
        <p:spPr>
          <a:xfrm>
            <a:off x="1024128" y="3310128"/>
            <a:ext cx="4572000" cy="201168"/>
          </a:xfrm>
          <a:prstGeom prst="rect">
            <a:avLst/>
          </a:prstGeom>
          <a:noFill/>
          <a:ln/>
        </p:spPr>
        <p:txBody>
          <a:bodyPr wrap="square" lIns="0" tIns="0" rIns="0" bIns="0" rtlCol="0" anchor="ctr"/>
          <a:lstStyle/>
          <a:p>
            <a:pPr algn="l" indent="0" marL="0">
              <a:buNone/>
            </a:pPr>
            <a:r>
              <a:rPr lang="en-US" sz="1000" b="1" spc="130" kern="0" dirty="0">
                <a:solidFill>
                  <a:srgbClr val="5F6B60"/>
                </a:solidFill>
                <a:latin typeface="Calibri" pitchFamily="34" charset="0"/>
                <a:ea typeface="Calibri" pitchFamily="34" charset="-122"/>
                <a:cs typeface="Calibri" pitchFamily="34" charset="-120"/>
              </a:rPr>
              <a:t>INTERACTION DISABLED</a:t>
            </a:r>
            <a:endParaRPr lang="en-US" sz="1000" dirty="0"/>
          </a:p>
        </p:txBody>
      </p:sp>
      <p:sp>
        <p:nvSpPr>
          <p:cNvPr id="21" name="Shape 19"/>
          <p:cNvSpPr/>
          <p:nvPr/>
        </p:nvSpPr>
        <p:spPr>
          <a:xfrm>
            <a:off x="1024128" y="3657600"/>
            <a:ext cx="1920240" cy="713232"/>
          </a:xfrm>
          <a:prstGeom prst="roundRect">
            <a:avLst>
              <a:gd name="adj" fmla="val 7692"/>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22" name="Text 20"/>
          <p:cNvSpPr txBox="1"/>
          <p:nvPr/>
        </p:nvSpPr>
        <p:spPr>
          <a:xfrm>
            <a:off x="1115568" y="3657600"/>
            <a:ext cx="1737360" cy="713232"/>
          </a:xfrm>
          <a:prstGeom prst="rect">
            <a:avLst/>
          </a:prstGeom>
          <a:noFill/>
          <a:ln/>
        </p:spPr>
        <p:txBody>
          <a:bodyPr wrap="square" lIns="0" tIns="0" rIns="0" bIns="0" rtlCol="0" anchor="ctr"/>
          <a:lstStyle/>
          <a:p>
            <a:pPr algn="ctr" indent="0" marL="0">
              <a:lnSpc>
                <a:spcPts val="1400"/>
              </a:lnSpc>
              <a:buNone/>
            </a:pPr>
            <a:r>
              <a:rPr lang="en-US" sz="1250" b="1" dirty="0">
                <a:solidFill>
                  <a:srgbClr val="5F6B60"/>
                </a:solidFill>
                <a:latin typeface="Calibri" pitchFamily="34" charset="0"/>
                <a:ea typeface="Calibri" pitchFamily="34" charset="-122"/>
                <a:cs typeface="Calibri" pitchFamily="34" charset="-120"/>
              </a:rPr>
              <a:t>Conversation</a:t>
            </a:r>
            <a:endParaRPr lang="en-US" sz="1250" dirty="0"/>
          </a:p>
        </p:txBody>
      </p:sp>
      <p:sp>
        <p:nvSpPr>
          <p:cNvPr id="23" name="Shape 21"/>
          <p:cNvSpPr/>
          <p:nvPr/>
        </p:nvSpPr>
        <p:spPr>
          <a:xfrm>
            <a:off x="2999232" y="3904488"/>
            <a:ext cx="438912" cy="219456"/>
          </a:xfrm>
          <a:prstGeom prst="rightArrow">
            <a:avLst/>
          </a:prstGeom>
          <a:solidFill>
            <a:srgbClr val="C9CCC4"/>
          </a:solidFill>
          <a:ln/>
        </p:spPr>
      </p:sp>
      <p:sp>
        <p:nvSpPr>
          <p:cNvPr id="24" name="Shape 22"/>
          <p:cNvSpPr/>
          <p:nvPr/>
        </p:nvSpPr>
        <p:spPr>
          <a:xfrm>
            <a:off x="3493008" y="3657600"/>
            <a:ext cx="1920240" cy="713232"/>
          </a:xfrm>
          <a:prstGeom prst="roundRect">
            <a:avLst>
              <a:gd name="adj" fmla="val 7692"/>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25" name="Text 23"/>
          <p:cNvSpPr txBox="1"/>
          <p:nvPr/>
        </p:nvSpPr>
        <p:spPr>
          <a:xfrm>
            <a:off x="3584448" y="3657600"/>
            <a:ext cx="1737360" cy="713232"/>
          </a:xfrm>
          <a:prstGeom prst="rect">
            <a:avLst/>
          </a:prstGeom>
          <a:noFill/>
          <a:ln/>
        </p:spPr>
        <p:txBody>
          <a:bodyPr wrap="square" lIns="0" tIns="0" rIns="0" bIns="0" rtlCol="0" anchor="ctr"/>
          <a:lstStyle/>
          <a:p>
            <a:pPr algn="ctr" indent="0" marL="0">
              <a:lnSpc>
                <a:spcPts val="1400"/>
              </a:lnSpc>
              <a:buNone/>
            </a:pPr>
            <a:r>
              <a:rPr lang="en-US" sz="1250" b="1" dirty="0">
                <a:solidFill>
                  <a:srgbClr val="5F6B60"/>
                </a:solidFill>
                <a:latin typeface="Calibri" pitchFamily="34" charset="0"/>
                <a:ea typeface="Calibri" pitchFamily="34" charset="-122"/>
                <a:cs typeface="Calibri" pitchFamily="34" charset="-120"/>
              </a:rPr>
              <a:t>Memory</a:t>
            </a:r>
            <a:endParaRPr lang="en-US" sz="1250" dirty="0"/>
          </a:p>
        </p:txBody>
      </p:sp>
      <p:sp>
        <p:nvSpPr>
          <p:cNvPr id="26" name="Shape 24"/>
          <p:cNvSpPr/>
          <p:nvPr/>
        </p:nvSpPr>
        <p:spPr>
          <a:xfrm>
            <a:off x="5468112" y="3904488"/>
            <a:ext cx="438912" cy="219456"/>
          </a:xfrm>
          <a:prstGeom prst="rightArrow">
            <a:avLst/>
          </a:prstGeom>
          <a:solidFill>
            <a:srgbClr val="C9CCC4"/>
          </a:solidFill>
          <a:ln/>
        </p:spPr>
      </p:sp>
      <p:sp>
        <p:nvSpPr>
          <p:cNvPr id="27" name="Shape 25"/>
          <p:cNvSpPr/>
          <p:nvPr/>
        </p:nvSpPr>
        <p:spPr>
          <a:xfrm>
            <a:off x="5961888" y="3657600"/>
            <a:ext cx="1920240" cy="713232"/>
          </a:xfrm>
          <a:prstGeom prst="roundRect">
            <a:avLst>
              <a:gd name="adj" fmla="val 7692"/>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28" name="Text 26"/>
          <p:cNvSpPr txBox="1"/>
          <p:nvPr/>
        </p:nvSpPr>
        <p:spPr>
          <a:xfrm>
            <a:off x="6053328" y="3657600"/>
            <a:ext cx="1737360" cy="713232"/>
          </a:xfrm>
          <a:prstGeom prst="rect">
            <a:avLst/>
          </a:prstGeom>
          <a:noFill/>
          <a:ln/>
        </p:spPr>
        <p:txBody>
          <a:bodyPr wrap="square" lIns="0" tIns="0" rIns="0" bIns="0" rtlCol="0" anchor="ctr"/>
          <a:lstStyle/>
          <a:p>
            <a:pPr algn="ctr" indent="0" marL="0">
              <a:lnSpc>
                <a:spcPts val="1400"/>
              </a:lnSpc>
              <a:buNone/>
            </a:pPr>
            <a:r>
              <a:rPr lang="en-US" sz="1250" b="1" dirty="0">
                <a:solidFill>
                  <a:srgbClr val="5F6B60"/>
                </a:solidFill>
                <a:latin typeface="Calibri" pitchFamily="34" charset="0"/>
                <a:ea typeface="Calibri" pitchFamily="34" charset="-122"/>
                <a:cs typeface="Calibri" pitchFamily="34" charset="-120"/>
              </a:rPr>
              <a:t>Next day's plan</a:t>
            </a:r>
            <a:endParaRPr lang="en-US" sz="1250" dirty="0"/>
          </a:p>
        </p:txBody>
      </p:sp>
      <p:sp>
        <p:nvSpPr>
          <p:cNvPr id="29" name="Shape 27"/>
          <p:cNvSpPr/>
          <p:nvPr/>
        </p:nvSpPr>
        <p:spPr>
          <a:xfrm>
            <a:off x="7936992" y="3904488"/>
            <a:ext cx="438912" cy="219456"/>
          </a:xfrm>
          <a:prstGeom prst="rightArrow">
            <a:avLst/>
          </a:prstGeom>
          <a:solidFill>
            <a:srgbClr val="C9CCC4"/>
          </a:solidFill>
          <a:ln/>
        </p:spPr>
      </p:sp>
      <p:sp>
        <p:nvSpPr>
          <p:cNvPr id="30" name="Shape 28"/>
          <p:cNvSpPr/>
          <p:nvPr/>
        </p:nvSpPr>
        <p:spPr>
          <a:xfrm>
            <a:off x="8430768" y="3657600"/>
            <a:ext cx="3120847" cy="713232"/>
          </a:xfrm>
          <a:prstGeom prst="roundRect">
            <a:avLst>
              <a:gd name="adj" fmla="val 7692"/>
            </a:avLst>
          </a:prstGeom>
          <a:solidFill>
            <a:srgbClr val="FFFFFF"/>
          </a:solidFill>
          <a:ln w="12700">
            <a:solidFill>
              <a:srgbClr val="E2E7DD"/>
            </a:solidFill>
            <a:prstDash val="solid"/>
          </a:ln>
        </p:spPr>
      </p:sp>
      <p:sp>
        <p:nvSpPr>
          <p:cNvPr id="31" name="Text 29"/>
          <p:cNvSpPr txBox="1"/>
          <p:nvPr/>
        </p:nvSpPr>
        <p:spPr>
          <a:xfrm>
            <a:off x="8522208" y="3657600"/>
            <a:ext cx="2937967" cy="713232"/>
          </a:xfrm>
          <a:prstGeom prst="rect">
            <a:avLst/>
          </a:prstGeom>
          <a:noFill/>
          <a:ln/>
        </p:spPr>
        <p:txBody>
          <a:bodyPr wrap="square" lIns="0" tIns="0" rIns="0" bIns="0" rtlCol="0" anchor="ctr"/>
          <a:lstStyle/>
          <a:p>
            <a:pPr algn="ctr" indent="0" marL="0">
              <a:lnSpc>
                <a:spcPts val="1400"/>
              </a:lnSpc>
              <a:buNone/>
            </a:pPr>
            <a:r>
              <a:rPr lang="en-US" sz="1200" b="1" dirty="0">
                <a:solidFill>
                  <a:srgbClr val="5F6B60"/>
                </a:solidFill>
                <a:latin typeface="Calibri" pitchFamily="34" charset="0"/>
                <a:ea typeface="Calibri" pitchFamily="34" charset="-122"/>
                <a:cs typeface="Calibri" pitchFamily="34" charset="-120"/>
              </a:rPr>
              <a:t>repetitive · isolated · schedules stay static</a:t>
            </a:r>
            <a:endParaRPr lang="en-US" sz="1200" dirty="0"/>
          </a:p>
        </p:txBody>
      </p:sp>
      <p:sp>
        <p:nvSpPr>
          <p:cNvPr id="32" name="Shape 30"/>
          <p:cNvSpPr/>
          <p:nvPr/>
        </p:nvSpPr>
        <p:spPr>
          <a:xfrm>
            <a:off x="3044952" y="3840480"/>
            <a:ext cx="347472" cy="347472"/>
          </a:xfrm>
          <a:prstGeom prst="ellipse">
            <a:avLst/>
          </a:prstGeom>
          <a:solidFill>
            <a:srgbClr val="FFFFFF"/>
          </a:solidFill>
          <a:ln w="19050">
            <a:solidFill>
              <a:srgbClr val="A8412F"/>
            </a:solidFill>
            <a:prstDash val="solid"/>
          </a:ln>
        </p:spPr>
      </p:sp>
      <p:sp>
        <p:nvSpPr>
          <p:cNvPr id="33" name="Text 31"/>
          <p:cNvSpPr txBox="1"/>
          <p:nvPr/>
        </p:nvSpPr>
        <p:spPr>
          <a:xfrm>
            <a:off x="3044952" y="3840480"/>
            <a:ext cx="347472" cy="347472"/>
          </a:xfrm>
          <a:prstGeom prst="rect">
            <a:avLst/>
          </a:prstGeom>
          <a:noFill/>
          <a:ln/>
        </p:spPr>
        <p:txBody>
          <a:bodyPr wrap="square" lIns="0" tIns="0" rIns="0" bIns="0" rtlCol="0" anchor="ctr"/>
          <a:lstStyle/>
          <a:p>
            <a:pPr algn="ctr" indent="0" marL="0">
              <a:buNone/>
            </a:pPr>
            <a:r>
              <a:rPr lang="en-US" sz="1200" b="1" dirty="0">
                <a:solidFill>
                  <a:srgbClr val="A8412F"/>
                </a:solidFill>
                <a:latin typeface="Calibri" pitchFamily="34" charset="0"/>
                <a:ea typeface="Calibri" pitchFamily="34" charset="-122"/>
                <a:cs typeface="Calibri" pitchFamily="34" charset="-120"/>
              </a:rPr>
              <a:t>✕</a:t>
            </a:r>
            <a:endParaRPr lang="en-US" sz="1200" dirty="0"/>
          </a:p>
        </p:txBody>
      </p:sp>
      <p:sp>
        <p:nvSpPr>
          <p:cNvPr id="34" name="Shape 32"/>
          <p:cNvSpPr/>
          <p:nvPr/>
        </p:nvSpPr>
        <p:spPr>
          <a:xfrm>
            <a:off x="640080" y="4956048"/>
            <a:ext cx="10911535" cy="1051560"/>
          </a:xfrm>
          <a:prstGeom prst="roundRect">
            <a:avLst>
              <a:gd name="adj" fmla="val 5217"/>
            </a:avLst>
          </a:prstGeom>
          <a:solidFill>
            <a:srgbClr val="1B2E23"/>
          </a:solidFill>
          <a:ln w="12700">
            <a:solidFill>
              <a:srgbClr val="1B2E23"/>
            </a:solidFill>
            <a:prstDash val="solid"/>
          </a:ln>
        </p:spPr>
      </p:sp>
      <p:sp>
        <p:nvSpPr>
          <p:cNvPr id="35" name="Text 33"/>
          <p:cNvSpPr txBox="1"/>
          <p:nvPr/>
        </p:nvSpPr>
        <p:spPr>
          <a:xfrm>
            <a:off x="640080" y="4956048"/>
            <a:ext cx="10911535" cy="105156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Interaction drives behavioural diversity and day-to-day adaptation</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8F4"/>
        </a:solidFill>
      </p:bgPr>
    </p:bg>
    <p:spTree>
      <p:nvGrpSpPr>
        <p:cNvPr id="1" name=""/>
        <p:cNvGrpSpPr/>
        <p:nvPr/>
      </p:nvGrpSpPr>
      <p:grpSpPr>
        <a:xfrm>
          <a:off x="0" y="0"/>
          <a:ext cx="0" cy="0"/>
          <a:chOff x="0" y="0"/>
          <a:chExt cx="0" cy="0"/>
        </a:xfrm>
      </p:grpSpPr>
      <p:sp>
        <p:nvSpPr>
          <p:cNvPr id="2" name="Text 0"/>
          <p:cNvSpPr txBox="1"/>
          <p:nvPr/>
        </p:nvSpPr>
        <p:spPr>
          <a:xfrm>
            <a:off x="640080" y="329184"/>
            <a:ext cx="10911535" cy="237744"/>
          </a:xfrm>
          <a:prstGeom prst="rect">
            <a:avLst/>
          </a:prstGeom>
          <a:noFill/>
          <a:ln/>
        </p:spPr>
        <p:txBody>
          <a:bodyPr wrap="square" lIns="0" tIns="0" rIns="0" bIns="0" rtlCol="0" anchor="ctr"/>
          <a:lstStyle/>
          <a:p>
            <a:pPr indent="0" marL="0">
              <a:buNone/>
            </a:pPr>
            <a:r>
              <a:rPr lang="en-US" sz="1100" b="1" spc="160" kern="0" dirty="0">
                <a:solidFill>
                  <a:srgbClr val="2C5F2D"/>
                </a:solidFill>
                <a:latin typeface="Calibri" pitchFamily="34" charset="0"/>
                <a:ea typeface="Calibri" pitchFamily="34" charset="-122"/>
                <a:cs typeface="Calibri" pitchFamily="34" charset="-120"/>
              </a:rPr>
              <a:t>RESULT 2</a:t>
            </a:r>
            <a:endParaRPr lang="en-US" sz="1100" dirty="0"/>
          </a:p>
        </p:txBody>
      </p:sp>
      <p:sp>
        <p:nvSpPr>
          <p:cNvPr id="3" name="Text 1"/>
          <p:cNvSpPr txBox="1"/>
          <p:nvPr/>
        </p:nvSpPr>
        <p:spPr>
          <a:xfrm>
            <a:off x="640080" y="585216"/>
            <a:ext cx="10911535" cy="731520"/>
          </a:xfrm>
          <a:prstGeom prst="rect">
            <a:avLst/>
          </a:prstGeom>
          <a:noFill/>
          <a:ln/>
        </p:spPr>
        <p:txBody>
          <a:bodyPr wrap="square" lIns="0" tIns="0" rIns="0" bIns="0" rtlCol="0" anchor="t"/>
          <a:lstStyle/>
          <a:p>
            <a:pPr indent="0" marL="0">
              <a:buNone/>
            </a:pPr>
            <a:r>
              <a:rPr lang="en-US" sz="3000" b="1" dirty="0">
                <a:solidFill>
                  <a:srgbClr val="1B2E23"/>
                </a:solidFill>
                <a:latin typeface="Cambria" pitchFamily="34" charset="0"/>
                <a:ea typeface="Cambria" pitchFamily="34" charset="-122"/>
                <a:cs typeface="Cambria" pitchFamily="34" charset="-120"/>
              </a:rPr>
              <a:t>Memory changes shape as the days pass</a:t>
            </a:r>
            <a:endParaRPr lang="en-US" sz="3000" dirty="0"/>
          </a:p>
        </p:txBody>
      </p:sp>
      <p:sp>
        <p:nvSpPr>
          <p:cNvPr id="4" name="Text 2"/>
          <p:cNvSpPr txBox="1"/>
          <p:nvPr/>
        </p:nvSpPr>
        <p:spPr>
          <a:xfrm>
            <a:off x="640080" y="6419088"/>
            <a:ext cx="5486400" cy="256032"/>
          </a:xfrm>
          <a:prstGeom prst="rect">
            <a:avLst/>
          </a:prstGeom>
          <a:noFill/>
          <a:ln/>
        </p:spPr>
        <p:txBody>
          <a:bodyPr wrap="square" lIns="0" tIns="0" rIns="0" bIns="0" rtlCol="0" anchor="ctr"/>
          <a:lstStyle/>
          <a:p>
            <a:pPr indent="0" marL="0">
              <a:buNone/>
            </a:pPr>
            <a:r>
              <a:rPr lang="en-US" sz="900" dirty="0">
                <a:solidFill>
                  <a:srgbClr val="5F6B60"/>
                </a:solidFill>
                <a:latin typeface="Calibri" pitchFamily="34" charset="0"/>
                <a:ea typeface="Calibri" pitchFamily="34" charset="-122"/>
                <a:cs typeface="Calibri" pitchFamily="34" charset="-120"/>
              </a:rPr>
              <a:t>ICAC 2026  ·  Paper 108  ·  Valentown</a:t>
            </a:r>
            <a:endParaRPr lang="en-US" sz="900" dirty="0"/>
          </a:p>
        </p:txBody>
      </p:sp>
      <p:sp>
        <p:nvSpPr>
          <p:cNvPr id="5" name="Text 3"/>
          <p:cNvSpPr txBox="1"/>
          <p:nvPr/>
        </p:nvSpPr>
        <p:spPr>
          <a:xfrm>
            <a:off x="10454335" y="6419088"/>
            <a:ext cx="1097280" cy="256032"/>
          </a:xfrm>
          <a:prstGeom prst="rect">
            <a:avLst/>
          </a:prstGeom>
          <a:noFill/>
          <a:ln/>
        </p:spPr>
        <p:txBody>
          <a:bodyPr wrap="square" lIns="0" tIns="0" rIns="0" bIns="0" rtlCol="0" anchor="ctr"/>
          <a:lstStyle/>
          <a:p>
            <a:pPr algn="r" indent="0" marL="0">
              <a:buNone/>
            </a:pPr>
            <a:r>
              <a:rPr lang="en-US" sz="900" dirty="0">
                <a:solidFill>
                  <a:srgbClr val="5F6B60"/>
                </a:solidFill>
                <a:latin typeface="Calibri" pitchFamily="34" charset="0"/>
                <a:ea typeface="Calibri" pitchFamily="34" charset="-122"/>
                <a:cs typeface="Calibri" pitchFamily="34" charset="-120"/>
              </a:rPr>
              <a:t>9</a:t>
            </a:r>
            <a:endParaRPr lang="en-US" sz="900" dirty="0"/>
          </a:p>
        </p:txBody>
      </p:sp>
      <p:sp>
        <p:nvSpPr>
          <p:cNvPr id="6" name="Shape 4"/>
          <p:cNvSpPr/>
          <p:nvPr/>
        </p:nvSpPr>
        <p:spPr>
          <a:xfrm>
            <a:off x="640080" y="1371600"/>
            <a:ext cx="6400800" cy="4480560"/>
          </a:xfrm>
          <a:prstGeom prst="roundRect">
            <a:avLst>
              <a:gd name="adj" fmla="val 1224"/>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7" name="Text 5"/>
          <p:cNvSpPr txBox="1"/>
          <p:nvPr/>
        </p:nvSpPr>
        <p:spPr>
          <a:xfrm>
            <a:off x="950976" y="1572768"/>
            <a:ext cx="5779008" cy="292608"/>
          </a:xfrm>
          <a:prstGeom prst="rect">
            <a:avLst/>
          </a:prstGeom>
          <a:noFill/>
          <a:ln/>
        </p:spPr>
        <p:txBody>
          <a:bodyPr wrap="square" lIns="0" tIns="0" rIns="0" bIns="0" rtlCol="0" anchor="ctr"/>
          <a:lstStyle/>
          <a:p>
            <a:pPr indent="0" marL="0">
              <a:buNone/>
            </a:pPr>
            <a:r>
              <a:rPr lang="en-US" sz="1500" b="1" dirty="0">
                <a:solidFill>
                  <a:srgbClr val="1B2E23"/>
                </a:solidFill>
                <a:latin typeface="Cambria" pitchFamily="34" charset="0"/>
                <a:ea typeface="Cambria" pitchFamily="34" charset="-122"/>
                <a:cs typeface="Cambria" pitchFamily="34" charset="-120"/>
              </a:rPr>
              <a:t>What memory is made of</a:t>
            </a:r>
            <a:endParaRPr lang="en-US" sz="1500" dirty="0"/>
          </a:p>
        </p:txBody>
      </p:sp>
      <p:sp>
        <p:nvSpPr>
          <p:cNvPr id="8" name="Shape 6"/>
          <p:cNvSpPr/>
          <p:nvPr/>
        </p:nvSpPr>
        <p:spPr>
          <a:xfrm>
            <a:off x="1353312" y="2761488"/>
            <a:ext cx="1051560" cy="2011680"/>
          </a:xfrm>
          <a:prstGeom prst="rect">
            <a:avLst/>
          </a:prstGeom>
          <a:solidFill>
            <a:srgbClr val="EAF2E4"/>
          </a:solidFill>
          <a:ln w="9525">
            <a:solidFill>
              <a:srgbClr val="7FB069"/>
            </a:solidFill>
            <a:prstDash val="solid"/>
          </a:ln>
        </p:spPr>
      </p:sp>
      <p:sp>
        <p:nvSpPr>
          <p:cNvPr id="9" name="Shape 7"/>
          <p:cNvSpPr/>
          <p:nvPr/>
        </p:nvSpPr>
        <p:spPr>
          <a:xfrm>
            <a:off x="1353312" y="2384298"/>
            <a:ext cx="1051560" cy="377190"/>
          </a:xfrm>
          <a:prstGeom prst="rect">
            <a:avLst/>
          </a:prstGeom>
          <a:solidFill>
            <a:srgbClr val="FBF1DC"/>
          </a:solidFill>
          <a:ln w="9525">
            <a:solidFill>
              <a:srgbClr val="C98A24"/>
            </a:solidFill>
            <a:prstDash val="solid"/>
          </a:ln>
        </p:spPr>
      </p:sp>
      <p:sp>
        <p:nvSpPr>
          <p:cNvPr id="10" name="Shape 8"/>
          <p:cNvSpPr/>
          <p:nvPr/>
        </p:nvSpPr>
        <p:spPr>
          <a:xfrm>
            <a:off x="1353312" y="2258568"/>
            <a:ext cx="1051560" cy="125730"/>
          </a:xfrm>
          <a:prstGeom prst="rect">
            <a:avLst/>
          </a:prstGeom>
          <a:solidFill>
            <a:srgbClr val="1B2E23"/>
          </a:solidFill>
          <a:ln w="9525">
            <a:solidFill>
              <a:srgbClr val="1B2E23"/>
            </a:solidFill>
            <a:prstDash val="solid"/>
          </a:ln>
        </p:spPr>
      </p:sp>
      <p:sp>
        <p:nvSpPr>
          <p:cNvPr id="11" name="Text 9"/>
          <p:cNvSpPr txBox="1"/>
          <p:nvPr/>
        </p:nvSpPr>
        <p:spPr>
          <a:xfrm>
            <a:off x="1078992" y="4846320"/>
            <a:ext cx="1600200" cy="237744"/>
          </a:xfrm>
          <a:prstGeom prst="rect">
            <a:avLst/>
          </a:prstGeom>
          <a:noFill/>
          <a:ln/>
        </p:spPr>
        <p:txBody>
          <a:bodyPr wrap="square" lIns="0" tIns="0" rIns="0" bIns="0" rtlCol="0" anchor="ctr"/>
          <a:lstStyle/>
          <a:p>
            <a:pPr algn="ctr" indent="0" marL="0">
              <a:buNone/>
            </a:pPr>
            <a:r>
              <a:rPr lang="en-US" sz="1150" b="1" dirty="0">
                <a:solidFill>
                  <a:srgbClr val="1B2E23"/>
                </a:solidFill>
                <a:latin typeface="Calibri" pitchFamily="34" charset="0"/>
                <a:ea typeface="Calibri" pitchFamily="34" charset="-122"/>
                <a:cs typeface="Calibri" pitchFamily="34" charset="-120"/>
              </a:rPr>
              <a:t>Day 1</a:t>
            </a:r>
            <a:endParaRPr lang="en-US" sz="1150" dirty="0"/>
          </a:p>
        </p:txBody>
      </p:sp>
      <p:sp>
        <p:nvSpPr>
          <p:cNvPr id="12" name="Shape 10"/>
          <p:cNvSpPr/>
          <p:nvPr/>
        </p:nvSpPr>
        <p:spPr>
          <a:xfrm>
            <a:off x="2715768" y="3401568"/>
            <a:ext cx="292608" cy="201168"/>
          </a:xfrm>
          <a:prstGeom prst="rightArrow">
            <a:avLst/>
          </a:prstGeom>
          <a:solidFill>
            <a:srgbClr val="C98A24"/>
          </a:solidFill>
          <a:ln/>
        </p:spPr>
      </p:sp>
      <p:sp>
        <p:nvSpPr>
          <p:cNvPr id="13" name="Shape 11"/>
          <p:cNvSpPr/>
          <p:nvPr/>
        </p:nvSpPr>
        <p:spPr>
          <a:xfrm>
            <a:off x="3319272" y="3641598"/>
            <a:ext cx="1051560" cy="1131570"/>
          </a:xfrm>
          <a:prstGeom prst="rect">
            <a:avLst/>
          </a:prstGeom>
          <a:solidFill>
            <a:srgbClr val="EAF2E4"/>
          </a:solidFill>
          <a:ln w="9525">
            <a:solidFill>
              <a:srgbClr val="7FB069"/>
            </a:solidFill>
            <a:prstDash val="solid"/>
          </a:ln>
        </p:spPr>
      </p:sp>
      <p:sp>
        <p:nvSpPr>
          <p:cNvPr id="14" name="Shape 12"/>
          <p:cNvSpPr/>
          <p:nvPr/>
        </p:nvSpPr>
        <p:spPr>
          <a:xfrm>
            <a:off x="3319272" y="2761488"/>
            <a:ext cx="1051560" cy="880110"/>
          </a:xfrm>
          <a:prstGeom prst="rect">
            <a:avLst/>
          </a:prstGeom>
          <a:solidFill>
            <a:srgbClr val="FBF1DC"/>
          </a:solidFill>
          <a:ln w="9525">
            <a:solidFill>
              <a:srgbClr val="C98A24"/>
            </a:solidFill>
            <a:prstDash val="solid"/>
          </a:ln>
        </p:spPr>
      </p:sp>
      <p:sp>
        <p:nvSpPr>
          <p:cNvPr id="15" name="Shape 13"/>
          <p:cNvSpPr/>
          <p:nvPr/>
        </p:nvSpPr>
        <p:spPr>
          <a:xfrm>
            <a:off x="3319272" y="2258568"/>
            <a:ext cx="1051560" cy="502920"/>
          </a:xfrm>
          <a:prstGeom prst="rect">
            <a:avLst/>
          </a:prstGeom>
          <a:solidFill>
            <a:srgbClr val="1B2E23"/>
          </a:solidFill>
          <a:ln w="9525">
            <a:solidFill>
              <a:srgbClr val="1B2E23"/>
            </a:solidFill>
            <a:prstDash val="solid"/>
          </a:ln>
        </p:spPr>
      </p:sp>
      <p:sp>
        <p:nvSpPr>
          <p:cNvPr id="16" name="Text 14"/>
          <p:cNvSpPr txBox="1"/>
          <p:nvPr/>
        </p:nvSpPr>
        <p:spPr>
          <a:xfrm>
            <a:off x="3044952" y="4846320"/>
            <a:ext cx="1600200" cy="237744"/>
          </a:xfrm>
          <a:prstGeom prst="rect">
            <a:avLst/>
          </a:prstGeom>
          <a:noFill/>
          <a:ln/>
        </p:spPr>
        <p:txBody>
          <a:bodyPr wrap="square" lIns="0" tIns="0" rIns="0" bIns="0" rtlCol="0" anchor="ctr"/>
          <a:lstStyle/>
          <a:p>
            <a:pPr algn="ctr" indent="0" marL="0">
              <a:buNone/>
            </a:pPr>
            <a:r>
              <a:rPr lang="en-US" sz="1150" b="1" dirty="0">
                <a:solidFill>
                  <a:srgbClr val="1B2E23"/>
                </a:solidFill>
                <a:latin typeface="Calibri" pitchFamily="34" charset="0"/>
                <a:ea typeface="Calibri" pitchFamily="34" charset="-122"/>
                <a:cs typeface="Calibri" pitchFamily="34" charset="-120"/>
              </a:rPr>
              <a:t>Day n</a:t>
            </a:r>
            <a:endParaRPr lang="en-US" sz="1150" dirty="0"/>
          </a:p>
        </p:txBody>
      </p:sp>
      <p:sp>
        <p:nvSpPr>
          <p:cNvPr id="17" name="Shape 15"/>
          <p:cNvSpPr/>
          <p:nvPr/>
        </p:nvSpPr>
        <p:spPr>
          <a:xfrm>
            <a:off x="4681728" y="3401568"/>
            <a:ext cx="292608" cy="201168"/>
          </a:xfrm>
          <a:prstGeom prst="rightArrow">
            <a:avLst/>
          </a:prstGeom>
          <a:solidFill>
            <a:srgbClr val="C98A24"/>
          </a:solidFill>
          <a:ln/>
        </p:spPr>
      </p:sp>
      <p:sp>
        <p:nvSpPr>
          <p:cNvPr id="18" name="Shape 16"/>
          <p:cNvSpPr/>
          <p:nvPr/>
        </p:nvSpPr>
        <p:spPr>
          <a:xfrm>
            <a:off x="5285232" y="4144518"/>
            <a:ext cx="1051560" cy="628650"/>
          </a:xfrm>
          <a:prstGeom prst="rect">
            <a:avLst/>
          </a:prstGeom>
          <a:solidFill>
            <a:srgbClr val="EAF2E4"/>
          </a:solidFill>
          <a:ln w="9525">
            <a:solidFill>
              <a:srgbClr val="7FB069"/>
            </a:solidFill>
            <a:prstDash val="solid"/>
          </a:ln>
        </p:spPr>
      </p:sp>
      <p:sp>
        <p:nvSpPr>
          <p:cNvPr id="19" name="Shape 17"/>
          <p:cNvSpPr/>
          <p:nvPr/>
        </p:nvSpPr>
        <p:spPr>
          <a:xfrm>
            <a:off x="5285232" y="3264408"/>
            <a:ext cx="1051560" cy="880110"/>
          </a:xfrm>
          <a:prstGeom prst="rect">
            <a:avLst/>
          </a:prstGeom>
          <a:solidFill>
            <a:srgbClr val="FBF1DC"/>
          </a:solidFill>
          <a:ln w="9525">
            <a:solidFill>
              <a:srgbClr val="C98A24"/>
            </a:solidFill>
            <a:prstDash val="solid"/>
          </a:ln>
        </p:spPr>
      </p:sp>
      <p:sp>
        <p:nvSpPr>
          <p:cNvPr id="20" name="Shape 18"/>
          <p:cNvSpPr/>
          <p:nvPr/>
        </p:nvSpPr>
        <p:spPr>
          <a:xfrm>
            <a:off x="5285232" y="2258568"/>
            <a:ext cx="1051560" cy="1005840"/>
          </a:xfrm>
          <a:prstGeom prst="rect">
            <a:avLst/>
          </a:prstGeom>
          <a:solidFill>
            <a:srgbClr val="1B2E23"/>
          </a:solidFill>
          <a:ln w="9525">
            <a:solidFill>
              <a:srgbClr val="1B2E23"/>
            </a:solidFill>
            <a:prstDash val="solid"/>
          </a:ln>
        </p:spPr>
      </p:sp>
      <p:sp>
        <p:nvSpPr>
          <p:cNvPr id="21" name="Text 19"/>
          <p:cNvSpPr txBox="1"/>
          <p:nvPr/>
        </p:nvSpPr>
        <p:spPr>
          <a:xfrm>
            <a:off x="5010912" y="4846320"/>
            <a:ext cx="1600200" cy="237744"/>
          </a:xfrm>
          <a:prstGeom prst="rect">
            <a:avLst/>
          </a:prstGeom>
          <a:noFill/>
          <a:ln/>
        </p:spPr>
        <p:txBody>
          <a:bodyPr wrap="square" lIns="0" tIns="0" rIns="0" bIns="0" rtlCol="0" anchor="ctr"/>
          <a:lstStyle/>
          <a:p>
            <a:pPr algn="ctr" indent="0" marL="0">
              <a:buNone/>
            </a:pPr>
            <a:r>
              <a:rPr lang="en-US" sz="1150" b="1" dirty="0">
                <a:solidFill>
                  <a:srgbClr val="1B2E23"/>
                </a:solidFill>
                <a:latin typeface="Calibri" pitchFamily="34" charset="0"/>
                <a:ea typeface="Calibri" pitchFamily="34" charset="-122"/>
                <a:cs typeface="Calibri" pitchFamily="34" charset="-120"/>
              </a:rPr>
              <a:t>Day N</a:t>
            </a:r>
            <a:endParaRPr lang="en-US" sz="1150" dirty="0"/>
          </a:p>
        </p:txBody>
      </p:sp>
      <p:sp>
        <p:nvSpPr>
          <p:cNvPr id="22" name="Shape 20"/>
          <p:cNvSpPr/>
          <p:nvPr/>
        </p:nvSpPr>
        <p:spPr>
          <a:xfrm>
            <a:off x="1097280" y="5230368"/>
            <a:ext cx="201168" cy="201168"/>
          </a:xfrm>
          <a:prstGeom prst="rect">
            <a:avLst/>
          </a:prstGeom>
          <a:solidFill>
            <a:srgbClr val="EAF2E4"/>
          </a:solidFill>
          <a:ln w="9525">
            <a:solidFill>
              <a:srgbClr val="7FB069"/>
            </a:solidFill>
            <a:prstDash val="solid"/>
          </a:ln>
        </p:spPr>
      </p:sp>
      <p:sp>
        <p:nvSpPr>
          <p:cNvPr id="23" name="Text 21"/>
          <p:cNvSpPr txBox="1"/>
          <p:nvPr/>
        </p:nvSpPr>
        <p:spPr>
          <a:xfrm>
            <a:off x="1371600" y="5193792"/>
            <a:ext cx="1691640" cy="274320"/>
          </a:xfrm>
          <a:prstGeom prst="rect">
            <a:avLst/>
          </a:prstGeom>
          <a:noFill/>
          <a:ln/>
        </p:spPr>
        <p:txBody>
          <a:bodyPr wrap="square" lIns="0" tIns="0" rIns="0" bIns="0" rtlCol="0" anchor="ctr"/>
          <a:lstStyle/>
          <a:p>
            <a:pPr indent="0" marL="0">
              <a:buNone/>
            </a:pPr>
            <a:r>
              <a:rPr lang="en-US" sz="1050" dirty="0">
                <a:solidFill>
                  <a:srgbClr val="1F2A22"/>
                </a:solidFill>
                <a:latin typeface="Calibri" pitchFamily="34" charset="0"/>
                <a:ea typeface="Calibri" pitchFamily="34" charset="-122"/>
                <a:cs typeface="Calibri" pitchFamily="34" charset="-120"/>
              </a:rPr>
              <a:t>Plans &amp; observations</a:t>
            </a:r>
            <a:endParaRPr lang="en-US" sz="1050" dirty="0"/>
          </a:p>
        </p:txBody>
      </p:sp>
      <p:sp>
        <p:nvSpPr>
          <p:cNvPr id="24" name="Shape 22"/>
          <p:cNvSpPr/>
          <p:nvPr/>
        </p:nvSpPr>
        <p:spPr>
          <a:xfrm>
            <a:off x="3108960" y="5230368"/>
            <a:ext cx="201168" cy="201168"/>
          </a:xfrm>
          <a:prstGeom prst="rect">
            <a:avLst/>
          </a:prstGeom>
          <a:solidFill>
            <a:srgbClr val="FBF1DC"/>
          </a:solidFill>
          <a:ln w="9525">
            <a:solidFill>
              <a:srgbClr val="C98A24"/>
            </a:solidFill>
            <a:prstDash val="solid"/>
          </a:ln>
        </p:spPr>
      </p:sp>
      <p:sp>
        <p:nvSpPr>
          <p:cNvPr id="25" name="Text 23"/>
          <p:cNvSpPr txBox="1"/>
          <p:nvPr/>
        </p:nvSpPr>
        <p:spPr>
          <a:xfrm>
            <a:off x="3383280" y="5193792"/>
            <a:ext cx="1691640" cy="274320"/>
          </a:xfrm>
          <a:prstGeom prst="rect">
            <a:avLst/>
          </a:prstGeom>
          <a:noFill/>
          <a:ln/>
        </p:spPr>
        <p:txBody>
          <a:bodyPr wrap="square" lIns="0" tIns="0" rIns="0" bIns="0" rtlCol="0" anchor="ctr"/>
          <a:lstStyle/>
          <a:p>
            <a:pPr indent="0" marL="0">
              <a:buNone/>
            </a:pPr>
            <a:r>
              <a:rPr lang="en-US" sz="1050" dirty="0">
                <a:solidFill>
                  <a:srgbClr val="1F2A22"/>
                </a:solidFill>
                <a:latin typeface="Calibri" pitchFamily="34" charset="0"/>
                <a:ea typeface="Calibri" pitchFamily="34" charset="-122"/>
                <a:cs typeface="Calibri" pitchFamily="34" charset="-120"/>
              </a:rPr>
              <a:t>Conversations</a:t>
            </a:r>
            <a:endParaRPr lang="en-US" sz="1050" dirty="0"/>
          </a:p>
        </p:txBody>
      </p:sp>
      <p:sp>
        <p:nvSpPr>
          <p:cNvPr id="26" name="Shape 24"/>
          <p:cNvSpPr/>
          <p:nvPr/>
        </p:nvSpPr>
        <p:spPr>
          <a:xfrm>
            <a:off x="5120640" y="5230368"/>
            <a:ext cx="201168" cy="201168"/>
          </a:xfrm>
          <a:prstGeom prst="rect">
            <a:avLst/>
          </a:prstGeom>
          <a:solidFill>
            <a:srgbClr val="1B2E23"/>
          </a:solidFill>
          <a:ln w="9525">
            <a:solidFill>
              <a:srgbClr val="1B2E23"/>
            </a:solidFill>
            <a:prstDash val="solid"/>
          </a:ln>
        </p:spPr>
      </p:sp>
      <p:sp>
        <p:nvSpPr>
          <p:cNvPr id="27" name="Text 25"/>
          <p:cNvSpPr txBox="1"/>
          <p:nvPr/>
        </p:nvSpPr>
        <p:spPr>
          <a:xfrm>
            <a:off x="5394960" y="5193792"/>
            <a:ext cx="1691640" cy="274320"/>
          </a:xfrm>
          <a:prstGeom prst="rect">
            <a:avLst/>
          </a:prstGeom>
          <a:noFill/>
          <a:ln/>
        </p:spPr>
        <p:txBody>
          <a:bodyPr wrap="square" lIns="0" tIns="0" rIns="0" bIns="0" rtlCol="0" anchor="ctr"/>
          <a:lstStyle/>
          <a:p>
            <a:pPr indent="0" marL="0">
              <a:buNone/>
            </a:pPr>
            <a:r>
              <a:rPr lang="en-US" sz="1050" dirty="0">
                <a:solidFill>
                  <a:srgbClr val="1F2A22"/>
                </a:solidFill>
                <a:latin typeface="Calibri" pitchFamily="34" charset="0"/>
                <a:ea typeface="Calibri" pitchFamily="34" charset="-122"/>
                <a:cs typeface="Calibri" pitchFamily="34" charset="-120"/>
              </a:rPr>
              <a:t>Reflections</a:t>
            </a:r>
            <a:endParaRPr lang="en-US" sz="1050" dirty="0"/>
          </a:p>
        </p:txBody>
      </p:sp>
      <p:sp>
        <p:nvSpPr>
          <p:cNvPr id="28" name="Text 26"/>
          <p:cNvSpPr txBox="1"/>
          <p:nvPr/>
        </p:nvSpPr>
        <p:spPr>
          <a:xfrm>
            <a:off x="950976" y="5541264"/>
            <a:ext cx="5779008" cy="237744"/>
          </a:xfrm>
          <a:prstGeom prst="rect">
            <a:avLst/>
          </a:prstGeom>
          <a:noFill/>
          <a:ln/>
        </p:spPr>
        <p:txBody>
          <a:bodyPr wrap="square" lIns="0" tIns="0" rIns="0" bIns="0" rtlCol="0" anchor="ctr"/>
          <a:lstStyle/>
          <a:p>
            <a:pPr algn="ctr" indent="0" marL="0">
              <a:buNone/>
            </a:pPr>
            <a:r>
              <a:rPr lang="en-US" sz="900" i="1" dirty="0">
                <a:solidFill>
                  <a:srgbClr val="5F6B60"/>
                </a:solidFill>
                <a:latin typeface="Calibri" pitchFamily="34" charset="0"/>
                <a:ea typeface="Calibri" pitchFamily="34" charset="-122"/>
                <a:cs typeface="Calibri" pitchFamily="34" charset="-120"/>
              </a:rPr>
              <a:t>schematic — relative composition, not measured proportions</a:t>
            </a:r>
            <a:endParaRPr lang="en-US" sz="900" dirty="0"/>
          </a:p>
        </p:txBody>
      </p:sp>
      <p:sp>
        <p:nvSpPr>
          <p:cNvPr id="29" name="Shape 27"/>
          <p:cNvSpPr/>
          <p:nvPr/>
        </p:nvSpPr>
        <p:spPr>
          <a:xfrm>
            <a:off x="7360920" y="1371600"/>
            <a:ext cx="4190695" cy="2157984"/>
          </a:xfrm>
          <a:prstGeom prst="roundRect">
            <a:avLst>
              <a:gd name="adj" fmla="val 2542"/>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30" name="Text 28"/>
          <p:cNvSpPr txBox="1"/>
          <p:nvPr/>
        </p:nvSpPr>
        <p:spPr>
          <a:xfrm>
            <a:off x="7653528" y="1591056"/>
            <a:ext cx="3605479" cy="292608"/>
          </a:xfrm>
          <a:prstGeom prst="rect">
            <a:avLst/>
          </a:prstGeom>
          <a:noFill/>
          <a:ln/>
        </p:spPr>
        <p:txBody>
          <a:bodyPr wrap="square" lIns="0" tIns="0" rIns="0" bIns="0" rtlCol="0" anchor="ctr"/>
          <a:lstStyle/>
          <a:p>
            <a:pPr indent="0" marL="0">
              <a:buNone/>
            </a:pPr>
            <a:r>
              <a:rPr lang="en-US" sz="1500" b="1" dirty="0">
                <a:solidFill>
                  <a:srgbClr val="2C5F2D"/>
                </a:solidFill>
                <a:latin typeface="Cambria" pitchFamily="34" charset="0"/>
                <a:ea typeface="Cambria" pitchFamily="34" charset="-122"/>
                <a:cs typeface="Cambria" pitchFamily="34" charset="-120"/>
              </a:rPr>
              <a:t>Bonds form on their own</a:t>
            </a:r>
            <a:endParaRPr lang="en-US" sz="1500" dirty="0"/>
          </a:p>
        </p:txBody>
      </p:sp>
      <p:sp>
        <p:nvSpPr>
          <p:cNvPr id="31" name="Text 29"/>
          <p:cNvSpPr txBox="1"/>
          <p:nvPr/>
        </p:nvSpPr>
        <p:spPr>
          <a:xfrm>
            <a:off x="7653528" y="2048256"/>
            <a:ext cx="3605479" cy="1280160"/>
          </a:xfrm>
          <a:prstGeom prst="rect">
            <a:avLst/>
          </a:prstGeom>
          <a:noFill/>
          <a:ln/>
        </p:spPr>
        <p:txBody>
          <a:bodyPr wrap="square" lIns="0" tIns="0" rIns="0" bIns="0" rtlCol="0" anchor="t"/>
          <a:lstStyle/>
          <a:p>
            <a:pPr indent="0" marL="0">
              <a:lnSpc>
                <a:spcPts val="1700"/>
              </a:lnSpc>
              <a:buNone/>
            </a:pPr>
            <a:r>
              <a:rPr lang="en-US" sz="1250" dirty="0">
                <a:solidFill>
                  <a:srgbClr val="1F2A22"/>
                </a:solidFill>
                <a:latin typeface="Calibri" pitchFamily="34" charset="0"/>
                <a:ea typeface="Calibri" pitchFamily="34" charset="-122"/>
                <a:cs typeface="Calibri" pitchFamily="34" charset="-120"/>
              </a:rPr>
              <a:t>Repeated meetings → persistent pairs → repeated co-location.</a:t>
            </a:r>
            <a:endParaRPr lang="en-US" sz="1250" dirty="0"/>
          </a:p>
          <a:p>
            <a:pPr indent="0" marL="0">
              <a:lnSpc>
                <a:spcPts val="1700"/>
              </a:lnSpc>
              <a:buNone/>
            </a:pPr>
            <a:endParaRPr lang="en-US" sz="1250" dirty="0"/>
          </a:p>
          <a:p>
            <a:pPr indent="0" marL="0">
              <a:lnSpc>
                <a:spcPts val="1700"/>
              </a:lnSpc>
              <a:buNone/>
            </a:pPr>
            <a:r>
              <a:rPr lang="en-US" sz="1250" dirty="0">
                <a:solidFill>
                  <a:srgbClr val="1F2A22"/>
                </a:solidFill>
                <a:latin typeface="Calibri" pitchFamily="34" charset="0"/>
                <a:ea typeface="Calibri" pitchFamily="34" charset="-122"/>
                <a:cs typeface="Calibri" pitchFamily="34" charset="-120"/>
              </a:rPr>
              <a:t>Nobody wrote a friendship rule.</a:t>
            </a:r>
            <a:endParaRPr lang="en-US" sz="1250" dirty="0"/>
          </a:p>
        </p:txBody>
      </p:sp>
      <p:sp>
        <p:nvSpPr>
          <p:cNvPr id="32" name="Shape 30"/>
          <p:cNvSpPr/>
          <p:nvPr/>
        </p:nvSpPr>
        <p:spPr>
          <a:xfrm>
            <a:off x="7360920" y="3694176"/>
            <a:ext cx="4190695" cy="2157984"/>
          </a:xfrm>
          <a:prstGeom prst="roundRect">
            <a:avLst>
              <a:gd name="adj" fmla="val 2542"/>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33" name="Text 31"/>
          <p:cNvSpPr txBox="1"/>
          <p:nvPr/>
        </p:nvSpPr>
        <p:spPr>
          <a:xfrm>
            <a:off x="7653528" y="3913632"/>
            <a:ext cx="3605479" cy="292608"/>
          </a:xfrm>
          <a:prstGeom prst="rect">
            <a:avLst/>
          </a:prstGeom>
          <a:noFill/>
          <a:ln/>
        </p:spPr>
        <p:txBody>
          <a:bodyPr wrap="square" lIns="0" tIns="0" rIns="0" bIns="0" rtlCol="0" anchor="ctr"/>
          <a:lstStyle/>
          <a:p>
            <a:pPr indent="0" marL="0">
              <a:buNone/>
            </a:pPr>
            <a:r>
              <a:rPr lang="en-US" sz="1500" b="1" dirty="0">
                <a:solidFill>
                  <a:srgbClr val="1B2E23"/>
                </a:solidFill>
                <a:latin typeface="Cambria" pitchFamily="34" charset="0"/>
                <a:ea typeface="Cambria" pitchFamily="34" charset="-122"/>
                <a:cs typeface="Cambria" pitchFamily="34" charset="-120"/>
              </a:rPr>
              <a:t>Behaviour follows memory</a:t>
            </a:r>
            <a:endParaRPr lang="en-US" sz="1500" dirty="0"/>
          </a:p>
        </p:txBody>
      </p:sp>
      <p:sp>
        <p:nvSpPr>
          <p:cNvPr id="34" name="Text 32"/>
          <p:cNvSpPr txBox="1"/>
          <p:nvPr/>
        </p:nvSpPr>
        <p:spPr>
          <a:xfrm>
            <a:off x="7653528" y="4370832"/>
            <a:ext cx="3605479" cy="1371600"/>
          </a:xfrm>
          <a:prstGeom prst="rect">
            <a:avLst/>
          </a:prstGeom>
          <a:noFill/>
          <a:ln/>
        </p:spPr>
        <p:txBody>
          <a:bodyPr wrap="square" lIns="0" tIns="0" rIns="0" bIns="0" rtlCol="0" anchor="t"/>
          <a:lstStyle/>
          <a:p>
            <a:pPr indent="0" marL="0">
              <a:lnSpc>
                <a:spcPts val="1700"/>
              </a:lnSpc>
              <a:buNone/>
            </a:pPr>
            <a:r>
              <a:rPr lang="en-US" sz="1250" dirty="0">
                <a:solidFill>
                  <a:srgbClr val="1F2A22"/>
                </a:solidFill>
                <a:latin typeface="Calibri" pitchFamily="34" charset="0"/>
                <a:ea typeface="Calibri" pitchFamily="34" charset="-122"/>
                <a:cs typeface="Calibri" pitchFamily="34" charset="-120"/>
              </a:rPr>
              <a:t>Reflection-derived insight → goal-aligned task selection shifts across days.</a:t>
            </a:r>
            <a:endParaRPr lang="en-US" sz="1250" dirty="0"/>
          </a:p>
          <a:p>
            <a:pPr indent="0" marL="0">
              <a:lnSpc>
                <a:spcPts val="1700"/>
              </a:lnSpc>
              <a:buNone/>
            </a:pPr>
            <a:endParaRPr lang="en-US" sz="1250" dirty="0"/>
          </a:p>
          <a:p>
            <a:pPr indent="0" marL="0">
              <a:lnSpc>
                <a:spcPts val="1700"/>
              </a:lnSpc>
              <a:buNone/>
            </a:pPr>
            <a:r>
              <a:rPr lang="en-US" sz="1250" dirty="0">
                <a:solidFill>
                  <a:srgbClr val="1F2A22"/>
                </a:solidFill>
                <a:latin typeface="Calibri" pitchFamily="34" charset="0"/>
                <a:ea typeface="Calibri" pitchFamily="34" charset="-122"/>
                <a:cs typeface="Calibri" pitchFamily="34" charset="-120"/>
              </a:rPr>
              <a:t>Limit memory, and adaptation weakens.</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8F4"/>
        </a:solidFill>
      </p:bgPr>
    </p:bg>
    <p:spTree>
      <p:nvGrpSpPr>
        <p:cNvPr id="1" name=""/>
        <p:cNvGrpSpPr/>
        <p:nvPr/>
      </p:nvGrpSpPr>
      <p:grpSpPr>
        <a:xfrm>
          <a:off x="0" y="0"/>
          <a:ext cx="0" cy="0"/>
          <a:chOff x="0" y="0"/>
          <a:chExt cx="0" cy="0"/>
        </a:xfrm>
      </p:grpSpPr>
      <p:sp>
        <p:nvSpPr>
          <p:cNvPr id="2" name="Text 0"/>
          <p:cNvSpPr txBox="1"/>
          <p:nvPr/>
        </p:nvSpPr>
        <p:spPr>
          <a:xfrm>
            <a:off x="640080" y="329184"/>
            <a:ext cx="10911535" cy="237744"/>
          </a:xfrm>
          <a:prstGeom prst="rect">
            <a:avLst/>
          </a:prstGeom>
          <a:noFill/>
          <a:ln/>
        </p:spPr>
        <p:txBody>
          <a:bodyPr wrap="square" lIns="0" tIns="0" rIns="0" bIns="0" rtlCol="0" anchor="ctr"/>
          <a:lstStyle/>
          <a:p>
            <a:pPr indent="0" marL="0">
              <a:buNone/>
            </a:pPr>
            <a:r>
              <a:rPr lang="en-US" sz="1100" b="1" spc="160" kern="0" dirty="0">
                <a:solidFill>
                  <a:srgbClr val="2C5F2D"/>
                </a:solidFill>
                <a:latin typeface="Calibri" pitchFamily="34" charset="0"/>
                <a:ea typeface="Calibri" pitchFamily="34" charset="-122"/>
                <a:cs typeface="Calibri" pitchFamily="34" charset="-120"/>
              </a:rPr>
              <a:t>CONCLUSION</a:t>
            </a:r>
            <a:endParaRPr lang="en-US" sz="1100" dirty="0"/>
          </a:p>
        </p:txBody>
      </p:sp>
      <p:sp>
        <p:nvSpPr>
          <p:cNvPr id="3" name="Text 1"/>
          <p:cNvSpPr txBox="1"/>
          <p:nvPr/>
        </p:nvSpPr>
        <p:spPr>
          <a:xfrm>
            <a:off x="640080" y="585216"/>
            <a:ext cx="10911535" cy="731520"/>
          </a:xfrm>
          <a:prstGeom prst="rect">
            <a:avLst/>
          </a:prstGeom>
          <a:noFill/>
          <a:ln/>
        </p:spPr>
        <p:txBody>
          <a:bodyPr wrap="square" lIns="0" tIns="0" rIns="0" bIns="0" rtlCol="0" anchor="t"/>
          <a:lstStyle/>
          <a:p>
            <a:pPr indent="0" marL="0">
              <a:buNone/>
            </a:pPr>
            <a:r>
              <a:rPr lang="en-US" sz="3000" b="1" dirty="0">
                <a:solidFill>
                  <a:srgbClr val="1B2E23"/>
                </a:solidFill>
                <a:latin typeface="Cambria" pitchFamily="34" charset="0"/>
                <a:ea typeface="Cambria" pitchFamily="34" charset="-122"/>
                <a:cs typeface="Cambria" pitchFamily="34" charset="-120"/>
              </a:rPr>
              <a:t>Where this leaves us</a:t>
            </a:r>
            <a:endParaRPr lang="en-US" sz="3000" dirty="0"/>
          </a:p>
        </p:txBody>
      </p:sp>
      <p:sp>
        <p:nvSpPr>
          <p:cNvPr id="4" name="Text 2"/>
          <p:cNvSpPr txBox="1"/>
          <p:nvPr/>
        </p:nvSpPr>
        <p:spPr>
          <a:xfrm>
            <a:off x="640080" y="6419088"/>
            <a:ext cx="5486400" cy="256032"/>
          </a:xfrm>
          <a:prstGeom prst="rect">
            <a:avLst/>
          </a:prstGeom>
          <a:noFill/>
          <a:ln/>
        </p:spPr>
        <p:txBody>
          <a:bodyPr wrap="square" lIns="0" tIns="0" rIns="0" bIns="0" rtlCol="0" anchor="ctr"/>
          <a:lstStyle/>
          <a:p>
            <a:pPr indent="0" marL="0">
              <a:buNone/>
            </a:pPr>
            <a:r>
              <a:rPr lang="en-US" sz="900" dirty="0">
                <a:solidFill>
                  <a:srgbClr val="5F6B60"/>
                </a:solidFill>
                <a:latin typeface="Calibri" pitchFamily="34" charset="0"/>
                <a:ea typeface="Calibri" pitchFamily="34" charset="-122"/>
                <a:cs typeface="Calibri" pitchFamily="34" charset="-120"/>
              </a:rPr>
              <a:t>ICAC 2026  ·  Paper 108  ·  Valentown</a:t>
            </a:r>
            <a:endParaRPr lang="en-US" sz="900" dirty="0"/>
          </a:p>
        </p:txBody>
      </p:sp>
      <p:sp>
        <p:nvSpPr>
          <p:cNvPr id="5" name="Text 3"/>
          <p:cNvSpPr txBox="1"/>
          <p:nvPr/>
        </p:nvSpPr>
        <p:spPr>
          <a:xfrm>
            <a:off x="10454335" y="6419088"/>
            <a:ext cx="1097280" cy="256032"/>
          </a:xfrm>
          <a:prstGeom prst="rect">
            <a:avLst/>
          </a:prstGeom>
          <a:noFill/>
          <a:ln/>
        </p:spPr>
        <p:txBody>
          <a:bodyPr wrap="square" lIns="0" tIns="0" rIns="0" bIns="0" rtlCol="0" anchor="ctr"/>
          <a:lstStyle/>
          <a:p>
            <a:pPr algn="r" indent="0" marL="0">
              <a:buNone/>
            </a:pPr>
            <a:r>
              <a:rPr lang="en-US" sz="900" dirty="0">
                <a:solidFill>
                  <a:srgbClr val="5F6B60"/>
                </a:solidFill>
                <a:latin typeface="Calibri" pitchFamily="34" charset="0"/>
                <a:ea typeface="Calibri" pitchFamily="34" charset="-122"/>
                <a:cs typeface="Calibri" pitchFamily="34" charset="-120"/>
              </a:rPr>
              <a:t>10</a:t>
            </a:r>
            <a:endParaRPr lang="en-US" sz="900" dirty="0"/>
          </a:p>
        </p:txBody>
      </p:sp>
      <p:sp>
        <p:nvSpPr>
          <p:cNvPr id="6" name="Shape 4"/>
          <p:cNvSpPr/>
          <p:nvPr/>
        </p:nvSpPr>
        <p:spPr>
          <a:xfrm>
            <a:off x="640080" y="1371600"/>
            <a:ext cx="5577840" cy="4480560"/>
          </a:xfrm>
          <a:prstGeom prst="roundRect">
            <a:avLst>
              <a:gd name="adj" fmla="val 1224"/>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7" name="Text 5"/>
          <p:cNvSpPr txBox="1"/>
          <p:nvPr/>
        </p:nvSpPr>
        <p:spPr>
          <a:xfrm>
            <a:off x="950976" y="1609344"/>
            <a:ext cx="4956048" cy="292608"/>
          </a:xfrm>
          <a:prstGeom prst="rect">
            <a:avLst/>
          </a:prstGeom>
          <a:noFill/>
          <a:ln/>
        </p:spPr>
        <p:txBody>
          <a:bodyPr wrap="square" lIns="0" tIns="0" rIns="0" bIns="0" rtlCol="0" anchor="ctr"/>
          <a:lstStyle/>
          <a:p>
            <a:pPr indent="0" marL="0">
              <a:buNone/>
            </a:pPr>
            <a:r>
              <a:rPr lang="en-US" sz="1700" b="1" dirty="0">
                <a:solidFill>
                  <a:srgbClr val="2C5F2D"/>
                </a:solidFill>
                <a:latin typeface="Cambria" pitchFamily="34" charset="0"/>
                <a:ea typeface="Cambria" pitchFamily="34" charset="-122"/>
                <a:cs typeface="Cambria" pitchFamily="34" charset="-120"/>
              </a:rPr>
              <a:t>What we showed</a:t>
            </a:r>
            <a:endParaRPr lang="en-US" sz="1700" dirty="0"/>
          </a:p>
        </p:txBody>
      </p:sp>
      <p:sp>
        <p:nvSpPr>
          <p:cNvPr id="8" name="Shape 6"/>
          <p:cNvSpPr/>
          <p:nvPr/>
        </p:nvSpPr>
        <p:spPr>
          <a:xfrm>
            <a:off x="950976" y="2139696"/>
            <a:ext cx="365760" cy="365760"/>
          </a:xfrm>
          <a:prstGeom prst="ellipse">
            <a:avLst/>
          </a:prstGeom>
          <a:solidFill>
            <a:srgbClr val="7FB069"/>
          </a:solidFill>
          <a:ln/>
        </p:spPr>
      </p:sp>
      <p:sp>
        <p:nvSpPr>
          <p:cNvPr id="9" name="Text 7"/>
          <p:cNvSpPr txBox="1"/>
          <p:nvPr/>
        </p:nvSpPr>
        <p:spPr>
          <a:xfrm>
            <a:off x="950976" y="2139696"/>
            <a:ext cx="3657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1</a:t>
            </a:r>
            <a:endParaRPr lang="en-US" sz="1250" dirty="0"/>
          </a:p>
        </p:txBody>
      </p:sp>
      <p:sp>
        <p:nvSpPr>
          <p:cNvPr id="10" name="Text 8"/>
          <p:cNvSpPr txBox="1"/>
          <p:nvPr/>
        </p:nvSpPr>
        <p:spPr>
          <a:xfrm>
            <a:off x="1481328" y="2121408"/>
            <a:ext cx="4425696" cy="822960"/>
          </a:xfrm>
          <a:prstGeom prst="rect">
            <a:avLst/>
          </a:prstGeom>
          <a:noFill/>
          <a:ln/>
        </p:spPr>
        <p:txBody>
          <a:bodyPr wrap="square" lIns="0" tIns="0" rIns="0" bIns="0" rtlCol="0" anchor="t"/>
          <a:lstStyle/>
          <a:p>
            <a:pPr indent="0" marL="0">
              <a:lnSpc>
                <a:spcPts val="1800"/>
              </a:lnSpc>
              <a:buNone/>
            </a:pPr>
            <a:r>
              <a:rPr lang="en-US" sz="1300" dirty="0">
                <a:solidFill>
                  <a:srgbClr val="1F2A22"/>
                </a:solidFill>
                <a:latin typeface="Calibri" pitchFamily="34" charset="0"/>
                <a:ea typeface="Calibri" pitchFamily="34" charset="-122"/>
                <a:cs typeface="Calibri" pitchFamily="34" charset="-120"/>
              </a:rPr>
              <a:t>Planning, interaction and reflection linked by one memory loop</a:t>
            </a:r>
            <a:endParaRPr lang="en-US" sz="1300" dirty="0"/>
          </a:p>
        </p:txBody>
      </p:sp>
      <p:sp>
        <p:nvSpPr>
          <p:cNvPr id="11" name="Shape 9"/>
          <p:cNvSpPr/>
          <p:nvPr/>
        </p:nvSpPr>
        <p:spPr>
          <a:xfrm>
            <a:off x="950976" y="3072384"/>
            <a:ext cx="365760" cy="365760"/>
          </a:xfrm>
          <a:prstGeom prst="ellipse">
            <a:avLst/>
          </a:prstGeom>
          <a:solidFill>
            <a:srgbClr val="7FB069"/>
          </a:solidFill>
          <a:ln/>
        </p:spPr>
      </p:sp>
      <p:sp>
        <p:nvSpPr>
          <p:cNvPr id="12" name="Text 10"/>
          <p:cNvSpPr txBox="1"/>
          <p:nvPr/>
        </p:nvSpPr>
        <p:spPr>
          <a:xfrm>
            <a:off x="950976" y="3072384"/>
            <a:ext cx="3657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2</a:t>
            </a:r>
            <a:endParaRPr lang="en-US" sz="1250" dirty="0"/>
          </a:p>
        </p:txBody>
      </p:sp>
      <p:sp>
        <p:nvSpPr>
          <p:cNvPr id="13" name="Text 11"/>
          <p:cNvSpPr txBox="1"/>
          <p:nvPr/>
        </p:nvSpPr>
        <p:spPr>
          <a:xfrm>
            <a:off x="1481328" y="3054096"/>
            <a:ext cx="4425696" cy="822960"/>
          </a:xfrm>
          <a:prstGeom prst="rect">
            <a:avLst/>
          </a:prstGeom>
          <a:noFill/>
          <a:ln/>
        </p:spPr>
        <p:txBody>
          <a:bodyPr wrap="square" lIns="0" tIns="0" rIns="0" bIns="0" rtlCol="0" anchor="t"/>
          <a:lstStyle/>
          <a:p>
            <a:pPr indent="0" marL="0">
              <a:lnSpc>
                <a:spcPts val="1800"/>
              </a:lnSpc>
              <a:buNone/>
            </a:pPr>
            <a:r>
              <a:rPr lang="en-US" sz="1300" dirty="0">
                <a:solidFill>
                  <a:srgbClr val="1F2A22"/>
                </a:solidFill>
                <a:latin typeface="Calibri" pitchFamily="34" charset="0"/>
                <a:ea typeface="Calibri" pitchFamily="34" charset="-122"/>
                <a:cs typeface="Calibri" pitchFamily="34" charset="-120"/>
              </a:rPr>
              <a:t>Importance-based memory + reflection → next-day behaviour</a:t>
            </a:r>
            <a:endParaRPr lang="en-US" sz="1300" dirty="0"/>
          </a:p>
        </p:txBody>
      </p:sp>
      <p:sp>
        <p:nvSpPr>
          <p:cNvPr id="14" name="Shape 12"/>
          <p:cNvSpPr/>
          <p:nvPr/>
        </p:nvSpPr>
        <p:spPr>
          <a:xfrm>
            <a:off x="950976" y="4005072"/>
            <a:ext cx="365760" cy="365760"/>
          </a:xfrm>
          <a:prstGeom prst="ellipse">
            <a:avLst/>
          </a:prstGeom>
          <a:solidFill>
            <a:srgbClr val="7FB069"/>
          </a:solidFill>
          <a:ln/>
        </p:spPr>
      </p:sp>
      <p:sp>
        <p:nvSpPr>
          <p:cNvPr id="15" name="Text 13"/>
          <p:cNvSpPr txBox="1"/>
          <p:nvPr/>
        </p:nvSpPr>
        <p:spPr>
          <a:xfrm>
            <a:off x="950976" y="4005072"/>
            <a:ext cx="3657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3</a:t>
            </a:r>
            <a:endParaRPr lang="en-US" sz="1250" dirty="0"/>
          </a:p>
        </p:txBody>
      </p:sp>
      <p:sp>
        <p:nvSpPr>
          <p:cNvPr id="16" name="Text 14"/>
          <p:cNvSpPr txBox="1"/>
          <p:nvPr/>
        </p:nvSpPr>
        <p:spPr>
          <a:xfrm>
            <a:off x="1481328" y="3986784"/>
            <a:ext cx="4425696" cy="822960"/>
          </a:xfrm>
          <a:prstGeom prst="rect">
            <a:avLst/>
          </a:prstGeom>
          <a:noFill/>
          <a:ln/>
        </p:spPr>
        <p:txBody>
          <a:bodyPr wrap="square" lIns="0" tIns="0" rIns="0" bIns="0" rtlCol="0" anchor="t"/>
          <a:lstStyle/>
          <a:p>
            <a:pPr indent="0" marL="0">
              <a:lnSpc>
                <a:spcPts val="1800"/>
              </a:lnSpc>
              <a:buNone/>
            </a:pPr>
            <a:r>
              <a:rPr lang="en-US" sz="1300" dirty="0">
                <a:solidFill>
                  <a:srgbClr val="1F2A22"/>
                </a:solidFill>
                <a:latin typeface="Calibri" pitchFamily="34" charset="0"/>
                <a:ea typeface="Calibri" pitchFamily="34" charset="-122"/>
                <a:cs typeface="Calibri" pitchFamily="34" charset="-120"/>
              </a:rPr>
              <a:t>Consistent routines, lasting bonds, adaptation — no hand-written rules</a:t>
            </a:r>
            <a:endParaRPr lang="en-US" sz="1300" dirty="0"/>
          </a:p>
        </p:txBody>
      </p:sp>
      <p:sp>
        <p:nvSpPr>
          <p:cNvPr id="17" name="Text 15"/>
          <p:cNvSpPr txBox="1"/>
          <p:nvPr/>
        </p:nvSpPr>
        <p:spPr>
          <a:xfrm>
            <a:off x="1024128" y="4828032"/>
            <a:ext cx="4809744" cy="201168"/>
          </a:xfrm>
          <a:prstGeom prst="rect">
            <a:avLst/>
          </a:prstGeom>
          <a:noFill/>
          <a:ln/>
        </p:spPr>
        <p:txBody>
          <a:bodyPr wrap="square" lIns="0" tIns="0" rIns="0" bIns="0" rtlCol="0" anchor="ctr"/>
          <a:lstStyle/>
          <a:p>
            <a:pPr algn="l" indent="0" marL="0">
              <a:buNone/>
            </a:pPr>
            <a:r>
              <a:rPr lang="en-US" sz="900" b="1" spc="130" kern="0" dirty="0">
                <a:solidFill>
                  <a:srgbClr val="C98A24"/>
                </a:solidFill>
                <a:latin typeface="Calibri" pitchFamily="34" charset="0"/>
                <a:ea typeface="Calibri" pitchFamily="34" charset="-122"/>
                <a:cs typeface="Calibri" pitchFamily="34" charset="-120"/>
              </a:rPr>
              <a:t>AND WE OWN THE LIMITS</a:t>
            </a:r>
            <a:endParaRPr lang="en-US" sz="900" dirty="0"/>
          </a:p>
        </p:txBody>
      </p:sp>
      <p:sp>
        <p:nvSpPr>
          <p:cNvPr id="18" name="Shape 16"/>
          <p:cNvSpPr/>
          <p:nvPr/>
        </p:nvSpPr>
        <p:spPr>
          <a:xfrm>
            <a:off x="1024128" y="5065776"/>
            <a:ext cx="1511808" cy="457200"/>
          </a:xfrm>
          <a:prstGeom prst="roundRect">
            <a:avLst>
              <a:gd name="adj" fmla="val 12000"/>
            </a:avLst>
          </a:prstGeom>
          <a:solidFill>
            <a:srgbClr val="FBF1DC"/>
          </a:solidFill>
          <a:ln w="12700">
            <a:solidFill>
              <a:srgbClr val="EFDFBE"/>
            </a:solidFill>
            <a:prstDash val="solid"/>
          </a:ln>
        </p:spPr>
      </p:sp>
      <p:sp>
        <p:nvSpPr>
          <p:cNvPr id="19" name="Text 17"/>
          <p:cNvSpPr txBox="1"/>
          <p:nvPr/>
        </p:nvSpPr>
        <p:spPr>
          <a:xfrm>
            <a:off x="1115568" y="5065776"/>
            <a:ext cx="1328928" cy="457200"/>
          </a:xfrm>
          <a:prstGeom prst="rect">
            <a:avLst/>
          </a:prstGeom>
          <a:noFill/>
          <a:ln/>
        </p:spPr>
        <p:txBody>
          <a:bodyPr wrap="square" lIns="0" tIns="0" rIns="0" bIns="0" rtlCol="0" anchor="ctr"/>
          <a:lstStyle/>
          <a:p>
            <a:pPr algn="ctr" indent="0" marL="0">
              <a:lnSpc>
                <a:spcPts val="1400"/>
              </a:lnSpc>
              <a:buNone/>
            </a:pPr>
            <a:r>
              <a:rPr lang="en-US" sz="1150" b="1" dirty="0">
                <a:solidFill>
                  <a:srgbClr val="1B2E23"/>
                </a:solidFill>
                <a:latin typeface="Calibri" pitchFamily="34" charset="0"/>
                <a:ea typeface="Calibri" pitchFamily="34" charset="-122"/>
                <a:cs typeface="Calibri" pitchFamily="34" charset="-120"/>
              </a:rPr>
              <a:t>cost</a:t>
            </a:r>
            <a:endParaRPr lang="en-US" sz="1150" dirty="0"/>
          </a:p>
        </p:txBody>
      </p:sp>
      <p:sp>
        <p:nvSpPr>
          <p:cNvPr id="20" name="Shape 18"/>
          <p:cNvSpPr/>
          <p:nvPr/>
        </p:nvSpPr>
        <p:spPr>
          <a:xfrm>
            <a:off x="2673096" y="5065776"/>
            <a:ext cx="1511808" cy="457200"/>
          </a:xfrm>
          <a:prstGeom prst="roundRect">
            <a:avLst>
              <a:gd name="adj" fmla="val 12000"/>
            </a:avLst>
          </a:prstGeom>
          <a:solidFill>
            <a:srgbClr val="FBF1DC"/>
          </a:solidFill>
          <a:ln w="12700">
            <a:solidFill>
              <a:srgbClr val="EFDFBE"/>
            </a:solidFill>
            <a:prstDash val="solid"/>
          </a:ln>
        </p:spPr>
      </p:sp>
      <p:sp>
        <p:nvSpPr>
          <p:cNvPr id="21" name="Text 19"/>
          <p:cNvSpPr txBox="1"/>
          <p:nvPr/>
        </p:nvSpPr>
        <p:spPr>
          <a:xfrm>
            <a:off x="2764536" y="5065776"/>
            <a:ext cx="1328928" cy="457200"/>
          </a:xfrm>
          <a:prstGeom prst="rect">
            <a:avLst/>
          </a:prstGeom>
          <a:noFill/>
          <a:ln/>
        </p:spPr>
        <p:txBody>
          <a:bodyPr wrap="square" lIns="0" tIns="0" rIns="0" bIns="0" rtlCol="0" anchor="ctr"/>
          <a:lstStyle/>
          <a:p>
            <a:pPr algn="ctr" indent="0" marL="0">
              <a:lnSpc>
                <a:spcPts val="1400"/>
              </a:lnSpc>
              <a:buNone/>
            </a:pPr>
            <a:r>
              <a:rPr lang="en-US" sz="1150" b="1" dirty="0">
                <a:solidFill>
                  <a:srgbClr val="1B2E23"/>
                </a:solidFill>
                <a:latin typeface="Calibri" pitchFamily="34" charset="0"/>
                <a:ea typeface="Calibri" pitchFamily="34" charset="-122"/>
                <a:cs typeface="Calibri" pitchFamily="34" charset="-120"/>
              </a:rPr>
              <a:t>scale</a:t>
            </a:r>
            <a:endParaRPr lang="en-US" sz="1150" dirty="0"/>
          </a:p>
        </p:txBody>
      </p:sp>
      <p:sp>
        <p:nvSpPr>
          <p:cNvPr id="22" name="Shape 20"/>
          <p:cNvSpPr/>
          <p:nvPr/>
        </p:nvSpPr>
        <p:spPr>
          <a:xfrm>
            <a:off x="4322064" y="5065776"/>
            <a:ext cx="1511808" cy="457200"/>
          </a:xfrm>
          <a:prstGeom prst="roundRect">
            <a:avLst>
              <a:gd name="adj" fmla="val 12000"/>
            </a:avLst>
          </a:prstGeom>
          <a:solidFill>
            <a:srgbClr val="FBF1DC"/>
          </a:solidFill>
          <a:ln w="12700">
            <a:solidFill>
              <a:srgbClr val="EFDFBE"/>
            </a:solidFill>
            <a:prstDash val="solid"/>
          </a:ln>
        </p:spPr>
      </p:sp>
      <p:sp>
        <p:nvSpPr>
          <p:cNvPr id="23" name="Text 21"/>
          <p:cNvSpPr txBox="1"/>
          <p:nvPr/>
        </p:nvSpPr>
        <p:spPr>
          <a:xfrm>
            <a:off x="4413504" y="5065776"/>
            <a:ext cx="1328928" cy="457200"/>
          </a:xfrm>
          <a:prstGeom prst="rect">
            <a:avLst/>
          </a:prstGeom>
          <a:noFill/>
          <a:ln/>
        </p:spPr>
        <p:txBody>
          <a:bodyPr wrap="square" lIns="0" tIns="0" rIns="0" bIns="0" rtlCol="0" anchor="ctr"/>
          <a:lstStyle/>
          <a:p>
            <a:pPr algn="ctr" indent="0" marL="0">
              <a:lnSpc>
                <a:spcPts val="1400"/>
              </a:lnSpc>
              <a:buNone/>
            </a:pPr>
            <a:r>
              <a:rPr lang="en-US" sz="1150" b="1" dirty="0">
                <a:solidFill>
                  <a:srgbClr val="1B2E23"/>
                </a:solidFill>
                <a:latin typeface="Calibri" pitchFamily="34" charset="0"/>
                <a:ea typeface="Calibri" pitchFamily="34" charset="-122"/>
                <a:cs typeface="Calibri" pitchFamily="34" charset="-120"/>
              </a:rPr>
              <a:t>stochasticity</a:t>
            </a:r>
            <a:endParaRPr lang="en-US" sz="1150" dirty="0"/>
          </a:p>
        </p:txBody>
      </p:sp>
      <p:sp>
        <p:nvSpPr>
          <p:cNvPr id="24" name="Text 22"/>
          <p:cNvSpPr txBox="1"/>
          <p:nvPr/>
        </p:nvSpPr>
        <p:spPr>
          <a:xfrm>
            <a:off x="1024128" y="5568696"/>
            <a:ext cx="4809744" cy="237744"/>
          </a:xfrm>
          <a:prstGeom prst="rect">
            <a:avLst/>
          </a:prstGeom>
          <a:noFill/>
          <a:ln/>
        </p:spPr>
        <p:txBody>
          <a:bodyPr wrap="square" lIns="0" tIns="0" rIns="0" bIns="0" rtlCol="0" anchor="ctr"/>
          <a:lstStyle/>
          <a:p>
            <a:pPr algn="ctr" indent="0" marL="0">
              <a:buNone/>
            </a:pPr>
            <a:r>
              <a:rPr lang="en-US" sz="1000" i="1" dirty="0">
                <a:solidFill>
                  <a:srgbClr val="5F6B60"/>
                </a:solidFill>
                <a:latin typeface="Calibri" pitchFamily="34" charset="0"/>
                <a:ea typeface="Calibri" pitchFamily="34" charset="-122"/>
                <a:cs typeface="Calibri" pitchFamily="34" charset="-120"/>
              </a:rPr>
              <a:t>quantitative evaluation is the first thing we owe this work</a:t>
            </a:r>
            <a:endParaRPr lang="en-US" sz="1000" dirty="0"/>
          </a:p>
        </p:txBody>
      </p:sp>
      <p:sp>
        <p:nvSpPr>
          <p:cNvPr id="25" name="Text 23"/>
          <p:cNvSpPr txBox="1"/>
          <p:nvPr/>
        </p:nvSpPr>
        <p:spPr>
          <a:xfrm>
            <a:off x="6492240" y="1426464"/>
            <a:ext cx="5077663" cy="329184"/>
          </a:xfrm>
          <a:prstGeom prst="rect">
            <a:avLst/>
          </a:prstGeom>
          <a:noFill/>
          <a:ln/>
        </p:spPr>
        <p:txBody>
          <a:bodyPr wrap="square" lIns="0" tIns="0" rIns="0" bIns="0" rtlCol="0" anchor="ctr"/>
          <a:lstStyle/>
          <a:p>
            <a:pPr indent="0" marL="0">
              <a:buNone/>
            </a:pPr>
            <a:r>
              <a:rPr lang="en-US" sz="1700" b="1" dirty="0">
                <a:solidFill>
                  <a:srgbClr val="C98A24"/>
                </a:solidFill>
                <a:latin typeface="Cambria" pitchFamily="34" charset="0"/>
                <a:ea typeface="Cambria" pitchFamily="34" charset="-122"/>
                <a:cs typeface="Cambria" pitchFamily="34" charset="-120"/>
              </a:rPr>
              <a:t>Future work</a:t>
            </a:r>
            <a:endParaRPr lang="en-US" sz="1700" dirty="0"/>
          </a:p>
        </p:txBody>
      </p:sp>
      <p:sp>
        <p:nvSpPr>
          <p:cNvPr id="26" name="Shape 24"/>
          <p:cNvSpPr/>
          <p:nvPr/>
        </p:nvSpPr>
        <p:spPr>
          <a:xfrm>
            <a:off x="6473952" y="1920240"/>
            <a:ext cx="5077663" cy="1188720"/>
          </a:xfrm>
          <a:prstGeom prst="roundRect">
            <a:avLst>
              <a:gd name="adj" fmla="val 4615"/>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27" name="Shape 25"/>
          <p:cNvSpPr/>
          <p:nvPr/>
        </p:nvSpPr>
        <p:spPr>
          <a:xfrm>
            <a:off x="6711696" y="2121408"/>
            <a:ext cx="365760" cy="365760"/>
          </a:xfrm>
          <a:prstGeom prst="ellipse">
            <a:avLst/>
          </a:prstGeom>
          <a:solidFill>
            <a:srgbClr val="C98A24"/>
          </a:solidFill>
          <a:ln/>
        </p:spPr>
      </p:sp>
      <p:sp>
        <p:nvSpPr>
          <p:cNvPr id="28" name="Text 26"/>
          <p:cNvSpPr txBox="1"/>
          <p:nvPr/>
        </p:nvSpPr>
        <p:spPr>
          <a:xfrm>
            <a:off x="6711696" y="2121408"/>
            <a:ext cx="3657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1</a:t>
            </a:r>
            <a:endParaRPr lang="en-US" sz="1250" dirty="0"/>
          </a:p>
        </p:txBody>
      </p:sp>
      <p:sp>
        <p:nvSpPr>
          <p:cNvPr id="29" name="Text 27"/>
          <p:cNvSpPr txBox="1"/>
          <p:nvPr/>
        </p:nvSpPr>
        <p:spPr>
          <a:xfrm>
            <a:off x="7223760" y="2130552"/>
            <a:ext cx="4071823" cy="292608"/>
          </a:xfrm>
          <a:prstGeom prst="rect">
            <a:avLst/>
          </a:prstGeom>
          <a:noFill/>
          <a:ln/>
        </p:spPr>
        <p:txBody>
          <a:bodyPr wrap="square" lIns="0" tIns="0" rIns="0" bIns="0" rtlCol="0" anchor="ctr"/>
          <a:lstStyle/>
          <a:p>
            <a:pPr indent="0" marL="0">
              <a:buNone/>
            </a:pPr>
            <a:r>
              <a:rPr lang="en-US" sz="1350" b="1" dirty="0">
                <a:solidFill>
                  <a:srgbClr val="1B2E23"/>
                </a:solidFill>
                <a:latin typeface="Cambria" pitchFamily="34" charset="0"/>
                <a:ea typeface="Cambria" pitchFamily="34" charset="-122"/>
                <a:cs typeface="Cambria" pitchFamily="34" charset="-120"/>
              </a:rPr>
              <a:t>Quantitative evaluation</a:t>
            </a:r>
            <a:endParaRPr lang="en-US" sz="1350" dirty="0"/>
          </a:p>
        </p:txBody>
      </p:sp>
      <p:sp>
        <p:nvSpPr>
          <p:cNvPr id="30" name="Text 28"/>
          <p:cNvSpPr txBox="1"/>
          <p:nvPr/>
        </p:nvSpPr>
        <p:spPr>
          <a:xfrm>
            <a:off x="6748272" y="2523744"/>
            <a:ext cx="4529023" cy="457200"/>
          </a:xfrm>
          <a:prstGeom prst="rect">
            <a:avLst/>
          </a:prstGeom>
          <a:noFill/>
          <a:ln/>
        </p:spPr>
        <p:txBody>
          <a:bodyPr wrap="square" lIns="0" tIns="0" rIns="0" bIns="0" rtlCol="0" anchor="t"/>
          <a:lstStyle/>
          <a:p>
            <a:pPr indent="0" marL="0">
              <a:lnSpc>
                <a:spcPts val="1400"/>
              </a:lnSpc>
              <a:buNone/>
            </a:pPr>
            <a:r>
              <a:rPr lang="en-US" sz="1150" dirty="0">
                <a:solidFill>
                  <a:srgbClr val="1F2A22"/>
                </a:solidFill>
                <a:latin typeface="Calibri" pitchFamily="34" charset="0"/>
                <a:ea typeface="Calibri" pitchFamily="34" charset="-122"/>
                <a:cs typeface="Calibri" pitchFamily="34" charset="-120"/>
              </a:rPr>
              <a:t>network metrics, plan coherence, user studies</a:t>
            </a:r>
            <a:endParaRPr lang="en-US" sz="1150" dirty="0"/>
          </a:p>
        </p:txBody>
      </p:sp>
      <p:sp>
        <p:nvSpPr>
          <p:cNvPr id="31" name="Shape 29"/>
          <p:cNvSpPr/>
          <p:nvPr/>
        </p:nvSpPr>
        <p:spPr>
          <a:xfrm>
            <a:off x="6473952" y="3255264"/>
            <a:ext cx="5077663" cy="1188720"/>
          </a:xfrm>
          <a:prstGeom prst="roundRect">
            <a:avLst>
              <a:gd name="adj" fmla="val 4615"/>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32" name="Shape 30"/>
          <p:cNvSpPr/>
          <p:nvPr/>
        </p:nvSpPr>
        <p:spPr>
          <a:xfrm>
            <a:off x="6711696" y="3456432"/>
            <a:ext cx="365760" cy="365760"/>
          </a:xfrm>
          <a:prstGeom prst="ellipse">
            <a:avLst/>
          </a:prstGeom>
          <a:solidFill>
            <a:srgbClr val="2C5F2D"/>
          </a:solidFill>
          <a:ln/>
        </p:spPr>
      </p:sp>
      <p:sp>
        <p:nvSpPr>
          <p:cNvPr id="33" name="Text 31"/>
          <p:cNvSpPr txBox="1"/>
          <p:nvPr/>
        </p:nvSpPr>
        <p:spPr>
          <a:xfrm>
            <a:off x="6711696" y="3456432"/>
            <a:ext cx="3657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2</a:t>
            </a:r>
            <a:endParaRPr lang="en-US" sz="1250" dirty="0"/>
          </a:p>
        </p:txBody>
      </p:sp>
      <p:sp>
        <p:nvSpPr>
          <p:cNvPr id="34" name="Text 32"/>
          <p:cNvSpPr txBox="1"/>
          <p:nvPr/>
        </p:nvSpPr>
        <p:spPr>
          <a:xfrm>
            <a:off x="7223760" y="3465576"/>
            <a:ext cx="4071823" cy="292608"/>
          </a:xfrm>
          <a:prstGeom prst="rect">
            <a:avLst/>
          </a:prstGeom>
          <a:noFill/>
          <a:ln/>
        </p:spPr>
        <p:txBody>
          <a:bodyPr wrap="square" lIns="0" tIns="0" rIns="0" bIns="0" rtlCol="0" anchor="ctr"/>
          <a:lstStyle/>
          <a:p>
            <a:pPr indent="0" marL="0">
              <a:buNone/>
            </a:pPr>
            <a:r>
              <a:rPr lang="en-US" sz="1350" b="1" dirty="0">
                <a:solidFill>
                  <a:srgbClr val="1B2E23"/>
                </a:solidFill>
                <a:latin typeface="Cambria" pitchFamily="34" charset="0"/>
                <a:ea typeface="Cambria" pitchFamily="34" charset="-122"/>
                <a:cs typeface="Cambria" pitchFamily="34" charset="-120"/>
              </a:rPr>
              <a:t>Scale &amp; real time</a:t>
            </a:r>
            <a:endParaRPr lang="en-US" sz="1350" dirty="0"/>
          </a:p>
        </p:txBody>
      </p:sp>
      <p:sp>
        <p:nvSpPr>
          <p:cNvPr id="35" name="Text 33"/>
          <p:cNvSpPr txBox="1"/>
          <p:nvPr/>
        </p:nvSpPr>
        <p:spPr>
          <a:xfrm>
            <a:off x="6748272" y="3858768"/>
            <a:ext cx="4529023" cy="457200"/>
          </a:xfrm>
          <a:prstGeom prst="rect">
            <a:avLst/>
          </a:prstGeom>
          <a:noFill/>
          <a:ln/>
        </p:spPr>
        <p:txBody>
          <a:bodyPr wrap="square" lIns="0" tIns="0" rIns="0" bIns="0" rtlCol="0" anchor="t"/>
          <a:lstStyle/>
          <a:p>
            <a:pPr indent="0" marL="0">
              <a:lnSpc>
                <a:spcPts val="1400"/>
              </a:lnSpc>
              <a:buNone/>
            </a:pPr>
            <a:r>
              <a:rPr lang="en-US" sz="1150" dirty="0">
                <a:solidFill>
                  <a:srgbClr val="1F2A22"/>
                </a:solidFill>
                <a:latin typeface="Calibri" pitchFamily="34" charset="0"/>
                <a:ea typeface="Calibri" pitchFamily="34" charset="-122"/>
                <a:cs typeface="Calibri" pitchFamily="34" charset="-120"/>
              </a:rPr>
              <a:t>larger populations, live reaction</a:t>
            </a:r>
            <a:endParaRPr lang="en-US" sz="1150" dirty="0"/>
          </a:p>
        </p:txBody>
      </p:sp>
      <p:sp>
        <p:nvSpPr>
          <p:cNvPr id="36" name="Shape 34"/>
          <p:cNvSpPr/>
          <p:nvPr/>
        </p:nvSpPr>
        <p:spPr>
          <a:xfrm>
            <a:off x="6473952" y="4590288"/>
            <a:ext cx="5077663" cy="1188720"/>
          </a:xfrm>
          <a:prstGeom prst="roundRect">
            <a:avLst>
              <a:gd name="adj" fmla="val 4615"/>
            </a:avLst>
          </a:prstGeom>
          <a:solidFill>
            <a:srgbClr val="EAF2E4"/>
          </a:solidFill>
          <a:ln w="12700">
            <a:solidFill>
              <a:srgbClr val="EAF2E4"/>
            </a:solidFill>
            <a:prstDash val="solid"/>
          </a:ln>
        </p:spPr>
      </p:sp>
      <p:sp>
        <p:nvSpPr>
          <p:cNvPr id="37" name="Shape 35"/>
          <p:cNvSpPr/>
          <p:nvPr/>
        </p:nvSpPr>
        <p:spPr>
          <a:xfrm>
            <a:off x="6711696" y="4791456"/>
            <a:ext cx="365760" cy="365760"/>
          </a:xfrm>
          <a:prstGeom prst="ellipse">
            <a:avLst/>
          </a:prstGeom>
          <a:solidFill>
            <a:srgbClr val="C98A24"/>
          </a:solidFill>
          <a:ln/>
        </p:spPr>
      </p:sp>
      <p:sp>
        <p:nvSpPr>
          <p:cNvPr id="38" name="Text 36"/>
          <p:cNvSpPr txBox="1"/>
          <p:nvPr/>
        </p:nvSpPr>
        <p:spPr>
          <a:xfrm>
            <a:off x="6711696" y="4791456"/>
            <a:ext cx="3657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3</a:t>
            </a:r>
            <a:endParaRPr lang="en-US" sz="1250" dirty="0"/>
          </a:p>
        </p:txBody>
      </p:sp>
      <p:sp>
        <p:nvSpPr>
          <p:cNvPr id="39" name="Text 37"/>
          <p:cNvSpPr txBox="1"/>
          <p:nvPr/>
        </p:nvSpPr>
        <p:spPr>
          <a:xfrm>
            <a:off x="7223760" y="4800600"/>
            <a:ext cx="4071823" cy="292608"/>
          </a:xfrm>
          <a:prstGeom prst="rect">
            <a:avLst/>
          </a:prstGeom>
          <a:noFill/>
          <a:ln/>
        </p:spPr>
        <p:txBody>
          <a:bodyPr wrap="square" lIns="0" tIns="0" rIns="0" bIns="0" rtlCol="0" anchor="ctr"/>
          <a:lstStyle/>
          <a:p>
            <a:pPr indent="0" marL="0">
              <a:buNone/>
            </a:pPr>
            <a:r>
              <a:rPr lang="en-US" sz="1350" b="1" dirty="0">
                <a:solidFill>
                  <a:srgbClr val="1B2E23"/>
                </a:solidFill>
                <a:latin typeface="Cambria" pitchFamily="34" charset="0"/>
                <a:ea typeface="Cambria" pitchFamily="34" charset="-122"/>
                <a:cs typeface="Cambria" pitchFamily="34" charset="-120"/>
              </a:rPr>
              <a:t>Deeper reasoning</a:t>
            </a:r>
            <a:endParaRPr lang="en-US" sz="1350" dirty="0"/>
          </a:p>
        </p:txBody>
      </p:sp>
      <p:sp>
        <p:nvSpPr>
          <p:cNvPr id="40" name="Text 38"/>
          <p:cNvSpPr txBox="1"/>
          <p:nvPr/>
        </p:nvSpPr>
        <p:spPr>
          <a:xfrm>
            <a:off x="6748272" y="5193792"/>
            <a:ext cx="4529023" cy="457200"/>
          </a:xfrm>
          <a:prstGeom prst="rect">
            <a:avLst/>
          </a:prstGeom>
          <a:noFill/>
          <a:ln/>
        </p:spPr>
        <p:txBody>
          <a:bodyPr wrap="square" lIns="0" tIns="0" rIns="0" bIns="0" rtlCol="0" anchor="t"/>
          <a:lstStyle/>
          <a:p>
            <a:pPr indent="0" marL="0">
              <a:lnSpc>
                <a:spcPts val="1400"/>
              </a:lnSpc>
              <a:buNone/>
            </a:pPr>
            <a:r>
              <a:rPr lang="en-US" sz="1150" dirty="0">
                <a:solidFill>
                  <a:srgbClr val="1F2A22"/>
                </a:solidFill>
                <a:latin typeface="Calibri" pitchFamily="34" charset="0"/>
                <a:ea typeface="Calibri" pitchFamily="34" charset="-122"/>
                <a:cs typeface="Calibri" pitchFamily="34" charset="-120"/>
              </a:rPr>
              <a:t>NPCs, education, embodied agents</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B2E23"/>
        </a:solidFill>
      </p:bgPr>
    </p:bg>
    <p:spTree>
      <p:nvGrpSpPr>
        <p:cNvPr id="1" name=""/>
        <p:cNvGrpSpPr/>
        <p:nvPr/>
      </p:nvGrpSpPr>
      <p:grpSpPr>
        <a:xfrm>
          <a:off x="0" y="0"/>
          <a:ext cx="0" cy="0"/>
          <a:chOff x="0" y="0"/>
          <a:chExt cx="0" cy="0"/>
        </a:xfrm>
      </p:grpSpPr>
      <p:sp>
        <p:nvSpPr>
          <p:cNvPr id="2" name="Text 0"/>
          <p:cNvSpPr txBox="1"/>
          <p:nvPr/>
        </p:nvSpPr>
        <p:spPr>
          <a:xfrm>
            <a:off x="640080" y="1463040"/>
            <a:ext cx="10911535" cy="91440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Thank you</a:t>
            </a:r>
            <a:endParaRPr lang="en-US" sz="4600" dirty="0"/>
          </a:p>
        </p:txBody>
      </p:sp>
      <p:sp>
        <p:nvSpPr>
          <p:cNvPr id="3" name="Text 1"/>
          <p:cNvSpPr txBox="1"/>
          <p:nvPr/>
        </p:nvSpPr>
        <p:spPr>
          <a:xfrm>
            <a:off x="640080" y="2450592"/>
            <a:ext cx="10911535" cy="365760"/>
          </a:xfrm>
          <a:prstGeom prst="rect">
            <a:avLst/>
          </a:prstGeom>
          <a:noFill/>
          <a:ln/>
        </p:spPr>
        <p:txBody>
          <a:bodyPr wrap="square" lIns="0" tIns="0" rIns="0" bIns="0" rtlCol="0" anchor="ctr"/>
          <a:lstStyle/>
          <a:p>
            <a:pPr indent="0" marL="0">
              <a:buNone/>
            </a:pPr>
            <a:r>
              <a:rPr lang="en-US" sz="1700" dirty="0">
                <a:solidFill>
                  <a:srgbClr val="7FB069"/>
                </a:solidFill>
                <a:latin typeface="Calibri" pitchFamily="34" charset="0"/>
                <a:ea typeface="Calibri" pitchFamily="34" charset="-122"/>
                <a:cs typeface="Calibri" pitchFamily="34" charset="-120"/>
              </a:rPr>
              <a:t>Questions are very welcome.</a:t>
            </a:r>
            <a:endParaRPr lang="en-US" sz="1700" dirty="0"/>
          </a:p>
        </p:txBody>
      </p:sp>
      <p:sp>
        <p:nvSpPr>
          <p:cNvPr id="4" name="Shape 2"/>
          <p:cNvSpPr/>
          <p:nvPr/>
        </p:nvSpPr>
        <p:spPr>
          <a:xfrm>
            <a:off x="640080" y="3108960"/>
            <a:ext cx="5349240" cy="1371600"/>
          </a:xfrm>
          <a:prstGeom prst="roundRect">
            <a:avLst>
              <a:gd name="adj" fmla="val 4000"/>
            </a:avLst>
          </a:prstGeom>
          <a:solidFill>
            <a:srgbClr val="24402F"/>
          </a:solidFill>
          <a:ln w="12700">
            <a:solidFill>
              <a:srgbClr val="2F4E3A"/>
            </a:solidFill>
            <a:prstDash val="solid"/>
          </a:ln>
        </p:spPr>
      </p:sp>
      <p:sp>
        <p:nvSpPr>
          <p:cNvPr id="5" name="Text 3"/>
          <p:cNvSpPr txBox="1"/>
          <p:nvPr/>
        </p:nvSpPr>
        <p:spPr>
          <a:xfrm>
            <a:off x="950976" y="3291840"/>
            <a:ext cx="4727448" cy="292608"/>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Aoao Guo</a:t>
            </a:r>
            <a:endParaRPr lang="en-US" sz="1500" dirty="0"/>
          </a:p>
        </p:txBody>
      </p:sp>
      <p:sp>
        <p:nvSpPr>
          <p:cNvPr id="6" name="Text 4"/>
          <p:cNvSpPr txBox="1"/>
          <p:nvPr/>
        </p:nvSpPr>
        <p:spPr>
          <a:xfrm>
            <a:off x="950976" y="3621024"/>
            <a:ext cx="4727448" cy="685800"/>
          </a:xfrm>
          <a:prstGeom prst="rect">
            <a:avLst/>
          </a:prstGeom>
          <a:noFill/>
          <a:ln/>
        </p:spPr>
        <p:txBody>
          <a:bodyPr wrap="square" lIns="0" tIns="0" rIns="0" bIns="0" rtlCol="0" anchor="t"/>
          <a:lstStyle/>
          <a:p>
            <a:pPr indent="0" marL="0">
              <a:lnSpc>
                <a:spcPts val="1700"/>
              </a:lnSpc>
              <a:buNone/>
            </a:pPr>
            <a:r>
              <a:rPr lang="en-US" sz="1200" dirty="0">
                <a:solidFill>
                  <a:srgbClr val="C6D6C6"/>
                </a:solidFill>
                <a:latin typeface="Calibri" pitchFamily="34" charset="0"/>
                <a:ea typeface="Calibri" pitchFamily="34" charset="-122"/>
                <a:cs typeface="Calibri" pitchFamily="34" charset="-120"/>
              </a:rPr>
              <a:t>Faculty of Life Sciences, University College London</a:t>
            </a:r>
            <a:endParaRPr lang="en-US" sz="1200" dirty="0"/>
          </a:p>
          <a:p>
            <a:pPr indent="0" marL="0">
              <a:lnSpc>
                <a:spcPts val="1700"/>
              </a:lnSpc>
              <a:buNone/>
            </a:pPr>
            <a:r>
              <a:rPr lang="en-US" sz="1200" dirty="0">
                <a:solidFill>
                  <a:srgbClr val="C6D6C6"/>
                </a:solidFill>
                <a:latin typeface="Calibri" pitchFamily="34" charset="0"/>
                <a:ea typeface="Calibri" pitchFamily="34" charset="-122"/>
                <a:cs typeface="Calibri" pitchFamily="34" charset="-120"/>
              </a:rPr>
              <a:t>aoao.guo.25@ucl.ac.uk</a:t>
            </a:r>
            <a:endParaRPr lang="en-US" sz="1200" dirty="0"/>
          </a:p>
        </p:txBody>
      </p:sp>
      <p:sp>
        <p:nvSpPr>
          <p:cNvPr id="7" name="Shape 5"/>
          <p:cNvSpPr/>
          <p:nvPr/>
        </p:nvSpPr>
        <p:spPr>
          <a:xfrm>
            <a:off x="6199632" y="3108960"/>
            <a:ext cx="5349240" cy="1371600"/>
          </a:xfrm>
          <a:prstGeom prst="roundRect">
            <a:avLst>
              <a:gd name="adj" fmla="val 4000"/>
            </a:avLst>
          </a:prstGeom>
          <a:solidFill>
            <a:srgbClr val="24402F"/>
          </a:solidFill>
          <a:ln w="12700">
            <a:solidFill>
              <a:srgbClr val="2F4E3A"/>
            </a:solidFill>
            <a:prstDash val="solid"/>
          </a:ln>
        </p:spPr>
      </p:sp>
      <p:sp>
        <p:nvSpPr>
          <p:cNvPr id="8" name="Text 6"/>
          <p:cNvSpPr txBox="1"/>
          <p:nvPr/>
        </p:nvSpPr>
        <p:spPr>
          <a:xfrm>
            <a:off x="6510528" y="3291840"/>
            <a:ext cx="4727448" cy="292608"/>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Paper 108</a:t>
            </a:r>
            <a:endParaRPr lang="en-US" sz="1500" dirty="0"/>
          </a:p>
        </p:txBody>
      </p:sp>
      <p:sp>
        <p:nvSpPr>
          <p:cNvPr id="9" name="Text 7"/>
          <p:cNvSpPr txBox="1"/>
          <p:nvPr/>
        </p:nvSpPr>
        <p:spPr>
          <a:xfrm>
            <a:off x="6510528" y="3621024"/>
            <a:ext cx="4727448" cy="685800"/>
          </a:xfrm>
          <a:prstGeom prst="rect">
            <a:avLst/>
          </a:prstGeom>
          <a:noFill/>
          <a:ln/>
        </p:spPr>
        <p:txBody>
          <a:bodyPr wrap="square" lIns="0" tIns="0" rIns="0" bIns="0" rtlCol="0" anchor="t"/>
          <a:lstStyle/>
          <a:p>
            <a:pPr indent="0" marL="0">
              <a:lnSpc>
                <a:spcPts val="1700"/>
              </a:lnSpc>
              <a:buNone/>
            </a:pPr>
            <a:r>
              <a:rPr lang="en-US" sz="1200" dirty="0">
                <a:solidFill>
                  <a:srgbClr val="C6D6C6"/>
                </a:solidFill>
                <a:latin typeface="Calibri" pitchFamily="34" charset="0"/>
                <a:ea typeface="Calibri" pitchFamily="34" charset="-122"/>
                <a:cs typeface="Calibri" pitchFamily="34" charset="-120"/>
              </a:rPr>
              <a:t>A Lightweight LLM-Driven Multi-Agent Framework for</a:t>
            </a:r>
            <a:endParaRPr lang="en-US" sz="1200" dirty="0"/>
          </a:p>
          <a:p>
            <a:pPr indent="0" marL="0">
              <a:lnSpc>
                <a:spcPts val="1700"/>
              </a:lnSpc>
              <a:buNone/>
            </a:pPr>
            <a:r>
              <a:rPr lang="en-US" sz="1200" dirty="0">
                <a:solidFill>
                  <a:srgbClr val="C6D6C6"/>
                </a:solidFill>
                <a:latin typeface="Calibri" pitchFamily="34" charset="0"/>
                <a:ea typeface="Calibri" pitchFamily="34" charset="-122"/>
                <a:cs typeface="Calibri" pitchFamily="34" charset="-120"/>
              </a:rPr>
              <a:t>Virtual Society Simulation with Memory Feedback</a:t>
            </a:r>
            <a:endParaRPr lang="en-US" sz="1200" dirty="0"/>
          </a:p>
        </p:txBody>
      </p:sp>
      <p:pic>
        <p:nvPicPr>
          <p:cNvPr id="10" name="Image 0" descr="/tmp/claude-0/-home-user-valentown/d6e1bc7b-94ca-5433-b61a-57600741710e/scratchpad/assets/ron.png">    </p:cNvPr>
          <p:cNvPicPr>
            <a:picLocks noChangeAspect="1"/>
          </p:cNvPicPr>
          <p:nvPr/>
        </p:nvPicPr>
        <p:blipFill>
          <a:blip r:embed="rId1"/>
          <a:stretch>
            <a:fillRect/>
          </a:stretch>
        </p:blipFill>
        <p:spPr>
          <a:xfrm>
            <a:off x="1510568" y="5074920"/>
            <a:ext cx="444833" cy="1051560"/>
          </a:xfrm>
          <a:prstGeom prst="rect">
            <a:avLst/>
          </a:prstGeom>
        </p:spPr>
      </p:pic>
      <p:pic>
        <p:nvPicPr>
          <p:cNvPr id="11" name="Image 1" descr="/tmp/claude-0/-home-user-valentown/d6e1bc7b-94ca-5433-b61a-57600741710e/scratchpad/assets/ella.png">    </p:cNvPr>
          <p:cNvPicPr>
            <a:picLocks noChangeAspect="1"/>
          </p:cNvPicPr>
          <p:nvPr/>
        </p:nvPicPr>
        <p:blipFill>
          <a:blip r:embed="rId2"/>
          <a:stretch>
            <a:fillRect/>
          </a:stretch>
        </p:blipFill>
        <p:spPr>
          <a:xfrm>
            <a:off x="2914493" y="5074920"/>
            <a:ext cx="545559" cy="1051560"/>
          </a:xfrm>
          <a:prstGeom prst="rect">
            <a:avLst/>
          </a:prstGeom>
        </p:spPr>
      </p:pic>
      <p:pic>
        <p:nvPicPr>
          <p:cNvPr id="12" name="Image 2" descr="/tmp/claude-0/-home-user-valentown/d6e1bc7b-94ca-5433-b61a-57600741710e/scratchpad/assets/emma.png">    </p:cNvPr>
          <p:cNvPicPr>
            <a:picLocks noChangeAspect="1"/>
          </p:cNvPicPr>
          <p:nvPr/>
        </p:nvPicPr>
        <p:blipFill>
          <a:blip r:embed="rId3"/>
          <a:stretch>
            <a:fillRect/>
          </a:stretch>
        </p:blipFill>
        <p:spPr>
          <a:xfrm>
            <a:off x="4369526" y="5074920"/>
            <a:ext cx="544068" cy="1051560"/>
          </a:xfrm>
          <a:prstGeom prst="rect">
            <a:avLst/>
          </a:prstGeom>
        </p:spPr>
      </p:pic>
      <p:pic>
        <p:nvPicPr>
          <p:cNvPr id="13" name="Image 3" descr="/tmp/claude-0/-home-user-valentown/d6e1bc7b-94ca-5433-b61a-57600741710e/scratchpad/assets/gavin.png">    </p:cNvPr>
          <p:cNvPicPr>
            <a:picLocks noChangeAspect="1"/>
          </p:cNvPicPr>
          <p:nvPr/>
        </p:nvPicPr>
        <p:blipFill>
          <a:blip r:embed="rId4"/>
          <a:stretch>
            <a:fillRect/>
          </a:stretch>
        </p:blipFill>
        <p:spPr>
          <a:xfrm>
            <a:off x="5857062" y="5074920"/>
            <a:ext cx="477571" cy="1051560"/>
          </a:xfrm>
          <a:prstGeom prst="rect">
            <a:avLst/>
          </a:prstGeom>
        </p:spPr>
      </p:pic>
      <p:pic>
        <p:nvPicPr>
          <p:cNvPr id="14" name="Image 4" descr="/tmp/claude-0/-home-user-valentown/d6e1bc7b-94ca-5433-b61a-57600741710e/scratchpad/assets/adam.png">    </p:cNvPr>
          <p:cNvPicPr>
            <a:picLocks noChangeAspect="1"/>
          </p:cNvPicPr>
          <p:nvPr/>
        </p:nvPicPr>
        <p:blipFill>
          <a:blip r:embed="rId5"/>
          <a:stretch>
            <a:fillRect/>
          </a:stretch>
        </p:blipFill>
        <p:spPr>
          <a:xfrm>
            <a:off x="7299685" y="5074920"/>
            <a:ext cx="500901" cy="1051560"/>
          </a:xfrm>
          <a:prstGeom prst="rect">
            <a:avLst/>
          </a:prstGeom>
        </p:spPr>
      </p:pic>
      <p:pic>
        <p:nvPicPr>
          <p:cNvPr id="15" name="Image 5" descr="/tmp/claude-0/-home-user-valentown/d6e1bc7b-94ca-5433-b61a-57600741710e/scratchpad/assets/mia.png">    </p:cNvPr>
          <p:cNvPicPr>
            <a:picLocks noChangeAspect="1"/>
          </p:cNvPicPr>
          <p:nvPr/>
        </p:nvPicPr>
        <p:blipFill>
          <a:blip r:embed="rId6"/>
          <a:stretch>
            <a:fillRect/>
          </a:stretch>
        </p:blipFill>
        <p:spPr>
          <a:xfrm>
            <a:off x="8746799" y="5074920"/>
            <a:ext cx="515248" cy="1051560"/>
          </a:xfrm>
          <a:prstGeom prst="rect">
            <a:avLst/>
          </a:prstGeom>
        </p:spPr>
      </p:pic>
      <p:pic>
        <p:nvPicPr>
          <p:cNvPr id="16" name="Image 6" descr="/tmp/claude-0/-home-user-valentown/d6e1bc7b-94ca-5433-b61a-57600741710e/scratchpad/assets/arthur.png">    </p:cNvPr>
          <p:cNvPicPr>
            <a:picLocks noChangeAspect="1"/>
          </p:cNvPicPr>
          <p:nvPr/>
        </p:nvPicPr>
        <p:blipFill>
          <a:blip r:embed="rId7"/>
          <a:stretch>
            <a:fillRect/>
          </a:stretch>
        </p:blipFill>
        <p:spPr>
          <a:xfrm>
            <a:off x="10182454" y="5074920"/>
            <a:ext cx="552515" cy="105156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8F4"/>
        </a:solidFill>
      </p:bgPr>
    </p:bg>
    <p:spTree>
      <p:nvGrpSpPr>
        <p:cNvPr id="1" name=""/>
        <p:cNvGrpSpPr/>
        <p:nvPr/>
      </p:nvGrpSpPr>
      <p:grpSpPr>
        <a:xfrm>
          <a:off x="0" y="0"/>
          <a:ext cx="0" cy="0"/>
          <a:chOff x="0" y="0"/>
          <a:chExt cx="0" cy="0"/>
        </a:xfrm>
      </p:grpSpPr>
      <p:sp>
        <p:nvSpPr>
          <p:cNvPr id="2" name="Text 0"/>
          <p:cNvSpPr txBox="1"/>
          <p:nvPr/>
        </p:nvSpPr>
        <p:spPr>
          <a:xfrm>
            <a:off x="640080" y="329184"/>
            <a:ext cx="10911535" cy="237744"/>
          </a:xfrm>
          <a:prstGeom prst="rect">
            <a:avLst/>
          </a:prstGeom>
          <a:noFill/>
          <a:ln/>
        </p:spPr>
        <p:txBody>
          <a:bodyPr wrap="square" lIns="0" tIns="0" rIns="0" bIns="0" rtlCol="0" anchor="ctr"/>
          <a:lstStyle/>
          <a:p>
            <a:pPr indent="0" marL="0">
              <a:buNone/>
            </a:pPr>
            <a:r>
              <a:rPr lang="en-US" sz="1100" b="1" spc="160" kern="0" dirty="0">
                <a:solidFill>
                  <a:srgbClr val="2C5F2D"/>
                </a:solidFill>
                <a:latin typeface="Calibri" pitchFamily="34" charset="0"/>
                <a:ea typeface="Calibri" pitchFamily="34" charset="-122"/>
                <a:cs typeface="Calibri" pitchFamily="34" charset="-120"/>
              </a:rPr>
              <a:t>BACKUP · FRAMEWORK</a:t>
            </a:r>
            <a:endParaRPr lang="en-US" sz="1100" dirty="0"/>
          </a:p>
        </p:txBody>
      </p:sp>
      <p:sp>
        <p:nvSpPr>
          <p:cNvPr id="3" name="Text 1"/>
          <p:cNvSpPr txBox="1"/>
          <p:nvPr/>
        </p:nvSpPr>
        <p:spPr>
          <a:xfrm>
            <a:off x="640080" y="585216"/>
            <a:ext cx="10911535" cy="731520"/>
          </a:xfrm>
          <a:prstGeom prst="rect">
            <a:avLst/>
          </a:prstGeom>
          <a:noFill/>
          <a:ln/>
        </p:spPr>
        <p:txBody>
          <a:bodyPr wrap="square" lIns="0" tIns="0" rIns="0" bIns="0" rtlCol="0" anchor="t"/>
          <a:lstStyle/>
          <a:p>
            <a:pPr indent="0" marL="0">
              <a:buNone/>
            </a:pPr>
            <a:r>
              <a:rPr lang="en-US" sz="3000" b="1" dirty="0">
                <a:solidFill>
                  <a:srgbClr val="1B2E23"/>
                </a:solidFill>
                <a:latin typeface="Cambria" pitchFamily="34" charset="0"/>
                <a:ea typeface="Cambria" pitchFamily="34" charset="-122"/>
                <a:cs typeface="Cambria" pitchFamily="34" charset="-120"/>
              </a:rPr>
              <a:t>A backend that thinks, a frontend that shows</a:t>
            </a:r>
            <a:endParaRPr lang="en-US" sz="3000" dirty="0"/>
          </a:p>
        </p:txBody>
      </p:sp>
      <p:sp>
        <p:nvSpPr>
          <p:cNvPr id="4" name="Text 2"/>
          <p:cNvSpPr txBox="1"/>
          <p:nvPr/>
        </p:nvSpPr>
        <p:spPr>
          <a:xfrm>
            <a:off x="640080" y="6419088"/>
            <a:ext cx="5486400" cy="256032"/>
          </a:xfrm>
          <a:prstGeom prst="rect">
            <a:avLst/>
          </a:prstGeom>
          <a:noFill/>
          <a:ln/>
        </p:spPr>
        <p:txBody>
          <a:bodyPr wrap="square" lIns="0" tIns="0" rIns="0" bIns="0" rtlCol="0" anchor="ctr"/>
          <a:lstStyle/>
          <a:p>
            <a:pPr indent="0" marL="0">
              <a:buNone/>
            </a:pPr>
            <a:r>
              <a:rPr lang="en-US" sz="900" dirty="0">
                <a:solidFill>
                  <a:srgbClr val="5F6B60"/>
                </a:solidFill>
                <a:latin typeface="Calibri" pitchFamily="34" charset="0"/>
                <a:ea typeface="Calibri" pitchFamily="34" charset="-122"/>
                <a:cs typeface="Calibri" pitchFamily="34" charset="-120"/>
              </a:rPr>
              <a:t>ICAC 2026  ·  Paper 108  ·  Valentown</a:t>
            </a:r>
            <a:endParaRPr lang="en-US" sz="900" dirty="0"/>
          </a:p>
        </p:txBody>
      </p:sp>
      <p:sp>
        <p:nvSpPr>
          <p:cNvPr id="5" name="Text 3"/>
          <p:cNvSpPr txBox="1"/>
          <p:nvPr/>
        </p:nvSpPr>
        <p:spPr>
          <a:xfrm>
            <a:off x="10454335" y="6419088"/>
            <a:ext cx="1097280" cy="256032"/>
          </a:xfrm>
          <a:prstGeom prst="rect">
            <a:avLst/>
          </a:prstGeom>
          <a:noFill/>
          <a:ln/>
        </p:spPr>
        <p:txBody>
          <a:bodyPr wrap="square" lIns="0" tIns="0" rIns="0" bIns="0" rtlCol="0" anchor="ctr"/>
          <a:lstStyle/>
          <a:p>
            <a:pPr algn="r" indent="0" marL="0">
              <a:buNone/>
            </a:pPr>
            <a:r>
              <a:rPr lang="en-US" sz="900" dirty="0">
                <a:solidFill>
                  <a:srgbClr val="5F6B60"/>
                </a:solidFill>
                <a:latin typeface="Calibri" pitchFamily="34" charset="0"/>
                <a:ea typeface="Calibri" pitchFamily="34" charset="-122"/>
                <a:cs typeface="Calibri" pitchFamily="34" charset="-120"/>
              </a:rPr>
              <a:t>B1</a:t>
            </a:r>
            <a:endParaRPr lang="en-US" sz="900" dirty="0"/>
          </a:p>
        </p:txBody>
      </p:sp>
      <p:sp>
        <p:nvSpPr>
          <p:cNvPr id="6" name="Shape 4"/>
          <p:cNvSpPr/>
          <p:nvPr/>
        </p:nvSpPr>
        <p:spPr>
          <a:xfrm>
            <a:off x="640080" y="1371600"/>
            <a:ext cx="5120640" cy="4663440"/>
          </a:xfrm>
          <a:prstGeom prst="roundRect">
            <a:avLst>
              <a:gd name="adj" fmla="val 1176"/>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pic>
        <p:nvPicPr>
          <p:cNvPr id="7" name="Image 0" descr="/tmp/claude-0/-home-user-valentown/d6e1bc7b-94ca-5433-b61a-57600741710e/scratchpad/assets/fig1_architecture.png">    </p:cNvPr>
          <p:cNvPicPr>
            <a:picLocks noChangeAspect="1"/>
          </p:cNvPicPr>
          <p:nvPr/>
        </p:nvPicPr>
        <p:blipFill>
          <a:blip r:embed="rId1"/>
          <a:stretch>
            <a:fillRect/>
          </a:stretch>
        </p:blipFill>
        <p:spPr>
          <a:xfrm>
            <a:off x="1257300" y="1481328"/>
            <a:ext cx="3886200" cy="4041418"/>
          </a:xfrm>
          <a:prstGeom prst="rect">
            <a:avLst/>
          </a:prstGeom>
        </p:spPr>
      </p:pic>
      <p:sp>
        <p:nvSpPr>
          <p:cNvPr id="8" name="Text 5"/>
          <p:cNvSpPr txBox="1"/>
          <p:nvPr/>
        </p:nvSpPr>
        <p:spPr>
          <a:xfrm>
            <a:off x="640080" y="5614416"/>
            <a:ext cx="5120640" cy="237744"/>
          </a:xfrm>
          <a:prstGeom prst="rect">
            <a:avLst/>
          </a:prstGeom>
          <a:noFill/>
          <a:ln/>
        </p:spPr>
        <p:txBody>
          <a:bodyPr wrap="square" lIns="0" tIns="0" rIns="0" bIns="0" rtlCol="0" anchor="ctr"/>
          <a:lstStyle/>
          <a:p>
            <a:pPr algn="ctr" indent="0" marL="0">
              <a:buNone/>
            </a:pPr>
            <a:r>
              <a:rPr lang="en-US" sz="1000" i="1" dirty="0">
                <a:solidFill>
                  <a:srgbClr val="5F6B60"/>
                </a:solidFill>
                <a:latin typeface="Calibri" pitchFamily="34" charset="0"/>
                <a:ea typeface="Calibri" pitchFamily="34" charset="-122"/>
                <a:cs typeface="Calibri" pitchFamily="34" charset="-120"/>
              </a:rPr>
              <a:t>Fig. 1  Overview of the proposed framework</a:t>
            </a:r>
            <a:endParaRPr lang="en-US" sz="1000" dirty="0"/>
          </a:p>
        </p:txBody>
      </p:sp>
      <p:sp>
        <p:nvSpPr>
          <p:cNvPr id="9" name="Shape 6"/>
          <p:cNvSpPr/>
          <p:nvPr/>
        </p:nvSpPr>
        <p:spPr>
          <a:xfrm>
            <a:off x="6126480" y="1371600"/>
            <a:ext cx="5425135" cy="1417320"/>
          </a:xfrm>
          <a:prstGeom prst="roundRect">
            <a:avLst>
              <a:gd name="adj" fmla="val 3871"/>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10" name="Text 7"/>
          <p:cNvSpPr txBox="1"/>
          <p:nvPr/>
        </p:nvSpPr>
        <p:spPr>
          <a:xfrm>
            <a:off x="6437376" y="1572768"/>
            <a:ext cx="4803343" cy="310896"/>
          </a:xfrm>
          <a:prstGeom prst="rect">
            <a:avLst/>
          </a:prstGeom>
          <a:noFill/>
          <a:ln/>
        </p:spPr>
        <p:txBody>
          <a:bodyPr wrap="square" lIns="0" tIns="0" rIns="0" bIns="0" rtlCol="0" anchor="ctr"/>
          <a:lstStyle/>
          <a:p>
            <a:pPr indent="0" marL="0">
              <a:buNone/>
            </a:pPr>
            <a:r>
              <a:rPr lang="en-US" sz="1500" b="1" dirty="0">
                <a:solidFill>
                  <a:srgbClr val="2C5F2D"/>
                </a:solidFill>
                <a:latin typeface="Cambria" pitchFamily="34" charset="0"/>
                <a:ea typeface="Cambria" pitchFamily="34" charset="-122"/>
                <a:cs typeface="Cambria" pitchFamily="34" charset="-120"/>
              </a:rPr>
              <a:t>Backend · Python</a:t>
            </a:r>
            <a:endParaRPr lang="en-US" sz="1500" dirty="0"/>
          </a:p>
        </p:txBody>
      </p:sp>
      <p:sp>
        <p:nvSpPr>
          <p:cNvPr id="11" name="Text 8"/>
          <p:cNvSpPr txBox="1"/>
          <p:nvPr/>
        </p:nvSpPr>
        <p:spPr>
          <a:xfrm>
            <a:off x="6437376" y="1975104"/>
            <a:ext cx="4803343" cy="658368"/>
          </a:xfrm>
          <a:prstGeom prst="rect">
            <a:avLst/>
          </a:prstGeom>
          <a:noFill/>
          <a:ln/>
        </p:spPr>
        <p:txBody>
          <a:bodyPr wrap="square" lIns="0" tIns="0" rIns="0" bIns="0" rtlCol="0" anchor="t"/>
          <a:lstStyle/>
          <a:p>
            <a:pPr indent="0" marL="0">
              <a:lnSpc>
                <a:spcPts val="1600"/>
              </a:lnSpc>
              <a:buNone/>
            </a:pPr>
            <a:r>
              <a:rPr lang="en-US" sz="1200" dirty="0">
                <a:solidFill>
                  <a:srgbClr val="1F2A22"/>
                </a:solidFill>
                <a:latin typeface="Calibri" pitchFamily="34" charset="0"/>
                <a:ea typeface="Calibri" pitchFamily="34" charset="-122"/>
                <a:cs typeface="Calibri" pitchFamily="34" charset="-120"/>
              </a:rPr>
              <a:t>Planning, dialogue, reflection, memory —</a:t>
            </a:r>
            <a:endParaRPr lang="en-US" sz="1200" dirty="0"/>
          </a:p>
          <a:p>
            <a:pPr indent="0" marL="0">
              <a:lnSpc>
                <a:spcPts val="1600"/>
              </a:lnSpc>
              <a:buNone/>
            </a:pPr>
            <a:r>
              <a:rPr lang="en-US" sz="1200" dirty="0">
                <a:solidFill>
                  <a:srgbClr val="1F2A22"/>
                </a:solidFill>
                <a:latin typeface="Calibri" pitchFamily="34" charset="0"/>
                <a:ea typeface="Calibri" pitchFamily="34" charset="-122"/>
                <a:cs typeface="Calibri" pitchFamily="34" charset="-120"/>
              </a:rPr>
              <a:t>the only part that calls the LLM</a:t>
            </a:r>
            <a:endParaRPr lang="en-US" sz="1200" dirty="0"/>
          </a:p>
        </p:txBody>
      </p:sp>
      <p:sp>
        <p:nvSpPr>
          <p:cNvPr id="12" name="Shape 9"/>
          <p:cNvSpPr/>
          <p:nvPr/>
        </p:nvSpPr>
        <p:spPr>
          <a:xfrm>
            <a:off x="6126480" y="2999232"/>
            <a:ext cx="5425135" cy="1417320"/>
          </a:xfrm>
          <a:prstGeom prst="roundRect">
            <a:avLst>
              <a:gd name="adj" fmla="val 3871"/>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13" name="Text 10"/>
          <p:cNvSpPr txBox="1"/>
          <p:nvPr/>
        </p:nvSpPr>
        <p:spPr>
          <a:xfrm>
            <a:off x="6437376" y="3200400"/>
            <a:ext cx="4803343" cy="310896"/>
          </a:xfrm>
          <a:prstGeom prst="rect">
            <a:avLst/>
          </a:prstGeom>
          <a:noFill/>
          <a:ln/>
        </p:spPr>
        <p:txBody>
          <a:bodyPr wrap="square" lIns="0" tIns="0" rIns="0" bIns="0" rtlCol="0" anchor="ctr"/>
          <a:lstStyle/>
          <a:p>
            <a:pPr indent="0" marL="0">
              <a:buNone/>
            </a:pPr>
            <a:r>
              <a:rPr lang="en-US" sz="1500" b="1" dirty="0">
                <a:solidFill>
                  <a:srgbClr val="1B2E23"/>
                </a:solidFill>
                <a:latin typeface="Cambria" pitchFamily="34" charset="0"/>
                <a:ea typeface="Cambria" pitchFamily="34" charset="-122"/>
                <a:cs typeface="Cambria" pitchFamily="34" charset="-120"/>
              </a:rPr>
              <a:t>Frontend · Phaser</a:t>
            </a:r>
            <a:endParaRPr lang="en-US" sz="1500" dirty="0"/>
          </a:p>
        </p:txBody>
      </p:sp>
      <p:sp>
        <p:nvSpPr>
          <p:cNvPr id="14" name="Text 11"/>
          <p:cNvSpPr txBox="1"/>
          <p:nvPr/>
        </p:nvSpPr>
        <p:spPr>
          <a:xfrm>
            <a:off x="6437376" y="3602736"/>
            <a:ext cx="4803343" cy="658368"/>
          </a:xfrm>
          <a:prstGeom prst="rect">
            <a:avLst/>
          </a:prstGeom>
          <a:noFill/>
          <a:ln/>
        </p:spPr>
        <p:txBody>
          <a:bodyPr wrap="square" lIns="0" tIns="0" rIns="0" bIns="0" rtlCol="0" anchor="t"/>
          <a:lstStyle/>
          <a:p>
            <a:pPr indent="0" marL="0">
              <a:lnSpc>
                <a:spcPts val="1600"/>
              </a:lnSpc>
              <a:buNone/>
            </a:pPr>
            <a:r>
              <a:rPr lang="en-US" sz="1200" dirty="0">
                <a:solidFill>
                  <a:srgbClr val="1F2A22"/>
                </a:solidFill>
                <a:latin typeface="Calibri" pitchFamily="34" charset="0"/>
                <a:ea typeface="Calibri" pitchFamily="34" charset="-122"/>
                <a:cs typeface="Calibri" pitchFamily="34" charset="-120"/>
              </a:rPr>
              <a:t>Town, movement and conversations,</a:t>
            </a:r>
            <a:endParaRPr lang="en-US" sz="1200" dirty="0"/>
          </a:p>
          <a:p>
            <a:pPr indent="0" marL="0">
              <a:lnSpc>
                <a:spcPts val="1600"/>
              </a:lnSpc>
              <a:buNone/>
            </a:pPr>
            <a:r>
              <a:rPr lang="en-US" sz="1200" dirty="0">
                <a:solidFill>
                  <a:srgbClr val="1F2A22"/>
                </a:solidFill>
                <a:latin typeface="Calibri" pitchFamily="34" charset="0"/>
                <a:ea typeface="Calibri" pitchFamily="34" charset="-122"/>
                <a:cs typeface="Calibri" pitchFamily="34" charset="-120"/>
              </a:rPr>
              <a:t>served over a REST API</a:t>
            </a:r>
            <a:endParaRPr lang="en-US" sz="1200" dirty="0"/>
          </a:p>
        </p:txBody>
      </p:sp>
      <p:sp>
        <p:nvSpPr>
          <p:cNvPr id="15" name="Shape 12"/>
          <p:cNvSpPr/>
          <p:nvPr/>
        </p:nvSpPr>
        <p:spPr>
          <a:xfrm>
            <a:off x="6126480" y="4626864"/>
            <a:ext cx="5425135" cy="1417320"/>
          </a:xfrm>
          <a:prstGeom prst="roundRect">
            <a:avLst>
              <a:gd name="adj" fmla="val 3871"/>
            </a:avLst>
          </a:prstGeom>
          <a:solidFill>
            <a:srgbClr val="EAF2E4"/>
          </a:solidFill>
          <a:ln w="12700">
            <a:solidFill>
              <a:srgbClr val="EAF2E4"/>
            </a:solidFill>
            <a:prstDash val="solid"/>
          </a:ln>
        </p:spPr>
      </p:sp>
      <p:sp>
        <p:nvSpPr>
          <p:cNvPr id="16" name="Text 13"/>
          <p:cNvSpPr txBox="1"/>
          <p:nvPr/>
        </p:nvSpPr>
        <p:spPr>
          <a:xfrm>
            <a:off x="6437376" y="4828032"/>
            <a:ext cx="4803343" cy="310896"/>
          </a:xfrm>
          <a:prstGeom prst="rect">
            <a:avLst/>
          </a:prstGeom>
          <a:noFill/>
          <a:ln/>
        </p:spPr>
        <p:txBody>
          <a:bodyPr wrap="square" lIns="0" tIns="0" rIns="0" bIns="0" rtlCol="0" anchor="ctr"/>
          <a:lstStyle/>
          <a:p>
            <a:pPr indent="0" marL="0">
              <a:buNone/>
            </a:pPr>
            <a:r>
              <a:rPr lang="en-US" sz="1500" b="1" dirty="0">
                <a:solidFill>
                  <a:srgbClr val="1B2E23"/>
                </a:solidFill>
                <a:latin typeface="Cambria" pitchFamily="34" charset="0"/>
                <a:ea typeface="Cambria" pitchFamily="34" charset="-122"/>
                <a:cs typeface="Cambria" pitchFamily="34" charset="-120"/>
              </a:rPr>
              <a:t>Five modules</a:t>
            </a:r>
            <a:endParaRPr lang="en-US" sz="1500" dirty="0"/>
          </a:p>
        </p:txBody>
      </p:sp>
      <p:sp>
        <p:nvSpPr>
          <p:cNvPr id="17" name="Text 14"/>
          <p:cNvSpPr txBox="1"/>
          <p:nvPr/>
        </p:nvSpPr>
        <p:spPr>
          <a:xfrm>
            <a:off x="6437376" y="5230368"/>
            <a:ext cx="4803343" cy="658368"/>
          </a:xfrm>
          <a:prstGeom prst="rect">
            <a:avLst/>
          </a:prstGeom>
          <a:noFill/>
          <a:ln/>
        </p:spPr>
        <p:txBody>
          <a:bodyPr wrap="square" lIns="0" tIns="0" rIns="0" bIns="0" rtlCol="0" anchor="t"/>
          <a:lstStyle/>
          <a:p>
            <a:pPr indent="0" marL="0">
              <a:lnSpc>
                <a:spcPts val="1600"/>
              </a:lnSpc>
              <a:buNone/>
            </a:pPr>
            <a:r>
              <a:rPr lang="en-US" sz="1200" dirty="0">
                <a:solidFill>
                  <a:srgbClr val="1F2A22"/>
                </a:solidFill>
                <a:latin typeface="Calibri" pitchFamily="34" charset="0"/>
                <a:ea typeface="Calibri" pitchFamily="34" charset="-122"/>
                <a:cs typeface="Calibri" pitchFamily="34" charset="-120"/>
              </a:rPr>
              <a:t>Agent Manager · Scheduler · Interaction</a:t>
            </a:r>
            <a:endParaRPr lang="en-US" sz="1200" dirty="0"/>
          </a:p>
          <a:p>
            <a:pPr indent="0" marL="0">
              <a:lnSpc>
                <a:spcPts val="1600"/>
              </a:lnSpc>
              <a:buNone/>
            </a:pPr>
            <a:r>
              <a:rPr lang="en-US" sz="1200" dirty="0">
                <a:solidFill>
                  <a:srgbClr val="1F2A22"/>
                </a:solidFill>
                <a:latin typeface="Calibri" pitchFamily="34" charset="0"/>
                <a:ea typeface="Calibri" pitchFamily="34" charset="-122"/>
                <a:cs typeface="Calibri" pitchFamily="34" charset="-120"/>
              </a:rPr>
              <a:t>Engine · LLM Interface · Memory Manager</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8F4"/>
        </a:solidFill>
      </p:bgPr>
    </p:bg>
    <p:spTree>
      <p:nvGrpSpPr>
        <p:cNvPr id="1" name=""/>
        <p:cNvGrpSpPr/>
        <p:nvPr/>
      </p:nvGrpSpPr>
      <p:grpSpPr>
        <a:xfrm>
          <a:off x="0" y="0"/>
          <a:ext cx="0" cy="0"/>
          <a:chOff x="0" y="0"/>
          <a:chExt cx="0" cy="0"/>
        </a:xfrm>
      </p:grpSpPr>
      <p:sp>
        <p:nvSpPr>
          <p:cNvPr id="2" name="Text 0"/>
          <p:cNvSpPr txBox="1"/>
          <p:nvPr/>
        </p:nvSpPr>
        <p:spPr>
          <a:xfrm>
            <a:off x="640080" y="329184"/>
            <a:ext cx="10911535" cy="237744"/>
          </a:xfrm>
          <a:prstGeom prst="rect">
            <a:avLst/>
          </a:prstGeom>
          <a:noFill/>
          <a:ln/>
        </p:spPr>
        <p:txBody>
          <a:bodyPr wrap="square" lIns="0" tIns="0" rIns="0" bIns="0" rtlCol="0" anchor="ctr"/>
          <a:lstStyle/>
          <a:p>
            <a:pPr indent="0" marL="0">
              <a:buNone/>
            </a:pPr>
            <a:r>
              <a:rPr lang="en-US" sz="1100" b="1" spc="160" kern="0" dirty="0">
                <a:solidFill>
                  <a:srgbClr val="2C5F2D"/>
                </a:solidFill>
                <a:latin typeface="Calibri" pitchFamily="34" charset="0"/>
                <a:ea typeface="Calibri" pitchFamily="34" charset="-122"/>
                <a:cs typeface="Calibri" pitchFamily="34" charset="-120"/>
              </a:rPr>
              <a:t>BACKUP · EXECUTION</a:t>
            </a:r>
            <a:endParaRPr lang="en-US" sz="1100" dirty="0"/>
          </a:p>
        </p:txBody>
      </p:sp>
      <p:sp>
        <p:nvSpPr>
          <p:cNvPr id="3" name="Text 1"/>
          <p:cNvSpPr txBox="1"/>
          <p:nvPr/>
        </p:nvSpPr>
        <p:spPr>
          <a:xfrm>
            <a:off x="640080" y="585216"/>
            <a:ext cx="10911535" cy="731520"/>
          </a:xfrm>
          <a:prstGeom prst="rect">
            <a:avLst/>
          </a:prstGeom>
          <a:noFill/>
          <a:ln/>
        </p:spPr>
        <p:txBody>
          <a:bodyPr wrap="square" lIns="0" tIns="0" rIns="0" bIns="0" rtlCol="0" anchor="t"/>
          <a:lstStyle/>
          <a:p>
            <a:pPr indent="0" marL="0">
              <a:buNone/>
            </a:pPr>
            <a:r>
              <a:rPr lang="en-US" sz="3000" b="1" dirty="0">
                <a:solidFill>
                  <a:srgbClr val="1B2E23"/>
                </a:solidFill>
                <a:latin typeface="Cambria" pitchFamily="34" charset="0"/>
                <a:ea typeface="Cambria" pitchFamily="34" charset="-122"/>
                <a:cs typeface="Cambria" pitchFamily="34" charset="-120"/>
              </a:rPr>
              <a:t>One simulation day, end to end</a:t>
            </a:r>
            <a:endParaRPr lang="en-US" sz="3000" dirty="0"/>
          </a:p>
        </p:txBody>
      </p:sp>
      <p:sp>
        <p:nvSpPr>
          <p:cNvPr id="4" name="Text 2"/>
          <p:cNvSpPr txBox="1"/>
          <p:nvPr/>
        </p:nvSpPr>
        <p:spPr>
          <a:xfrm>
            <a:off x="640080" y="6419088"/>
            <a:ext cx="5486400" cy="256032"/>
          </a:xfrm>
          <a:prstGeom prst="rect">
            <a:avLst/>
          </a:prstGeom>
          <a:noFill/>
          <a:ln/>
        </p:spPr>
        <p:txBody>
          <a:bodyPr wrap="square" lIns="0" tIns="0" rIns="0" bIns="0" rtlCol="0" anchor="ctr"/>
          <a:lstStyle/>
          <a:p>
            <a:pPr indent="0" marL="0">
              <a:buNone/>
            </a:pPr>
            <a:r>
              <a:rPr lang="en-US" sz="900" dirty="0">
                <a:solidFill>
                  <a:srgbClr val="5F6B60"/>
                </a:solidFill>
                <a:latin typeface="Calibri" pitchFamily="34" charset="0"/>
                <a:ea typeface="Calibri" pitchFamily="34" charset="-122"/>
                <a:cs typeface="Calibri" pitchFamily="34" charset="-120"/>
              </a:rPr>
              <a:t>ICAC 2026  ·  Paper 108  ·  Valentown</a:t>
            </a:r>
            <a:endParaRPr lang="en-US" sz="900" dirty="0"/>
          </a:p>
        </p:txBody>
      </p:sp>
      <p:sp>
        <p:nvSpPr>
          <p:cNvPr id="5" name="Text 3"/>
          <p:cNvSpPr txBox="1"/>
          <p:nvPr/>
        </p:nvSpPr>
        <p:spPr>
          <a:xfrm>
            <a:off x="10454335" y="6419088"/>
            <a:ext cx="1097280" cy="256032"/>
          </a:xfrm>
          <a:prstGeom prst="rect">
            <a:avLst/>
          </a:prstGeom>
          <a:noFill/>
          <a:ln/>
        </p:spPr>
        <p:txBody>
          <a:bodyPr wrap="square" lIns="0" tIns="0" rIns="0" bIns="0" rtlCol="0" anchor="ctr"/>
          <a:lstStyle/>
          <a:p>
            <a:pPr algn="r" indent="0" marL="0">
              <a:buNone/>
            </a:pPr>
            <a:r>
              <a:rPr lang="en-US" sz="900" dirty="0">
                <a:solidFill>
                  <a:srgbClr val="5F6B60"/>
                </a:solidFill>
                <a:latin typeface="Calibri" pitchFamily="34" charset="0"/>
                <a:ea typeface="Calibri" pitchFamily="34" charset="-122"/>
                <a:cs typeface="Calibri" pitchFamily="34" charset="-120"/>
              </a:rPr>
              <a:t>B2</a:t>
            </a:r>
            <a:endParaRPr lang="en-US" sz="900" dirty="0"/>
          </a:p>
        </p:txBody>
      </p:sp>
      <p:sp>
        <p:nvSpPr>
          <p:cNvPr id="6" name="Shape 4"/>
          <p:cNvSpPr/>
          <p:nvPr/>
        </p:nvSpPr>
        <p:spPr>
          <a:xfrm>
            <a:off x="1619860" y="1207008"/>
            <a:ext cx="8951976" cy="4370792"/>
          </a:xfrm>
          <a:prstGeom prst="roundRect">
            <a:avLst>
              <a:gd name="adj" fmla="val 1255"/>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pic>
        <p:nvPicPr>
          <p:cNvPr id="7" name="Image 0" descr="/tmp/claude-0/-home-user-valentown/d6e1bc7b-94ca-5433-b61a-57600741710e/scratchpad/assets/fig2_pipeline.png">    </p:cNvPr>
          <p:cNvPicPr>
            <a:picLocks noChangeAspect="1"/>
          </p:cNvPicPr>
          <p:nvPr/>
        </p:nvPicPr>
        <p:blipFill>
          <a:blip r:embed="rId1"/>
          <a:stretch>
            <a:fillRect/>
          </a:stretch>
        </p:blipFill>
        <p:spPr>
          <a:xfrm>
            <a:off x="1757020" y="1298448"/>
            <a:ext cx="8677656" cy="4187912"/>
          </a:xfrm>
          <a:prstGeom prst="rect">
            <a:avLst/>
          </a:prstGeom>
        </p:spPr>
      </p:pic>
      <p:sp>
        <p:nvSpPr>
          <p:cNvPr id="8" name="Shape 5"/>
          <p:cNvSpPr/>
          <p:nvPr/>
        </p:nvSpPr>
        <p:spPr>
          <a:xfrm>
            <a:off x="640080" y="5760720"/>
            <a:ext cx="10911535" cy="512064"/>
          </a:xfrm>
          <a:prstGeom prst="roundRect">
            <a:avLst>
              <a:gd name="adj" fmla="val 10714"/>
            </a:avLst>
          </a:prstGeom>
          <a:solidFill>
            <a:srgbClr val="FBF1DC"/>
          </a:solidFill>
          <a:ln w="12700">
            <a:solidFill>
              <a:srgbClr val="EFDFBE"/>
            </a:solidFill>
            <a:prstDash val="solid"/>
          </a:ln>
        </p:spPr>
      </p:sp>
      <p:sp>
        <p:nvSpPr>
          <p:cNvPr id="9" name="Text 6"/>
          <p:cNvSpPr txBox="1"/>
          <p:nvPr/>
        </p:nvSpPr>
        <p:spPr>
          <a:xfrm>
            <a:off x="640080" y="5760720"/>
            <a:ext cx="10911535" cy="512064"/>
          </a:xfrm>
          <a:prstGeom prst="rect">
            <a:avLst/>
          </a:prstGeom>
          <a:noFill/>
          <a:ln/>
        </p:spPr>
        <p:txBody>
          <a:bodyPr wrap="square" lIns="0" tIns="0" rIns="0" bIns="0" rtlCol="0" anchor="ctr"/>
          <a:lstStyle/>
          <a:p>
            <a:pPr algn="ctr" indent="0" marL="0">
              <a:buNone/>
            </a:pPr>
            <a:r>
              <a:rPr lang="en-US" sz="1250" dirty="0">
                <a:solidFill>
                  <a:srgbClr val="1B2E23"/>
                </a:solidFill>
                <a:latin typeface="Calibri" pitchFamily="34" charset="0"/>
                <a:ea typeface="Calibri" pitchFamily="34" charset="-122"/>
                <a:cs typeface="Calibri" pitchFamily="34" charset="-120"/>
              </a:rPr>
              <a:t>Fig. 2  ·  Day 1 plans from the profile — every later day reflects first, then plans</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8F4"/>
        </a:solidFill>
      </p:bgPr>
    </p:bg>
    <p:spTree>
      <p:nvGrpSpPr>
        <p:cNvPr id="1" name=""/>
        <p:cNvGrpSpPr/>
        <p:nvPr/>
      </p:nvGrpSpPr>
      <p:grpSpPr>
        <a:xfrm>
          <a:off x="0" y="0"/>
          <a:ext cx="0" cy="0"/>
          <a:chOff x="0" y="0"/>
          <a:chExt cx="0" cy="0"/>
        </a:xfrm>
      </p:grpSpPr>
      <p:sp>
        <p:nvSpPr>
          <p:cNvPr id="2" name="Text 0"/>
          <p:cNvSpPr txBox="1"/>
          <p:nvPr/>
        </p:nvSpPr>
        <p:spPr>
          <a:xfrm>
            <a:off x="640080" y="329184"/>
            <a:ext cx="10911535" cy="237744"/>
          </a:xfrm>
          <a:prstGeom prst="rect">
            <a:avLst/>
          </a:prstGeom>
          <a:noFill/>
          <a:ln/>
        </p:spPr>
        <p:txBody>
          <a:bodyPr wrap="square" lIns="0" tIns="0" rIns="0" bIns="0" rtlCol="0" anchor="ctr"/>
          <a:lstStyle/>
          <a:p>
            <a:pPr indent="0" marL="0">
              <a:buNone/>
            </a:pPr>
            <a:r>
              <a:rPr lang="en-US" sz="1100" b="1" spc="160" kern="0" dirty="0">
                <a:solidFill>
                  <a:srgbClr val="2C5F2D"/>
                </a:solidFill>
                <a:latin typeface="Calibri" pitchFamily="34" charset="0"/>
                <a:ea typeface="Calibri" pitchFamily="34" charset="-122"/>
                <a:cs typeface="Calibri" pitchFamily="34" charset="-120"/>
              </a:rPr>
              <a:t>BACKUP · IMPLEMENTATION</a:t>
            </a:r>
            <a:endParaRPr lang="en-US" sz="1100" dirty="0"/>
          </a:p>
        </p:txBody>
      </p:sp>
      <p:sp>
        <p:nvSpPr>
          <p:cNvPr id="3" name="Text 1"/>
          <p:cNvSpPr txBox="1"/>
          <p:nvPr/>
        </p:nvSpPr>
        <p:spPr>
          <a:xfrm>
            <a:off x="640080" y="585216"/>
            <a:ext cx="10911535" cy="731520"/>
          </a:xfrm>
          <a:prstGeom prst="rect">
            <a:avLst/>
          </a:prstGeom>
          <a:noFill/>
          <a:ln/>
        </p:spPr>
        <p:txBody>
          <a:bodyPr wrap="square" lIns="0" tIns="0" rIns="0" bIns="0" rtlCol="0" anchor="t"/>
          <a:lstStyle/>
          <a:p>
            <a:pPr indent="0" marL="0">
              <a:buNone/>
            </a:pPr>
            <a:r>
              <a:rPr lang="en-US" sz="3000" b="1" dirty="0">
                <a:solidFill>
                  <a:srgbClr val="1B2E23"/>
                </a:solidFill>
                <a:latin typeface="Cambria" pitchFamily="34" charset="0"/>
                <a:ea typeface="Cambria" pitchFamily="34" charset="-122"/>
                <a:cs typeface="Cambria" pitchFamily="34" charset="-120"/>
              </a:rPr>
              <a:t>Valentown: the framework, running</a:t>
            </a:r>
            <a:endParaRPr lang="en-US" sz="3000" dirty="0"/>
          </a:p>
        </p:txBody>
      </p:sp>
      <p:sp>
        <p:nvSpPr>
          <p:cNvPr id="4" name="Text 2"/>
          <p:cNvSpPr txBox="1"/>
          <p:nvPr/>
        </p:nvSpPr>
        <p:spPr>
          <a:xfrm>
            <a:off x="640080" y="6419088"/>
            <a:ext cx="5486400" cy="256032"/>
          </a:xfrm>
          <a:prstGeom prst="rect">
            <a:avLst/>
          </a:prstGeom>
          <a:noFill/>
          <a:ln/>
        </p:spPr>
        <p:txBody>
          <a:bodyPr wrap="square" lIns="0" tIns="0" rIns="0" bIns="0" rtlCol="0" anchor="ctr"/>
          <a:lstStyle/>
          <a:p>
            <a:pPr indent="0" marL="0">
              <a:buNone/>
            </a:pPr>
            <a:r>
              <a:rPr lang="en-US" sz="900" dirty="0">
                <a:solidFill>
                  <a:srgbClr val="5F6B60"/>
                </a:solidFill>
                <a:latin typeface="Calibri" pitchFamily="34" charset="0"/>
                <a:ea typeface="Calibri" pitchFamily="34" charset="-122"/>
                <a:cs typeface="Calibri" pitchFamily="34" charset="-120"/>
              </a:rPr>
              <a:t>ICAC 2026  ·  Paper 108  ·  Valentown</a:t>
            </a:r>
            <a:endParaRPr lang="en-US" sz="900" dirty="0"/>
          </a:p>
        </p:txBody>
      </p:sp>
      <p:sp>
        <p:nvSpPr>
          <p:cNvPr id="5" name="Text 3"/>
          <p:cNvSpPr txBox="1"/>
          <p:nvPr/>
        </p:nvSpPr>
        <p:spPr>
          <a:xfrm>
            <a:off x="10454335" y="6419088"/>
            <a:ext cx="1097280" cy="256032"/>
          </a:xfrm>
          <a:prstGeom prst="rect">
            <a:avLst/>
          </a:prstGeom>
          <a:noFill/>
          <a:ln/>
        </p:spPr>
        <p:txBody>
          <a:bodyPr wrap="square" lIns="0" tIns="0" rIns="0" bIns="0" rtlCol="0" anchor="ctr"/>
          <a:lstStyle/>
          <a:p>
            <a:pPr algn="r" indent="0" marL="0">
              <a:buNone/>
            </a:pPr>
            <a:r>
              <a:rPr lang="en-US" sz="900" dirty="0">
                <a:solidFill>
                  <a:srgbClr val="5F6B60"/>
                </a:solidFill>
                <a:latin typeface="Calibri" pitchFamily="34" charset="0"/>
                <a:ea typeface="Calibri" pitchFamily="34" charset="-122"/>
                <a:cs typeface="Calibri" pitchFamily="34" charset="-120"/>
              </a:rPr>
              <a:t>B3</a:t>
            </a:r>
            <a:endParaRPr lang="en-US" sz="900" dirty="0"/>
          </a:p>
        </p:txBody>
      </p:sp>
      <p:sp>
        <p:nvSpPr>
          <p:cNvPr id="6" name="Shape 4"/>
          <p:cNvSpPr/>
          <p:nvPr/>
        </p:nvSpPr>
        <p:spPr>
          <a:xfrm>
            <a:off x="640080" y="1371600"/>
            <a:ext cx="7863840" cy="4569714"/>
          </a:xfrm>
          <a:prstGeom prst="roundRect">
            <a:avLst>
              <a:gd name="adj" fmla="val 1201"/>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pic>
        <p:nvPicPr>
          <p:cNvPr id="7" name="Image 0" descr="/tmp/claude-0/-home-user-valentown/d6e1bc7b-94ca-5433-b61a-57600741710e/scratchpad/assets/screenshot.jpg">    </p:cNvPr>
          <p:cNvPicPr>
            <a:picLocks noChangeAspect="1"/>
          </p:cNvPicPr>
          <p:nvPr/>
        </p:nvPicPr>
        <p:blipFill>
          <a:blip r:embed="rId1"/>
          <a:stretch>
            <a:fillRect/>
          </a:stretch>
        </p:blipFill>
        <p:spPr>
          <a:xfrm>
            <a:off x="713232" y="1444752"/>
            <a:ext cx="7717536" cy="4341114"/>
          </a:xfrm>
          <a:prstGeom prst="rect">
            <a:avLst/>
          </a:prstGeom>
        </p:spPr>
      </p:pic>
      <p:sp>
        <p:nvSpPr>
          <p:cNvPr id="8" name="Shape 5"/>
          <p:cNvSpPr/>
          <p:nvPr/>
        </p:nvSpPr>
        <p:spPr>
          <a:xfrm>
            <a:off x="8823960" y="1371600"/>
            <a:ext cx="2727655" cy="1024128"/>
          </a:xfrm>
          <a:prstGeom prst="roundRect">
            <a:avLst>
              <a:gd name="adj" fmla="val 5357"/>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9" name="Text 6"/>
          <p:cNvSpPr txBox="1"/>
          <p:nvPr/>
        </p:nvSpPr>
        <p:spPr>
          <a:xfrm>
            <a:off x="9043416" y="1517904"/>
            <a:ext cx="2288743" cy="292608"/>
          </a:xfrm>
          <a:prstGeom prst="rect">
            <a:avLst/>
          </a:prstGeom>
          <a:noFill/>
          <a:ln/>
        </p:spPr>
        <p:txBody>
          <a:bodyPr wrap="square" lIns="0" tIns="0" rIns="0" bIns="0" rtlCol="0" anchor="ctr"/>
          <a:lstStyle/>
          <a:p>
            <a:pPr indent="0" marL="0">
              <a:buNone/>
            </a:pPr>
            <a:r>
              <a:rPr lang="en-US" sz="1450" b="1" dirty="0">
                <a:solidFill>
                  <a:srgbClr val="1B2E23"/>
                </a:solidFill>
                <a:latin typeface="Cambria" pitchFamily="34" charset="0"/>
                <a:ea typeface="Cambria" pitchFamily="34" charset="-122"/>
                <a:cs typeface="Cambria" pitchFamily="34" charset="-120"/>
              </a:rPr>
              <a:t>Valentown</a:t>
            </a:r>
            <a:endParaRPr lang="en-US" sz="1450" dirty="0"/>
          </a:p>
        </p:txBody>
      </p:sp>
      <p:sp>
        <p:nvSpPr>
          <p:cNvPr id="10" name="Text 7"/>
          <p:cNvSpPr txBox="1"/>
          <p:nvPr/>
        </p:nvSpPr>
        <p:spPr>
          <a:xfrm>
            <a:off x="9043416" y="1865376"/>
            <a:ext cx="2288743" cy="457200"/>
          </a:xfrm>
          <a:prstGeom prst="rect">
            <a:avLst/>
          </a:prstGeom>
          <a:noFill/>
          <a:ln/>
        </p:spPr>
        <p:txBody>
          <a:bodyPr wrap="square" lIns="0" tIns="0" rIns="0" bIns="0" rtlCol="0" anchor="t"/>
          <a:lstStyle/>
          <a:p>
            <a:pPr indent="0" marL="0">
              <a:lnSpc>
                <a:spcPts val="1400"/>
              </a:lnSpc>
              <a:buNone/>
            </a:pPr>
            <a:r>
              <a:rPr lang="en-US" sz="1100" dirty="0">
                <a:solidFill>
                  <a:srgbClr val="1F2A22"/>
                </a:solidFill>
                <a:latin typeface="Calibri" pitchFamily="34" charset="0"/>
                <a:ea typeface="Calibri" pitchFamily="34" charset="-122"/>
                <a:cs typeface="Calibri" pitchFamily="34" charset="-120"/>
              </a:rPr>
              <a:t>homes · shop · pharmacy · café · park</a:t>
            </a:r>
            <a:endParaRPr lang="en-US" sz="1100" dirty="0"/>
          </a:p>
        </p:txBody>
      </p:sp>
      <p:sp>
        <p:nvSpPr>
          <p:cNvPr id="11" name="Shape 8"/>
          <p:cNvSpPr/>
          <p:nvPr/>
        </p:nvSpPr>
        <p:spPr>
          <a:xfrm>
            <a:off x="8823960" y="2560320"/>
            <a:ext cx="2727655" cy="1024128"/>
          </a:xfrm>
          <a:prstGeom prst="roundRect">
            <a:avLst>
              <a:gd name="adj" fmla="val 5357"/>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12" name="Text 9"/>
          <p:cNvSpPr txBox="1"/>
          <p:nvPr/>
        </p:nvSpPr>
        <p:spPr>
          <a:xfrm>
            <a:off x="9043416" y="2706624"/>
            <a:ext cx="2288743" cy="292608"/>
          </a:xfrm>
          <a:prstGeom prst="rect">
            <a:avLst/>
          </a:prstGeom>
          <a:noFill/>
          <a:ln/>
        </p:spPr>
        <p:txBody>
          <a:bodyPr wrap="square" lIns="0" tIns="0" rIns="0" bIns="0" rtlCol="0" anchor="ctr"/>
          <a:lstStyle/>
          <a:p>
            <a:pPr indent="0" marL="0">
              <a:buNone/>
            </a:pPr>
            <a:r>
              <a:rPr lang="en-US" sz="1450" b="1" dirty="0">
                <a:solidFill>
                  <a:srgbClr val="2C5F2D"/>
                </a:solidFill>
                <a:latin typeface="Cambria" pitchFamily="34" charset="0"/>
                <a:ea typeface="Cambria" pitchFamily="34" charset="-122"/>
                <a:cs typeface="Cambria" pitchFamily="34" charset="-120"/>
              </a:rPr>
              <a:t>7 residents</a:t>
            </a:r>
            <a:endParaRPr lang="en-US" sz="1450" dirty="0"/>
          </a:p>
        </p:txBody>
      </p:sp>
      <p:sp>
        <p:nvSpPr>
          <p:cNvPr id="13" name="Text 10"/>
          <p:cNvSpPr txBox="1"/>
          <p:nvPr/>
        </p:nvSpPr>
        <p:spPr>
          <a:xfrm>
            <a:off x="9043416" y="3054096"/>
            <a:ext cx="2288743" cy="457200"/>
          </a:xfrm>
          <a:prstGeom prst="rect">
            <a:avLst/>
          </a:prstGeom>
          <a:noFill/>
          <a:ln/>
        </p:spPr>
        <p:txBody>
          <a:bodyPr wrap="square" lIns="0" tIns="0" rIns="0" bIns="0" rtlCol="0" anchor="t"/>
          <a:lstStyle/>
          <a:p>
            <a:pPr indent="0" marL="0">
              <a:lnSpc>
                <a:spcPts val="1400"/>
              </a:lnSpc>
              <a:buNone/>
            </a:pPr>
            <a:r>
              <a:rPr lang="en-US" sz="1100" dirty="0">
                <a:solidFill>
                  <a:srgbClr val="1F2A22"/>
                </a:solidFill>
                <a:latin typeface="Calibri" pitchFamily="34" charset="0"/>
                <a:ea typeface="Calibri" pitchFamily="34" charset="-122"/>
                <a:cs typeface="Calibri" pitchFamily="34" charset="-120"/>
              </a:rPr>
              <a:t>own age, role, personality, goals</a:t>
            </a:r>
            <a:endParaRPr lang="en-US" sz="1100" dirty="0"/>
          </a:p>
        </p:txBody>
      </p:sp>
      <p:sp>
        <p:nvSpPr>
          <p:cNvPr id="14" name="Shape 11"/>
          <p:cNvSpPr/>
          <p:nvPr/>
        </p:nvSpPr>
        <p:spPr>
          <a:xfrm>
            <a:off x="8823960" y="3749040"/>
            <a:ext cx="2727655" cy="1024128"/>
          </a:xfrm>
          <a:prstGeom prst="roundRect">
            <a:avLst>
              <a:gd name="adj" fmla="val 5357"/>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15" name="Text 12"/>
          <p:cNvSpPr txBox="1"/>
          <p:nvPr/>
        </p:nvSpPr>
        <p:spPr>
          <a:xfrm>
            <a:off x="9043416" y="3895344"/>
            <a:ext cx="2288743" cy="292608"/>
          </a:xfrm>
          <a:prstGeom prst="rect">
            <a:avLst/>
          </a:prstGeom>
          <a:noFill/>
          <a:ln/>
        </p:spPr>
        <p:txBody>
          <a:bodyPr wrap="square" lIns="0" tIns="0" rIns="0" bIns="0" rtlCol="0" anchor="ctr"/>
          <a:lstStyle/>
          <a:p>
            <a:pPr indent="0" marL="0">
              <a:buNone/>
            </a:pPr>
            <a:r>
              <a:rPr lang="en-US" sz="1450" b="1" dirty="0">
                <a:solidFill>
                  <a:srgbClr val="1B2E23"/>
                </a:solidFill>
                <a:latin typeface="Cambria" pitchFamily="34" charset="0"/>
                <a:ea typeface="Cambria" pitchFamily="34" charset="-122"/>
                <a:cs typeface="Cambria" pitchFamily="34" charset="-120"/>
              </a:rPr>
              <a:t>DeepSeek API</a:t>
            </a:r>
            <a:endParaRPr lang="en-US" sz="1450" dirty="0"/>
          </a:p>
        </p:txBody>
      </p:sp>
      <p:sp>
        <p:nvSpPr>
          <p:cNvPr id="16" name="Text 13"/>
          <p:cNvSpPr txBox="1"/>
          <p:nvPr/>
        </p:nvSpPr>
        <p:spPr>
          <a:xfrm>
            <a:off x="9043416" y="4242816"/>
            <a:ext cx="2288743" cy="457200"/>
          </a:xfrm>
          <a:prstGeom prst="rect">
            <a:avLst/>
          </a:prstGeom>
          <a:noFill/>
          <a:ln/>
        </p:spPr>
        <p:txBody>
          <a:bodyPr wrap="square" lIns="0" tIns="0" rIns="0" bIns="0" rtlCol="0" anchor="t"/>
          <a:lstStyle/>
          <a:p>
            <a:pPr indent="0" marL="0">
              <a:lnSpc>
                <a:spcPts val="1400"/>
              </a:lnSpc>
              <a:buNone/>
            </a:pPr>
            <a:r>
              <a:rPr lang="en-US" sz="1100" dirty="0">
                <a:solidFill>
                  <a:srgbClr val="1F2A22"/>
                </a:solidFill>
                <a:latin typeface="Calibri" pitchFamily="34" charset="0"/>
                <a:ea typeface="Calibri" pitchFamily="34" charset="-122"/>
                <a:cs typeface="Calibri" pitchFamily="34" charset="-120"/>
              </a:rPr>
              <a:t>schedules · dialogue · reflection</a:t>
            </a:r>
            <a:endParaRPr lang="en-US" sz="1100" dirty="0"/>
          </a:p>
        </p:txBody>
      </p:sp>
      <p:sp>
        <p:nvSpPr>
          <p:cNvPr id="17" name="Shape 14"/>
          <p:cNvSpPr/>
          <p:nvPr/>
        </p:nvSpPr>
        <p:spPr>
          <a:xfrm>
            <a:off x="8823960" y="4937760"/>
            <a:ext cx="2727655" cy="1024128"/>
          </a:xfrm>
          <a:prstGeom prst="roundRect">
            <a:avLst>
              <a:gd name="adj" fmla="val 5357"/>
            </a:avLst>
          </a:prstGeom>
          <a:solidFill>
            <a:srgbClr val="EAF2E4"/>
          </a:solidFill>
          <a:ln w="12700">
            <a:solidFill>
              <a:srgbClr val="EAF2E4"/>
            </a:solidFill>
            <a:prstDash val="solid"/>
          </a:ln>
        </p:spPr>
      </p:sp>
      <p:sp>
        <p:nvSpPr>
          <p:cNvPr id="18" name="Text 15"/>
          <p:cNvSpPr txBox="1"/>
          <p:nvPr/>
        </p:nvSpPr>
        <p:spPr>
          <a:xfrm>
            <a:off x="9043416" y="5084064"/>
            <a:ext cx="2288743" cy="292608"/>
          </a:xfrm>
          <a:prstGeom prst="rect">
            <a:avLst/>
          </a:prstGeom>
          <a:noFill/>
          <a:ln/>
        </p:spPr>
        <p:txBody>
          <a:bodyPr wrap="square" lIns="0" tIns="0" rIns="0" bIns="0" rtlCol="0" anchor="ctr"/>
          <a:lstStyle/>
          <a:p>
            <a:pPr indent="0" marL="0">
              <a:buNone/>
            </a:pPr>
            <a:r>
              <a:rPr lang="en-US" sz="1450" b="1" dirty="0">
                <a:solidFill>
                  <a:srgbClr val="2C5F2D"/>
                </a:solidFill>
                <a:latin typeface="Cambria" pitchFamily="34" charset="0"/>
                <a:ea typeface="Cambria" pitchFamily="34" charset="-122"/>
                <a:cs typeface="Cambria" pitchFamily="34" charset="-120"/>
              </a:rPr>
              <a:t>Python + Phaser</a:t>
            </a:r>
            <a:endParaRPr lang="en-US" sz="1450" dirty="0"/>
          </a:p>
        </p:txBody>
      </p:sp>
      <p:sp>
        <p:nvSpPr>
          <p:cNvPr id="19" name="Text 16"/>
          <p:cNvSpPr txBox="1"/>
          <p:nvPr/>
        </p:nvSpPr>
        <p:spPr>
          <a:xfrm>
            <a:off x="9043416" y="5431536"/>
            <a:ext cx="2288743" cy="457200"/>
          </a:xfrm>
          <a:prstGeom prst="rect">
            <a:avLst/>
          </a:prstGeom>
          <a:noFill/>
          <a:ln/>
        </p:spPr>
        <p:txBody>
          <a:bodyPr wrap="square" lIns="0" tIns="0" rIns="0" bIns="0" rtlCol="0" anchor="t"/>
          <a:lstStyle/>
          <a:p>
            <a:pPr indent="0" marL="0">
              <a:lnSpc>
                <a:spcPts val="1400"/>
              </a:lnSpc>
              <a:buNone/>
            </a:pPr>
            <a:r>
              <a:rPr lang="en-US" sz="1100" dirty="0">
                <a:solidFill>
                  <a:srgbClr val="1F2A22"/>
                </a:solidFill>
                <a:latin typeface="Calibri" pitchFamily="34" charset="0"/>
                <a:ea typeface="Calibri" pitchFamily="34" charset="-122"/>
                <a:cs typeface="Calibri" pitchFamily="34" charset="-120"/>
              </a:rPr>
              <a:t>pre-computed, replayed over REST</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6F8F4"/>
        </a:solidFill>
      </p:bgPr>
    </p:bg>
    <p:spTree>
      <p:nvGrpSpPr>
        <p:cNvPr id="1" name=""/>
        <p:cNvGrpSpPr/>
        <p:nvPr/>
      </p:nvGrpSpPr>
      <p:grpSpPr>
        <a:xfrm>
          <a:off x="0" y="0"/>
          <a:ext cx="0" cy="0"/>
          <a:chOff x="0" y="0"/>
          <a:chExt cx="0" cy="0"/>
        </a:xfrm>
      </p:grpSpPr>
      <p:sp>
        <p:nvSpPr>
          <p:cNvPr id="2" name="Text 0"/>
          <p:cNvSpPr txBox="1"/>
          <p:nvPr/>
        </p:nvSpPr>
        <p:spPr>
          <a:xfrm>
            <a:off x="640080" y="329184"/>
            <a:ext cx="10911535" cy="237744"/>
          </a:xfrm>
          <a:prstGeom prst="rect">
            <a:avLst/>
          </a:prstGeom>
          <a:noFill/>
          <a:ln/>
        </p:spPr>
        <p:txBody>
          <a:bodyPr wrap="square" lIns="0" tIns="0" rIns="0" bIns="0" rtlCol="0" anchor="ctr"/>
          <a:lstStyle/>
          <a:p>
            <a:pPr indent="0" marL="0">
              <a:buNone/>
            </a:pPr>
            <a:r>
              <a:rPr lang="en-US" sz="1100" b="1" spc="160" kern="0" dirty="0">
                <a:solidFill>
                  <a:srgbClr val="2C5F2D"/>
                </a:solidFill>
                <a:latin typeface="Calibri" pitchFamily="34" charset="0"/>
                <a:ea typeface="Calibri" pitchFamily="34" charset="-122"/>
                <a:cs typeface="Calibri" pitchFamily="34" charset="-120"/>
              </a:rPr>
              <a:t>BACKUP · DISCUSSION</a:t>
            </a:r>
            <a:endParaRPr lang="en-US" sz="1100" dirty="0"/>
          </a:p>
        </p:txBody>
      </p:sp>
      <p:sp>
        <p:nvSpPr>
          <p:cNvPr id="3" name="Text 1"/>
          <p:cNvSpPr txBox="1"/>
          <p:nvPr/>
        </p:nvSpPr>
        <p:spPr>
          <a:xfrm>
            <a:off x="640080" y="585216"/>
            <a:ext cx="10911535" cy="731520"/>
          </a:xfrm>
          <a:prstGeom prst="rect">
            <a:avLst/>
          </a:prstGeom>
          <a:noFill/>
          <a:ln/>
        </p:spPr>
        <p:txBody>
          <a:bodyPr wrap="square" lIns="0" tIns="0" rIns="0" bIns="0" rtlCol="0" anchor="t"/>
          <a:lstStyle/>
          <a:p>
            <a:pPr indent="0" marL="0">
              <a:buNone/>
            </a:pPr>
            <a:r>
              <a:rPr lang="en-US" sz="3000" b="1" dirty="0">
                <a:solidFill>
                  <a:srgbClr val="1B2E23"/>
                </a:solidFill>
                <a:latin typeface="Cambria" pitchFamily="34" charset="0"/>
                <a:ea typeface="Cambria" pitchFamily="34" charset="-122"/>
                <a:cs typeface="Cambria" pitchFamily="34" charset="-120"/>
              </a:rPr>
              <a:t>What this buys us, and what it costs</a:t>
            </a:r>
            <a:endParaRPr lang="en-US" sz="3000" dirty="0"/>
          </a:p>
        </p:txBody>
      </p:sp>
      <p:sp>
        <p:nvSpPr>
          <p:cNvPr id="4" name="Text 2"/>
          <p:cNvSpPr txBox="1"/>
          <p:nvPr/>
        </p:nvSpPr>
        <p:spPr>
          <a:xfrm>
            <a:off x="640080" y="6419088"/>
            <a:ext cx="5486400" cy="256032"/>
          </a:xfrm>
          <a:prstGeom prst="rect">
            <a:avLst/>
          </a:prstGeom>
          <a:noFill/>
          <a:ln/>
        </p:spPr>
        <p:txBody>
          <a:bodyPr wrap="square" lIns="0" tIns="0" rIns="0" bIns="0" rtlCol="0" anchor="ctr"/>
          <a:lstStyle/>
          <a:p>
            <a:pPr indent="0" marL="0">
              <a:buNone/>
            </a:pPr>
            <a:r>
              <a:rPr lang="en-US" sz="900" dirty="0">
                <a:solidFill>
                  <a:srgbClr val="5F6B60"/>
                </a:solidFill>
                <a:latin typeface="Calibri" pitchFamily="34" charset="0"/>
                <a:ea typeface="Calibri" pitchFamily="34" charset="-122"/>
                <a:cs typeface="Calibri" pitchFamily="34" charset="-120"/>
              </a:rPr>
              <a:t>ICAC 2026  ·  Paper 108  ·  Valentown</a:t>
            </a:r>
            <a:endParaRPr lang="en-US" sz="900" dirty="0"/>
          </a:p>
        </p:txBody>
      </p:sp>
      <p:sp>
        <p:nvSpPr>
          <p:cNvPr id="5" name="Text 3"/>
          <p:cNvSpPr txBox="1"/>
          <p:nvPr/>
        </p:nvSpPr>
        <p:spPr>
          <a:xfrm>
            <a:off x="10454335" y="6419088"/>
            <a:ext cx="1097280" cy="256032"/>
          </a:xfrm>
          <a:prstGeom prst="rect">
            <a:avLst/>
          </a:prstGeom>
          <a:noFill/>
          <a:ln/>
        </p:spPr>
        <p:txBody>
          <a:bodyPr wrap="square" lIns="0" tIns="0" rIns="0" bIns="0" rtlCol="0" anchor="ctr"/>
          <a:lstStyle/>
          <a:p>
            <a:pPr algn="r" indent="0" marL="0">
              <a:buNone/>
            </a:pPr>
            <a:r>
              <a:rPr lang="en-US" sz="900" dirty="0">
                <a:solidFill>
                  <a:srgbClr val="5F6B60"/>
                </a:solidFill>
                <a:latin typeface="Calibri" pitchFamily="34" charset="0"/>
                <a:ea typeface="Calibri" pitchFamily="34" charset="-122"/>
                <a:cs typeface="Calibri" pitchFamily="34" charset="-120"/>
              </a:rPr>
              <a:t>B4</a:t>
            </a:r>
            <a:endParaRPr lang="en-US" sz="900" dirty="0"/>
          </a:p>
        </p:txBody>
      </p:sp>
      <p:sp>
        <p:nvSpPr>
          <p:cNvPr id="6" name="Shape 4"/>
          <p:cNvSpPr/>
          <p:nvPr/>
        </p:nvSpPr>
        <p:spPr>
          <a:xfrm>
            <a:off x="640080" y="1371600"/>
            <a:ext cx="5349240" cy="4480560"/>
          </a:xfrm>
          <a:prstGeom prst="roundRect">
            <a:avLst>
              <a:gd name="adj" fmla="val 1224"/>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7" name="Text 5"/>
          <p:cNvSpPr txBox="1"/>
          <p:nvPr/>
        </p:nvSpPr>
        <p:spPr>
          <a:xfrm>
            <a:off x="950976" y="1609344"/>
            <a:ext cx="4727448" cy="292608"/>
          </a:xfrm>
          <a:prstGeom prst="rect">
            <a:avLst/>
          </a:prstGeom>
          <a:noFill/>
          <a:ln/>
        </p:spPr>
        <p:txBody>
          <a:bodyPr wrap="square" lIns="0" tIns="0" rIns="0" bIns="0" rtlCol="0" anchor="ctr"/>
          <a:lstStyle/>
          <a:p>
            <a:pPr indent="0" marL="0">
              <a:buNone/>
            </a:pPr>
            <a:r>
              <a:rPr lang="en-US" sz="1700" b="1" dirty="0">
                <a:solidFill>
                  <a:srgbClr val="2C5F2D"/>
                </a:solidFill>
                <a:latin typeface="Cambria" pitchFamily="34" charset="0"/>
                <a:ea typeface="Cambria" pitchFamily="34" charset="-122"/>
                <a:cs typeface="Cambria" pitchFamily="34" charset="-120"/>
              </a:rPr>
              <a:t>Advantages</a:t>
            </a:r>
            <a:endParaRPr lang="en-US" sz="1700" dirty="0"/>
          </a:p>
        </p:txBody>
      </p:sp>
      <p:sp>
        <p:nvSpPr>
          <p:cNvPr id="8" name="Shape 6"/>
          <p:cNvSpPr/>
          <p:nvPr/>
        </p:nvSpPr>
        <p:spPr>
          <a:xfrm>
            <a:off x="950976" y="2194560"/>
            <a:ext cx="365760" cy="365760"/>
          </a:xfrm>
          <a:prstGeom prst="ellipse">
            <a:avLst/>
          </a:prstGeom>
          <a:solidFill>
            <a:srgbClr val="7FB069"/>
          </a:solidFill>
          <a:ln/>
        </p:spPr>
      </p:sp>
      <p:sp>
        <p:nvSpPr>
          <p:cNvPr id="9" name="Text 7"/>
          <p:cNvSpPr txBox="1"/>
          <p:nvPr/>
        </p:nvSpPr>
        <p:spPr>
          <a:xfrm>
            <a:off x="950976" y="2194560"/>
            <a:ext cx="3657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1</a:t>
            </a:r>
            <a:endParaRPr lang="en-US" sz="1250" dirty="0"/>
          </a:p>
        </p:txBody>
      </p:sp>
      <p:sp>
        <p:nvSpPr>
          <p:cNvPr id="10" name="Text 8"/>
          <p:cNvSpPr txBox="1"/>
          <p:nvPr/>
        </p:nvSpPr>
        <p:spPr>
          <a:xfrm>
            <a:off x="1481328" y="2203704"/>
            <a:ext cx="4197096" cy="274320"/>
          </a:xfrm>
          <a:prstGeom prst="rect">
            <a:avLst/>
          </a:prstGeom>
          <a:noFill/>
          <a:ln/>
        </p:spPr>
        <p:txBody>
          <a:bodyPr wrap="square" lIns="0" tIns="0" rIns="0" bIns="0" rtlCol="0" anchor="ctr"/>
          <a:lstStyle/>
          <a:p>
            <a:pPr indent="0" marL="0">
              <a:buNone/>
            </a:pPr>
            <a:r>
              <a:rPr lang="en-US" sz="1400" b="1" dirty="0">
                <a:solidFill>
                  <a:srgbClr val="1B2E23"/>
                </a:solidFill>
                <a:latin typeface="Cambria" pitchFamily="34" charset="0"/>
                <a:ea typeface="Cambria" pitchFamily="34" charset="-122"/>
                <a:cs typeface="Cambria" pitchFamily="34" charset="-120"/>
              </a:rPr>
              <a:t>Lightweight &amp; reproducible</a:t>
            </a:r>
            <a:endParaRPr lang="en-US" sz="1400" dirty="0"/>
          </a:p>
        </p:txBody>
      </p:sp>
      <p:sp>
        <p:nvSpPr>
          <p:cNvPr id="11" name="Text 9"/>
          <p:cNvSpPr txBox="1"/>
          <p:nvPr/>
        </p:nvSpPr>
        <p:spPr>
          <a:xfrm>
            <a:off x="1481328" y="2523744"/>
            <a:ext cx="4197096" cy="457200"/>
          </a:xfrm>
          <a:prstGeom prst="rect">
            <a:avLst/>
          </a:prstGeom>
          <a:noFill/>
          <a:ln/>
        </p:spPr>
        <p:txBody>
          <a:bodyPr wrap="square" lIns="0" tIns="0" rIns="0" bIns="0" rtlCol="0" anchor="t"/>
          <a:lstStyle/>
          <a:p>
            <a:pPr indent="0" marL="0">
              <a:lnSpc>
                <a:spcPts val="1500"/>
              </a:lnSpc>
              <a:buNone/>
            </a:pPr>
            <a:r>
              <a:rPr lang="en-US" sz="1200" dirty="0">
                <a:solidFill>
                  <a:srgbClr val="5F6B60"/>
                </a:solidFill>
                <a:latin typeface="Calibri" pitchFamily="34" charset="0"/>
                <a:ea typeface="Calibri" pitchFamily="34" charset="-122"/>
                <a:cs typeface="Calibri" pitchFamily="34" charset="-120"/>
              </a:rPr>
              <a:t>explicit pipeline, deterministic triggers</a:t>
            </a:r>
            <a:endParaRPr lang="en-US" sz="1200" dirty="0"/>
          </a:p>
        </p:txBody>
      </p:sp>
      <p:sp>
        <p:nvSpPr>
          <p:cNvPr id="12" name="Shape 10"/>
          <p:cNvSpPr/>
          <p:nvPr/>
        </p:nvSpPr>
        <p:spPr>
          <a:xfrm>
            <a:off x="950976" y="3154680"/>
            <a:ext cx="365760" cy="365760"/>
          </a:xfrm>
          <a:prstGeom prst="ellipse">
            <a:avLst/>
          </a:prstGeom>
          <a:solidFill>
            <a:srgbClr val="7FB069"/>
          </a:solidFill>
          <a:ln/>
        </p:spPr>
      </p:sp>
      <p:sp>
        <p:nvSpPr>
          <p:cNvPr id="13" name="Text 11"/>
          <p:cNvSpPr txBox="1"/>
          <p:nvPr/>
        </p:nvSpPr>
        <p:spPr>
          <a:xfrm>
            <a:off x="950976" y="3154680"/>
            <a:ext cx="3657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2</a:t>
            </a:r>
            <a:endParaRPr lang="en-US" sz="1250" dirty="0"/>
          </a:p>
        </p:txBody>
      </p:sp>
      <p:sp>
        <p:nvSpPr>
          <p:cNvPr id="14" name="Text 12"/>
          <p:cNvSpPr txBox="1"/>
          <p:nvPr/>
        </p:nvSpPr>
        <p:spPr>
          <a:xfrm>
            <a:off x="1481328" y="3163824"/>
            <a:ext cx="4197096" cy="274320"/>
          </a:xfrm>
          <a:prstGeom prst="rect">
            <a:avLst/>
          </a:prstGeom>
          <a:noFill/>
          <a:ln/>
        </p:spPr>
        <p:txBody>
          <a:bodyPr wrap="square" lIns="0" tIns="0" rIns="0" bIns="0" rtlCol="0" anchor="ctr"/>
          <a:lstStyle/>
          <a:p>
            <a:pPr indent="0" marL="0">
              <a:buNone/>
            </a:pPr>
            <a:r>
              <a:rPr lang="en-US" sz="1400" b="1" dirty="0">
                <a:solidFill>
                  <a:srgbClr val="1B2E23"/>
                </a:solidFill>
                <a:latin typeface="Cambria" pitchFamily="34" charset="0"/>
                <a:ea typeface="Cambria" pitchFamily="34" charset="-122"/>
                <a:cs typeface="Cambria" pitchFamily="34" charset="-120"/>
              </a:rPr>
              <a:t>Controllable</a:t>
            </a:r>
            <a:endParaRPr lang="en-US" sz="1400" dirty="0"/>
          </a:p>
        </p:txBody>
      </p:sp>
      <p:sp>
        <p:nvSpPr>
          <p:cNvPr id="15" name="Text 13"/>
          <p:cNvSpPr txBox="1"/>
          <p:nvPr/>
        </p:nvSpPr>
        <p:spPr>
          <a:xfrm>
            <a:off x="1481328" y="3483864"/>
            <a:ext cx="4197096" cy="457200"/>
          </a:xfrm>
          <a:prstGeom prst="rect">
            <a:avLst/>
          </a:prstGeom>
          <a:noFill/>
          <a:ln/>
        </p:spPr>
        <p:txBody>
          <a:bodyPr wrap="square" lIns="0" tIns="0" rIns="0" bIns="0" rtlCol="0" anchor="t"/>
          <a:lstStyle/>
          <a:p>
            <a:pPr indent="0" marL="0">
              <a:lnSpc>
                <a:spcPts val="1500"/>
              </a:lnSpc>
              <a:buNone/>
            </a:pPr>
            <a:r>
              <a:rPr lang="en-US" sz="1200" dirty="0">
                <a:solidFill>
                  <a:srgbClr val="5F6B60"/>
                </a:solidFill>
                <a:latin typeface="Calibri" pitchFamily="34" charset="0"/>
                <a:ea typeface="Calibri" pitchFamily="34" charset="-122"/>
                <a:cs typeface="Calibri" pitchFamily="34" charset="-120"/>
              </a:rPr>
              <a:t>schedules, co-location rules, human feedback</a:t>
            </a:r>
            <a:endParaRPr lang="en-US" sz="1200" dirty="0"/>
          </a:p>
        </p:txBody>
      </p:sp>
      <p:sp>
        <p:nvSpPr>
          <p:cNvPr id="16" name="Shape 14"/>
          <p:cNvSpPr/>
          <p:nvPr/>
        </p:nvSpPr>
        <p:spPr>
          <a:xfrm>
            <a:off x="950976" y="4114800"/>
            <a:ext cx="365760" cy="365760"/>
          </a:xfrm>
          <a:prstGeom prst="ellipse">
            <a:avLst/>
          </a:prstGeom>
          <a:solidFill>
            <a:srgbClr val="7FB069"/>
          </a:solidFill>
          <a:ln/>
        </p:spPr>
      </p:sp>
      <p:sp>
        <p:nvSpPr>
          <p:cNvPr id="17" name="Text 15"/>
          <p:cNvSpPr txBox="1"/>
          <p:nvPr/>
        </p:nvSpPr>
        <p:spPr>
          <a:xfrm>
            <a:off x="950976" y="4114800"/>
            <a:ext cx="3657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3</a:t>
            </a:r>
            <a:endParaRPr lang="en-US" sz="1250" dirty="0"/>
          </a:p>
        </p:txBody>
      </p:sp>
      <p:sp>
        <p:nvSpPr>
          <p:cNvPr id="18" name="Text 16"/>
          <p:cNvSpPr txBox="1"/>
          <p:nvPr/>
        </p:nvSpPr>
        <p:spPr>
          <a:xfrm>
            <a:off x="1481328" y="4123944"/>
            <a:ext cx="4197096" cy="274320"/>
          </a:xfrm>
          <a:prstGeom prst="rect">
            <a:avLst/>
          </a:prstGeom>
          <a:noFill/>
          <a:ln/>
        </p:spPr>
        <p:txBody>
          <a:bodyPr wrap="square" lIns="0" tIns="0" rIns="0" bIns="0" rtlCol="0" anchor="ctr"/>
          <a:lstStyle/>
          <a:p>
            <a:pPr indent="0" marL="0">
              <a:buNone/>
            </a:pPr>
            <a:r>
              <a:rPr lang="en-US" sz="1400" b="1" dirty="0">
                <a:solidFill>
                  <a:srgbClr val="1B2E23"/>
                </a:solidFill>
                <a:latin typeface="Cambria" pitchFamily="34" charset="0"/>
                <a:ea typeface="Cambria" pitchFamily="34" charset="-122"/>
                <a:cs typeface="Cambria" pitchFamily="34" charset="-120"/>
              </a:rPr>
              <a:t>Extendable</a:t>
            </a:r>
            <a:endParaRPr lang="en-US" sz="1400" dirty="0"/>
          </a:p>
        </p:txBody>
      </p:sp>
      <p:sp>
        <p:nvSpPr>
          <p:cNvPr id="19" name="Text 17"/>
          <p:cNvSpPr txBox="1"/>
          <p:nvPr/>
        </p:nvSpPr>
        <p:spPr>
          <a:xfrm>
            <a:off x="1481328" y="4443984"/>
            <a:ext cx="4197096" cy="457200"/>
          </a:xfrm>
          <a:prstGeom prst="rect">
            <a:avLst/>
          </a:prstGeom>
          <a:noFill/>
          <a:ln/>
        </p:spPr>
        <p:txBody>
          <a:bodyPr wrap="square" lIns="0" tIns="0" rIns="0" bIns="0" rtlCol="0" anchor="t"/>
          <a:lstStyle/>
          <a:p>
            <a:pPr indent="0" marL="0">
              <a:lnSpc>
                <a:spcPts val="1500"/>
              </a:lnSpc>
              <a:buNone/>
            </a:pPr>
            <a:r>
              <a:rPr lang="en-US" sz="1200" dirty="0">
                <a:solidFill>
                  <a:srgbClr val="5F6B60"/>
                </a:solidFill>
                <a:latin typeface="Calibri" pitchFamily="34" charset="0"/>
                <a:ea typeface="Calibri" pitchFamily="34" charset="-122"/>
                <a:cs typeface="Calibri" pitchFamily="34" charset="-120"/>
              </a:rPr>
              <a:t>every module swaps independently</a:t>
            </a:r>
            <a:endParaRPr lang="en-US" sz="1200" dirty="0"/>
          </a:p>
        </p:txBody>
      </p:sp>
      <p:sp>
        <p:nvSpPr>
          <p:cNvPr id="20" name="Shape 18"/>
          <p:cNvSpPr/>
          <p:nvPr/>
        </p:nvSpPr>
        <p:spPr>
          <a:xfrm>
            <a:off x="6199632" y="1371600"/>
            <a:ext cx="5349240" cy="4480560"/>
          </a:xfrm>
          <a:prstGeom prst="roundRect">
            <a:avLst>
              <a:gd name="adj" fmla="val 1224"/>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21" name="Text 19"/>
          <p:cNvSpPr txBox="1"/>
          <p:nvPr/>
        </p:nvSpPr>
        <p:spPr>
          <a:xfrm>
            <a:off x="6510528" y="1609344"/>
            <a:ext cx="4727448" cy="292608"/>
          </a:xfrm>
          <a:prstGeom prst="rect">
            <a:avLst/>
          </a:prstGeom>
          <a:noFill/>
          <a:ln/>
        </p:spPr>
        <p:txBody>
          <a:bodyPr wrap="square" lIns="0" tIns="0" rIns="0" bIns="0" rtlCol="0" anchor="ctr"/>
          <a:lstStyle/>
          <a:p>
            <a:pPr indent="0" marL="0">
              <a:buNone/>
            </a:pPr>
            <a:r>
              <a:rPr lang="en-US" sz="1700" b="1" dirty="0">
                <a:solidFill>
                  <a:srgbClr val="C98A24"/>
                </a:solidFill>
                <a:latin typeface="Cambria" pitchFamily="34" charset="0"/>
                <a:ea typeface="Cambria" pitchFamily="34" charset="-122"/>
                <a:cs typeface="Cambria" pitchFamily="34" charset="-120"/>
              </a:rPr>
              <a:t>Limitations</a:t>
            </a:r>
            <a:endParaRPr lang="en-US" sz="1700" dirty="0"/>
          </a:p>
        </p:txBody>
      </p:sp>
      <p:sp>
        <p:nvSpPr>
          <p:cNvPr id="22" name="Shape 20"/>
          <p:cNvSpPr/>
          <p:nvPr/>
        </p:nvSpPr>
        <p:spPr>
          <a:xfrm>
            <a:off x="6510528" y="2194560"/>
            <a:ext cx="365760" cy="365760"/>
          </a:xfrm>
          <a:prstGeom prst="ellipse">
            <a:avLst/>
          </a:prstGeom>
          <a:solidFill>
            <a:srgbClr val="C98A24"/>
          </a:solidFill>
          <a:ln/>
        </p:spPr>
      </p:sp>
      <p:sp>
        <p:nvSpPr>
          <p:cNvPr id="23" name="Text 21"/>
          <p:cNvSpPr txBox="1"/>
          <p:nvPr/>
        </p:nvSpPr>
        <p:spPr>
          <a:xfrm>
            <a:off x="6510528" y="2194560"/>
            <a:ext cx="3657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1</a:t>
            </a:r>
            <a:endParaRPr lang="en-US" sz="1250" dirty="0"/>
          </a:p>
        </p:txBody>
      </p:sp>
      <p:sp>
        <p:nvSpPr>
          <p:cNvPr id="24" name="Text 22"/>
          <p:cNvSpPr txBox="1"/>
          <p:nvPr/>
        </p:nvSpPr>
        <p:spPr>
          <a:xfrm>
            <a:off x="7040880" y="2203704"/>
            <a:ext cx="4197096" cy="274320"/>
          </a:xfrm>
          <a:prstGeom prst="rect">
            <a:avLst/>
          </a:prstGeom>
          <a:noFill/>
          <a:ln/>
        </p:spPr>
        <p:txBody>
          <a:bodyPr wrap="square" lIns="0" tIns="0" rIns="0" bIns="0" rtlCol="0" anchor="ctr"/>
          <a:lstStyle/>
          <a:p>
            <a:pPr indent="0" marL="0">
              <a:buNone/>
            </a:pPr>
            <a:r>
              <a:rPr lang="en-US" sz="1400" b="1" dirty="0">
                <a:solidFill>
                  <a:srgbClr val="1B2E23"/>
                </a:solidFill>
                <a:latin typeface="Cambria" pitchFamily="34" charset="0"/>
                <a:ea typeface="Cambria" pitchFamily="34" charset="-122"/>
                <a:cs typeface="Cambria" pitchFamily="34" charset="-120"/>
              </a:rPr>
              <a:t>Cost</a:t>
            </a:r>
            <a:endParaRPr lang="en-US" sz="1400" dirty="0"/>
          </a:p>
        </p:txBody>
      </p:sp>
      <p:sp>
        <p:nvSpPr>
          <p:cNvPr id="25" name="Text 23"/>
          <p:cNvSpPr txBox="1"/>
          <p:nvPr/>
        </p:nvSpPr>
        <p:spPr>
          <a:xfrm>
            <a:off x="7040880" y="2523744"/>
            <a:ext cx="4197096" cy="457200"/>
          </a:xfrm>
          <a:prstGeom prst="rect">
            <a:avLst/>
          </a:prstGeom>
          <a:noFill/>
          <a:ln/>
        </p:spPr>
        <p:txBody>
          <a:bodyPr wrap="square" lIns="0" tIns="0" rIns="0" bIns="0" rtlCol="0" anchor="t"/>
          <a:lstStyle/>
          <a:p>
            <a:pPr indent="0" marL="0">
              <a:lnSpc>
                <a:spcPts val="1500"/>
              </a:lnSpc>
              <a:buNone/>
            </a:pPr>
            <a:r>
              <a:rPr lang="en-US" sz="1200" dirty="0">
                <a:solidFill>
                  <a:srgbClr val="5F6B60"/>
                </a:solidFill>
                <a:latin typeface="Calibri" pitchFamily="34" charset="0"/>
                <a:ea typeface="Calibri" pitchFamily="34" charset="-122"/>
                <a:cs typeface="Calibri" pitchFamily="34" charset="-120"/>
              </a:rPr>
              <a:t>API calls scale with agents × days</a:t>
            </a:r>
            <a:endParaRPr lang="en-US" sz="1200" dirty="0"/>
          </a:p>
        </p:txBody>
      </p:sp>
      <p:sp>
        <p:nvSpPr>
          <p:cNvPr id="26" name="Shape 24"/>
          <p:cNvSpPr/>
          <p:nvPr/>
        </p:nvSpPr>
        <p:spPr>
          <a:xfrm>
            <a:off x="6510528" y="3154680"/>
            <a:ext cx="365760" cy="365760"/>
          </a:xfrm>
          <a:prstGeom prst="ellipse">
            <a:avLst/>
          </a:prstGeom>
          <a:solidFill>
            <a:srgbClr val="C98A24"/>
          </a:solidFill>
          <a:ln/>
        </p:spPr>
      </p:sp>
      <p:sp>
        <p:nvSpPr>
          <p:cNvPr id="27" name="Text 25"/>
          <p:cNvSpPr txBox="1"/>
          <p:nvPr/>
        </p:nvSpPr>
        <p:spPr>
          <a:xfrm>
            <a:off x="6510528" y="3154680"/>
            <a:ext cx="3657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2</a:t>
            </a:r>
            <a:endParaRPr lang="en-US" sz="1250" dirty="0"/>
          </a:p>
        </p:txBody>
      </p:sp>
      <p:sp>
        <p:nvSpPr>
          <p:cNvPr id="28" name="Text 26"/>
          <p:cNvSpPr txBox="1"/>
          <p:nvPr/>
        </p:nvSpPr>
        <p:spPr>
          <a:xfrm>
            <a:off x="7040880" y="3163824"/>
            <a:ext cx="4197096" cy="274320"/>
          </a:xfrm>
          <a:prstGeom prst="rect">
            <a:avLst/>
          </a:prstGeom>
          <a:noFill/>
          <a:ln/>
        </p:spPr>
        <p:txBody>
          <a:bodyPr wrap="square" lIns="0" tIns="0" rIns="0" bIns="0" rtlCol="0" anchor="ctr"/>
          <a:lstStyle/>
          <a:p>
            <a:pPr indent="0" marL="0">
              <a:buNone/>
            </a:pPr>
            <a:r>
              <a:rPr lang="en-US" sz="1400" b="1" dirty="0">
                <a:solidFill>
                  <a:srgbClr val="1B2E23"/>
                </a:solidFill>
                <a:latin typeface="Cambria" pitchFamily="34" charset="0"/>
                <a:ea typeface="Cambria" pitchFamily="34" charset="-122"/>
                <a:cs typeface="Cambria" pitchFamily="34" charset="-120"/>
              </a:rPr>
              <a:t>Scale</a:t>
            </a:r>
            <a:endParaRPr lang="en-US" sz="1400" dirty="0"/>
          </a:p>
        </p:txBody>
      </p:sp>
      <p:sp>
        <p:nvSpPr>
          <p:cNvPr id="29" name="Text 27"/>
          <p:cNvSpPr txBox="1"/>
          <p:nvPr/>
        </p:nvSpPr>
        <p:spPr>
          <a:xfrm>
            <a:off x="7040880" y="3483864"/>
            <a:ext cx="4197096" cy="457200"/>
          </a:xfrm>
          <a:prstGeom prst="rect">
            <a:avLst/>
          </a:prstGeom>
          <a:noFill/>
          <a:ln/>
        </p:spPr>
        <p:txBody>
          <a:bodyPr wrap="square" lIns="0" tIns="0" rIns="0" bIns="0" rtlCol="0" anchor="t"/>
          <a:lstStyle/>
          <a:p>
            <a:pPr indent="0" marL="0">
              <a:lnSpc>
                <a:spcPts val="1500"/>
              </a:lnSpc>
              <a:buNone/>
            </a:pPr>
            <a:r>
              <a:rPr lang="en-US" sz="1200" dirty="0">
                <a:solidFill>
                  <a:srgbClr val="5F6B60"/>
                </a:solidFill>
                <a:latin typeface="Calibri" pitchFamily="34" charset="0"/>
                <a:ea typeface="Calibri" pitchFamily="34" charset="-122"/>
                <a:cs typeface="Calibri" pitchFamily="34" charset="-120"/>
              </a:rPr>
              <a:t>small population, simple town</a:t>
            </a:r>
            <a:endParaRPr lang="en-US" sz="1200" dirty="0"/>
          </a:p>
        </p:txBody>
      </p:sp>
      <p:sp>
        <p:nvSpPr>
          <p:cNvPr id="30" name="Shape 28"/>
          <p:cNvSpPr/>
          <p:nvPr/>
        </p:nvSpPr>
        <p:spPr>
          <a:xfrm>
            <a:off x="6510528" y="4114800"/>
            <a:ext cx="365760" cy="365760"/>
          </a:xfrm>
          <a:prstGeom prst="ellipse">
            <a:avLst/>
          </a:prstGeom>
          <a:solidFill>
            <a:srgbClr val="C98A24"/>
          </a:solidFill>
          <a:ln/>
        </p:spPr>
      </p:sp>
      <p:sp>
        <p:nvSpPr>
          <p:cNvPr id="31" name="Text 29"/>
          <p:cNvSpPr txBox="1"/>
          <p:nvPr/>
        </p:nvSpPr>
        <p:spPr>
          <a:xfrm>
            <a:off x="6510528" y="4114800"/>
            <a:ext cx="3657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3</a:t>
            </a:r>
            <a:endParaRPr lang="en-US" sz="1250" dirty="0"/>
          </a:p>
        </p:txBody>
      </p:sp>
      <p:sp>
        <p:nvSpPr>
          <p:cNvPr id="32" name="Text 30"/>
          <p:cNvSpPr txBox="1"/>
          <p:nvPr/>
        </p:nvSpPr>
        <p:spPr>
          <a:xfrm>
            <a:off x="7040880" y="4123944"/>
            <a:ext cx="4197096" cy="274320"/>
          </a:xfrm>
          <a:prstGeom prst="rect">
            <a:avLst/>
          </a:prstGeom>
          <a:noFill/>
          <a:ln/>
        </p:spPr>
        <p:txBody>
          <a:bodyPr wrap="square" lIns="0" tIns="0" rIns="0" bIns="0" rtlCol="0" anchor="ctr"/>
          <a:lstStyle/>
          <a:p>
            <a:pPr indent="0" marL="0">
              <a:buNone/>
            </a:pPr>
            <a:r>
              <a:rPr lang="en-US" sz="1400" b="1" dirty="0">
                <a:solidFill>
                  <a:srgbClr val="1B2E23"/>
                </a:solidFill>
                <a:latin typeface="Cambria" pitchFamily="34" charset="0"/>
                <a:ea typeface="Cambria" pitchFamily="34" charset="-122"/>
                <a:cs typeface="Cambria" pitchFamily="34" charset="-120"/>
              </a:rPr>
              <a:t>Stochasticity</a:t>
            </a:r>
            <a:endParaRPr lang="en-US" sz="1400" dirty="0"/>
          </a:p>
        </p:txBody>
      </p:sp>
      <p:sp>
        <p:nvSpPr>
          <p:cNvPr id="33" name="Text 31"/>
          <p:cNvSpPr txBox="1"/>
          <p:nvPr/>
        </p:nvSpPr>
        <p:spPr>
          <a:xfrm>
            <a:off x="7040880" y="4443984"/>
            <a:ext cx="4197096" cy="457200"/>
          </a:xfrm>
          <a:prstGeom prst="rect">
            <a:avLst/>
          </a:prstGeom>
          <a:noFill/>
          <a:ln/>
        </p:spPr>
        <p:txBody>
          <a:bodyPr wrap="square" lIns="0" tIns="0" rIns="0" bIns="0" rtlCol="0" anchor="t"/>
          <a:lstStyle/>
          <a:p>
            <a:pPr indent="0" marL="0">
              <a:lnSpc>
                <a:spcPts val="1500"/>
              </a:lnSpc>
              <a:buNone/>
            </a:pPr>
            <a:r>
              <a:rPr lang="en-US" sz="1200" dirty="0">
                <a:solidFill>
                  <a:srgbClr val="5F6B60"/>
                </a:solidFill>
                <a:latin typeface="Calibri" pitchFamily="34" charset="0"/>
                <a:ea typeface="Calibri" pitchFamily="34" charset="-122"/>
                <a:cs typeface="Calibri" pitchFamily="34" charset="-120"/>
              </a:rPr>
              <a:t>runs vary — strict metrics are hard</a:t>
            </a:r>
            <a:endParaRPr lang="en-US" sz="1200" dirty="0"/>
          </a:p>
        </p:txBody>
      </p:sp>
      <p:sp>
        <p:nvSpPr>
          <p:cNvPr id="34" name="Shape 32"/>
          <p:cNvSpPr/>
          <p:nvPr/>
        </p:nvSpPr>
        <p:spPr>
          <a:xfrm>
            <a:off x="1024128" y="5047488"/>
            <a:ext cx="841248" cy="475488"/>
          </a:xfrm>
          <a:prstGeom prst="roundRect">
            <a:avLst>
              <a:gd name="adj" fmla="val 19231"/>
            </a:avLst>
          </a:prstGeom>
          <a:solidFill>
            <a:srgbClr val="EAF2E4"/>
          </a:solidFill>
          <a:ln w="12700">
            <a:solidFill>
              <a:srgbClr val="7FB069"/>
            </a:solidFill>
            <a:prstDash val="solid"/>
          </a:ln>
        </p:spPr>
      </p:sp>
      <p:sp>
        <p:nvSpPr>
          <p:cNvPr id="35" name="Shape 33"/>
          <p:cNvSpPr/>
          <p:nvPr/>
        </p:nvSpPr>
        <p:spPr>
          <a:xfrm>
            <a:off x="1993392" y="5047488"/>
            <a:ext cx="841248" cy="475488"/>
          </a:xfrm>
          <a:prstGeom prst="roundRect">
            <a:avLst>
              <a:gd name="adj" fmla="val 19231"/>
            </a:avLst>
          </a:prstGeom>
          <a:solidFill>
            <a:srgbClr val="EAF2E4"/>
          </a:solidFill>
          <a:ln w="12700">
            <a:solidFill>
              <a:srgbClr val="7FB069"/>
            </a:solidFill>
            <a:prstDash val="solid"/>
          </a:ln>
        </p:spPr>
      </p:sp>
      <p:sp>
        <p:nvSpPr>
          <p:cNvPr id="36" name="Shape 34"/>
          <p:cNvSpPr/>
          <p:nvPr/>
        </p:nvSpPr>
        <p:spPr>
          <a:xfrm>
            <a:off x="2962656" y="4919472"/>
            <a:ext cx="841248" cy="475488"/>
          </a:xfrm>
          <a:prstGeom prst="roundRect">
            <a:avLst>
              <a:gd name="adj" fmla="val 19231"/>
            </a:avLst>
          </a:prstGeom>
          <a:solidFill>
            <a:srgbClr val="C98A24"/>
          </a:solidFill>
          <a:ln w="12700">
            <a:solidFill>
              <a:srgbClr val="C98A24"/>
            </a:solidFill>
            <a:prstDash val="solid"/>
          </a:ln>
        </p:spPr>
      </p:sp>
      <p:sp>
        <p:nvSpPr>
          <p:cNvPr id="37" name="Shape 35"/>
          <p:cNvSpPr/>
          <p:nvPr/>
        </p:nvSpPr>
        <p:spPr>
          <a:xfrm>
            <a:off x="3931920" y="5047488"/>
            <a:ext cx="841248" cy="475488"/>
          </a:xfrm>
          <a:prstGeom prst="roundRect">
            <a:avLst>
              <a:gd name="adj" fmla="val 19231"/>
            </a:avLst>
          </a:prstGeom>
          <a:solidFill>
            <a:srgbClr val="EAF2E4"/>
          </a:solidFill>
          <a:ln w="12700">
            <a:solidFill>
              <a:srgbClr val="7FB069"/>
            </a:solidFill>
            <a:prstDash val="solid"/>
          </a:ln>
        </p:spPr>
      </p:sp>
      <p:sp>
        <p:nvSpPr>
          <p:cNvPr id="38" name="Shape 36"/>
          <p:cNvSpPr/>
          <p:nvPr/>
        </p:nvSpPr>
        <p:spPr>
          <a:xfrm>
            <a:off x="4901184" y="5047488"/>
            <a:ext cx="841248" cy="475488"/>
          </a:xfrm>
          <a:prstGeom prst="roundRect">
            <a:avLst>
              <a:gd name="adj" fmla="val 19231"/>
            </a:avLst>
          </a:prstGeom>
          <a:solidFill>
            <a:srgbClr val="EAF2E4"/>
          </a:solidFill>
          <a:ln w="12700">
            <a:solidFill>
              <a:srgbClr val="7FB069"/>
            </a:solidFill>
            <a:prstDash val="solid"/>
          </a:ln>
        </p:spPr>
      </p:sp>
      <p:sp>
        <p:nvSpPr>
          <p:cNvPr id="39" name="Text 37"/>
          <p:cNvSpPr txBox="1"/>
          <p:nvPr/>
        </p:nvSpPr>
        <p:spPr>
          <a:xfrm>
            <a:off x="1024128" y="5541264"/>
            <a:ext cx="4581144" cy="237744"/>
          </a:xfrm>
          <a:prstGeom prst="rect">
            <a:avLst/>
          </a:prstGeom>
          <a:noFill/>
          <a:ln/>
        </p:spPr>
        <p:txBody>
          <a:bodyPr wrap="square" lIns="0" tIns="0" rIns="0" bIns="0" rtlCol="0" anchor="ctr"/>
          <a:lstStyle/>
          <a:p>
            <a:pPr algn="ctr" indent="0" marL="0">
              <a:buNone/>
            </a:pPr>
            <a:r>
              <a:rPr lang="en-US" sz="1000" i="1" dirty="0">
                <a:solidFill>
                  <a:srgbClr val="5F6B60"/>
                </a:solidFill>
                <a:latin typeface="Calibri" pitchFamily="34" charset="0"/>
                <a:ea typeface="Calibri" pitchFamily="34" charset="-122"/>
                <a:cs typeface="Calibri" pitchFamily="34" charset="-120"/>
              </a:rPr>
              <a:t>any module can be swapped without touching the others</a:t>
            </a:r>
            <a:endParaRPr lang="en-US" sz="1000" dirty="0"/>
          </a:p>
        </p:txBody>
      </p:sp>
      <p:sp>
        <p:nvSpPr>
          <p:cNvPr id="40" name="Shape 38"/>
          <p:cNvSpPr/>
          <p:nvPr/>
        </p:nvSpPr>
        <p:spPr>
          <a:xfrm>
            <a:off x="6583680" y="5047488"/>
            <a:ext cx="1344168" cy="475488"/>
          </a:xfrm>
          <a:prstGeom prst="roundRect">
            <a:avLst>
              <a:gd name="adj" fmla="val 11538"/>
            </a:avLst>
          </a:prstGeom>
          <a:solidFill>
            <a:srgbClr val="FBF1DC"/>
          </a:solidFill>
          <a:ln w="12700">
            <a:solidFill>
              <a:srgbClr val="EFDFBE"/>
            </a:solidFill>
            <a:prstDash val="solid"/>
          </a:ln>
        </p:spPr>
      </p:sp>
      <p:sp>
        <p:nvSpPr>
          <p:cNvPr id="41" name="Text 39"/>
          <p:cNvSpPr txBox="1"/>
          <p:nvPr/>
        </p:nvSpPr>
        <p:spPr>
          <a:xfrm>
            <a:off x="6675120" y="5047488"/>
            <a:ext cx="1161288" cy="475488"/>
          </a:xfrm>
          <a:prstGeom prst="rect">
            <a:avLst/>
          </a:prstGeom>
          <a:noFill/>
          <a:ln/>
        </p:spPr>
        <p:txBody>
          <a:bodyPr wrap="square" lIns="0" tIns="0" rIns="0" bIns="0" rtlCol="0" anchor="ctr"/>
          <a:lstStyle/>
          <a:p>
            <a:pPr algn="ctr" indent="0" marL="0">
              <a:lnSpc>
                <a:spcPts val="1400"/>
              </a:lnSpc>
              <a:buNone/>
            </a:pPr>
            <a:r>
              <a:rPr lang="en-US" sz="1150" b="1" dirty="0">
                <a:solidFill>
                  <a:srgbClr val="1B2E23"/>
                </a:solidFill>
                <a:latin typeface="Calibri" pitchFamily="34" charset="0"/>
                <a:ea typeface="Calibri" pitchFamily="34" charset="-122"/>
                <a:cs typeface="Calibri" pitchFamily="34" charset="-120"/>
              </a:rPr>
              <a:t>agents</a:t>
            </a:r>
            <a:endParaRPr lang="en-US" sz="1150" dirty="0"/>
          </a:p>
        </p:txBody>
      </p:sp>
      <p:sp>
        <p:nvSpPr>
          <p:cNvPr id="42" name="Text 40"/>
          <p:cNvSpPr txBox="1"/>
          <p:nvPr/>
        </p:nvSpPr>
        <p:spPr>
          <a:xfrm>
            <a:off x="7927848" y="5047488"/>
            <a:ext cx="274320" cy="475488"/>
          </a:xfrm>
          <a:prstGeom prst="rect">
            <a:avLst/>
          </a:prstGeom>
          <a:noFill/>
          <a:ln/>
        </p:spPr>
        <p:txBody>
          <a:bodyPr wrap="square" lIns="0" tIns="0" rIns="0" bIns="0" rtlCol="0" anchor="ctr"/>
          <a:lstStyle/>
          <a:p>
            <a:pPr algn="ctr" indent="0" marL="0">
              <a:buNone/>
            </a:pPr>
            <a:r>
              <a:rPr lang="en-US" sz="1500" b="1" dirty="0">
                <a:solidFill>
                  <a:srgbClr val="C98A24"/>
                </a:solidFill>
                <a:latin typeface="Calibri" pitchFamily="34" charset="0"/>
                <a:ea typeface="Calibri" pitchFamily="34" charset="-122"/>
                <a:cs typeface="Calibri" pitchFamily="34" charset="-120"/>
              </a:rPr>
              <a:t>×</a:t>
            </a:r>
            <a:endParaRPr lang="en-US" sz="1500" dirty="0"/>
          </a:p>
        </p:txBody>
      </p:sp>
      <p:sp>
        <p:nvSpPr>
          <p:cNvPr id="43" name="Shape 41"/>
          <p:cNvSpPr/>
          <p:nvPr/>
        </p:nvSpPr>
        <p:spPr>
          <a:xfrm>
            <a:off x="8202168" y="5047488"/>
            <a:ext cx="1344168" cy="475488"/>
          </a:xfrm>
          <a:prstGeom prst="roundRect">
            <a:avLst>
              <a:gd name="adj" fmla="val 11538"/>
            </a:avLst>
          </a:prstGeom>
          <a:solidFill>
            <a:srgbClr val="FBF1DC"/>
          </a:solidFill>
          <a:ln w="12700">
            <a:solidFill>
              <a:srgbClr val="EFDFBE"/>
            </a:solidFill>
            <a:prstDash val="solid"/>
          </a:ln>
        </p:spPr>
      </p:sp>
      <p:sp>
        <p:nvSpPr>
          <p:cNvPr id="44" name="Text 42"/>
          <p:cNvSpPr txBox="1"/>
          <p:nvPr/>
        </p:nvSpPr>
        <p:spPr>
          <a:xfrm>
            <a:off x="8293608" y="5047488"/>
            <a:ext cx="1161288" cy="475488"/>
          </a:xfrm>
          <a:prstGeom prst="rect">
            <a:avLst/>
          </a:prstGeom>
          <a:noFill/>
          <a:ln/>
        </p:spPr>
        <p:txBody>
          <a:bodyPr wrap="square" lIns="0" tIns="0" rIns="0" bIns="0" rtlCol="0" anchor="ctr"/>
          <a:lstStyle/>
          <a:p>
            <a:pPr algn="ctr" indent="0" marL="0">
              <a:lnSpc>
                <a:spcPts val="1400"/>
              </a:lnSpc>
              <a:buNone/>
            </a:pPr>
            <a:r>
              <a:rPr lang="en-US" sz="1150" b="1" dirty="0">
                <a:solidFill>
                  <a:srgbClr val="1B2E23"/>
                </a:solidFill>
                <a:latin typeface="Calibri" pitchFamily="34" charset="0"/>
                <a:ea typeface="Calibri" pitchFamily="34" charset="-122"/>
                <a:cs typeface="Calibri" pitchFamily="34" charset="-120"/>
              </a:rPr>
              <a:t>days</a:t>
            </a:r>
            <a:endParaRPr lang="en-US" sz="1150" dirty="0"/>
          </a:p>
        </p:txBody>
      </p:sp>
      <p:sp>
        <p:nvSpPr>
          <p:cNvPr id="45" name="Text 43"/>
          <p:cNvSpPr txBox="1"/>
          <p:nvPr/>
        </p:nvSpPr>
        <p:spPr>
          <a:xfrm>
            <a:off x="9546336" y="5047488"/>
            <a:ext cx="274320" cy="475488"/>
          </a:xfrm>
          <a:prstGeom prst="rect">
            <a:avLst/>
          </a:prstGeom>
          <a:noFill/>
          <a:ln/>
        </p:spPr>
        <p:txBody>
          <a:bodyPr wrap="square" lIns="0" tIns="0" rIns="0" bIns="0" rtlCol="0" anchor="ctr"/>
          <a:lstStyle/>
          <a:p>
            <a:pPr algn="ctr" indent="0" marL="0">
              <a:buNone/>
            </a:pPr>
            <a:r>
              <a:rPr lang="en-US" sz="1500" b="1" dirty="0">
                <a:solidFill>
                  <a:srgbClr val="C98A24"/>
                </a:solidFill>
                <a:latin typeface="Calibri" pitchFamily="34" charset="0"/>
                <a:ea typeface="Calibri" pitchFamily="34" charset="-122"/>
                <a:cs typeface="Calibri" pitchFamily="34" charset="-120"/>
              </a:rPr>
              <a:t>×</a:t>
            </a:r>
            <a:endParaRPr lang="en-US" sz="1500" dirty="0"/>
          </a:p>
        </p:txBody>
      </p:sp>
      <p:sp>
        <p:nvSpPr>
          <p:cNvPr id="46" name="Shape 44"/>
          <p:cNvSpPr/>
          <p:nvPr/>
        </p:nvSpPr>
        <p:spPr>
          <a:xfrm>
            <a:off x="9820656" y="5047488"/>
            <a:ext cx="1344168" cy="475488"/>
          </a:xfrm>
          <a:prstGeom prst="roundRect">
            <a:avLst>
              <a:gd name="adj" fmla="val 11538"/>
            </a:avLst>
          </a:prstGeom>
          <a:solidFill>
            <a:srgbClr val="FBF1DC"/>
          </a:solidFill>
          <a:ln w="12700">
            <a:solidFill>
              <a:srgbClr val="EFDFBE"/>
            </a:solidFill>
            <a:prstDash val="solid"/>
          </a:ln>
        </p:spPr>
      </p:sp>
      <p:sp>
        <p:nvSpPr>
          <p:cNvPr id="47" name="Text 45"/>
          <p:cNvSpPr txBox="1"/>
          <p:nvPr/>
        </p:nvSpPr>
        <p:spPr>
          <a:xfrm>
            <a:off x="9912096" y="5047488"/>
            <a:ext cx="1161288" cy="475488"/>
          </a:xfrm>
          <a:prstGeom prst="rect">
            <a:avLst/>
          </a:prstGeom>
          <a:noFill/>
          <a:ln/>
        </p:spPr>
        <p:txBody>
          <a:bodyPr wrap="square" lIns="0" tIns="0" rIns="0" bIns="0" rtlCol="0" anchor="ctr"/>
          <a:lstStyle/>
          <a:p>
            <a:pPr algn="ctr" indent="0" marL="0">
              <a:lnSpc>
                <a:spcPts val="1400"/>
              </a:lnSpc>
              <a:buNone/>
            </a:pPr>
            <a:r>
              <a:rPr lang="en-US" sz="1150" b="1" dirty="0">
                <a:solidFill>
                  <a:srgbClr val="1B2E23"/>
                </a:solidFill>
                <a:latin typeface="Calibri" pitchFamily="34" charset="0"/>
                <a:ea typeface="Calibri" pitchFamily="34" charset="-122"/>
                <a:cs typeface="Calibri" pitchFamily="34" charset="-120"/>
              </a:rPr>
              <a:t>conversations</a:t>
            </a:r>
            <a:endParaRPr lang="en-US" sz="1150" dirty="0"/>
          </a:p>
        </p:txBody>
      </p:sp>
      <p:sp>
        <p:nvSpPr>
          <p:cNvPr id="48" name="Text 46"/>
          <p:cNvSpPr txBox="1"/>
          <p:nvPr/>
        </p:nvSpPr>
        <p:spPr>
          <a:xfrm>
            <a:off x="6583680" y="5541264"/>
            <a:ext cx="4581144" cy="237744"/>
          </a:xfrm>
          <a:prstGeom prst="rect">
            <a:avLst/>
          </a:prstGeom>
          <a:noFill/>
          <a:ln/>
        </p:spPr>
        <p:txBody>
          <a:bodyPr wrap="square" lIns="0" tIns="0" rIns="0" bIns="0" rtlCol="0" anchor="ctr"/>
          <a:lstStyle/>
          <a:p>
            <a:pPr algn="ctr" indent="0" marL="0">
              <a:buNone/>
            </a:pPr>
            <a:r>
              <a:rPr lang="en-US" sz="1000" i="1" dirty="0">
                <a:solidFill>
                  <a:srgbClr val="5F6B60"/>
                </a:solidFill>
                <a:latin typeface="Calibri" pitchFamily="34" charset="0"/>
                <a:ea typeface="Calibri" pitchFamily="34" charset="-122"/>
                <a:cs typeface="Calibri" pitchFamily="34" charset="-120"/>
              </a:rPr>
              <a:t>every plan, conversation and reflection is an API call</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Lightweight LLM-Driven Multi-Agent Framework for Virtual Society Simulation with Memory Feedback</dc:title>
  <dc:subject>PptxGenJS Presentation</dc:subject>
  <dc:creator>Aoao Guo</dc:creator>
  <cp:lastModifiedBy>Aoao Guo</cp:lastModifiedBy>
  <cp:revision>1</cp:revision>
  <dcterms:created xsi:type="dcterms:W3CDTF">2026-08-26T22:46:16Z</dcterms:created>
  <dcterms:modified xsi:type="dcterms:W3CDTF">2026-08-26T22:46:16Z</dcterms:modified>
</cp:coreProperties>
</file>