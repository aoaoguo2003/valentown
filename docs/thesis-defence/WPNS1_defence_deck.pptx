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B33"/>
                </a:solidFill>
                <a:latin typeface="Calibri"/>
              </a:defRPr>
            </a:pPr>
            <a:r>
              <a:rPr sz="1300" b="0" i="0" u="none" strike="noStrike">
                <a:solidFill>
                  <a:srgbClr val="0E1B33"/>
                </a:solidFill>
                <a:latin typeface="Calibri"/>
              </a:rPr>
              <a:t>Leave-one-folder-out detection (six rounds)</a:t>
            </a:r>
          </a:p>
        </c:rich>
      </c:tx>
      <c:layout/>
      <c:overlay val="0"/>
    </c:title>
    <c:autoTitleDeleted val="0"/>
    <c:plotArea>
      <c:layout/>
      <c:barChart>
        <c:barDir val="col"/>
        <c:grouping val="clustered"/>
        <c:varyColors val="0"/>
        <c:ser>
          <c:idx val="0"/>
          <c:order val="0"/>
          <c:tx>
            <c:strRef>
              <c:f>Sheet1!$B$1</c:f>
              <c:strCache>
                <c:ptCount val="1"/>
                <c:pt idx="0">
                  <c:v>LOFO mean F1</c:v>
                </c:pt>
              </c:strCache>
            </c:strRef>
          </c:tx>
          <c:spPr>
            <a:solidFill>
              <a:srgbClr val="1E7A70"/>
            </a:solidFill>
            <a:effectLst/>
          </c:spPr>
          <c:invertIfNegative val="0"/>
          <c:dLbls>
            <c:numFmt formatCode="0.000" sourceLinked="0"/>
            <c:txPr>
              <a:bodyPr/>
              <a:lstStyle/>
              <a:p>
                <a:pPr>
                  <a:defRPr b="0" i="0" strike="noStrike" sz="1000" u="none">
                    <a:solidFill>
                      <a:srgbClr val="22314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Baseline (1,543-d)</c:v>
                  </c:pt>
                  <c:pt idx="1">
                    <c:v>Compact (199-d)</c:v>
                  </c:pt>
                  <c:pt idx="2">
                    <c:v>Perch v2 (1,536-d)</c:v>
                  </c:pt>
                </c:lvl>
              </c:multiLvlStrCache>
            </c:multiLvlStrRef>
          </c:cat>
          <c:val>
            <c:numRef>
              <c:f>Sheet1!$B$2:$B$4</c:f>
              <c:numCache>
                <c:formatCode>General</c:formatCode>
                <c:ptCount val="3"/>
                <c:pt idx="0">
                  <c:v>0.872</c:v>
                </c:pt>
                <c:pt idx="1">
                  <c:v>0.87</c:v>
                </c:pt>
                <c:pt idx="2">
                  <c:v>0.989</c:v>
                </c:pt>
              </c:numCache>
            </c:numRef>
          </c:val>
        </c:ser>
        <c:ser>
          <c:idx val="1"/>
          <c:order val="1"/>
          <c:tx>
            <c:strRef>
              <c:f>Sheet1!$C$1</c:f>
              <c:strCache>
                <c:ptCount val="1"/>
                <c:pt idx="0">
                  <c:v>Worst-folder F1</c:v>
                </c:pt>
              </c:strCache>
            </c:strRef>
          </c:tx>
          <c:spPr>
            <a:solidFill>
              <a:srgbClr val="F2A541"/>
            </a:solidFill>
            <a:effectLst/>
          </c:spPr>
          <c:invertIfNegative val="0"/>
          <c:dLbls>
            <c:numFmt formatCode="0.000" sourceLinked="0"/>
            <c:txPr>
              <a:bodyPr/>
              <a:lstStyle/>
              <a:p>
                <a:pPr>
                  <a:defRPr b="0" i="0" strike="noStrike" sz="1000" u="none">
                    <a:solidFill>
                      <a:srgbClr val="22314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Baseline (1,543-d)</c:v>
                  </c:pt>
                  <c:pt idx="1">
                    <c:v>Compact (199-d)</c:v>
                  </c:pt>
                  <c:pt idx="2">
                    <c:v>Perch v2 (1,536-d)</c:v>
                  </c:pt>
                </c:lvl>
              </c:multiLvlStrCache>
            </c:multiLvlStrRef>
          </c:cat>
          <c:val>
            <c:numRef>
              <c:f>Sheet1!$C$2:$C$4</c:f>
              <c:numCache>
                <c:formatCode>General</c:formatCode>
                <c:ptCount val="3"/>
                <c:pt idx="0">
                  <c:v>0.727</c:v>
                </c:pt>
                <c:pt idx="1">
                  <c:v>0.691</c:v>
                </c:pt>
                <c:pt idx="2">
                  <c:v>0.95</c:v>
                </c:pt>
              </c:numCache>
            </c:numRef>
          </c:val>
        </c:ser>
        <c:dLbls>
          <c:numFmt formatCode="0.000" sourceLinked="0"/>
          <c:txPr>
            <a:bodyPr/>
            <a:lstStyle/>
            <a:p>
              <a:pPr>
                <a:defRPr b="0" i="0" strike="noStrike" sz="1000" u="none">
                  <a:solidFill>
                    <a:srgbClr val="22314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22314D"/>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7EDF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F718C"/>
                </a:solidFill>
                <a:latin typeface="Calibri"/>
              </a:defRPr>
            </a:pPr>
            <a:endParaRPr lang="en-US"/>
          </a:p>
        </c:txPr>
        <c:crossAx val="2094734554"/>
        <c:crosses val="autoZero"/>
        <c:crossBetween val="between"/>
        <c:majorUnit val="0.2"/>
      </c:valAx>
      <c:spPr>
        <a:noFill/>
        <a:ln>
          <a:noFill/>
        </a:ln>
        <a:effectLst/>
      </c:spPr>
    </c:plotArea>
    <c:legend>
      <c:legendPos val="t"/>
      <c:overlay val="0"/>
      <c:txPr>
        <a:bodyPr/>
        <a:lstStyle/>
        <a:p>
          <a:pPr>
            <a:defRPr sz="1100">
              <a:solidFill>
                <a:srgbClr val="22314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B33"/>
                </a:solidFill>
                <a:latin typeface="Calibri"/>
              </a:defRPr>
            </a:pPr>
            <a:r>
              <a:rPr sz="1300" b="0" i="0" u="none" strike="noStrike">
                <a:solidFill>
                  <a:srgbClr val="0E1B33"/>
                </a:solidFill>
                <a:latin typeface="Calibri"/>
              </a:rPr>
              <a:t>Macro-averaged held-out-folder retrieval (158 buzz queries)</a:t>
            </a:r>
          </a:p>
        </c:rich>
      </c:tx>
      <c:layout/>
      <c:overlay val="0"/>
    </c:title>
    <c:autoTitleDeleted val="0"/>
    <c:plotArea>
      <c:layout/>
      <c:barChart>
        <c:barDir val="col"/>
        <c:grouping val="clustered"/>
        <c:varyColors val="0"/>
        <c:ser>
          <c:idx val="0"/>
          <c:order val="0"/>
          <c:tx>
            <c:strRef>
              <c:f>Sheet1!$B$1</c:f>
              <c:strCache>
                <c:ptCount val="1"/>
                <c:pt idx="0">
                  <c:v>Precision@5</c:v>
                </c:pt>
              </c:strCache>
            </c:strRef>
          </c:tx>
          <c:spPr>
            <a:solidFill>
              <a:srgbClr val="1E7A70"/>
            </a:solidFill>
            <a:effectLst/>
          </c:spPr>
          <c:invertIfNegative val="0"/>
          <c:dLbls>
            <c:numFmt formatCode="0.000" sourceLinked="0"/>
            <c:txPr>
              <a:bodyPr/>
              <a:lstStyle/>
              <a:p>
                <a:pPr>
                  <a:defRPr b="0" i="0" strike="noStrike" sz="900" u="none">
                    <a:solidFill>
                      <a:srgbClr val="22314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Baseline</c:v>
                  </c:pt>
                  <c:pt idx="1">
                    <c:v>Compact</c:v>
                  </c:pt>
                  <c:pt idx="2">
                    <c:v>Perch v2</c:v>
                  </c:pt>
                  <c:pt idx="3">
                    <c:v>Random ranking</c:v>
                  </c:pt>
                </c:lvl>
              </c:multiLvlStrCache>
            </c:multiLvlStrRef>
          </c:cat>
          <c:val>
            <c:numRef>
              <c:f>Sheet1!$B$2:$B$5</c:f>
              <c:numCache>
                <c:formatCode>General</c:formatCode>
                <c:ptCount val="4"/>
                <c:pt idx="0">
                  <c:v>0.834</c:v>
                </c:pt>
                <c:pt idx="1">
                  <c:v>0.839</c:v>
                </c:pt>
                <c:pt idx="2">
                  <c:v>0.988</c:v>
                </c:pt>
                <c:pt idx="3">
                  <c:v>0.5</c:v>
                </c:pt>
              </c:numCache>
            </c:numRef>
          </c:val>
        </c:ser>
        <c:ser>
          <c:idx val="1"/>
          <c:order val="1"/>
          <c:tx>
            <c:strRef>
              <c:f>Sheet1!$C$1</c:f>
              <c:strCache>
                <c:ptCount val="1"/>
                <c:pt idx="0">
                  <c:v>Precision@10</c:v>
                </c:pt>
              </c:strCache>
            </c:strRef>
          </c:tx>
          <c:spPr>
            <a:solidFill>
              <a:srgbClr val="2A9D8F"/>
            </a:solidFill>
            <a:effectLst/>
          </c:spPr>
          <c:invertIfNegative val="0"/>
          <c:dLbls>
            <c:numFmt formatCode="0.000" sourceLinked="0"/>
            <c:txPr>
              <a:bodyPr/>
              <a:lstStyle/>
              <a:p>
                <a:pPr>
                  <a:defRPr b="0" i="0" strike="noStrike" sz="900" u="none">
                    <a:solidFill>
                      <a:srgbClr val="22314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Baseline</c:v>
                  </c:pt>
                  <c:pt idx="1">
                    <c:v>Compact</c:v>
                  </c:pt>
                  <c:pt idx="2">
                    <c:v>Perch v2</c:v>
                  </c:pt>
                  <c:pt idx="3">
                    <c:v>Random ranking</c:v>
                  </c:pt>
                </c:lvl>
              </c:multiLvlStrCache>
            </c:multiLvlStrRef>
          </c:cat>
          <c:val>
            <c:numRef>
              <c:f>Sheet1!$C$2:$C$5</c:f>
              <c:numCache>
                <c:formatCode>General</c:formatCode>
                <c:ptCount val="4"/>
                <c:pt idx="0">
                  <c:v>0.831</c:v>
                </c:pt>
                <c:pt idx="1">
                  <c:v>0.83</c:v>
                </c:pt>
                <c:pt idx="2">
                  <c:v>0.984</c:v>
                </c:pt>
                <c:pt idx="3">
                  <c:v>0.5</c:v>
                </c:pt>
              </c:numCache>
            </c:numRef>
          </c:val>
        </c:ser>
        <c:ser>
          <c:idx val="2"/>
          <c:order val="2"/>
          <c:tx>
            <c:strRef>
              <c:f>Sheet1!$D$1</c:f>
              <c:strCache>
                <c:ptCount val="1"/>
                <c:pt idx="0">
                  <c:v>Precision@20</c:v>
                </c:pt>
              </c:strCache>
            </c:strRef>
          </c:tx>
          <c:spPr>
            <a:solidFill>
              <a:srgbClr val="F2A541"/>
            </a:solidFill>
            <a:effectLst/>
          </c:spPr>
          <c:invertIfNegative val="0"/>
          <c:dLbls>
            <c:numFmt formatCode="0.000" sourceLinked="0"/>
            <c:txPr>
              <a:bodyPr/>
              <a:lstStyle/>
              <a:p>
                <a:pPr>
                  <a:defRPr b="0" i="0" strike="noStrike" sz="900" u="none">
                    <a:solidFill>
                      <a:srgbClr val="22314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Baseline</c:v>
                  </c:pt>
                  <c:pt idx="1">
                    <c:v>Compact</c:v>
                  </c:pt>
                  <c:pt idx="2">
                    <c:v>Perch v2</c:v>
                  </c:pt>
                  <c:pt idx="3">
                    <c:v>Random ranking</c:v>
                  </c:pt>
                </c:lvl>
              </c:multiLvlStrCache>
            </c:multiLvlStrRef>
          </c:cat>
          <c:val>
            <c:numRef>
              <c:f>Sheet1!$D$2:$D$5</c:f>
              <c:numCache>
                <c:formatCode>General</c:formatCode>
                <c:ptCount val="4"/>
                <c:pt idx="0">
                  <c:v>0.822</c:v>
                </c:pt>
                <c:pt idx="1">
                  <c:v>0.821</c:v>
                </c:pt>
                <c:pt idx="2">
                  <c:v>0.968</c:v>
                </c:pt>
                <c:pt idx="3">
                  <c:v>0.501</c:v>
                </c:pt>
              </c:numCache>
            </c:numRef>
          </c:val>
        </c:ser>
        <c:dLbls>
          <c:numFmt formatCode="0.000" sourceLinked="0"/>
          <c:txPr>
            <a:bodyPr/>
            <a:lstStyle/>
            <a:p>
              <a:pPr>
                <a:defRPr b="0" i="0" strike="noStrike" sz="900" u="none">
                  <a:solidFill>
                    <a:srgbClr val="22314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22314D"/>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7EDF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F718C"/>
                </a:solidFill>
                <a:latin typeface="Calibri"/>
              </a:defRPr>
            </a:pPr>
            <a:endParaRPr lang="en-US"/>
          </a:p>
        </c:txPr>
        <c:crossAx val="2094734554"/>
        <c:crosses val="autoZero"/>
        <c:crossBetween val="between"/>
        <c:majorUnit val="0.2"/>
      </c:valAx>
      <c:spPr>
        <a:noFill/>
        <a:ln>
          <a:noFill/>
        </a:ln>
        <a:effectLst/>
      </c:spPr>
    </c:plotArea>
    <c:legend>
      <c:legendPos val="t"/>
      <c:overlay val="0"/>
      <c:txPr>
        <a:bodyPr/>
        <a:lstStyle/>
        <a:p>
          <a:pPr>
            <a:defRPr sz="1100">
              <a:solidFill>
                <a:srgbClr val="22314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E1B33"/>
                </a:solidFill>
                <a:latin typeface="Calibri"/>
              </a:defRPr>
            </a:pPr>
            <a:r>
              <a:rPr sz="1250" b="0" i="0" u="none" strike="noStrike">
                <a:solidFill>
                  <a:srgbClr val="0E1B33"/>
                </a:solidFill>
                <a:latin typeface="Calibri"/>
              </a:rPr>
              <a:t>% of 270,156 windows above each descriptive threshold</a:t>
            </a:r>
          </a:p>
        </c:rich>
      </c:tx>
      <c:layout/>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5F718C"/>
            </a:solidFill>
            <a:effectLst/>
          </c:spPr>
          <c:invertIfNegative val="0"/>
          <c:dLbls>
            <c:numFmt formatCode="0.00&quot;%&quot;" sourceLinked="0"/>
            <c:txPr>
              <a:bodyPr/>
              <a:lstStyle/>
              <a:p>
                <a:pPr>
                  <a:defRPr b="0" i="0" strike="noStrike" sz="1000" u="none">
                    <a:solidFill>
                      <a:srgbClr val="22314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score ≥ 0.50</c:v>
                  </c:pt>
                  <c:pt idx="1">
                    <c:v>score ≥ 0.80</c:v>
                  </c:pt>
                  <c:pt idx="2">
                    <c:v>score ≥ 0.95</c:v>
                  </c:pt>
                </c:lvl>
              </c:multiLvlStrCache>
            </c:multiLvlStrRef>
          </c:cat>
          <c:val>
            <c:numRef>
              <c:f>Sheet1!$B$2:$B$4</c:f>
              <c:numCache>
                <c:formatCode>General</c:formatCode>
                <c:ptCount val="3"/>
                <c:pt idx="0">
                  <c:v>22.11</c:v>
                </c:pt>
                <c:pt idx="1">
                  <c:v>13.37</c:v>
                </c:pt>
                <c:pt idx="2">
                  <c:v>4.43</c:v>
                </c:pt>
              </c:numCache>
            </c:numRef>
          </c:val>
        </c:ser>
        <c:ser>
          <c:idx val="1"/>
          <c:order val="1"/>
          <c:tx>
            <c:strRef>
              <c:f>Sheet1!$C$1</c:f>
              <c:strCache>
                <c:ptCount val="1"/>
                <c:pt idx="0">
                  <c:v>Perch v2</c:v>
                </c:pt>
              </c:strCache>
            </c:strRef>
          </c:tx>
          <c:spPr>
            <a:solidFill>
              <a:srgbClr val="F2A541"/>
            </a:solidFill>
            <a:effectLst/>
          </c:spPr>
          <c:invertIfNegative val="0"/>
          <c:dLbls>
            <c:numFmt formatCode="0.00&quot;%&quot;" sourceLinked="0"/>
            <c:txPr>
              <a:bodyPr/>
              <a:lstStyle/>
              <a:p>
                <a:pPr>
                  <a:defRPr b="0" i="0" strike="noStrike" sz="1000" u="none">
                    <a:solidFill>
                      <a:srgbClr val="22314D"/>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score ≥ 0.50</c:v>
                  </c:pt>
                  <c:pt idx="1">
                    <c:v>score ≥ 0.80</c:v>
                  </c:pt>
                  <c:pt idx="2">
                    <c:v>score ≥ 0.95</c:v>
                  </c:pt>
                </c:lvl>
              </c:multiLvlStrCache>
            </c:multiLvlStrRef>
          </c:cat>
          <c:val>
            <c:numRef>
              <c:f>Sheet1!$C$2:$C$4</c:f>
              <c:numCache>
                <c:formatCode>General</c:formatCode>
                <c:ptCount val="3"/>
                <c:pt idx="0">
                  <c:v>15.96</c:v>
                </c:pt>
                <c:pt idx="1">
                  <c:v>6.55</c:v>
                </c:pt>
                <c:pt idx="2">
                  <c:v>2.14</c:v>
                </c:pt>
              </c:numCache>
            </c:numRef>
          </c:val>
        </c:ser>
        <c:dLbls>
          <c:numFmt formatCode="0.00&quot;%&quot;" sourceLinked="0"/>
          <c:txPr>
            <a:bodyPr/>
            <a:lstStyle/>
            <a:p>
              <a:pPr>
                <a:defRPr b="0" i="0" strike="noStrike" sz="1000" u="none">
                  <a:solidFill>
                    <a:srgbClr val="22314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22314D"/>
                </a:solidFill>
                <a:latin typeface="Calibri"/>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12700" cap="flat">
              <a:solidFill>
                <a:srgbClr val="E7EDF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F718C"/>
                </a:solidFill>
                <a:latin typeface="Calibri"/>
              </a:defRPr>
            </a:pPr>
            <a:endParaRPr lang="en-US"/>
          </a:p>
        </c:txPr>
        <c:crossAx val="2094734554"/>
        <c:crosses val="autoZero"/>
        <c:crossBetween val="between"/>
        <c:majorUnit val="5"/>
      </c:valAx>
      <c:spPr>
        <a:noFill/>
        <a:ln>
          <a:noFill/>
        </a:ln>
        <a:effectLst/>
      </c:spPr>
    </c:plotArea>
    <c:legend>
      <c:legendPos val="t"/>
      <c:overlay val="0"/>
      <c:txPr>
        <a:bodyPr/>
        <a:lstStyle/>
        <a:p>
          <a:pPr>
            <a:defRPr sz="1100">
              <a:solidFill>
                <a:srgbClr val="22314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LOFO F1</c:v>
                </c:pt>
              </c:strCache>
            </c:strRef>
          </c:tx>
          <c:spPr>
            <a:solidFill>
              <a:srgbClr val="1E7A70"/>
            </a:solidFill>
            <a:effectLst/>
          </c:spPr>
          <c:invertIfNegative val="0"/>
          <c:dLbls>
            <c:numFmt formatCode="0.000" sourceLinked="0"/>
            <c:txPr>
              <a:bodyPr/>
              <a:lstStyle/>
              <a:p>
                <a:pPr>
                  <a:defRPr b="0" i="0" strike="noStrike" sz="1000" u="none">
                    <a:solidFill>
                      <a:srgbClr val="22314D"/>
                    </a:solidFill>
                    <a:latin typeface="Calibri"/>
                  </a:defRPr>
                </a:pPr>
              </a:p>
            </c:txPr>
            <c:showLegendKey val="0"/>
            <c:showVal val="1"/>
            <c:showCatName val="0"/>
            <c:showSerName val="0"/>
            <c:showPercent val="0"/>
            <c:showBubbleSize val="0"/>
            <c:showLeaderLines val="0"/>
          </c:dLbls>
          <c:cat>
            <c:multiLvlStrRef>
              <c:f>Sheet1!$A$2:$A$6</c:f>
              <c:multiLvlStrCache>
                <c:ptCount val="5"/>
                <c:lvl>
                  <c:pt idx="0">
                    <c:v>0.10 s</c:v>
                  </c:pt>
                  <c:pt idx="1">
                    <c:v>0.15 s</c:v>
                  </c:pt>
                  <c:pt idx="2">
                    <c:v>0.20 s</c:v>
                  </c:pt>
                  <c:pt idx="3">
                    <c:v>0.25 s ✓</c:v>
                  </c:pt>
                  <c:pt idx="4">
                    <c:v>0.50 s</c:v>
                  </c:pt>
                </c:lvl>
              </c:multiLvlStrCache>
            </c:multiLvlStrRef>
          </c:cat>
          <c:val>
            <c:numRef>
              <c:f>Sheet1!$B$2:$B$6</c:f>
              <c:numCache>
                <c:formatCode>General</c:formatCode>
                <c:ptCount val="5"/>
                <c:pt idx="0">
                  <c:v>0.655</c:v>
                </c:pt>
                <c:pt idx="1">
                  <c:v>0.767</c:v>
                </c:pt>
                <c:pt idx="2">
                  <c:v>0.802</c:v>
                </c:pt>
                <c:pt idx="3">
                  <c:v>0.872</c:v>
                </c:pt>
                <c:pt idx="4">
                  <c:v>0.994</c:v>
                </c:pt>
              </c:numCache>
            </c:numRef>
          </c:val>
        </c:ser>
        <c:dLbls>
          <c:numFmt formatCode="0.000" sourceLinked="0"/>
          <c:txPr>
            <a:bodyPr/>
            <a:lstStyle/>
            <a:p>
              <a:pPr>
                <a:defRPr b="0" i="0" strike="noStrike" sz="1000" u="none">
                  <a:solidFill>
                    <a:srgbClr val="22314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22314D"/>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E7EDF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F718C"/>
                </a:solidFill>
                <a:latin typeface="Calibri"/>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your time. My dissertation is titled 'Time-Expanded Perch Embeddings for Feeding-Buzz Detection, Retrieval and Field Candidate Discovery.'
It sits between bat bioacoustics and machine learning, and asks one question: moving a feeding-buzz detector from curated clips to real field recordings, how much does the representation of the sound matter?
[~24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Passive acoustic monitoring is now standard in biodiversity work — recorders sit in the field for weeks with almost no disturbance to the animals. The problem is what comes afterwards: many hours of audio for very few events of interest. In my Kenya subset alone, 9.4 hours became 270,156 analysis windows to score.
Automated detectors reduce that workload, but a detector never sees the sound — it sees a numerical representation of it, and different feature strategies give different answers on the same recordings.
Feeding buzzes are a good test case. Behaviourally they matter: in the terminal phase of prey pursuit, call rates can exceed 200 vocalisations per second, so a buzz is evidence of foraging, not just of presence. Acoustically they are hard — brief, ultrasonic at 384 kilohertz, and easily confused with other short pulse trains.
[~60 s]  可删: 第二段可删（约 8 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Specialised detectors already exist. Buzzfindr uses hand-crafted pulse timing and signal statistics, developed on Ontario recordings. BatBuddy uses a deep-learning object detector over spectrogram images, trained on Dutch recordings. Both do well on their own held-out data — and both sets of authors note that broader geographic transfer still needs validation.
So I asked three questions. Representation: does a pretrained Perch v2 representation generalise across held-out recording groups better than simpler spectral statistics? Retrieval: how well do those representations support similarity search, with no threshold fixed? And field transfer: can a detector built on curated clips support candidate discovery in long, noisy, unlabelled field audio?
[~46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datasets. The labelled set comes from Buzzfindr: all 158 buzz clips plus 158 non-buzz clips sampled with a fixed seed — 316 balanced files across six folders and five Ontario locations, all 384 kilohertz. Note the highlighted rows: buzzes_sp and buzzes_spmylu are both Site 4. That matters later.
The field set is a deployment at site MT18 in the Mara Triangle, Kenya — 564 one-minute recordings, 9.4 hours, one AudioMoth. Crucially there is no exhaustive ground truth, and that bounds what I can claim from it.
[~38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compared three complete pipelines behind one identical detector — standardisation plus L2-regularised logistic regression. Because the classifier is held constant, any difference is attributable to the representation.
The baseline is 1,543 dimensions: the temporal mean, standard deviation and maximum for each of 513 frequency bins. The compact version asks whether that detail is necessary — 64 bands instead of 513 bins, 199 features. The third is Perch v2: frozen, pretrained on multi-taxa data, no fine-tuning, one 1,536-dimensional embedding per clip. That one needed an input adaptation.
[~38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Perch could not take my audio directly. Its frontend assumes 32 kilohertz, which represents frequencies only up to 16 kilohertz — my bat calls live far above that, and ordinary resampling would simply discard the signal.
So instead of resampling down to 32k, I resampled 384 to 320 kilohertz and let the 32 kilohertz frontend read those samples as its own. That is an exact tenfold time expansion: 0.25 seconds is heard as 2.5, with frequency shifted down by the same factor. It preserves the relative pulse pattern and moves it into a range Perch can process.
Only the Perch route carries that conversion — so what follows compares complete pipelines, not embedding architectures under identical preprocessing.
[~51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evaluated at three increasing levels of difficulty. A stratified random split as a conventional benchmark. A grouped-site split, holding out two geographically distinct folders. And six-fold leave-one-folder-out, refitting the scaler and detector inside every round.
For retrieval, all 158 buzz clips were queries, the query's own folder was excluded, and candidates were ranked by cosine similarity against a seeded random baseline.
One caveat I'll state up front rather than be asked about: buzzes_sp and buzzes_spmylu are both Site 4. So these are folder-level robustness results, not strict five-location isolation.
[~39 s]  可删: 第二段可缩为一句（约 6 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grouped-site test turned out to be easy — all three reached an F1 of 1.0, so that test did not discriminate between them.
Leave-one-folder-out is where they separate. Mean F1 was 0.872 for the baseline, 0.870 for compact, 0.989 for Perch. But the more informative number is the worst folder — the amber bars: 0.727, 0.691, and 0.950. Standard deviation across rounds was 0.020 for Perch, against roughly 0.10 for both spectral pipelines. Perch is not just better on average; it is far more stable when the held-out data changes.
And compact matched baseline to within 0.002 F1 using one-eighth of the dimensions.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shows the same ranking without fixing any threshold. Macro-averaged Precision at 10 was 0.831, 0.830, and 0.984 for Perch — against a random floor of 0.500.
Perch's average precision over the full list was 0.879 — lower than its own top-k precision, so its separation is concentrated near the top of the ranking. For a review workflow, where the annotator inspects the highest-ranked candidates first, that is the right shape.
The balanced pool does make this easier than real field data, where buzzes are far rarer.
[~38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honest test: 564 unlabelled recordings, 270,156 windows, both detectors applied. Perch was the more conservative — 2.14% of windows above 0.95, against 4.43% for the baseline. Different score scales, so this compares how they prioritised the recordings, not their precision.
I then manually reviewed 69 candidates, each from a different one-minute recording, using the 0.25-second window, 1.25 seconds of context, pulse timing and time-expanded audio. Nineteen — 27.5% — were buzz-like. But the largest category, 27 candidates or 39.1%, was insect-like pulse trains.
These were selected by Perch score, so those proportions describe the reviewed set, not prevalence.
[~43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field finding. Inside a 0.25-second window, a feeding buzz and an insect pulse train can both look like dense repeated pulses — which is why so many scored highly.
It is the surrounding second that separates them. Insect sequences are regular and continue far longer; buzz-like sequences are shorter, change faster, and stop. That points at a design change: wider contextual windows, or a second-stage model that examines the temporal neighbourhood around a high-scoring window.
And the 27 insect-like candidates are not a waste — they are ready-made hard negatives for an active-learning cycle.
[~43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flag the limitations myself than defend them.
First, the Site 4 folder pairing — my LOFO and retrieval numbers may be optimistic relative to a strict five-location rerun. The grouped-site test does remain geographically isolated.
Second, a duration confound. At a 0.5-second window, class label aligned perfectly with padded-versus-cropped — an obvious shortcut. I chose 0.25 seconds to weaken it, but 127 buzz clips were still padded, and Perch should not be assumed immune just because its features are pretrained.
Third, only the Perch route carries the resampling, so I compare pipelines rather than isolating the embedding. And fourth, Kenya has no ground truth, so those review proportions are descriptive — I cannot report event-level precision or recall.
[~53 s]  可删: 第四段的「Third」一句可删（约 8 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On RQ1, after tenfold time expansion, frozen Perch embeddings gave the strongest and most stable folder-held-out detection — mean F1 0.989, standard deviation 0.020. On RQ2, the same ordering in retrieval, Precision at 10 of 0.984. On RQ3, in the field, representation choice is necessary but not sufficient — temporal context and human review still do essential work.
A secondary result worth keeping: 199 compact dimensions matched 1,543 baseline dimensions almost exactly. More hand-crafted features are not automatically better.
The most useful next step is an independently sampled, exhaustively reviewed Kenya subset — event-level precision and recall, both detectors on the same confirmed events, and those insect-like candidates as hard negatives.
[~49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I'm happy to take questions.
[~3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3"/>
        </a:solidFill>
      </p:bgPr>
    </p:bg>
    <p:spTree>
      <p:nvGrpSpPr>
        <p:cNvPr id="1" name=""/>
        <p:cNvGrpSpPr/>
        <p:nvPr/>
      </p:nvGrpSpPr>
      <p:grpSpPr>
        <a:xfrm>
          <a:off x="0" y="0"/>
          <a:ext cx="0" cy="0"/>
          <a:chOff x="0" y="0"/>
          <a:chExt cx="0" cy="0"/>
        </a:xfrm>
      </p:grpSpPr>
      <p:pic>
        <p:nvPicPr>
          <p:cNvPr id="2" name="Image 0" descr="/home/user/valentown/docs/thesis-defence/build/spec_strip.png">    </p:cNvPr>
          <p:cNvPicPr>
            <a:picLocks noChangeAspect="1"/>
          </p:cNvPicPr>
          <p:nvPr/>
        </p:nvPicPr>
        <p:blipFill>
          <a:blip r:embed="rId1"/>
          <a:stretch>
            <a:fillRect/>
          </a:stretch>
        </p:blipFill>
        <p:spPr>
          <a:xfrm>
            <a:off x="0" y="3931920"/>
            <a:ext cx="12191695" cy="1325880"/>
          </a:xfrm>
          <a:prstGeom prst="rect">
            <a:avLst/>
          </a:prstGeom>
        </p:spPr>
      </p:pic>
      <p:pic>
        <p:nvPicPr>
          <p:cNvPr id="3" name="Image 1" descr="/home/user/valentown/docs/thesis-defence/build/bat_white_bones.png">    </p:cNvPr>
          <p:cNvPicPr>
            <a:picLocks noChangeAspect="1"/>
          </p:cNvPicPr>
          <p:nvPr/>
        </p:nvPicPr>
        <p:blipFill>
          <a:blip r:embed="rId2">
            <a:alphaModFix amt="82000"/>
          </a:blip>
          <a:stretch>
            <a:fillRect/>
          </a:stretch>
        </p:blipFill>
        <p:spPr>
          <a:xfrm>
            <a:off x="566928" y="4315968"/>
            <a:ext cx="1517904" cy="342900"/>
          </a:xfrm>
          <a:prstGeom prst="rect">
            <a:avLst/>
          </a:prstGeom>
        </p:spPr>
      </p:pic>
      <p:sp>
        <p:nvSpPr>
          <p:cNvPr id="4" name="Text 0"/>
          <p:cNvSpPr txBox="1"/>
          <p:nvPr/>
        </p:nvSpPr>
        <p:spPr>
          <a:xfrm>
            <a:off x="822960" y="1078992"/>
            <a:ext cx="10515600" cy="274320"/>
          </a:xfrm>
          <a:prstGeom prst="rect">
            <a:avLst/>
          </a:prstGeom>
          <a:noFill/>
          <a:ln/>
        </p:spPr>
        <p:txBody>
          <a:bodyPr wrap="square" lIns="0" tIns="0" rIns="0" bIns="0" rtlCol="0" anchor="ctr"/>
          <a:lstStyle/>
          <a:p>
            <a:pPr indent="0" marL="0">
              <a:buNone/>
            </a:pPr>
            <a:r>
              <a:rPr lang="en-US" sz="1300" b="1" spc="140" kern="0" dirty="0">
                <a:solidFill>
                  <a:srgbClr val="F2A541"/>
                </a:solidFill>
                <a:latin typeface="Calibri" pitchFamily="34" charset="0"/>
                <a:ea typeface="Calibri" pitchFamily="34" charset="-122"/>
                <a:cs typeface="Calibri" pitchFamily="34" charset="-120"/>
              </a:rPr>
              <a:t>MSc Ecology and Data Science  ·  Dissertation defence</a:t>
            </a:r>
            <a:endParaRPr lang="en-US" sz="1300" dirty="0"/>
          </a:p>
        </p:txBody>
      </p:sp>
      <p:sp>
        <p:nvSpPr>
          <p:cNvPr id="5" name="Text 1"/>
          <p:cNvSpPr txBox="1"/>
          <p:nvPr/>
        </p:nvSpPr>
        <p:spPr>
          <a:xfrm>
            <a:off x="822960" y="1481328"/>
            <a:ext cx="10515600" cy="210312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Time-Expanded Perch Embeddings for</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Feeding-Buzz Detection, Retrieval</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and Field Candidate Discovery</a:t>
            </a:r>
            <a:endParaRPr lang="en-US" sz="3800" dirty="0"/>
          </a:p>
        </p:txBody>
      </p:sp>
      <p:sp>
        <p:nvSpPr>
          <p:cNvPr id="6" name="Text 2"/>
          <p:cNvSpPr txBox="1"/>
          <p:nvPr/>
        </p:nvSpPr>
        <p:spPr>
          <a:xfrm>
            <a:off x="822960" y="5504688"/>
            <a:ext cx="7315200" cy="914400"/>
          </a:xfrm>
          <a:prstGeom prst="rect">
            <a:avLst/>
          </a:prstGeom>
          <a:noFill/>
          <a:ln/>
        </p:spPr>
        <p:txBody>
          <a:bodyPr wrap="square" lIns="0" tIns="0" rIns="0" bIns="0" rtlCol="0" anchor="ctr"/>
          <a:lstStyle/>
          <a:p>
            <a:pPr indent="0" marL="0">
              <a:lnSpc>
                <a:spcPts val="1900"/>
              </a:lnSpc>
              <a:buNone/>
            </a:pPr>
            <a:r>
              <a:rPr lang="en-US" sz="1250" b="1" dirty="0">
                <a:solidFill>
                  <a:srgbClr val="FFFFFF"/>
                </a:solidFill>
                <a:latin typeface="Calibri" pitchFamily="34" charset="0"/>
                <a:ea typeface="Calibri" pitchFamily="34" charset="-122"/>
                <a:cs typeface="Calibri" pitchFamily="34" charset="-120"/>
              </a:rPr>
              <a:t>Candidate WPNS1</a:t>
            </a:r>
            <a:endParaRPr lang="en-US" sz="1250" dirty="0"/>
          </a:p>
          <a:p>
            <a:pPr indent="0" marL="0">
              <a:lnSpc>
                <a:spcPts val="1900"/>
              </a:lnSpc>
              <a:buNone/>
            </a:pPr>
            <a:r>
              <a:rPr lang="en-US" sz="1250" dirty="0">
                <a:solidFill>
                  <a:srgbClr val="AFC0D8"/>
                </a:solidFill>
                <a:latin typeface="Calibri" pitchFamily="34" charset="0"/>
                <a:ea typeface="Calibri" pitchFamily="34" charset="-122"/>
                <a:cs typeface="Calibri" pitchFamily="34" charset="-120"/>
              </a:rPr>
              <a:t>Supervisors: Santiago Martinez Balvanera · Kate Jones</a:t>
            </a:r>
            <a:endParaRPr lang="en-US" sz="1250" dirty="0"/>
          </a:p>
          <a:p>
            <a:pPr indent="0" marL="0">
              <a:lnSpc>
                <a:spcPts val="1900"/>
              </a:lnSpc>
              <a:buNone/>
            </a:pPr>
            <a:r>
              <a:rPr lang="en-US" sz="1250" dirty="0">
                <a:solidFill>
                  <a:srgbClr val="AFC0D8"/>
                </a:solidFill>
                <a:latin typeface="Calibri" pitchFamily="34" charset="0"/>
                <a:ea typeface="Calibri" pitchFamily="34" charset="-122"/>
                <a:cs typeface="Calibri" pitchFamily="34" charset="-120"/>
              </a:rPr>
              <a:t>BIOS0057 · University College London · 2025–2026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MOTIVATION</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Hours of audio, seconds of signal</a:t>
            </a:r>
            <a:endParaRPr lang="en-US" sz="3000" dirty="0"/>
          </a:p>
        </p:txBody>
      </p:sp>
      <p:sp>
        <p:nvSpPr>
          <p:cNvPr id="4" name="Shape 2"/>
          <p:cNvSpPr/>
          <p:nvPr/>
        </p:nvSpPr>
        <p:spPr>
          <a:xfrm>
            <a:off x="566928" y="1536192"/>
            <a:ext cx="3466490" cy="1298448"/>
          </a:xfrm>
          <a:prstGeom prst="roundRect">
            <a:avLst>
              <a:gd name="adj" fmla="val 4930"/>
            </a:avLst>
          </a:prstGeom>
          <a:solidFill>
            <a:srgbClr val="F2F5F9"/>
          </a:solidFill>
          <a:ln w="9525">
            <a:solidFill>
              <a:srgbClr val="D5DEEA"/>
            </a:solidFill>
            <a:prstDash val="solid"/>
          </a:ln>
        </p:spPr>
      </p:sp>
      <p:sp>
        <p:nvSpPr>
          <p:cNvPr id="5" name="Text 3"/>
          <p:cNvSpPr txBox="1"/>
          <p:nvPr/>
        </p:nvSpPr>
        <p:spPr>
          <a:xfrm>
            <a:off x="768096" y="1645920"/>
            <a:ext cx="3064154" cy="658368"/>
          </a:xfrm>
          <a:prstGeom prst="rect">
            <a:avLst/>
          </a:prstGeom>
          <a:noFill/>
          <a:ln/>
        </p:spPr>
        <p:txBody>
          <a:bodyPr wrap="square" lIns="0" tIns="0" rIns="0" bIns="0" rtlCol="0" anchor="ctr"/>
          <a:lstStyle/>
          <a:p>
            <a:pPr indent="0" marL="0">
              <a:buNone/>
            </a:pPr>
            <a:r>
              <a:rPr lang="en-US" sz="3600" b="1" dirty="0">
                <a:solidFill>
                  <a:srgbClr val="1E7A70"/>
                </a:solidFill>
                <a:latin typeface="Cambria" pitchFamily="34" charset="0"/>
                <a:ea typeface="Cambria" pitchFamily="34" charset="-122"/>
                <a:cs typeface="Cambria" pitchFamily="34" charset="-120"/>
              </a:rPr>
              <a:t>9.4 h</a:t>
            </a:r>
            <a:endParaRPr lang="en-US" sz="3600" dirty="0"/>
          </a:p>
        </p:txBody>
      </p:sp>
      <p:sp>
        <p:nvSpPr>
          <p:cNvPr id="6" name="Text 4"/>
          <p:cNvSpPr txBox="1"/>
          <p:nvPr/>
        </p:nvSpPr>
        <p:spPr>
          <a:xfrm>
            <a:off x="768096" y="2286000"/>
            <a:ext cx="3064154" cy="438912"/>
          </a:xfrm>
          <a:prstGeom prst="rect">
            <a:avLst/>
          </a:prstGeom>
          <a:noFill/>
          <a:ln/>
        </p:spPr>
        <p:txBody>
          <a:bodyPr wrap="square" lIns="0" tIns="0" rIns="0" bIns="0" rtlCol="0" anchor="ctr"/>
          <a:lstStyle/>
          <a:p>
            <a:pPr indent="0" marL="0">
              <a:buNone/>
            </a:pPr>
            <a:r>
              <a:rPr lang="en-US" sz="1200" dirty="0">
                <a:solidFill>
                  <a:srgbClr val="5F718C"/>
                </a:solidFill>
                <a:latin typeface="Calibri" pitchFamily="34" charset="0"/>
                <a:ea typeface="Calibri" pitchFamily="34" charset="-122"/>
                <a:cs typeface="Calibri" pitchFamily="34" charset="-120"/>
              </a:rPr>
              <a:t>of Kenya field audio analysed</a:t>
            </a:r>
            <a:endParaRPr lang="en-US" sz="1200" dirty="0"/>
          </a:p>
        </p:txBody>
      </p:sp>
      <p:sp>
        <p:nvSpPr>
          <p:cNvPr id="7" name="Shape 5"/>
          <p:cNvSpPr/>
          <p:nvPr/>
        </p:nvSpPr>
        <p:spPr>
          <a:xfrm>
            <a:off x="4362602" y="1536192"/>
            <a:ext cx="3466490" cy="1298448"/>
          </a:xfrm>
          <a:prstGeom prst="roundRect">
            <a:avLst>
              <a:gd name="adj" fmla="val 4930"/>
            </a:avLst>
          </a:prstGeom>
          <a:solidFill>
            <a:srgbClr val="F2F5F9"/>
          </a:solidFill>
          <a:ln w="9525">
            <a:solidFill>
              <a:srgbClr val="D5DEEA"/>
            </a:solidFill>
            <a:prstDash val="solid"/>
          </a:ln>
        </p:spPr>
      </p:sp>
      <p:sp>
        <p:nvSpPr>
          <p:cNvPr id="8" name="Text 6"/>
          <p:cNvSpPr txBox="1"/>
          <p:nvPr/>
        </p:nvSpPr>
        <p:spPr>
          <a:xfrm>
            <a:off x="4563770" y="1645920"/>
            <a:ext cx="3064154" cy="658368"/>
          </a:xfrm>
          <a:prstGeom prst="rect">
            <a:avLst/>
          </a:prstGeom>
          <a:noFill/>
          <a:ln/>
        </p:spPr>
        <p:txBody>
          <a:bodyPr wrap="square" lIns="0" tIns="0" rIns="0" bIns="0" rtlCol="0" anchor="ctr"/>
          <a:lstStyle/>
          <a:p>
            <a:pPr indent="0" marL="0">
              <a:buNone/>
            </a:pPr>
            <a:r>
              <a:rPr lang="en-US" sz="3600" b="1" dirty="0">
                <a:solidFill>
                  <a:srgbClr val="1E7A70"/>
                </a:solidFill>
                <a:latin typeface="Cambria" pitchFamily="34" charset="0"/>
                <a:ea typeface="Cambria" pitchFamily="34" charset="-122"/>
                <a:cs typeface="Cambria" pitchFamily="34" charset="-120"/>
              </a:rPr>
              <a:t>270,156</a:t>
            </a:r>
            <a:endParaRPr lang="en-US" sz="3600" dirty="0"/>
          </a:p>
        </p:txBody>
      </p:sp>
      <p:sp>
        <p:nvSpPr>
          <p:cNvPr id="9" name="Text 7"/>
          <p:cNvSpPr txBox="1"/>
          <p:nvPr/>
        </p:nvSpPr>
        <p:spPr>
          <a:xfrm>
            <a:off x="4563770" y="2286000"/>
            <a:ext cx="3064154" cy="438912"/>
          </a:xfrm>
          <a:prstGeom prst="rect">
            <a:avLst/>
          </a:prstGeom>
          <a:noFill/>
          <a:ln/>
        </p:spPr>
        <p:txBody>
          <a:bodyPr wrap="square" lIns="0" tIns="0" rIns="0" bIns="0" rtlCol="0" anchor="ctr"/>
          <a:lstStyle/>
          <a:p>
            <a:pPr indent="0" marL="0">
              <a:buNone/>
            </a:pPr>
            <a:r>
              <a:rPr lang="en-US" sz="1200" dirty="0">
                <a:solidFill>
                  <a:srgbClr val="5F718C"/>
                </a:solidFill>
                <a:latin typeface="Calibri" pitchFamily="34" charset="0"/>
                <a:ea typeface="Calibri" pitchFamily="34" charset="-122"/>
                <a:cs typeface="Calibri" pitchFamily="34" charset="-120"/>
              </a:rPr>
              <a:t>0.25 s windows to be scored</a:t>
            </a:r>
            <a:endParaRPr lang="en-US" sz="1200" dirty="0"/>
          </a:p>
        </p:txBody>
      </p:sp>
      <p:sp>
        <p:nvSpPr>
          <p:cNvPr id="10" name="Shape 8"/>
          <p:cNvSpPr/>
          <p:nvPr/>
        </p:nvSpPr>
        <p:spPr>
          <a:xfrm>
            <a:off x="8158277" y="1536192"/>
            <a:ext cx="3466490" cy="1298448"/>
          </a:xfrm>
          <a:prstGeom prst="roundRect">
            <a:avLst>
              <a:gd name="adj" fmla="val 4930"/>
            </a:avLst>
          </a:prstGeom>
          <a:solidFill>
            <a:srgbClr val="0E1B33"/>
          </a:solidFill>
          <a:ln w="9525">
            <a:solidFill>
              <a:srgbClr val="0E1B33"/>
            </a:solidFill>
            <a:prstDash val="solid"/>
          </a:ln>
        </p:spPr>
      </p:sp>
      <p:sp>
        <p:nvSpPr>
          <p:cNvPr id="11" name="Text 9"/>
          <p:cNvSpPr txBox="1"/>
          <p:nvPr/>
        </p:nvSpPr>
        <p:spPr>
          <a:xfrm>
            <a:off x="8359445" y="1645920"/>
            <a:ext cx="3064154" cy="658368"/>
          </a:xfrm>
          <a:prstGeom prst="rect">
            <a:avLst/>
          </a:prstGeom>
          <a:noFill/>
          <a:ln/>
        </p:spPr>
        <p:txBody>
          <a:bodyPr wrap="square" lIns="0" tIns="0" rIns="0" bIns="0" rtlCol="0" anchor="ctr"/>
          <a:lstStyle/>
          <a:p>
            <a:pPr indent="0" marL="0">
              <a:buNone/>
            </a:pPr>
            <a:r>
              <a:rPr lang="en-US" sz="3600" b="1" dirty="0">
                <a:solidFill>
                  <a:srgbClr val="F2A541"/>
                </a:solidFill>
                <a:latin typeface="Cambria" pitchFamily="34" charset="0"/>
                <a:ea typeface="Cambria" pitchFamily="34" charset="-122"/>
                <a:cs typeface="Cambria" pitchFamily="34" charset="-120"/>
              </a:rPr>
              <a:t>&gt; 200 / s</a:t>
            </a:r>
            <a:endParaRPr lang="en-US" sz="3600" dirty="0"/>
          </a:p>
        </p:txBody>
      </p:sp>
      <p:sp>
        <p:nvSpPr>
          <p:cNvPr id="12" name="Text 10"/>
          <p:cNvSpPr txBox="1"/>
          <p:nvPr/>
        </p:nvSpPr>
        <p:spPr>
          <a:xfrm>
            <a:off x="8359445" y="2286000"/>
            <a:ext cx="3064154" cy="438912"/>
          </a:xfrm>
          <a:prstGeom prst="rect">
            <a:avLst/>
          </a:prstGeom>
          <a:noFill/>
          <a:ln/>
        </p:spPr>
        <p:txBody>
          <a:bodyPr wrap="square" lIns="0" tIns="0" rIns="0" bIns="0" rtlCol="0" anchor="ctr"/>
          <a:lstStyle/>
          <a:p>
            <a:pPr indent="0" marL="0">
              <a:buNone/>
            </a:pPr>
            <a:r>
              <a:rPr lang="en-US" sz="1200" dirty="0">
                <a:solidFill>
                  <a:srgbClr val="C3D2E8"/>
                </a:solidFill>
                <a:latin typeface="Calibri" pitchFamily="34" charset="0"/>
                <a:ea typeface="Calibri" pitchFamily="34" charset="-122"/>
                <a:cs typeface="Calibri" pitchFamily="34" charset="-120"/>
              </a:rPr>
              <a:t>call rate inside a terminal buzz</a:t>
            </a:r>
            <a:endParaRPr lang="en-US" sz="1200" dirty="0"/>
          </a:p>
        </p:txBody>
      </p:sp>
      <p:sp>
        <p:nvSpPr>
          <p:cNvPr id="13" name="Text 11"/>
          <p:cNvSpPr txBox="1"/>
          <p:nvPr/>
        </p:nvSpPr>
        <p:spPr>
          <a:xfrm>
            <a:off x="566928" y="3017520"/>
            <a:ext cx="5852160" cy="310896"/>
          </a:xfrm>
          <a:prstGeom prst="rect">
            <a:avLst/>
          </a:prstGeom>
          <a:noFill/>
          <a:ln/>
        </p:spPr>
        <p:txBody>
          <a:bodyPr wrap="square" lIns="0" tIns="0" rIns="0" bIns="0" rtlCol="0" anchor="ctr"/>
          <a:lstStyle/>
          <a:p>
            <a:pPr indent="0" marL="0">
              <a:buNone/>
            </a:pPr>
            <a:r>
              <a:rPr lang="en-US" sz="1500" b="1" dirty="0">
                <a:solidFill>
                  <a:srgbClr val="0E1B33"/>
                </a:solidFill>
                <a:latin typeface="Calibri" pitchFamily="34" charset="0"/>
                <a:ea typeface="Calibri" pitchFamily="34" charset="-122"/>
                <a:cs typeface="Calibri" pitchFamily="34" charset="-120"/>
              </a:rPr>
              <a:t>The recording scales. The analysis does not.</a:t>
            </a:r>
            <a:endParaRPr lang="en-US" sz="1500" dirty="0"/>
          </a:p>
        </p:txBody>
      </p:sp>
      <p:sp>
        <p:nvSpPr>
          <p:cNvPr id="14" name="Text 12"/>
          <p:cNvSpPr txBox="1"/>
          <p:nvPr/>
        </p:nvSpPr>
        <p:spPr>
          <a:xfrm>
            <a:off x="566928" y="3474720"/>
            <a:ext cx="5852160" cy="2011680"/>
          </a:xfrm>
          <a:prstGeom prst="rect">
            <a:avLst/>
          </a:prstGeom>
          <a:noFill/>
          <a:ln/>
        </p:spPr>
        <p:txBody>
          <a:bodyPr wrap="square" rtlCol="0" anchor="t"/>
          <a:lstStyle/>
          <a:p>
            <a:pPr marL="342900" indent="-342900">
              <a:lnSpc>
                <a:spcPts val="2000"/>
              </a:lnSpc>
              <a:spcAft>
                <a:spcPts val="700"/>
              </a:spcAft>
              <a:buSzPct val="100000"/>
              <a:buChar char="•"/>
            </a:pPr>
            <a:r>
              <a:rPr lang="en-US" sz="1350" dirty="0">
                <a:solidFill>
                  <a:srgbClr val="22314D"/>
                </a:solidFill>
                <a:latin typeface="Calibri" pitchFamily="34" charset="0"/>
                <a:ea typeface="Calibri" pitchFamily="34" charset="-122"/>
                <a:cs typeface="Calibri" pitchFamily="34" charset="-120"/>
              </a:rPr>
              <a:t>Recorders sit in the field for weeks with almost no disturbance to the animals.</a:t>
            </a:r>
            <a:endParaRPr lang="en-US" sz="1350" dirty="0"/>
          </a:p>
          <a:p>
            <a:pPr marL="342900" indent="-342900">
              <a:lnSpc>
                <a:spcPts val="2000"/>
              </a:lnSpc>
              <a:spcAft>
                <a:spcPts val="700"/>
              </a:spcAft>
              <a:buSzPct val="100000"/>
              <a:buChar char="•"/>
            </a:pPr>
            <a:r>
              <a:rPr lang="en-US" sz="1350" dirty="0">
                <a:solidFill>
                  <a:srgbClr val="22314D"/>
                </a:solidFill>
                <a:latin typeface="Calibri" pitchFamily="34" charset="0"/>
                <a:ea typeface="Calibri" pitchFamily="34" charset="-122"/>
                <a:cs typeface="Calibri" pitchFamily="34" charset="-120"/>
              </a:rPr>
              <a:t>A survey returns many hours of audio for very few events of interest.</a:t>
            </a:r>
            <a:endParaRPr lang="en-US" sz="1350" dirty="0"/>
          </a:p>
          <a:p>
            <a:pPr marL="342900" indent="-342900">
              <a:lnSpc>
                <a:spcPts val="2000"/>
              </a:lnSpc>
              <a:spcAft>
                <a:spcPts val="700"/>
              </a:spcAft>
              <a:buSzPct val="100000"/>
              <a:buChar char="•"/>
            </a:pPr>
            <a:r>
              <a:rPr lang="en-US" sz="1350" dirty="0">
                <a:solidFill>
                  <a:srgbClr val="22314D"/>
                </a:solidFill>
                <a:latin typeface="Calibri" pitchFamily="34" charset="0"/>
                <a:ea typeface="Calibri" pitchFamily="34" charset="-122"/>
                <a:cs typeface="Calibri" pitchFamily="34" charset="-120"/>
              </a:rPr>
              <a:t>Automated detectors cut that workload — but a detector only ever sees a numerical representation of the sound, and different feature strategies give different answers on the same recordings.</a:t>
            </a:r>
            <a:endParaRPr lang="en-US" sz="1350" dirty="0"/>
          </a:p>
        </p:txBody>
      </p:sp>
      <p:pic>
        <p:nvPicPr>
          <p:cNvPr id="15" name="Image 0" descr="/home/user/valentown/docs/thesis-defence/build/spec_buzz_lead.png">    </p:cNvPr>
          <p:cNvPicPr>
            <a:picLocks noChangeAspect="1"/>
          </p:cNvPicPr>
          <p:nvPr/>
        </p:nvPicPr>
        <p:blipFill>
          <a:blip r:embed="rId1"/>
          <a:stretch>
            <a:fillRect/>
          </a:stretch>
        </p:blipFill>
        <p:spPr>
          <a:xfrm>
            <a:off x="6675120" y="3054096"/>
            <a:ext cx="4946904" cy="1133856"/>
          </a:xfrm>
          <a:prstGeom prst="rect">
            <a:avLst/>
          </a:prstGeom>
        </p:spPr>
      </p:pic>
      <p:pic>
        <p:nvPicPr>
          <p:cNvPr id="16" name="Image 1" descr="/home/user/valentown/docs/thesis-defence/build/bat_white.png">    </p:cNvPr>
          <p:cNvPicPr>
            <a:picLocks noChangeAspect="1"/>
          </p:cNvPicPr>
          <p:nvPr/>
        </p:nvPicPr>
        <p:blipFill>
          <a:blip r:embed="rId2">
            <a:alphaModFix amt="88000"/>
          </a:blip>
          <a:stretch>
            <a:fillRect/>
          </a:stretch>
        </p:blipFill>
        <p:spPr>
          <a:xfrm>
            <a:off x="6876288" y="3456432"/>
            <a:ext cx="1060704" cy="239573"/>
          </a:xfrm>
          <a:prstGeom prst="rect">
            <a:avLst/>
          </a:prstGeom>
        </p:spPr>
      </p:pic>
      <p:sp>
        <p:nvSpPr>
          <p:cNvPr id="17" name="Text 13"/>
          <p:cNvSpPr txBox="1"/>
          <p:nvPr/>
        </p:nvSpPr>
        <p:spPr>
          <a:xfrm>
            <a:off x="6675120" y="4297680"/>
            <a:ext cx="4946904" cy="822960"/>
          </a:xfrm>
          <a:prstGeom prst="rect">
            <a:avLst/>
          </a:prstGeom>
          <a:noFill/>
          <a:ln/>
        </p:spPr>
        <p:txBody>
          <a:bodyPr wrap="square" lIns="0" tIns="0" rIns="0" bIns="0" rtlCol="0" anchor="t"/>
          <a:lstStyle/>
          <a:p>
            <a:pPr indent="0" marL="0">
              <a:buNone/>
            </a:pPr>
            <a:r>
              <a:rPr lang="en-US" sz="1150" i="1" dirty="0">
                <a:solidFill>
                  <a:srgbClr val="5F718C"/>
                </a:solidFill>
                <a:latin typeface="Calibri" pitchFamily="34" charset="0"/>
                <a:ea typeface="Calibri" pitchFamily="34" charset="-122"/>
                <a:cs typeface="Calibri" pitchFamily="34" charset="-120"/>
              </a:rPr>
              <a:t>A feeding buzz: search-phase calls compress into a terminal buzz, then stop. Brief, ultrasonic (recorded at 384 kHz), and evidence of foraging — not just of presence.</a:t>
            </a:r>
            <a:endParaRPr lang="en-US" sz="1150" dirty="0"/>
          </a:p>
        </p:txBody>
      </p:sp>
      <p:sp>
        <p:nvSpPr>
          <p:cNvPr id="18" name="Text 14"/>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Motivation</a:t>
            </a:r>
            <a:endParaRPr lang="en-US" sz="950" dirty="0"/>
          </a:p>
        </p:txBody>
      </p:sp>
      <p:sp>
        <p:nvSpPr>
          <p:cNvPr id="19" name="Text 15"/>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THE GAP</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Detectors exist; transfer is untested</a:t>
            </a:r>
            <a:endParaRPr lang="en-US" sz="3000" dirty="0"/>
          </a:p>
        </p:txBody>
      </p:sp>
      <p:sp>
        <p:nvSpPr>
          <p:cNvPr id="4" name="Shape 2"/>
          <p:cNvSpPr/>
          <p:nvPr/>
        </p:nvSpPr>
        <p:spPr>
          <a:xfrm>
            <a:off x="566928" y="1481328"/>
            <a:ext cx="11057839" cy="1261872"/>
          </a:xfrm>
          <a:prstGeom prst="roundRect">
            <a:avLst>
              <a:gd name="adj" fmla="val 5072"/>
            </a:avLst>
          </a:prstGeom>
          <a:solidFill>
            <a:srgbClr val="F2F5F9"/>
          </a:solidFill>
          <a:ln w="9525">
            <a:solidFill>
              <a:srgbClr val="D5DEEA"/>
            </a:solidFill>
            <a:prstDash val="solid"/>
          </a:ln>
        </p:spPr>
      </p:sp>
      <p:sp>
        <p:nvSpPr>
          <p:cNvPr id="5" name="Text 3"/>
          <p:cNvSpPr txBox="1"/>
          <p:nvPr/>
        </p:nvSpPr>
        <p:spPr>
          <a:xfrm>
            <a:off x="822960" y="1609344"/>
            <a:ext cx="10545775" cy="530352"/>
          </a:xfrm>
          <a:prstGeom prst="rect">
            <a:avLst/>
          </a:prstGeom>
          <a:noFill/>
          <a:ln/>
        </p:spPr>
        <p:txBody>
          <a:bodyPr wrap="square" lIns="0" tIns="0" rIns="0" bIns="0" rtlCol="0" anchor="t"/>
          <a:lstStyle/>
          <a:p>
            <a:pPr indent="0" marL="0">
              <a:lnSpc>
                <a:spcPts val="1900"/>
              </a:lnSpc>
              <a:buNone/>
            </a:pPr>
            <a:r>
              <a:rPr lang="en-US" sz="1350" b="1" dirty="0">
                <a:solidFill>
                  <a:srgbClr val="0E1B33"/>
                </a:solidFill>
                <a:latin typeface="Calibri" pitchFamily="34" charset="0"/>
                <a:ea typeface="Calibri" pitchFamily="34" charset="-122"/>
                <a:cs typeface="Calibri" pitchFamily="34" charset="-120"/>
              </a:rPr>
              <a:t>Buzzfindr</a:t>
            </a:r>
            <a:pPr indent="0" marL="0">
              <a:lnSpc>
                <a:spcPts val="1900"/>
              </a:lnSpc>
              <a:buNone/>
            </a:pPr>
            <a:r>
              <a:rPr lang="en-US" sz="1350" dirty="0">
                <a:solidFill>
                  <a:srgbClr val="22314D"/>
                </a:solidFill>
                <a:latin typeface="Calibri" pitchFamily="34" charset="0"/>
                <a:ea typeface="Calibri" pitchFamily="34" charset="-122"/>
                <a:cs typeface="Calibri" pitchFamily="34" charset="-120"/>
              </a:rPr>
              <a:t>  hand-crafted pulse timing + signal statistics, developed on Ontario recordings.   </a:t>
            </a:r>
            <a:pPr indent="0" marL="0">
              <a:lnSpc>
                <a:spcPts val="1900"/>
              </a:lnSpc>
              <a:buNone/>
            </a:pPr>
            <a:r>
              <a:rPr lang="en-US" sz="1350" b="1" dirty="0">
                <a:solidFill>
                  <a:srgbClr val="0E1B33"/>
                </a:solidFill>
                <a:latin typeface="Calibri" pitchFamily="34" charset="0"/>
                <a:ea typeface="Calibri" pitchFamily="34" charset="-122"/>
                <a:cs typeface="Calibri" pitchFamily="34" charset="-120"/>
              </a:rPr>
              <a:t>BatBuddy</a:t>
            </a:r>
            <a:pPr indent="0" marL="0">
              <a:lnSpc>
                <a:spcPts val="1900"/>
              </a:lnSpc>
              <a:buNone/>
            </a:pPr>
            <a:r>
              <a:rPr lang="en-US" sz="1350" dirty="0">
                <a:solidFill>
                  <a:srgbClr val="22314D"/>
                </a:solidFill>
                <a:latin typeface="Calibri" pitchFamily="34" charset="0"/>
                <a:ea typeface="Calibri" pitchFamily="34" charset="-122"/>
                <a:cs typeface="Calibri" pitchFamily="34" charset="-120"/>
              </a:rPr>
              <a:t>  a deep-learning object detector over spectrogram images, trained on Dutch recordings.</a:t>
            </a:r>
            <a:endParaRPr lang="en-US" sz="1350" dirty="0"/>
          </a:p>
        </p:txBody>
      </p:sp>
      <p:sp>
        <p:nvSpPr>
          <p:cNvPr id="6" name="Text 4"/>
          <p:cNvSpPr txBox="1"/>
          <p:nvPr/>
        </p:nvSpPr>
        <p:spPr>
          <a:xfrm>
            <a:off x="822960" y="2194560"/>
            <a:ext cx="10545775" cy="457200"/>
          </a:xfrm>
          <a:prstGeom prst="rect">
            <a:avLst/>
          </a:prstGeom>
          <a:noFill/>
          <a:ln/>
        </p:spPr>
        <p:txBody>
          <a:bodyPr wrap="square" lIns="0" tIns="0" rIns="0" bIns="0" rtlCol="0" anchor="t"/>
          <a:lstStyle/>
          <a:p>
            <a:pPr indent="0" marL="0">
              <a:buNone/>
            </a:pPr>
            <a:r>
              <a:rPr lang="en-US" sz="1250" i="1" dirty="0">
                <a:solidFill>
                  <a:srgbClr val="5F718C"/>
                </a:solidFill>
                <a:latin typeface="Calibri" pitchFamily="34" charset="0"/>
                <a:ea typeface="Calibri" pitchFamily="34" charset="-122"/>
                <a:cs typeface="Calibri" pitchFamily="34" charset="-120"/>
              </a:rPr>
              <a:t>Both perform well on their own held-out data — and both sets of authors note that broader geographic transfer still needs validation. Overall accuracy can hide large site-to-site differences.</a:t>
            </a:r>
            <a:endParaRPr lang="en-US" sz="1250" dirty="0"/>
          </a:p>
        </p:txBody>
      </p:sp>
      <p:sp>
        <p:nvSpPr>
          <p:cNvPr id="7" name="Shape 5"/>
          <p:cNvSpPr/>
          <p:nvPr/>
        </p:nvSpPr>
        <p:spPr>
          <a:xfrm>
            <a:off x="566928" y="2944368"/>
            <a:ext cx="3466490" cy="2615184"/>
          </a:xfrm>
          <a:prstGeom prst="roundRect">
            <a:avLst>
              <a:gd name="adj" fmla="val 2448"/>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8" name="Shape 6"/>
          <p:cNvSpPr/>
          <p:nvPr/>
        </p:nvSpPr>
        <p:spPr>
          <a:xfrm>
            <a:off x="822960" y="3163824"/>
            <a:ext cx="384048" cy="384048"/>
          </a:xfrm>
          <a:prstGeom prst="ellipse">
            <a:avLst/>
          </a:prstGeom>
          <a:solidFill>
            <a:srgbClr val="1E7A70"/>
          </a:solidFill>
          <a:ln/>
        </p:spPr>
      </p:sp>
      <p:sp>
        <p:nvSpPr>
          <p:cNvPr id="9" name="Text 7"/>
          <p:cNvSpPr txBox="1"/>
          <p:nvPr/>
        </p:nvSpPr>
        <p:spPr>
          <a:xfrm>
            <a:off x="822960" y="31638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822960" y="3675888"/>
            <a:ext cx="2954426" cy="310896"/>
          </a:xfrm>
          <a:prstGeom prst="rect">
            <a:avLst/>
          </a:prstGeom>
          <a:noFill/>
          <a:ln/>
        </p:spPr>
        <p:txBody>
          <a:bodyPr wrap="square" lIns="0" tIns="0" rIns="0" bIns="0" rtlCol="0" anchor="ctr"/>
          <a:lstStyle/>
          <a:p>
            <a:pPr indent="0" marL="0">
              <a:buNone/>
            </a:pPr>
            <a:r>
              <a:rPr lang="en-US" sz="1300" b="1" spc="60" kern="0" dirty="0">
                <a:solidFill>
                  <a:srgbClr val="1E7A70"/>
                </a:solidFill>
                <a:latin typeface="Calibri" pitchFamily="34" charset="0"/>
                <a:ea typeface="Calibri" pitchFamily="34" charset="-122"/>
                <a:cs typeface="Calibri" pitchFamily="34" charset="-120"/>
              </a:rPr>
              <a:t>RQ1 · Representation</a:t>
            </a:r>
            <a:endParaRPr lang="en-US" sz="1300" dirty="0"/>
          </a:p>
        </p:txBody>
      </p:sp>
      <p:sp>
        <p:nvSpPr>
          <p:cNvPr id="11" name="Text 9"/>
          <p:cNvSpPr txBox="1"/>
          <p:nvPr/>
        </p:nvSpPr>
        <p:spPr>
          <a:xfrm>
            <a:off x="822960" y="4023360"/>
            <a:ext cx="2954426" cy="1371600"/>
          </a:xfrm>
          <a:prstGeom prst="rect">
            <a:avLst/>
          </a:prstGeom>
          <a:noFill/>
          <a:ln/>
        </p:spPr>
        <p:txBody>
          <a:bodyPr wrap="square" lIns="0" tIns="0" rIns="0" bIns="0" rtlCol="0" anchor="t"/>
          <a:lstStyle/>
          <a:p>
            <a:pPr indent="0" marL="0">
              <a:lnSpc>
                <a:spcPts val="1900"/>
              </a:lnSpc>
              <a:buNone/>
            </a:pPr>
            <a:r>
              <a:rPr lang="en-US" sz="1350" dirty="0">
                <a:solidFill>
                  <a:srgbClr val="22314D"/>
                </a:solidFill>
                <a:latin typeface="Calibri" pitchFamily="34" charset="0"/>
                <a:ea typeface="Calibri" pitchFamily="34" charset="-122"/>
                <a:cs typeface="Calibri" pitchFamily="34" charset="-120"/>
              </a:rPr>
              <a:t>Does a pretrained Perch v2 representation generalise across held-out recording groups better than simpler spectral statistics?</a:t>
            </a:r>
            <a:endParaRPr lang="en-US" sz="1350" dirty="0"/>
          </a:p>
        </p:txBody>
      </p:sp>
      <p:sp>
        <p:nvSpPr>
          <p:cNvPr id="12" name="Shape 10"/>
          <p:cNvSpPr/>
          <p:nvPr/>
        </p:nvSpPr>
        <p:spPr>
          <a:xfrm>
            <a:off x="4362602" y="2944368"/>
            <a:ext cx="3466490" cy="2615184"/>
          </a:xfrm>
          <a:prstGeom prst="roundRect">
            <a:avLst>
              <a:gd name="adj" fmla="val 2448"/>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13" name="Shape 11"/>
          <p:cNvSpPr/>
          <p:nvPr/>
        </p:nvSpPr>
        <p:spPr>
          <a:xfrm>
            <a:off x="4618634" y="3163824"/>
            <a:ext cx="384048" cy="384048"/>
          </a:xfrm>
          <a:prstGeom prst="ellipse">
            <a:avLst/>
          </a:prstGeom>
          <a:solidFill>
            <a:srgbClr val="1E7A70"/>
          </a:solidFill>
          <a:ln/>
        </p:spPr>
      </p:sp>
      <p:sp>
        <p:nvSpPr>
          <p:cNvPr id="14" name="Text 12"/>
          <p:cNvSpPr txBox="1"/>
          <p:nvPr/>
        </p:nvSpPr>
        <p:spPr>
          <a:xfrm>
            <a:off x="4618634" y="31638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4618634" y="3675888"/>
            <a:ext cx="2954426" cy="310896"/>
          </a:xfrm>
          <a:prstGeom prst="rect">
            <a:avLst/>
          </a:prstGeom>
          <a:noFill/>
          <a:ln/>
        </p:spPr>
        <p:txBody>
          <a:bodyPr wrap="square" lIns="0" tIns="0" rIns="0" bIns="0" rtlCol="0" anchor="ctr"/>
          <a:lstStyle/>
          <a:p>
            <a:pPr indent="0" marL="0">
              <a:buNone/>
            </a:pPr>
            <a:r>
              <a:rPr lang="en-US" sz="1300" b="1" spc="60" kern="0" dirty="0">
                <a:solidFill>
                  <a:srgbClr val="1E7A70"/>
                </a:solidFill>
                <a:latin typeface="Calibri" pitchFamily="34" charset="0"/>
                <a:ea typeface="Calibri" pitchFamily="34" charset="-122"/>
                <a:cs typeface="Calibri" pitchFamily="34" charset="-120"/>
              </a:rPr>
              <a:t>RQ2 · Retrieval</a:t>
            </a:r>
            <a:endParaRPr lang="en-US" sz="1300" dirty="0"/>
          </a:p>
        </p:txBody>
      </p:sp>
      <p:sp>
        <p:nvSpPr>
          <p:cNvPr id="16" name="Text 14"/>
          <p:cNvSpPr txBox="1"/>
          <p:nvPr/>
        </p:nvSpPr>
        <p:spPr>
          <a:xfrm>
            <a:off x="4618634" y="4023360"/>
            <a:ext cx="2954426" cy="1371600"/>
          </a:xfrm>
          <a:prstGeom prst="rect">
            <a:avLst/>
          </a:prstGeom>
          <a:noFill/>
          <a:ln/>
        </p:spPr>
        <p:txBody>
          <a:bodyPr wrap="square" lIns="0" tIns="0" rIns="0" bIns="0" rtlCol="0" anchor="t"/>
          <a:lstStyle/>
          <a:p>
            <a:pPr indent="0" marL="0">
              <a:lnSpc>
                <a:spcPts val="1900"/>
              </a:lnSpc>
              <a:buNone/>
            </a:pPr>
            <a:r>
              <a:rPr lang="en-US" sz="1350" dirty="0">
                <a:solidFill>
                  <a:srgbClr val="22314D"/>
                </a:solidFill>
                <a:latin typeface="Calibri" pitchFamily="34" charset="0"/>
                <a:ea typeface="Calibri" pitchFamily="34" charset="-122"/>
                <a:cs typeface="Calibri" pitchFamily="34" charset="-120"/>
              </a:rPr>
              <a:t>How effectively do those representations support held-out-folder retrieval of feeding buzzes from a labelled query?</a:t>
            </a:r>
            <a:endParaRPr lang="en-US" sz="1350" dirty="0"/>
          </a:p>
        </p:txBody>
      </p:sp>
      <p:sp>
        <p:nvSpPr>
          <p:cNvPr id="17" name="Shape 15"/>
          <p:cNvSpPr/>
          <p:nvPr/>
        </p:nvSpPr>
        <p:spPr>
          <a:xfrm>
            <a:off x="8158277" y="2944368"/>
            <a:ext cx="3466490" cy="2615184"/>
          </a:xfrm>
          <a:prstGeom prst="roundRect">
            <a:avLst>
              <a:gd name="adj" fmla="val 2448"/>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18" name="Shape 16"/>
          <p:cNvSpPr/>
          <p:nvPr/>
        </p:nvSpPr>
        <p:spPr>
          <a:xfrm>
            <a:off x="8414309" y="3163824"/>
            <a:ext cx="384048" cy="384048"/>
          </a:xfrm>
          <a:prstGeom prst="ellipse">
            <a:avLst/>
          </a:prstGeom>
          <a:solidFill>
            <a:srgbClr val="1E7A70"/>
          </a:solidFill>
          <a:ln/>
        </p:spPr>
      </p:sp>
      <p:sp>
        <p:nvSpPr>
          <p:cNvPr id="19" name="Text 17"/>
          <p:cNvSpPr txBox="1"/>
          <p:nvPr/>
        </p:nvSpPr>
        <p:spPr>
          <a:xfrm>
            <a:off x="8414309" y="31638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8414309" y="3675888"/>
            <a:ext cx="2954426" cy="310896"/>
          </a:xfrm>
          <a:prstGeom prst="rect">
            <a:avLst/>
          </a:prstGeom>
          <a:noFill/>
          <a:ln/>
        </p:spPr>
        <p:txBody>
          <a:bodyPr wrap="square" lIns="0" tIns="0" rIns="0" bIns="0" rtlCol="0" anchor="ctr"/>
          <a:lstStyle/>
          <a:p>
            <a:pPr indent="0" marL="0">
              <a:buNone/>
            </a:pPr>
            <a:r>
              <a:rPr lang="en-US" sz="1300" b="1" spc="60" kern="0" dirty="0">
                <a:solidFill>
                  <a:srgbClr val="1E7A70"/>
                </a:solidFill>
                <a:latin typeface="Calibri" pitchFamily="34" charset="0"/>
                <a:ea typeface="Calibri" pitchFamily="34" charset="-122"/>
                <a:cs typeface="Calibri" pitchFamily="34" charset="-120"/>
              </a:rPr>
              <a:t>RQ3 · Field transfer</a:t>
            </a:r>
            <a:endParaRPr lang="en-US" sz="1300" dirty="0"/>
          </a:p>
        </p:txBody>
      </p:sp>
      <p:sp>
        <p:nvSpPr>
          <p:cNvPr id="21" name="Text 19"/>
          <p:cNvSpPr txBox="1"/>
          <p:nvPr/>
        </p:nvSpPr>
        <p:spPr>
          <a:xfrm>
            <a:off x="8414309" y="4023360"/>
            <a:ext cx="2954426" cy="1371600"/>
          </a:xfrm>
          <a:prstGeom prst="rect">
            <a:avLst/>
          </a:prstGeom>
          <a:noFill/>
          <a:ln/>
        </p:spPr>
        <p:txBody>
          <a:bodyPr wrap="square" lIns="0" tIns="0" rIns="0" bIns="0" rtlCol="0" anchor="t"/>
          <a:lstStyle/>
          <a:p>
            <a:pPr indent="0" marL="0">
              <a:lnSpc>
                <a:spcPts val="1900"/>
              </a:lnSpc>
              <a:buNone/>
            </a:pPr>
            <a:r>
              <a:rPr lang="en-US" sz="1350" dirty="0">
                <a:solidFill>
                  <a:srgbClr val="22314D"/>
                </a:solidFill>
                <a:latin typeface="Calibri" pitchFamily="34" charset="0"/>
                <a:ea typeface="Calibri" pitchFamily="34" charset="-122"/>
                <a:cs typeface="Calibri" pitchFamily="34" charset="-120"/>
              </a:rPr>
              <a:t>Can a detector built on curated clips support candidate discovery in long, noisy, unlabelled field recordings?</a:t>
            </a:r>
            <a:endParaRPr lang="en-US" sz="1350" dirty="0"/>
          </a:p>
        </p:txBody>
      </p:sp>
      <p:sp>
        <p:nvSpPr>
          <p:cNvPr id="22" name="Text 20"/>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The gap and the research questions</a:t>
            </a:r>
            <a:endParaRPr lang="en-US" sz="950" dirty="0"/>
          </a:p>
        </p:txBody>
      </p:sp>
      <p:sp>
        <p:nvSpPr>
          <p:cNvPr id="23" name="Text 21"/>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DATA</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Curated clips, and continuous field audio</a:t>
            </a:r>
            <a:endParaRPr lang="en-US" sz="3000" dirty="0"/>
          </a:p>
        </p:txBody>
      </p:sp>
      <p:sp>
        <p:nvSpPr>
          <p:cNvPr id="4" name="Shape 2"/>
          <p:cNvSpPr/>
          <p:nvPr/>
        </p:nvSpPr>
        <p:spPr>
          <a:xfrm>
            <a:off x="566928" y="1481328"/>
            <a:ext cx="5760720" cy="4160520"/>
          </a:xfrm>
          <a:prstGeom prst="roundRect">
            <a:avLst>
              <a:gd name="adj" fmla="val 1538"/>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5" name="Text 3"/>
          <p:cNvSpPr txBox="1"/>
          <p:nvPr/>
        </p:nvSpPr>
        <p:spPr>
          <a:xfrm>
            <a:off x="804672" y="1645920"/>
            <a:ext cx="5285232" cy="292608"/>
          </a:xfrm>
          <a:prstGeom prst="rect">
            <a:avLst/>
          </a:prstGeom>
          <a:noFill/>
          <a:ln/>
        </p:spPr>
        <p:txBody>
          <a:bodyPr wrap="square" lIns="0" tIns="0" rIns="0" bIns="0" rtlCol="0" anchor="ctr"/>
          <a:lstStyle/>
          <a:p>
            <a:pPr indent="0" marL="0">
              <a:buNone/>
            </a:pPr>
            <a:r>
              <a:rPr lang="en-US" sz="1400" b="1" dirty="0">
                <a:solidFill>
                  <a:srgbClr val="0E1B33"/>
                </a:solidFill>
                <a:latin typeface="Calibri" pitchFamily="34" charset="0"/>
                <a:ea typeface="Calibri" pitchFamily="34" charset="-122"/>
                <a:cs typeface="Calibri" pitchFamily="34" charset="-120"/>
              </a:rPr>
              <a:t>Labelled — Buzzfindr (Ontario, Canada)</a:t>
            </a:r>
            <a:endParaRPr lang="en-US" sz="1400" dirty="0"/>
          </a:p>
        </p:txBody>
      </p:sp>
      <p:sp>
        <p:nvSpPr>
          <p:cNvPr id="6" name="Text 4"/>
          <p:cNvSpPr txBox="1"/>
          <p:nvPr/>
        </p:nvSpPr>
        <p:spPr>
          <a:xfrm>
            <a:off x="804672" y="1956816"/>
            <a:ext cx="5285232" cy="457200"/>
          </a:xfrm>
          <a:prstGeom prst="rect">
            <a:avLst/>
          </a:prstGeom>
          <a:noFill/>
          <a:ln/>
        </p:spPr>
        <p:txBody>
          <a:bodyPr wrap="square" lIns="0" tIns="0" rIns="0" bIns="0" rtlCol="0" anchor="ctr"/>
          <a:lstStyle/>
          <a:p>
            <a:pPr indent="0" marL="0">
              <a:buNone/>
            </a:pPr>
            <a:r>
              <a:rPr lang="en-US" sz="1200" dirty="0">
                <a:solidFill>
                  <a:srgbClr val="5F718C"/>
                </a:solidFill>
                <a:latin typeface="Calibri" pitchFamily="34" charset="0"/>
                <a:ea typeface="Calibri" pitchFamily="34" charset="-122"/>
                <a:cs typeface="Calibri" pitchFamily="34" charset="-120"/>
              </a:rPr>
              <a:t>All 158 buzz clips + 158 non-buzz clips sampled at random (seed 42) = 316 balanced files. Mono, 16-bit, 384 kHz.</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04672" y="2468880"/>
          <a:ext cx="5285232" cy="914400"/>
        </p:xfrm>
        <a:graphic>
          <a:graphicData uri="http://schemas.openxmlformats.org/drawingml/2006/table">
            <a:tbl>
              <a:tblPr/>
              <a:tblGrid>
                <a:gridCol w="1700784"/>
                <a:gridCol w="777240"/>
                <a:gridCol w="1051560"/>
                <a:gridCol w="777240"/>
                <a:gridCol w="978408"/>
              </a:tblGrid>
              <a:tr h="24688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Folder</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Buzz</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Non-buzz</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Location</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0E1B33"/>
                    </a:solidFill>
                  </a:tcPr>
                </a:tc>
              </a:tr>
              <a:tr h="246888">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buzzes_o</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Site 3</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buzzes_rr</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Site 1</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r>
              <a:tr h="246888">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buzzes_sp</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63</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b="1" dirty="0">
                          <a:solidFill>
                            <a:srgbClr val="B9761E"/>
                          </a:solidFill>
                          <a:latin typeface="Calibri" pitchFamily="34" charset="0"/>
                          <a:ea typeface="Calibri" pitchFamily="34" charset="-122"/>
                          <a:cs typeface="Calibri" pitchFamily="34" charset="-120"/>
                        </a:rPr>
                        <a:t>Site 4</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buzzes_spmylu</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b="1" dirty="0">
                          <a:solidFill>
                            <a:srgbClr val="B9761E"/>
                          </a:solidFill>
                          <a:latin typeface="Calibri" pitchFamily="34" charset="0"/>
                          <a:ea typeface="Calibri" pitchFamily="34" charset="-122"/>
                          <a:cs typeface="Calibri" pitchFamily="34" charset="-120"/>
                        </a:rPr>
                        <a:t>Site 4</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r>
              <a:tr h="246888">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buzzes_tb</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Site 2</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FFFFF"/>
                    </a:solidFill>
                  </a:tcPr>
                </a:tc>
              </a:tr>
              <a:tr h="246888">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buzzes_u</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67</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00" dirty="0">
                          <a:solidFill>
                            <a:srgbClr val="22314D"/>
                          </a:solidFill>
                          <a:latin typeface="Calibri" pitchFamily="34" charset="0"/>
                          <a:ea typeface="Calibri" pitchFamily="34" charset="-122"/>
                          <a:cs typeface="Calibri" pitchFamily="34" charset="-120"/>
                        </a:rPr>
                        <a:t>Site 5</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F2F5F9"/>
                    </a:solidFill>
                  </a:tcPr>
                </a:tc>
              </a:tr>
              <a:tr h="246888">
                <a:tc>
                  <a:txBody>
                    <a:bodyPr/>
                    <a:lstStyle/>
                    <a:p>
                      <a:pPr algn="l" indent="0" marL="0">
                        <a:buNone/>
                      </a:pPr>
                      <a:r>
                        <a:rPr lang="en-US" sz="1100" b="1" dirty="0">
                          <a:solidFill>
                            <a:srgbClr val="22314D"/>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E7EDF4"/>
                    </a:solidFill>
                  </a:tcPr>
                </a:tc>
                <a:tc>
                  <a:txBody>
                    <a:bodyPr/>
                    <a:lstStyle/>
                    <a:p>
                      <a:pPr algn="l" indent="0" marL="0">
                        <a:buNone/>
                      </a:pPr>
                      <a:r>
                        <a:rPr lang="en-US" sz="1100" b="1" dirty="0">
                          <a:solidFill>
                            <a:srgbClr val="22314D"/>
                          </a:solidFill>
                          <a:latin typeface="Calibri" pitchFamily="34" charset="0"/>
                          <a:ea typeface="Calibri" pitchFamily="34" charset="-122"/>
                          <a:cs typeface="Calibri" pitchFamily="34" charset="-120"/>
                        </a:rPr>
                        <a:t>158</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E7EDF4"/>
                    </a:solidFill>
                  </a:tcPr>
                </a:tc>
                <a:tc>
                  <a:txBody>
                    <a:bodyPr/>
                    <a:lstStyle/>
                    <a:p>
                      <a:pPr algn="l" indent="0" marL="0">
                        <a:buNone/>
                      </a:pPr>
                      <a:r>
                        <a:rPr lang="en-US" sz="1100" b="1" dirty="0">
                          <a:solidFill>
                            <a:srgbClr val="22314D"/>
                          </a:solidFill>
                          <a:latin typeface="Calibri" pitchFamily="34" charset="0"/>
                          <a:ea typeface="Calibri" pitchFamily="34" charset="-122"/>
                          <a:cs typeface="Calibri" pitchFamily="34" charset="-120"/>
                        </a:rPr>
                        <a:t>158</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E7EDF4"/>
                    </a:solidFill>
                  </a:tcPr>
                </a:tc>
                <a:tc>
                  <a:txBody>
                    <a:bodyPr/>
                    <a:lstStyle/>
                    <a:p>
                      <a:pPr algn="l" indent="0" marL="0">
                        <a:buNone/>
                      </a:pPr>
                      <a:r>
                        <a:rPr lang="en-US" sz="1100" b="1" dirty="0">
                          <a:solidFill>
                            <a:srgbClr val="22314D"/>
                          </a:solidFill>
                          <a:latin typeface="Calibri" pitchFamily="34" charset="0"/>
                          <a:ea typeface="Calibri" pitchFamily="34" charset="-122"/>
                          <a:cs typeface="Calibri" pitchFamily="34" charset="-120"/>
                        </a:rPr>
                        <a:t>316</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E7EDF4"/>
                    </a:solidFill>
                  </a:tcPr>
                </a:tc>
                <a:tc>
                  <a:txBody>
                    <a:bodyPr/>
                    <a:lstStyle/>
                    <a:p>
                      <a:pPr algn="l" indent="0" marL="0">
                        <a:buNone/>
                      </a:pPr>
                      <a:r>
                        <a:rPr lang="en-US" sz="1100" b="1" dirty="0">
                          <a:solidFill>
                            <a:srgbClr val="22314D"/>
                          </a:solidFill>
                          <a:latin typeface="Calibri" pitchFamily="34" charset="0"/>
                          <a:ea typeface="Calibri" pitchFamily="34" charset="-122"/>
                          <a:cs typeface="Calibri" pitchFamily="34" charset="-120"/>
                        </a:rPr>
                        <a:t>5 sites</a:t>
                      </a:r>
                      <a:endParaRPr lang="en-US" sz="1100" dirty="0">
                        <a:latin typeface="Calibri" charset="0"/>
                        <a:ea typeface="Calibri" charset="0"/>
                        <a:cs typeface="Calibri" charset="0"/>
                      </a:endParaRPr>
                    </a:p>
                  </a:txBody>
                  <a:tcPr marL="63500" marR="63500" marT="63500" marB="63500" anchor="ctr">
                    <a:lnL w="0" cap="flat" cmpd="sng" algn="ctr">
                      <a:noFill/>
                    </a:lnL>
                    <a:lnR w="0" cap="flat" cmpd="sng" algn="ctr">
                      <a:noFill/>
                    </a:lnR>
                    <a:lnT w="0" cap="flat" cmpd="sng" algn="ctr">
                      <a:noFill/>
                    </a:lnT>
                    <a:lnB w="0" cap="flat" cmpd="sng" algn="ctr">
                      <a:noFill/>
                    </a:lnB>
                    <a:solidFill>
                      <a:srgbClr val="E7EDF4"/>
                    </a:solidFill>
                  </a:tcPr>
                </a:tc>
              </a:tr>
            </a:tbl>
          </a:graphicData>
        </a:graphic>
      </p:graphicFrame>
      <p:sp>
        <p:nvSpPr>
          <p:cNvPr id="8" name="Text 5"/>
          <p:cNvSpPr txBox="1"/>
          <p:nvPr/>
        </p:nvSpPr>
        <p:spPr>
          <a:xfrm>
            <a:off x="804672" y="5138928"/>
            <a:ext cx="5285232" cy="384048"/>
          </a:xfrm>
          <a:prstGeom prst="rect">
            <a:avLst/>
          </a:prstGeom>
          <a:noFill/>
          <a:ln/>
        </p:spPr>
        <p:txBody>
          <a:bodyPr wrap="square" lIns="0" tIns="0" rIns="0" bIns="0" rtlCol="0" anchor="ctr"/>
          <a:lstStyle/>
          <a:p>
            <a:pPr indent="0" marL="0">
              <a:buNone/>
            </a:pPr>
            <a:r>
              <a:rPr lang="en-US" sz="1150" i="1" dirty="0">
                <a:solidFill>
                  <a:srgbClr val="B9761E"/>
                </a:solidFill>
                <a:latin typeface="Calibri" pitchFamily="34" charset="0"/>
                <a:ea typeface="Calibri" pitchFamily="34" charset="-122"/>
                <a:cs typeface="Calibri" pitchFamily="34" charset="-120"/>
              </a:rPr>
              <a:t>buzzes_sp and buzzes_spmylu are both Site 4 — six folders, five geographic locations.</a:t>
            </a:r>
            <a:endParaRPr lang="en-US" sz="1150" dirty="0"/>
          </a:p>
        </p:txBody>
      </p:sp>
      <p:sp>
        <p:nvSpPr>
          <p:cNvPr id="9" name="Shape 6"/>
          <p:cNvSpPr/>
          <p:nvPr/>
        </p:nvSpPr>
        <p:spPr>
          <a:xfrm>
            <a:off x="6711696" y="1481328"/>
            <a:ext cx="4913071" cy="4160520"/>
          </a:xfrm>
          <a:prstGeom prst="roundRect">
            <a:avLst>
              <a:gd name="adj" fmla="val 1538"/>
            </a:avLst>
          </a:prstGeom>
          <a:solidFill>
            <a:srgbClr val="0E1B33"/>
          </a:solidFill>
          <a:ln w="9525">
            <a:solidFill>
              <a:srgbClr val="0E1B33"/>
            </a:solidFill>
            <a:prstDash val="solid"/>
          </a:ln>
        </p:spPr>
      </p:sp>
      <p:sp>
        <p:nvSpPr>
          <p:cNvPr id="10" name="Text 7"/>
          <p:cNvSpPr txBox="1"/>
          <p:nvPr/>
        </p:nvSpPr>
        <p:spPr>
          <a:xfrm>
            <a:off x="6949440" y="1645920"/>
            <a:ext cx="4437583"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Field — Mara Triangle, Kenya</a:t>
            </a:r>
            <a:endParaRPr lang="en-US" sz="1400" dirty="0"/>
          </a:p>
        </p:txBody>
      </p:sp>
      <p:sp>
        <p:nvSpPr>
          <p:cNvPr id="11" name="Shape 8"/>
          <p:cNvSpPr/>
          <p:nvPr/>
        </p:nvSpPr>
        <p:spPr>
          <a:xfrm>
            <a:off x="6967728" y="2194560"/>
            <a:ext cx="118872" cy="118872"/>
          </a:xfrm>
          <a:prstGeom prst="ellipse">
            <a:avLst/>
          </a:prstGeom>
          <a:solidFill>
            <a:srgbClr val="2A9D8F"/>
          </a:solidFill>
          <a:ln/>
        </p:spPr>
      </p:sp>
      <p:sp>
        <p:nvSpPr>
          <p:cNvPr id="12" name="Text 9"/>
          <p:cNvSpPr txBox="1"/>
          <p:nvPr/>
        </p:nvSpPr>
        <p:spPr>
          <a:xfrm>
            <a:off x="7242048" y="2103120"/>
            <a:ext cx="4126687"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Site MT18</a:t>
            </a:r>
            <a:endParaRPr lang="en-US" sz="1350" dirty="0"/>
          </a:p>
        </p:txBody>
      </p:sp>
      <p:sp>
        <p:nvSpPr>
          <p:cNvPr id="13" name="Text 10"/>
          <p:cNvSpPr txBox="1"/>
          <p:nvPr/>
        </p:nvSpPr>
        <p:spPr>
          <a:xfrm>
            <a:off x="7242048" y="2386584"/>
            <a:ext cx="4126687" cy="310896"/>
          </a:xfrm>
          <a:prstGeom prst="rect">
            <a:avLst/>
          </a:prstGeom>
          <a:noFill/>
          <a:ln/>
        </p:spPr>
        <p:txBody>
          <a:bodyPr wrap="square" lIns="0" tIns="0" rIns="0" bIns="0" rtlCol="0" anchor="ctr"/>
          <a:lstStyle/>
          <a:p>
            <a:pPr indent="0" marL="0">
              <a:buNone/>
            </a:pPr>
            <a:r>
              <a:rPr lang="en-US" sz="1200" dirty="0">
                <a:solidFill>
                  <a:srgbClr val="B3C4DC"/>
                </a:solidFill>
                <a:latin typeface="Calibri" pitchFamily="34" charset="0"/>
                <a:ea typeface="Calibri" pitchFamily="34" charset="-122"/>
                <a:cs typeface="Calibri" pitchFamily="34" charset="-120"/>
              </a:rPr>
              <a:t>19 Oct – 8 Nov 2019 deployment</a:t>
            </a:r>
            <a:endParaRPr lang="en-US" sz="1200" dirty="0"/>
          </a:p>
        </p:txBody>
      </p:sp>
      <p:sp>
        <p:nvSpPr>
          <p:cNvPr id="14" name="Shape 11"/>
          <p:cNvSpPr/>
          <p:nvPr/>
        </p:nvSpPr>
        <p:spPr>
          <a:xfrm>
            <a:off x="6967728" y="2980944"/>
            <a:ext cx="118872" cy="118872"/>
          </a:xfrm>
          <a:prstGeom prst="ellipse">
            <a:avLst/>
          </a:prstGeom>
          <a:solidFill>
            <a:srgbClr val="2A9D8F"/>
          </a:solidFill>
          <a:ln/>
        </p:spPr>
      </p:sp>
      <p:sp>
        <p:nvSpPr>
          <p:cNvPr id="15" name="Text 12"/>
          <p:cNvSpPr txBox="1"/>
          <p:nvPr/>
        </p:nvSpPr>
        <p:spPr>
          <a:xfrm>
            <a:off x="7242048" y="2889504"/>
            <a:ext cx="4126687"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564 recordings</a:t>
            </a:r>
            <a:endParaRPr lang="en-US" sz="1350" dirty="0"/>
          </a:p>
        </p:txBody>
      </p:sp>
      <p:sp>
        <p:nvSpPr>
          <p:cNvPr id="16" name="Text 13"/>
          <p:cNvSpPr txBox="1"/>
          <p:nvPr/>
        </p:nvSpPr>
        <p:spPr>
          <a:xfrm>
            <a:off x="7242048" y="3172968"/>
            <a:ext cx="4126687" cy="310896"/>
          </a:xfrm>
          <a:prstGeom prst="rect">
            <a:avLst/>
          </a:prstGeom>
          <a:noFill/>
          <a:ln/>
        </p:spPr>
        <p:txBody>
          <a:bodyPr wrap="square" lIns="0" tIns="0" rIns="0" bIns="0" rtlCol="0" anchor="ctr"/>
          <a:lstStyle/>
          <a:p>
            <a:pPr indent="0" marL="0">
              <a:buNone/>
            </a:pPr>
            <a:r>
              <a:rPr lang="en-US" sz="1200" dirty="0">
                <a:solidFill>
                  <a:srgbClr val="B3C4DC"/>
                </a:solidFill>
                <a:latin typeface="Calibri" pitchFamily="34" charset="0"/>
                <a:ea typeface="Calibri" pitchFamily="34" charset="-122"/>
                <a:cs typeface="Calibri" pitchFamily="34" charset="-120"/>
              </a:rPr>
              <a:t>one minute each — 9.4 h analysed</a:t>
            </a:r>
            <a:endParaRPr lang="en-US" sz="1200" dirty="0"/>
          </a:p>
        </p:txBody>
      </p:sp>
      <p:sp>
        <p:nvSpPr>
          <p:cNvPr id="17" name="Shape 14"/>
          <p:cNvSpPr/>
          <p:nvPr/>
        </p:nvSpPr>
        <p:spPr>
          <a:xfrm>
            <a:off x="6967728" y="3767328"/>
            <a:ext cx="118872" cy="118872"/>
          </a:xfrm>
          <a:prstGeom prst="ellipse">
            <a:avLst/>
          </a:prstGeom>
          <a:solidFill>
            <a:srgbClr val="2A9D8F"/>
          </a:solidFill>
          <a:ln/>
        </p:spPr>
      </p:sp>
      <p:sp>
        <p:nvSpPr>
          <p:cNvPr id="18" name="Text 15"/>
          <p:cNvSpPr txBox="1"/>
          <p:nvPr/>
        </p:nvSpPr>
        <p:spPr>
          <a:xfrm>
            <a:off x="7242048" y="3675888"/>
            <a:ext cx="4126687"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1 AudioMoth</a:t>
            </a:r>
            <a:endParaRPr lang="en-US" sz="1350" dirty="0"/>
          </a:p>
        </p:txBody>
      </p:sp>
      <p:sp>
        <p:nvSpPr>
          <p:cNvPr id="19" name="Text 16"/>
          <p:cNvSpPr txBox="1"/>
          <p:nvPr/>
        </p:nvSpPr>
        <p:spPr>
          <a:xfrm>
            <a:off x="7242048" y="3959352"/>
            <a:ext cx="4126687" cy="310896"/>
          </a:xfrm>
          <a:prstGeom prst="rect">
            <a:avLst/>
          </a:prstGeom>
          <a:noFill/>
          <a:ln/>
        </p:spPr>
        <p:txBody>
          <a:bodyPr wrap="square" lIns="0" tIns="0" rIns="0" bIns="0" rtlCol="0" anchor="ctr"/>
          <a:lstStyle/>
          <a:p>
            <a:pPr indent="0" marL="0">
              <a:buNone/>
            </a:pPr>
            <a:r>
              <a:rPr lang="en-US" sz="1200" dirty="0">
                <a:solidFill>
                  <a:srgbClr val="B3C4DC"/>
                </a:solidFill>
                <a:latin typeface="Calibri" pitchFamily="34" charset="0"/>
                <a:ea typeface="Calibri" pitchFamily="34" charset="-122"/>
                <a:cs typeface="Calibri" pitchFamily="34" charset="-120"/>
              </a:rPr>
              <a:t>full-spectrum logger, 384 kHz, gain 1</a:t>
            </a:r>
            <a:endParaRPr lang="en-US" sz="1200" dirty="0"/>
          </a:p>
        </p:txBody>
      </p:sp>
      <p:sp>
        <p:nvSpPr>
          <p:cNvPr id="20" name="Shape 17"/>
          <p:cNvSpPr/>
          <p:nvPr/>
        </p:nvSpPr>
        <p:spPr>
          <a:xfrm>
            <a:off x="6967728" y="4553712"/>
            <a:ext cx="118872" cy="118872"/>
          </a:xfrm>
          <a:prstGeom prst="ellipse">
            <a:avLst/>
          </a:prstGeom>
          <a:solidFill>
            <a:srgbClr val="2A9D8F"/>
          </a:solidFill>
          <a:ln/>
        </p:spPr>
      </p:sp>
      <p:sp>
        <p:nvSpPr>
          <p:cNvPr id="21" name="Text 18"/>
          <p:cNvSpPr txBox="1"/>
          <p:nvPr/>
        </p:nvSpPr>
        <p:spPr>
          <a:xfrm>
            <a:off x="7242048" y="4462272"/>
            <a:ext cx="4126687"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18:00–23:00 &amp; 00:00–05:00</a:t>
            </a:r>
            <a:endParaRPr lang="en-US" sz="1350" dirty="0"/>
          </a:p>
        </p:txBody>
      </p:sp>
      <p:sp>
        <p:nvSpPr>
          <p:cNvPr id="22" name="Text 19"/>
          <p:cNvSpPr txBox="1"/>
          <p:nvPr/>
        </p:nvSpPr>
        <p:spPr>
          <a:xfrm>
            <a:off x="7242048" y="4745736"/>
            <a:ext cx="4126687" cy="310896"/>
          </a:xfrm>
          <a:prstGeom prst="rect">
            <a:avLst/>
          </a:prstGeom>
          <a:noFill/>
          <a:ln/>
        </p:spPr>
        <p:txBody>
          <a:bodyPr wrap="square" lIns="0" tIns="0" rIns="0" bIns="0" rtlCol="0" anchor="ctr"/>
          <a:lstStyle/>
          <a:p>
            <a:pPr indent="0" marL="0">
              <a:buNone/>
            </a:pPr>
            <a:r>
              <a:rPr lang="en-US" sz="1200" dirty="0">
                <a:solidFill>
                  <a:srgbClr val="B3C4DC"/>
                </a:solidFill>
                <a:latin typeface="Calibri" pitchFamily="34" charset="0"/>
                <a:ea typeface="Calibri" pitchFamily="34" charset="-122"/>
                <a:cs typeface="Calibri" pitchFamily="34" charset="-120"/>
              </a:rPr>
              <a:t>EAT coverage — not a full 24-h cycle</a:t>
            </a:r>
            <a:endParaRPr lang="en-US" sz="1200" dirty="0"/>
          </a:p>
        </p:txBody>
      </p:sp>
      <p:sp>
        <p:nvSpPr>
          <p:cNvPr id="23" name="Text 20"/>
          <p:cNvSpPr txBox="1"/>
          <p:nvPr/>
        </p:nvSpPr>
        <p:spPr>
          <a:xfrm>
            <a:off x="6967728" y="5175504"/>
            <a:ext cx="4401007" cy="365760"/>
          </a:xfrm>
          <a:prstGeom prst="rect">
            <a:avLst/>
          </a:prstGeom>
          <a:noFill/>
          <a:ln/>
        </p:spPr>
        <p:txBody>
          <a:bodyPr wrap="square" lIns="0" tIns="0" rIns="0" bIns="0" rtlCol="0" anchor="ctr"/>
          <a:lstStyle/>
          <a:p>
            <a:pPr indent="0" marL="0">
              <a:buNone/>
            </a:pPr>
            <a:r>
              <a:rPr lang="en-US" sz="1150" i="1" dirty="0">
                <a:solidFill>
                  <a:srgbClr val="F2A541"/>
                </a:solidFill>
                <a:latin typeface="Calibri" pitchFamily="34" charset="0"/>
                <a:ea typeface="Calibri" pitchFamily="34" charset="-122"/>
                <a:cs typeface="Calibri" pitchFamily="34" charset="-120"/>
              </a:rPr>
              <a:t>No exhaustive ground truth — which bounds every claim I make from this dataset.</a:t>
            </a:r>
            <a:endParaRPr lang="en-US" sz="1150" dirty="0"/>
          </a:p>
        </p:txBody>
      </p:sp>
      <p:sp>
        <p:nvSpPr>
          <p:cNvPr id="24" name="Text 21"/>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Datasets</a:t>
            </a:r>
            <a:endParaRPr lang="en-US" sz="950" dirty="0"/>
          </a:p>
        </p:txBody>
      </p:sp>
      <p:sp>
        <p:nvSpPr>
          <p:cNvPr id="25" name="Text 22"/>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METHOD · RQ1</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Three representations, one detector</a:t>
            </a:r>
            <a:endParaRPr lang="en-US" sz="3000" dirty="0"/>
          </a:p>
        </p:txBody>
      </p:sp>
      <p:sp>
        <p:nvSpPr>
          <p:cNvPr id="4" name="Shape 2"/>
          <p:cNvSpPr/>
          <p:nvPr/>
        </p:nvSpPr>
        <p:spPr>
          <a:xfrm>
            <a:off x="566928" y="1481328"/>
            <a:ext cx="11057839" cy="713232"/>
          </a:xfrm>
          <a:prstGeom prst="roundRect">
            <a:avLst>
              <a:gd name="adj" fmla="val 8974"/>
            </a:avLst>
          </a:prstGeom>
          <a:solidFill>
            <a:srgbClr val="F2F5F9"/>
          </a:solidFill>
          <a:ln w="9525">
            <a:solidFill>
              <a:srgbClr val="D5DEEA"/>
            </a:solidFill>
            <a:prstDash val="solid"/>
          </a:ln>
        </p:spPr>
      </p:sp>
      <p:sp>
        <p:nvSpPr>
          <p:cNvPr id="5" name="Text 3"/>
          <p:cNvSpPr txBox="1"/>
          <p:nvPr/>
        </p:nvSpPr>
        <p:spPr>
          <a:xfrm>
            <a:off x="822960" y="1609344"/>
            <a:ext cx="10545775" cy="512064"/>
          </a:xfrm>
          <a:prstGeom prst="rect">
            <a:avLst/>
          </a:prstGeom>
          <a:noFill/>
          <a:ln/>
        </p:spPr>
        <p:txBody>
          <a:bodyPr wrap="square" lIns="0" tIns="0" rIns="0" bIns="0" rtlCol="0" anchor="t"/>
          <a:lstStyle/>
          <a:p>
            <a:pPr indent="0" marL="0">
              <a:lnSpc>
                <a:spcPts val="1800"/>
              </a:lnSpc>
              <a:buNone/>
            </a:pPr>
            <a:r>
              <a:rPr lang="en-US" sz="1300" b="1" dirty="0">
                <a:solidFill>
                  <a:srgbClr val="0E1B33"/>
                </a:solidFill>
                <a:latin typeface="Calibri" pitchFamily="34" charset="0"/>
                <a:ea typeface="Calibri" pitchFamily="34" charset="-122"/>
                <a:cs typeface="Calibri" pitchFamily="34" charset="-120"/>
              </a:rPr>
              <a:t>Held constant:  </a:t>
            </a:r>
            <a:pPr indent="0" marL="0">
              <a:lnSpc>
                <a:spcPts val="1800"/>
              </a:lnSpc>
              <a:buNone/>
            </a:pPr>
            <a:r>
              <a:rPr lang="en-US" sz="1300" dirty="0">
                <a:solidFill>
                  <a:srgbClr val="22314D"/>
                </a:solidFill>
                <a:latin typeface="Calibri" pitchFamily="34" charset="0"/>
                <a:ea typeface="Calibri" pitchFamily="34" charset="-122"/>
                <a:cs typeface="Calibri" pitchFamily="34" charset="-120"/>
              </a:rPr>
              <a:t>StandardScaler fitted on training data only → L2-regularised logistic regression (C = 1.0, lbfgs, balanced class weights, threshold 0.5). Any difference in performance is attributable to the representation, not the classifier.</a:t>
            </a:r>
            <a:endParaRPr lang="en-US" sz="1300" dirty="0"/>
          </a:p>
        </p:txBody>
      </p:sp>
      <p:sp>
        <p:nvSpPr>
          <p:cNvPr id="6" name="Shape 4"/>
          <p:cNvSpPr/>
          <p:nvPr/>
        </p:nvSpPr>
        <p:spPr>
          <a:xfrm>
            <a:off x="566928" y="2395728"/>
            <a:ext cx="3466490" cy="3346704"/>
          </a:xfrm>
          <a:prstGeom prst="roundRect">
            <a:avLst>
              <a:gd name="adj" fmla="val 1913"/>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7" name="Text 5"/>
          <p:cNvSpPr txBox="1"/>
          <p:nvPr/>
        </p:nvSpPr>
        <p:spPr>
          <a:xfrm>
            <a:off x="822960" y="2560320"/>
            <a:ext cx="2954426" cy="310896"/>
          </a:xfrm>
          <a:prstGeom prst="rect">
            <a:avLst/>
          </a:prstGeom>
          <a:noFill/>
          <a:ln/>
        </p:spPr>
        <p:txBody>
          <a:bodyPr wrap="square" lIns="0" tIns="0" rIns="0" bIns="0" rtlCol="0" anchor="ctr"/>
          <a:lstStyle/>
          <a:p>
            <a:pPr indent="0" marL="0">
              <a:buNone/>
            </a:pPr>
            <a:r>
              <a:rPr lang="en-US" sz="1400" b="1" dirty="0">
                <a:solidFill>
                  <a:srgbClr val="1E7A70"/>
                </a:solidFill>
                <a:latin typeface="Calibri" pitchFamily="34" charset="0"/>
                <a:ea typeface="Calibri" pitchFamily="34" charset="-122"/>
                <a:cs typeface="Calibri" pitchFamily="34" charset="-120"/>
              </a:rPr>
              <a:t>Baseline</a:t>
            </a:r>
            <a:endParaRPr lang="en-US" sz="1400" dirty="0"/>
          </a:p>
        </p:txBody>
      </p:sp>
      <p:sp>
        <p:nvSpPr>
          <p:cNvPr id="8" name="Text 6"/>
          <p:cNvSpPr txBox="1"/>
          <p:nvPr/>
        </p:nvSpPr>
        <p:spPr>
          <a:xfrm>
            <a:off x="822960" y="2852928"/>
            <a:ext cx="2954426" cy="658368"/>
          </a:xfrm>
          <a:prstGeom prst="rect">
            <a:avLst/>
          </a:prstGeom>
          <a:noFill/>
          <a:ln/>
        </p:spPr>
        <p:txBody>
          <a:bodyPr wrap="square" lIns="0" tIns="0" rIns="0" bIns="0" rtlCol="0" anchor="ctr"/>
          <a:lstStyle/>
          <a:p>
            <a:pPr indent="0" marL="0">
              <a:buNone/>
            </a:pPr>
            <a:r>
              <a:rPr lang="en-US" sz="4000" b="1" dirty="0">
                <a:solidFill>
                  <a:srgbClr val="0E1B33"/>
                </a:solidFill>
                <a:latin typeface="Cambria" pitchFamily="34" charset="0"/>
                <a:ea typeface="Cambria" pitchFamily="34" charset="-122"/>
                <a:cs typeface="Cambria" pitchFamily="34" charset="-120"/>
              </a:rPr>
              <a:t>1,543</a:t>
            </a:r>
            <a:endParaRPr lang="en-US" sz="4000" dirty="0"/>
          </a:p>
        </p:txBody>
      </p:sp>
      <p:sp>
        <p:nvSpPr>
          <p:cNvPr id="9" name="Text 7"/>
          <p:cNvSpPr txBox="1"/>
          <p:nvPr/>
        </p:nvSpPr>
        <p:spPr>
          <a:xfrm>
            <a:off x="822960" y="3511296"/>
            <a:ext cx="2954426" cy="274320"/>
          </a:xfrm>
          <a:prstGeom prst="rect">
            <a:avLst/>
          </a:prstGeom>
          <a:noFill/>
          <a:ln/>
        </p:spPr>
        <p:txBody>
          <a:bodyPr wrap="square" lIns="0" tIns="0" rIns="0" bIns="0" rtlCol="0" anchor="ctr"/>
          <a:lstStyle/>
          <a:p>
            <a:pPr indent="0" marL="0">
              <a:buNone/>
            </a:pPr>
            <a:r>
              <a:rPr lang="en-US" sz="1150" dirty="0">
                <a:solidFill>
                  <a:srgbClr val="5F718C"/>
                </a:solidFill>
                <a:latin typeface="Calibri" pitchFamily="34" charset="0"/>
                <a:ea typeface="Calibri" pitchFamily="34" charset="-122"/>
                <a:cs typeface="Calibri" pitchFamily="34" charset="-120"/>
              </a:rPr>
              <a:t>dimensions · spectral statistics</a:t>
            </a:r>
            <a:endParaRPr lang="en-US" sz="1150" dirty="0"/>
          </a:p>
        </p:txBody>
      </p:sp>
      <p:sp>
        <p:nvSpPr>
          <p:cNvPr id="10" name="Text 8"/>
          <p:cNvSpPr txBox="1"/>
          <p:nvPr/>
        </p:nvSpPr>
        <p:spPr>
          <a:xfrm>
            <a:off x="822960" y="3858768"/>
            <a:ext cx="2954426" cy="1755648"/>
          </a:xfrm>
          <a:prstGeom prst="rect">
            <a:avLst/>
          </a:prstGeom>
          <a:noFill/>
          <a:ln/>
        </p:spPr>
        <p:txBody>
          <a:bodyPr wrap="square" rtlCol="0" anchor="t"/>
          <a:lstStyle/>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Temporal mean, SD and maximum for each of 513 frequency bins</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Plus 4 global spectrogram statistics</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Fine frequency detail, fully transparent</a:t>
            </a:r>
            <a:endParaRPr lang="en-US" sz="1250" dirty="0"/>
          </a:p>
        </p:txBody>
      </p:sp>
      <p:sp>
        <p:nvSpPr>
          <p:cNvPr id="11" name="Shape 9"/>
          <p:cNvSpPr/>
          <p:nvPr/>
        </p:nvSpPr>
        <p:spPr>
          <a:xfrm>
            <a:off x="4362602" y="2395728"/>
            <a:ext cx="3466490" cy="3346704"/>
          </a:xfrm>
          <a:prstGeom prst="roundRect">
            <a:avLst>
              <a:gd name="adj" fmla="val 1913"/>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12" name="Text 10"/>
          <p:cNvSpPr txBox="1"/>
          <p:nvPr/>
        </p:nvSpPr>
        <p:spPr>
          <a:xfrm>
            <a:off x="4618634" y="2560320"/>
            <a:ext cx="2954426" cy="310896"/>
          </a:xfrm>
          <a:prstGeom prst="rect">
            <a:avLst/>
          </a:prstGeom>
          <a:noFill/>
          <a:ln/>
        </p:spPr>
        <p:txBody>
          <a:bodyPr wrap="square" lIns="0" tIns="0" rIns="0" bIns="0" rtlCol="0" anchor="ctr"/>
          <a:lstStyle/>
          <a:p>
            <a:pPr indent="0" marL="0">
              <a:buNone/>
            </a:pPr>
            <a:r>
              <a:rPr lang="en-US" sz="1400" b="1" dirty="0">
                <a:solidFill>
                  <a:srgbClr val="1E7A70"/>
                </a:solidFill>
                <a:latin typeface="Calibri" pitchFamily="34" charset="0"/>
                <a:ea typeface="Calibri" pitchFamily="34" charset="-122"/>
                <a:cs typeface="Calibri" pitchFamily="34" charset="-120"/>
              </a:rPr>
              <a:t>Compact</a:t>
            </a:r>
            <a:endParaRPr lang="en-US" sz="1400" dirty="0"/>
          </a:p>
        </p:txBody>
      </p:sp>
      <p:sp>
        <p:nvSpPr>
          <p:cNvPr id="13" name="Text 11"/>
          <p:cNvSpPr txBox="1"/>
          <p:nvPr/>
        </p:nvSpPr>
        <p:spPr>
          <a:xfrm>
            <a:off x="4618634" y="2852928"/>
            <a:ext cx="2954426" cy="658368"/>
          </a:xfrm>
          <a:prstGeom prst="rect">
            <a:avLst/>
          </a:prstGeom>
          <a:noFill/>
          <a:ln/>
        </p:spPr>
        <p:txBody>
          <a:bodyPr wrap="square" lIns="0" tIns="0" rIns="0" bIns="0" rtlCol="0" anchor="ctr"/>
          <a:lstStyle/>
          <a:p>
            <a:pPr indent="0" marL="0">
              <a:buNone/>
            </a:pPr>
            <a:r>
              <a:rPr lang="en-US" sz="4000" b="1" dirty="0">
                <a:solidFill>
                  <a:srgbClr val="0E1B33"/>
                </a:solidFill>
                <a:latin typeface="Cambria" pitchFamily="34" charset="0"/>
                <a:ea typeface="Cambria" pitchFamily="34" charset="-122"/>
                <a:cs typeface="Cambria" pitchFamily="34" charset="-120"/>
              </a:rPr>
              <a:t>199</a:t>
            </a:r>
            <a:endParaRPr lang="en-US" sz="4000" dirty="0"/>
          </a:p>
        </p:txBody>
      </p:sp>
      <p:sp>
        <p:nvSpPr>
          <p:cNvPr id="14" name="Text 12"/>
          <p:cNvSpPr txBox="1"/>
          <p:nvPr/>
        </p:nvSpPr>
        <p:spPr>
          <a:xfrm>
            <a:off x="4618634" y="3511296"/>
            <a:ext cx="2954426" cy="274320"/>
          </a:xfrm>
          <a:prstGeom prst="rect">
            <a:avLst/>
          </a:prstGeom>
          <a:noFill/>
          <a:ln/>
        </p:spPr>
        <p:txBody>
          <a:bodyPr wrap="square" lIns="0" tIns="0" rIns="0" bIns="0" rtlCol="0" anchor="ctr"/>
          <a:lstStyle/>
          <a:p>
            <a:pPr indent="0" marL="0">
              <a:buNone/>
            </a:pPr>
            <a:r>
              <a:rPr lang="en-US" sz="1150" dirty="0">
                <a:solidFill>
                  <a:srgbClr val="5F718C"/>
                </a:solidFill>
                <a:latin typeface="Calibri" pitchFamily="34" charset="0"/>
                <a:ea typeface="Calibri" pitchFamily="34" charset="-122"/>
                <a:cs typeface="Calibri" pitchFamily="34" charset="-120"/>
              </a:rPr>
              <a:t>dimensions · spectral statistics</a:t>
            </a:r>
            <a:endParaRPr lang="en-US" sz="1150" dirty="0"/>
          </a:p>
        </p:txBody>
      </p:sp>
      <p:sp>
        <p:nvSpPr>
          <p:cNvPr id="15" name="Text 13"/>
          <p:cNvSpPr txBox="1"/>
          <p:nvPr/>
        </p:nvSpPr>
        <p:spPr>
          <a:xfrm>
            <a:off x="4618634" y="3858768"/>
            <a:ext cx="2954426" cy="1755648"/>
          </a:xfrm>
          <a:prstGeom prst="rect">
            <a:avLst/>
          </a:prstGeom>
          <a:noFill/>
          <a:ln/>
        </p:spPr>
        <p:txBody>
          <a:bodyPr wrap="square" rtlCol="0" anchor="t"/>
          <a:lstStyle/>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513 bins collapsed into 64 contiguous frequency bands</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Mean, SD, max per band + 7 global statistics</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Tests whether the extra detail is doing any work</a:t>
            </a:r>
            <a:endParaRPr lang="en-US" sz="1250" dirty="0"/>
          </a:p>
        </p:txBody>
      </p:sp>
      <p:sp>
        <p:nvSpPr>
          <p:cNvPr id="16" name="Shape 14"/>
          <p:cNvSpPr/>
          <p:nvPr/>
        </p:nvSpPr>
        <p:spPr>
          <a:xfrm>
            <a:off x="8158277" y="2395728"/>
            <a:ext cx="3466490" cy="3346704"/>
          </a:xfrm>
          <a:prstGeom prst="roundRect">
            <a:avLst>
              <a:gd name="adj" fmla="val 1913"/>
            </a:avLst>
          </a:prstGeom>
          <a:solidFill>
            <a:srgbClr val="0E1B33"/>
          </a:solidFill>
          <a:ln w="9525">
            <a:solidFill>
              <a:srgbClr val="0E1B33"/>
            </a:solidFill>
            <a:prstDash val="solid"/>
          </a:ln>
        </p:spPr>
      </p:sp>
      <p:sp>
        <p:nvSpPr>
          <p:cNvPr id="17" name="Text 15"/>
          <p:cNvSpPr txBox="1"/>
          <p:nvPr/>
        </p:nvSpPr>
        <p:spPr>
          <a:xfrm>
            <a:off x="8414309" y="2560320"/>
            <a:ext cx="2954426" cy="310896"/>
          </a:xfrm>
          <a:prstGeom prst="rect">
            <a:avLst/>
          </a:prstGeom>
          <a:noFill/>
          <a:ln/>
        </p:spPr>
        <p:txBody>
          <a:bodyPr wrap="square" lIns="0" tIns="0" rIns="0" bIns="0" rtlCol="0" anchor="ctr"/>
          <a:lstStyle/>
          <a:p>
            <a:pPr indent="0" marL="0">
              <a:buNone/>
            </a:pPr>
            <a:r>
              <a:rPr lang="en-US" sz="1400" b="1" dirty="0">
                <a:solidFill>
                  <a:srgbClr val="F2A541"/>
                </a:solidFill>
                <a:latin typeface="Calibri" pitchFamily="34" charset="0"/>
                <a:ea typeface="Calibri" pitchFamily="34" charset="-122"/>
                <a:cs typeface="Calibri" pitchFamily="34" charset="-120"/>
              </a:rPr>
              <a:t>Perch v2</a:t>
            </a:r>
            <a:endParaRPr lang="en-US" sz="1400" dirty="0"/>
          </a:p>
        </p:txBody>
      </p:sp>
      <p:sp>
        <p:nvSpPr>
          <p:cNvPr id="18" name="Text 16"/>
          <p:cNvSpPr txBox="1"/>
          <p:nvPr/>
        </p:nvSpPr>
        <p:spPr>
          <a:xfrm>
            <a:off x="8414309" y="2852928"/>
            <a:ext cx="2954426"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1,536</a:t>
            </a:r>
            <a:endParaRPr lang="en-US" sz="4000" dirty="0"/>
          </a:p>
        </p:txBody>
      </p:sp>
      <p:sp>
        <p:nvSpPr>
          <p:cNvPr id="19" name="Text 17"/>
          <p:cNvSpPr txBox="1"/>
          <p:nvPr/>
        </p:nvSpPr>
        <p:spPr>
          <a:xfrm>
            <a:off x="8414309" y="3511296"/>
            <a:ext cx="2954426" cy="274320"/>
          </a:xfrm>
          <a:prstGeom prst="rect">
            <a:avLst/>
          </a:prstGeom>
          <a:noFill/>
          <a:ln/>
        </p:spPr>
        <p:txBody>
          <a:bodyPr wrap="square" lIns="0" tIns="0" rIns="0" bIns="0" rtlCol="0" anchor="ctr"/>
          <a:lstStyle/>
          <a:p>
            <a:pPr indent="0" marL="0">
              <a:buNone/>
            </a:pPr>
            <a:r>
              <a:rPr lang="en-US" sz="1150" dirty="0">
                <a:solidFill>
                  <a:srgbClr val="B3C4DC"/>
                </a:solidFill>
                <a:latin typeface="Calibri" pitchFamily="34" charset="0"/>
                <a:ea typeface="Calibri" pitchFamily="34" charset="-122"/>
                <a:cs typeface="Calibri" pitchFamily="34" charset="-120"/>
              </a:rPr>
              <a:t>dimensions · pretrained embedding</a:t>
            </a:r>
            <a:endParaRPr lang="en-US" sz="1150" dirty="0"/>
          </a:p>
        </p:txBody>
      </p:sp>
      <p:sp>
        <p:nvSpPr>
          <p:cNvPr id="20" name="Text 18"/>
          <p:cNvSpPr txBox="1"/>
          <p:nvPr/>
        </p:nvSpPr>
        <p:spPr>
          <a:xfrm>
            <a:off x="8414309" y="3858768"/>
            <a:ext cx="2954426" cy="1755648"/>
          </a:xfrm>
          <a:prstGeom prst="rect">
            <a:avLst/>
          </a:prstGeom>
          <a:noFill/>
          <a:ln/>
        </p:spPr>
        <p:txBody>
          <a:bodyPr wrap="square" rtlCol="0" anchor="t"/>
          <a:lstStyle/>
          <a:p>
            <a:pPr marL="342900" indent="-342900">
              <a:lnSpc>
                <a:spcPts val="1700"/>
              </a:lnSpc>
              <a:spcAft>
                <a:spcPts val="700"/>
              </a:spcAft>
              <a:buSzPct val="100000"/>
              <a:buChar char="•"/>
            </a:pPr>
            <a:r>
              <a:rPr lang="en-US" sz="1250" dirty="0">
                <a:solidFill>
                  <a:srgbClr val="DCE5F1"/>
                </a:solidFill>
                <a:latin typeface="Calibri" pitchFamily="34" charset="0"/>
                <a:ea typeface="Calibri" pitchFamily="34" charset="-122"/>
                <a:cs typeface="Calibri" pitchFamily="34" charset="-120"/>
              </a:rPr>
              <a:t>Frozen perch_v2_cpu, no fine-tuning</a:t>
            </a:r>
            <a:endParaRPr lang="en-US" sz="1250" dirty="0"/>
          </a:p>
          <a:p>
            <a:pPr marL="342900" indent="-342900">
              <a:lnSpc>
                <a:spcPts val="1700"/>
              </a:lnSpc>
              <a:spcAft>
                <a:spcPts val="700"/>
              </a:spcAft>
              <a:buSzPct val="100000"/>
              <a:buChar char="•"/>
            </a:pPr>
            <a:r>
              <a:rPr lang="en-US" sz="1250" dirty="0">
                <a:solidFill>
                  <a:srgbClr val="DCE5F1"/>
                </a:solidFill>
                <a:latin typeface="Calibri" pitchFamily="34" charset="0"/>
                <a:ea typeface="Calibri" pitchFamily="34" charset="-122"/>
                <a:cs typeface="Calibri" pitchFamily="34" charset="-120"/>
              </a:rPr>
              <a:t>Multi-taxa pretraining, built for transfer and similarity search</a:t>
            </a:r>
            <a:endParaRPr lang="en-US" sz="1250" dirty="0"/>
          </a:p>
          <a:p>
            <a:pPr marL="342900" indent="-342900">
              <a:lnSpc>
                <a:spcPts val="1700"/>
              </a:lnSpc>
              <a:spcAft>
                <a:spcPts val="700"/>
              </a:spcAft>
              <a:buSzPct val="100000"/>
              <a:buChar char="•"/>
            </a:pPr>
            <a:r>
              <a:rPr lang="en-US" sz="1250" dirty="0">
                <a:solidFill>
                  <a:srgbClr val="DCE5F1"/>
                </a:solidFill>
                <a:latin typeface="Calibri" pitchFamily="34" charset="0"/>
                <a:ea typeface="Calibri" pitchFamily="34" charset="-122"/>
                <a:cs typeface="Calibri" pitchFamily="34" charset="-120"/>
              </a:rPr>
              <a:t>Requires an input adaptation — next slide</a:t>
            </a:r>
            <a:endParaRPr lang="en-US" sz="1250" dirty="0"/>
          </a:p>
        </p:txBody>
      </p:sp>
      <p:sp>
        <p:nvSpPr>
          <p:cNvPr id="21" name="Text 19"/>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Acoustic representations</a:t>
            </a:r>
            <a:endParaRPr lang="en-US" sz="950" dirty="0"/>
          </a:p>
        </p:txBody>
      </p:sp>
      <p:sp>
        <p:nvSpPr>
          <p:cNvPr id="22" name="Text 20"/>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METHOD · THE KEY ADAPTATION</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Making ultrasound legible to a 32 kHz model</a:t>
            </a:r>
            <a:endParaRPr lang="en-US" sz="3000" dirty="0"/>
          </a:p>
        </p:txBody>
      </p:sp>
      <p:sp>
        <p:nvSpPr>
          <p:cNvPr id="4" name="Shape 2"/>
          <p:cNvSpPr/>
          <p:nvPr/>
        </p:nvSpPr>
        <p:spPr>
          <a:xfrm>
            <a:off x="566928" y="1737360"/>
            <a:ext cx="2377440" cy="1956816"/>
          </a:xfrm>
          <a:prstGeom prst="roundRect">
            <a:avLst>
              <a:gd name="adj" fmla="val 3271"/>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5" name="Text 3"/>
          <p:cNvSpPr txBox="1"/>
          <p:nvPr/>
        </p:nvSpPr>
        <p:spPr>
          <a:xfrm>
            <a:off x="731520" y="1938528"/>
            <a:ext cx="2048256" cy="237744"/>
          </a:xfrm>
          <a:prstGeom prst="rect">
            <a:avLst/>
          </a:prstGeom>
          <a:noFill/>
          <a:ln/>
        </p:spPr>
        <p:txBody>
          <a:bodyPr wrap="square" lIns="0" tIns="0" rIns="0" bIns="0" rtlCol="0" anchor="ctr"/>
          <a:lstStyle/>
          <a:p>
            <a:pPr algn="ctr" indent="0" marL="0">
              <a:buNone/>
            </a:pPr>
            <a:r>
              <a:rPr lang="en-US" sz="1050" b="1" spc="180" kern="0" dirty="0">
                <a:solidFill>
                  <a:srgbClr val="1E7A70"/>
                </a:solidFill>
                <a:latin typeface="Calibri" pitchFamily="34" charset="0"/>
                <a:ea typeface="Calibri" pitchFamily="34" charset="-122"/>
                <a:cs typeface="Calibri" pitchFamily="34" charset="-120"/>
              </a:rPr>
              <a:t>SOURCE</a:t>
            </a:r>
            <a:endParaRPr lang="en-US" sz="1050" dirty="0"/>
          </a:p>
        </p:txBody>
      </p:sp>
      <p:sp>
        <p:nvSpPr>
          <p:cNvPr id="6" name="Text 4"/>
          <p:cNvSpPr txBox="1"/>
          <p:nvPr/>
        </p:nvSpPr>
        <p:spPr>
          <a:xfrm>
            <a:off x="731520" y="2212848"/>
            <a:ext cx="2048256" cy="512064"/>
          </a:xfrm>
          <a:prstGeom prst="rect">
            <a:avLst/>
          </a:prstGeom>
          <a:noFill/>
          <a:ln/>
        </p:spPr>
        <p:txBody>
          <a:bodyPr wrap="square" lIns="0" tIns="0" rIns="0" bIns="0" rtlCol="0" anchor="t"/>
          <a:lstStyle/>
          <a:p>
            <a:pPr algn="ctr" indent="0" marL="0">
              <a:buNone/>
            </a:pPr>
            <a:r>
              <a:rPr lang="en-US" sz="2600" b="1" dirty="0">
                <a:solidFill>
                  <a:srgbClr val="0E1B33"/>
                </a:solidFill>
                <a:latin typeface="Cambria" pitchFamily="34" charset="0"/>
                <a:ea typeface="Cambria" pitchFamily="34" charset="-122"/>
                <a:cs typeface="Cambria" pitchFamily="34" charset="-120"/>
              </a:rPr>
              <a:t>384 kHz</a:t>
            </a:r>
            <a:endParaRPr lang="en-US" sz="2600" dirty="0"/>
          </a:p>
        </p:txBody>
      </p:sp>
      <p:sp>
        <p:nvSpPr>
          <p:cNvPr id="7" name="Text 5"/>
          <p:cNvSpPr txBox="1"/>
          <p:nvPr/>
        </p:nvSpPr>
        <p:spPr>
          <a:xfrm>
            <a:off x="731520" y="2761488"/>
            <a:ext cx="2048256" cy="841248"/>
          </a:xfrm>
          <a:prstGeom prst="rect">
            <a:avLst/>
          </a:prstGeom>
          <a:noFill/>
          <a:ln/>
        </p:spPr>
        <p:txBody>
          <a:bodyPr wrap="square" lIns="0" tIns="0" rIns="0" bIns="0" rtlCol="0" anchor="t"/>
          <a:lstStyle/>
          <a:p>
            <a:pPr algn="ctr" indent="0" marL="0">
              <a:lnSpc>
                <a:spcPts val="1600"/>
              </a:lnSpc>
              <a:buNone/>
            </a:pPr>
            <a:r>
              <a:rPr lang="en-US" sz="1200" dirty="0">
                <a:solidFill>
                  <a:srgbClr val="5F718C"/>
                </a:solidFill>
                <a:latin typeface="Calibri" pitchFamily="34" charset="0"/>
                <a:ea typeface="Calibri" pitchFamily="34" charset="-122"/>
                <a:cs typeface="Calibri" pitchFamily="34" charset="-120"/>
              </a:rPr>
              <a:t>Bat calls sit far above 16 kHz.</a:t>
            </a:r>
            <a:endParaRPr lang="en-US" sz="1200" dirty="0"/>
          </a:p>
        </p:txBody>
      </p:sp>
      <p:pic>
        <p:nvPicPr>
          <p:cNvPr id="8" name="Image 0" descr="/home/user/valentown/docs/thesis-defence/build/bat_ink_plain.png">    </p:cNvPr>
          <p:cNvPicPr>
            <a:picLocks noChangeAspect="1"/>
          </p:cNvPicPr>
          <p:nvPr/>
        </p:nvPicPr>
        <p:blipFill>
          <a:blip r:embed="rId1">
            <a:alphaModFix amt="38000"/>
          </a:blip>
          <a:stretch>
            <a:fillRect/>
          </a:stretch>
        </p:blipFill>
        <p:spPr>
          <a:xfrm>
            <a:off x="1225296" y="3255264"/>
            <a:ext cx="1060704" cy="239573"/>
          </a:xfrm>
          <a:prstGeom prst="rect">
            <a:avLst/>
          </a:prstGeom>
        </p:spPr>
      </p:pic>
      <p:sp>
        <p:nvSpPr>
          <p:cNvPr id="9" name="Shape 6"/>
          <p:cNvSpPr/>
          <p:nvPr/>
        </p:nvSpPr>
        <p:spPr>
          <a:xfrm>
            <a:off x="3099176" y="2596896"/>
            <a:ext cx="206411" cy="237744"/>
          </a:xfrm>
          <a:prstGeom prst="rightArrow">
            <a:avLst/>
          </a:prstGeom>
          <a:solidFill>
            <a:srgbClr val="2A9D8F"/>
          </a:solidFill>
          <a:ln/>
        </p:spPr>
      </p:sp>
      <p:sp>
        <p:nvSpPr>
          <p:cNvPr id="10" name="Shape 7"/>
          <p:cNvSpPr/>
          <p:nvPr/>
        </p:nvSpPr>
        <p:spPr>
          <a:xfrm>
            <a:off x="3460394" y="1737360"/>
            <a:ext cx="2377440" cy="1956816"/>
          </a:xfrm>
          <a:prstGeom prst="roundRect">
            <a:avLst>
              <a:gd name="adj" fmla="val 3271"/>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11" name="Text 8"/>
          <p:cNvSpPr txBox="1"/>
          <p:nvPr/>
        </p:nvSpPr>
        <p:spPr>
          <a:xfrm>
            <a:off x="3624986" y="1938528"/>
            <a:ext cx="2048256" cy="237744"/>
          </a:xfrm>
          <a:prstGeom prst="rect">
            <a:avLst/>
          </a:prstGeom>
          <a:noFill/>
          <a:ln/>
        </p:spPr>
        <p:txBody>
          <a:bodyPr wrap="square" lIns="0" tIns="0" rIns="0" bIns="0" rtlCol="0" anchor="ctr"/>
          <a:lstStyle/>
          <a:p>
            <a:pPr algn="ctr" indent="0" marL="0">
              <a:buNone/>
            </a:pPr>
            <a:r>
              <a:rPr lang="en-US" sz="1050" b="1" spc="180" kern="0" dirty="0">
                <a:solidFill>
                  <a:srgbClr val="1E7A70"/>
                </a:solidFill>
                <a:latin typeface="Calibri" pitchFamily="34" charset="0"/>
                <a:ea typeface="Calibri" pitchFamily="34" charset="-122"/>
                <a:cs typeface="Calibri" pitchFamily="34" charset="-120"/>
              </a:rPr>
              <a:t>RESAMPLE</a:t>
            </a:r>
            <a:endParaRPr lang="en-US" sz="1050" dirty="0"/>
          </a:p>
        </p:txBody>
      </p:sp>
      <p:sp>
        <p:nvSpPr>
          <p:cNvPr id="12" name="Text 9"/>
          <p:cNvSpPr txBox="1"/>
          <p:nvPr/>
        </p:nvSpPr>
        <p:spPr>
          <a:xfrm>
            <a:off x="3624986" y="2212848"/>
            <a:ext cx="2048256" cy="512064"/>
          </a:xfrm>
          <a:prstGeom prst="rect">
            <a:avLst/>
          </a:prstGeom>
          <a:noFill/>
          <a:ln/>
        </p:spPr>
        <p:txBody>
          <a:bodyPr wrap="square" lIns="0" tIns="0" rIns="0" bIns="0" rtlCol="0" anchor="t"/>
          <a:lstStyle/>
          <a:p>
            <a:pPr algn="ctr" indent="0" marL="0">
              <a:buNone/>
            </a:pPr>
            <a:r>
              <a:rPr lang="en-US" sz="2600" b="1" dirty="0">
                <a:solidFill>
                  <a:srgbClr val="0E1B33"/>
                </a:solidFill>
                <a:latin typeface="Cambria" pitchFamily="34" charset="0"/>
                <a:ea typeface="Cambria" pitchFamily="34" charset="-122"/>
                <a:cs typeface="Cambria" pitchFamily="34" charset="-120"/>
              </a:rPr>
              <a:t>320 kHz</a:t>
            </a:r>
            <a:endParaRPr lang="en-US" sz="2600" dirty="0"/>
          </a:p>
        </p:txBody>
      </p:sp>
      <p:sp>
        <p:nvSpPr>
          <p:cNvPr id="13" name="Text 10"/>
          <p:cNvSpPr txBox="1"/>
          <p:nvPr/>
        </p:nvSpPr>
        <p:spPr>
          <a:xfrm>
            <a:off x="3624986" y="2761488"/>
            <a:ext cx="2048256" cy="841248"/>
          </a:xfrm>
          <a:prstGeom prst="rect">
            <a:avLst/>
          </a:prstGeom>
          <a:noFill/>
          <a:ln/>
        </p:spPr>
        <p:txBody>
          <a:bodyPr wrap="square" lIns="0" tIns="0" rIns="0" bIns="0" rtlCol="0" anchor="t"/>
          <a:lstStyle/>
          <a:p>
            <a:pPr algn="ctr" indent="0" marL="0">
              <a:lnSpc>
                <a:spcPts val="1600"/>
              </a:lnSpc>
              <a:buNone/>
            </a:pPr>
            <a:r>
              <a:rPr lang="en-US" sz="1200" dirty="0">
                <a:solidFill>
                  <a:srgbClr val="5F718C"/>
                </a:solidFill>
                <a:latin typeface="Calibri" pitchFamily="34" charset="0"/>
                <a:ea typeface="Calibri" pitchFamily="34" charset="-122"/>
                <a:cs typeface="Calibri" pitchFamily="34" charset="-120"/>
              </a:rPr>
              <a:t>Unpadded waveform resampled, then cropped or padded to 0.25 s = 80,000 samples.</a:t>
            </a:r>
            <a:endParaRPr lang="en-US" sz="1200" dirty="0"/>
          </a:p>
        </p:txBody>
      </p:sp>
      <p:sp>
        <p:nvSpPr>
          <p:cNvPr id="14" name="Shape 11"/>
          <p:cNvSpPr/>
          <p:nvPr/>
        </p:nvSpPr>
        <p:spPr>
          <a:xfrm>
            <a:off x="5992642" y="2596896"/>
            <a:ext cx="206411" cy="237744"/>
          </a:xfrm>
          <a:prstGeom prst="rightArrow">
            <a:avLst/>
          </a:prstGeom>
          <a:solidFill>
            <a:srgbClr val="2A9D8F"/>
          </a:solidFill>
          <a:ln/>
        </p:spPr>
      </p:sp>
      <p:sp>
        <p:nvSpPr>
          <p:cNvPr id="15" name="Shape 12"/>
          <p:cNvSpPr/>
          <p:nvPr/>
        </p:nvSpPr>
        <p:spPr>
          <a:xfrm>
            <a:off x="6353861" y="1737360"/>
            <a:ext cx="2377440" cy="1956816"/>
          </a:xfrm>
          <a:prstGeom prst="roundRect">
            <a:avLst>
              <a:gd name="adj" fmla="val 3271"/>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16" name="Text 13"/>
          <p:cNvSpPr txBox="1"/>
          <p:nvPr/>
        </p:nvSpPr>
        <p:spPr>
          <a:xfrm>
            <a:off x="6518453" y="1938528"/>
            <a:ext cx="2048256" cy="237744"/>
          </a:xfrm>
          <a:prstGeom prst="rect">
            <a:avLst/>
          </a:prstGeom>
          <a:noFill/>
          <a:ln/>
        </p:spPr>
        <p:txBody>
          <a:bodyPr wrap="square" lIns="0" tIns="0" rIns="0" bIns="0" rtlCol="0" anchor="ctr"/>
          <a:lstStyle/>
          <a:p>
            <a:pPr algn="ctr" indent="0" marL="0">
              <a:buNone/>
            </a:pPr>
            <a:r>
              <a:rPr lang="en-US" sz="1050" b="1" spc="180" kern="0" dirty="0">
                <a:solidFill>
                  <a:srgbClr val="1E7A70"/>
                </a:solidFill>
                <a:latin typeface="Calibri" pitchFamily="34" charset="0"/>
                <a:ea typeface="Calibri" pitchFamily="34" charset="-122"/>
                <a:cs typeface="Calibri" pitchFamily="34" charset="-120"/>
              </a:rPr>
              <a:t>FRONTEND READS</a:t>
            </a:r>
            <a:endParaRPr lang="en-US" sz="1050" dirty="0"/>
          </a:p>
        </p:txBody>
      </p:sp>
      <p:sp>
        <p:nvSpPr>
          <p:cNvPr id="17" name="Text 14"/>
          <p:cNvSpPr txBox="1"/>
          <p:nvPr/>
        </p:nvSpPr>
        <p:spPr>
          <a:xfrm>
            <a:off x="6518453" y="2212848"/>
            <a:ext cx="2048256" cy="512064"/>
          </a:xfrm>
          <a:prstGeom prst="rect">
            <a:avLst/>
          </a:prstGeom>
          <a:noFill/>
          <a:ln/>
        </p:spPr>
        <p:txBody>
          <a:bodyPr wrap="square" lIns="0" tIns="0" rIns="0" bIns="0" rtlCol="0" anchor="t"/>
          <a:lstStyle/>
          <a:p>
            <a:pPr algn="ctr" indent="0" marL="0">
              <a:buNone/>
            </a:pPr>
            <a:r>
              <a:rPr lang="en-US" sz="2600" b="1" dirty="0">
                <a:solidFill>
                  <a:srgbClr val="0E1B33"/>
                </a:solidFill>
                <a:latin typeface="Cambria" pitchFamily="34" charset="0"/>
                <a:ea typeface="Cambria" pitchFamily="34" charset="-122"/>
                <a:cs typeface="Cambria" pitchFamily="34" charset="-120"/>
              </a:rPr>
              <a:t>32 kHz</a:t>
            </a:r>
            <a:endParaRPr lang="en-US" sz="2600" dirty="0"/>
          </a:p>
        </p:txBody>
      </p:sp>
      <p:sp>
        <p:nvSpPr>
          <p:cNvPr id="18" name="Text 15"/>
          <p:cNvSpPr txBox="1"/>
          <p:nvPr/>
        </p:nvSpPr>
        <p:spPr>
          <a:xfrm>
            <a:off x="6518453" y="2761488"/>
            <a:ext cx="2048256" cy="841248"/>
          </a:xfrm>
          <a:prstGeom prst="rect">
            <a:avLst/>
          </a:prstGeom>
          <a:noFill/>
          <a:ln/>
        </p:spPr>
        <p:txBody>
          <a:bodyPr wrap="square" lIns="0" tIns="0" rIns="0" bIns="0" rtlCol="0" anchor="t"/>
          <a:lstStyle/>
          <a:p>
            <a:pPr algn="ctr" indent="0" marL="0">
              <a:lnSpc>
                <a:spcPts val="1600"/>
              </a:lnSpc>
              <a:buNone/>
            </a:pPr>
            <a:r>
              <a:rPr lang="en-US" sz="1200" dirty="0">
                <a:solidFill>
                  <a:srgbClr val="5F718C"/>
                </a:solidFill>
                <a:latin typeface="Calibri" pitchFamily="34" charset="0"/>
                <a:ea typeface="Calibri" pitchFamily="34" charset="-122"/>
                <a:cs typeface="Calibri" pitchFamily="34" charset="-120"/>
              </a:rPr>
              <a:t>Perch interprets those samples at its own assumed rate.</a:t>
            </a:r>
            <a:endParaRPr lang="en-US" sz="1200" dirty="0"/>
          </a:p>
        </p:txBody>
      </p:sp>
      <p:sp>
        <p:nvSpPr>
          <p:cNvPr id="19" name="Shape 16"/>
          <p:cNvSpPr/>
          <p:nvPr/>
        </p:nvSpPr>
        <p:spPr>
          <a:xfrm>
            <a:off x="8886109" y="2596896"/>
            <a:ext cx="206411" cy="237744"/>
          </a:xfrm>
          <a:prstGeom prst="rightArrow">
            <a:avLst/>
          </a:prstGeom>
          <a:solidFill>
            <a:srgbClr val="2A9D8F"/>
          </a:solidFill>
          <a:ln/>
        </p:spPr>
      </p:sp>
      <p:sp>
        <p:nvSpPr>
          <p:cNvPr id="20" name="Shape 17"/>
          <p:cNvSpPr/>
          <p:nvPr/>
        </p:nvSpPr>
        <p:spPr>
          <a:xfrm>
            <a:off x="9247327" y="1737360"/>
            <a:ext cx="2377440" cy="1956816"/>
          </a:xfrm>
          <a:prstGeom prst="roundRect">
            <a:avLst>
              <a:gd name="adj" fmla="val 3271"/>
            </a:avLst>
          </a:prstGeom>
          <a:solidFill>
            <a:srgbClr val="0E1B33"/>
          </a:solidFill>
          <a:ln w="9525">
            <a:solidFill>
              <a:srgbClr val="0E1B33"/>
            </a:solidFill>
            <a:prstDash val="solid"/>
          </a:ln>
        </p:spPr>
      </p:sp>
      <p:sp>
        <p:nvSpPr>
          <p:cNvPr id="21" name="Text 18"/>
          <p:cNvSpPr txBox="1"/>
          <p:nvPr/>
        </p:nvSpPr>
        <p:spPr>
          <a:xfrm>
            <a:off x="9411919" y="1938528"/>
            <a:ext cx="2048256" cy="237744"/>
          </a:xfrm>
          <a:prstGeom prst="rect">
            <a:avLst/>
          </a:prstGeom>
          <a:noFill/>
          <a:ln/>
        </p:spPr>
        <p:txBody>
          <a:bodyPr wrap="square" lIns="0" tIns="0" rIns="0" bIns="0" rtlCol="0" anchor="ctr"/>
          <a:lstStyle/>
          <a:p>
            <a:pPr algn="ctr" indent="0" marL="0">
              <a:buNone/>
            </a:pPr>
            <a:r>
              <a:rPr lang="en-US" sz="1050" b="1" spc="180" kern="0" dirty="0">
                <a:solidFill>
                  <a:srgbClr val="F2A541"/>
                </a:solidFill>
                <a:latin typeface="Calibri" pitchFamily="34" charset="0"/>
                <a:ea typeface="Calibri" pitchFamily="34" charset="-122"/>
                <a:cs typeface="Calibri" pitchFamily="34" charset="-120"/>
              </a:rPr>
              <a:t>RESULT</a:t>
            </a:r>
            <a:endParaRPr lang="en-US" sz="1050" dirty="0"/>
          </a:p>
        </p:txBody>
      </p:sp>
      <p:sp>
        <p:nvSpPr>
          <p:cNvPr id="22" name="Text 19"/>
          <p:cNvSpPr txBox="1"/>
          <p:nvPr/>
        </p:nvSpPr>
        <p:spPr>
          <a:xfrm>
            <a:off x="9411919" y="2212848"/>
            <a:ext cx="2048256" cy="512064"/>
          </a:xfrm>
          <a:prstGeom prst="rect">
            <a:avLst/>
          </a:prstGeom>
          <a:noFill/>
          <a:ln/>
        </p:spPr>
        <p:txBody>
          <a:bodyPr wrap="square" lIns="0" tIns="0" rIns="0" bIns="0" rtlCol="0" anchor="t"/>
          <a:lstStyle/>
          <a:p>
            <a:pPr algn="ctr" indent="0" marL="0">
              <a:buNone/>
            </a:pPr>
            <a:r>
              <a:rPr lang="en-US" sz="2600" b="1" dirty="0">
                <a:solidFill>
                  <a:srgbClr val="FFFFFF"/>
                </a:solidFill>
                <a:latin typeface="Cambria" pitchFamily="34" charset="0"/>
                <a:ea typeface="Cambria" pitchFamily="34" charset="-122"/>
                <a:cs typeface="Cambria" pitchFamily="34" charset="-120"/>
              </a:rPr>
              <a:t>×10</a:t>
            </a:r>
            <a:endParaRPr lang="en-US" sz="2600" dirty="0"/>
          </a:p>
        </p:txBody>
      </p:sp>
      <p:sp>
        <p:nvSpPr>
          <p:cNvPr id="23" name="Text 20"/>
          <p:cNvSpPr txBox="1"/>
          <p:nvPr/>
        </p:nvSpPr>
        <p:spPr>
          <a:xfrm>
            <a:off x="9411919" y="2761488"/>
            <a:ext cx="2048256" cy="841248"/>
          </a:xfrm>
          <a:prstGeom prst="rect">
            <a:avLst/>
          </a:prstGeom>
          <a:noFill/>
          <a:ln/>
        </p:spPr>
        <p:txBody>
          <a:bodyPr wrap="square" lIns="0" tIns="0" rIns="0" bIns="0" rtlCol="0" anchor="t"/>
          <a:lstStyle/>
          <a:p>
            <a:pPr algn="ctr" indent="0" marL="0">
              <a:lnSpc>
                <a:spcPts val="1600"/>
              </a:lnSpc>
              <a:buNone/>
            </a:pPr>
            <a:r>
              <a:rPr lang="en-US" sz="1200" dirty="0">
                <a:solidFill>
                  <a:srgbClr val="C3D2E8"/>
                </a:solidFill>
                <a:latin typeface="Calibri" pitchFamily="34" charset="0"/>
                <a:ea typeface="Calibri" pitchFamily="34" charset="-122"/>
                <a:cs typeface="Calibri" pitchFamily="34" charset="-120"/>
              </a:rPr>
              <a:t>0.25 s is heard as 2.5 s; apparent frequency shifts down tenfold.</a:t>
            </a:r>
            <a:endParaRPr lang="en-US" sz="1200" dirty="0"/>
          </a:p>
        </p:txBody>
      </p:sp>
      <p:sp>
        <p:nvSpPr>
          <p:cNvPr id="24" name="Shape 21"/>
          <p:cNvSpPr/>
          <p:nvPr/>
        </p:nvSpPr>
        <p:spPr>
          <a:xfrm>
            <a:off x="566928" y="3968496"/>
            <a:ext cx="5760720" cy="1773936"/>
          </a:xfrm>
          <a:prstGeom prst="roundRect">
            <a:avLst>
              <a:gd name="adj" fmla="val 3608"/>
            </a:avLst>
          </a:prstGeom>
          <a:solidFill>
            <a:srgbClr val="F2F5F9"/>
          </a:solidFill>
          <a:ln w="9525">
            <a:solidFill>
              <a:srgbClr val="D5DEEA"/>
            </a:solidFill>
            <a:prstDash val="solid"/>
          </a:ln>
        </p:spPr>
      </p:sp>
      <p:sp>
        <p:nvSpPr>
          <p:cNvPr id="25" name="Text 22"/>
          <p:cNvSpPr txBox="1"/>
          <p:nvPr/>
        </p:nvSpPr>
        <p:spPr>
          <a:xfrm>
            <a:off x="822960" y="4151376"/>
            <a:ext cx="5248656" cy="310896"/>
          </a:xfrm>
          <a:prstGeom prst="rect">
            <a:avLst/>
          </a:prstGeom>
          <a:noFill/>
          <a:ln/>
        </p:spPr>
        <p:txBody>
          <a:bodyPr wrap="square" lIns="0" tIns="0" rIns="0" bIns="0" rtlCol="0" anchor="ctr"/>
          <a:lstStyle/>
          <a:p>
            <a:pPr indent="0" marL="0">
              <a:buNone/>
            </a:pPr>
            <a:r>
              <a:rPr lang="en-US" sz="1400" b="1" dirty="0">
                <a:solidFill>
                  <a:srgbClr val="0E1B33"/>
                </a:solidFill>
                <a:latin typeface="Calibri" pitchFamily="34" charset="0"/>
                <a:ea typeface="Calibri" pitchFamily="34" charset="-122"/>
                <a:cs typeface="Calibri" pitchFamily="34" charset="-120"/>
              </a:rPr>
              <a:t>Why not simply resample to 32 kHz?</a:t>
            </a:r>
            <a:endParaRPr lang="en-US" sz="1400" dirty="0"/>
          </a:p>
        </p:txBody>
      </p:sp>
      <p:sp>
        <p:nvSpPr>
          <p:cNvPr id="26" name="Text 23"/>
          <p:cNvSpPr txBox="1"/>
          <p:nvPr/>
        </p:nvSpPr>
        <p:spPr>
          <a:xfrm>
            <a:off x="822960" y="4517136"/>
            <a:ext cx="5248656" cy="1097280"/>
          </a:xfrm>
          <a:prstGeom prst="rect">
            <a:avLst/>
          </a:prstGeom>
          <a:noFill/>
          <a:ln/>
        </p:spPr>
        <p:txBody>
          <a:bodyPr wrap="square" lIns="0" tIns="0" rIns="0" bIns="0" rtlCol="0" anchor="t"/>
          <a:lstStyle/>
          <a:p>
            <a:pPr indent="0" marL="0">
              <a:lnSpc>
                <a:spcPts val="1800"/>
              </a:lnSpc>
              <a:buNone/>
            </a:pPr>
            <a:r>
              <a:rPr lang="en-US" sz="1300" dirty="0">
                <a:solidFill>
                  <a:srgbClr val="22314D"/>
                </a:solidFill>
                <a:latin typeface="Calibri" pitchFamily="34" charset="0"/>
                <a:ea typeface="Calibri" pitchFamily="34" charset="-122"/>
                <a:cs typeface="Calibri" pitchFamily="34" charset="-120"/>
              </a:rPr>
              <a:t>A 32 kHz frontend represents frequencies only up to 16 kHz. Ordinary resampling would discard everything above that — which is the entire signal. Time expansion preserves the relative pulse pattern and moves it into a range the model can process.</a:t>
            </a:r>
            <a:endParaRPr lang="en-US" sz="1300" dirty="0"/>
          </a:p>
        </p:txBody>
      </p:sp>
      <p:sp>
        <p:nvSpPr>
          <p:cNvPr id="27" name="Shape 24"/>
          <p:cNvSpPr/>
          <p:nvPr/>
        </p:nvSpPr>
        <p:spPr>
          <a:xfrm>
            <a:off x="6711696" y="3968496"/>
            <a:ext cx="4913071" cy="1773936"/>
          </a:xfrm>
          <a:prstGeom prst="roundRect">
            <a:avLst>
              <a:gd name="adj" fmla="val 3608"/>
            </a:avLst>
          </a:prstGeom>
          <a:solidFill>
            <a:srgbClr val="FFFFFF"/>
          </a:solidFill>
          <a:ln w="9525">
            <a:solidFill>
              <a:srgbClr val="E76F51"/>
            </a:solidFill>
            <a:prstDash val="solid"/>
          </a:ln>
        </p:spPr>
      </p:sp>
      <p:sp>
        <p:nvSpPr>
          <p:cNvPr id="28" name="Text 25"/>
          <p:cNvSpPr txBox="1"/>
          <p:nvPr/>
        </p:nvSpPr>
        <p:spPr>
          <a:xfrm>
            <a:off x="6967728" y="4151376"/>
            <a:ext cx="4401007" cy="310896"/>
          </a:xfrm>
          <a:prstGeom prst="rect">
            <a:avLst/>
          </a:prstGeom>
          <a:noFill/>
          <a:ln/>
        </p:spPr>
        <p:txBody>
          <a:bodyPr wrap="square" lIns="0" tIns="0" rIns="0" bIns="0" rtlCol="0" anchor="ctr"/>
          <a:lstStyle/>
          <a:p>
            <a:pPr indent="0" marL="0">
              <a:buNone/>
            </a:pPr>
            <a:r>
              <a:rPr lang="en-US" sz="1400" b="1" dirty="0">
                <a:solidFill>
                  <a:srgbClr val="E76F51"/>
                </a:solidFill>
                <a:latin typeface="Calibri" pitchFamily="34" charset="0"/>
                <a:ea typeface="Calibri" pitchFamily="34" charset="-122"/>
                <a:cs typeface="Calibri" pitchFamily="34" charset="-120"/>
              </a:rPr>
              <a:t>Stated as a limitation, not a footnote</a:t>
            </a:r>
            <a:endParaRPr lang="en-US" sz="1400" dirty="0"/>
          </a:p>
        </p:txBody>
      </p:sp>
      <p:sp>
        <p:nvSpPr>
          <p:cNvPr id="29" name="Text 26"/>
          <p:cNvSpPr txBox="1"/>
          <p:nvPr/>
        </p:nvSpPr>
        <p:spPr>
          <a:xfrm>
            <a:off x="6967728" y="4517136"/>
            <a:ext cx="4401007" cy="1097280"/>
          </a:xfrm>
          <a:prstGeom prst="rect">
            <a:avLst/>
          </a:prstGeom>
          <a:noFill/>
          <a:ln/>
        </p:spPr>
        <p:txBody>
          <a:bodyPr wrap="square" lIns="0" tIns="0" rIns="0" bIns="0" rtlCol="0" anchor="t"/>
          <a:lstStyle/>
          <a:p>
            <a:pPr indent="0" marL="0">
              <a:lnSpc>
                <a:spcPts val="1800"/>
              </a:lnSpc>
              <a:buNone/>
            </a:pPr>
            <a:r>
              <a:rPr lang="en-US" sz="1300" dirty="0">
                <a:solidFill>
                  <a:srgbClr val="22314D"/>
                </a:solidFill>
                <a:latin typeface="Calibri" pitchFamily="34" charset="0"/>
                <a:ea typeface="Calibri" pitchFamily="34" charset="-122"/>
                <a:cs typeface="Calibri" pitchFamily="34" charset="-120"/>
              </a:rPr>
              <a:t>Only the Perch route carries this conversion and expansion. What follows therefore compares complete representation pipelines — not embedding architectures under identical preprocessing.</a:t>
            </a:r>
            <a:endParaRPr lang="en-US" sz="1300" dirty="0"/>
          </a:p>
        </p:txBody>
      </p:sp>
      <p:sp>
        <p:nvSpPr>
          <p:cNvPr id="30" name="Text 27"/>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Tenfold time expansion</a:t>
            </a:r>
            <a:endParaRPr lang="en-US" sz="950" dirty="0"/>
          </a:p>
        </p:txBody>
      </p:sp>
      <p:sp>
        <p:nvSpPr>
          <p:cNvPr id="31" name="Text 28"/>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METHOD · EVALUATION</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Three levels of difficulty, plus retrieval</a:t>
            </a:r>
            <a:endParaRPr lang="en-US" sz="3000" dirty="0"/>
          </a:p>
        </p:txBody>
      </p:sp>
      <p:sp>
        <p:nvSpPr>
          <p:cNvPr id="4" name="Shape 2"/>
          <p:cNvSpPr/>
          <p:nvPr/>
        </p:nvSpPr>
        <p:spPr>
          <a:xfrm>
            <a:off x="566928" y="1517904"/>
            <a:ext cx="6492240" cy="1243584"/>
          </a:xfrm>
          <a:prstGeom prst="roundRect">
            <a:avLst>
              <a:gd name="adj" fmla="val 5147"/>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5" name="Shape 3"/>
          <p:cNvSpPr/>
          <p:nvPr/>
        </p:nvSpPr>
        <p:spPr>
          <a:xfrm>
            <a:off x="804672" y="1700784"/>
            <a:ext cx="384048" cy="384048"/>
          </a:xfrm>
          <a:prstGeom prst="ellipse">
            <a:avLst/>
          </a:prstGeom>
          <a:solidFill>
            <a:srgbClr val="1E7A70"/>
          </a:solidFill>
          <a:ln/>
        </p:spPr>
      </p:sp>
      <p:sp>
        <p:nvSpPr>
          <p:cNvPr id="6" name="Text 4"/>
          <p:cNvSpPr txBox="1"/>
          <p:nvPr/>
        </p:nvSpPr>
        <p:spPr>
          <a:xfrm>
            <a:off x="804672"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53312" y="1664208"/>
            <a:ext cx="5449824" cy="274320"/>
          </a:xfrm>
          <a:prstGeom prst="rect">
            <a:avLst/>
          </a:prstGeom>
          <a:noFill/>
          <a:ln/>
        </p:spPr>
        <p:txBody>
          <a:bodyPr wrap="square" lIns="0" tIns="0" rIns="0" bIns="0" rtlCol="0" anchor="ctr"/>
          <a:lstStyle/>
          <a:p>
            <a:pPr indent="0" marL="0">
              <a:buNone/>
            </a:pPr>
            <a:r>
              <a:rPr lang="en-US" sz="1400" b="1" dirty="0">
                <a:solidFill>
                  <a:srgbClr val="0E1B33"/>
                </a:solidFill>
                <a:latin typeface="Calibri" pitchFamily="34" charset="0"/>
                <a:ea typeface="Calibri" pitchFamily="34" charset="-122"/>
                <a:cs typeface="Calibri" pitchFamily="34" charset="-120"/>
              </a:rPr>
              <a:t>Stratified random split</a:t>
            </a:r>
            <a:endParaRPr lang="en-US" sz="1400" dirty="0"/>
          </a:p>
        </p:txBody>
      </p:sp>
      <p:sp>
        <p:nvSpPr>
          <p:cNvPr id="8" name="Text 6"/>
          <p:cNvSpPr txBox="1"/>
          <p:nvPr/>
        </p:nvSpPr>
        <p:spPr>
          <a:xfrm>
            <a:off x="1353312" y="1993392"/>
            <a:ext cx="5449824" cy="694944"/>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222 / 48 / 46 clips. All six folders can appear in each subset — a conventional within-dataset benchmark that does not isolate geography.</a:t>
            </a:r>
            <a:endParaRPr lang="en-US" sz="1250" dirty="0"/>
          </a:p>
        </p:txBody>
      </p:sp>
      <p:sp>
        <p:nvSpPr>
          <p:cNvPr id="9" name="Shape 7"/>
          <p:cNvSpPr/>
          <p:nvPr/>
        </p:nvSpPr>
        <p:spPr>
          <a:xfrm>
            <a:off x="566928" y="2907792"/>
            <a:ext cx="6492240" cy="1243584"/>
          </a:xfrm>
          <a:prstGeom prst="roundRect">
            <a:avLst>
              <a:gd name="adj" fmla="val 5147"/>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10" name="Shape 8"/>
          <p:cNvSpPr/>
          <p:nvPr/>
        </p:nvSpPr>
        <p:spPr>
          <a:xfrm>
            <a:off x="804672" y="3090672"/>
            <a:ext cx="384048" cy="384048"/>
          </a:xfrm>
          <a:prstGeom prst="ellipse">
            <a:avLst/>
          </a:prstGeom>
          <a:solidFill>
            <a:srgbClr val="1E7A70"/>
          </a:solidFill>
          <a:ln/>
        </p:spPr>
      </p:sp>
      <p:sp>
        <p:nvSpPr>
          <p:cNvPr id="11" name="Text 9"/>
          <p:cNvSpPr txBox="1"/>
          <p:nvPr/>
        </p:nvSpPr>
        <p:spPr>
          <a:xfrm>
            <a:off x="804672" y="3090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353312" y="3054096"/>
            <a:ext cx="5449824" cy="274320"/>
          </a:xfrm>
          <a:prstGeom prst="rect">
            <a:avLst/>
          </a:prstGeom>
          <a:noFill/>
          <a:ln/>
        </p:spPr>
        <p:txBody>
          <a:bodyPr wrap="square" lIns="0" tIns="0" rIns="0" bIns="0" rtlCol="0" anchor="ctr"/>
          <a:lstStyle/>
          <a:p>
            <a:pPr indent="0" marL="0">
              <a:buNone/>
            </a:pPr>
            <a:r>
              <a:rPr lang="en-US" sz="1400" b="1" dirty="0">
                <a:solidFill>
                  <a:srgbClr val="0E1B33"/>
                </a:solidFill>
                <a:latin typeface="Calibri" pitchFamily="34" charset="0"/>
                <a:ea typeface="Calibri" pitchFamily="34" charset="-122"/>
                <a:cs typeface="Calibri" pitchFamily="34" charset="-120"/>
              </a:rPr>
              <a:t>Grouped-site split</a:t>
            </a:r>
            <a:endParaRPr lang="en-US" sz="1400" dirty="0"/>
          </a:p>
        </p:txBody>
      </p:sp>
      <p:sp>
        <p:nvSpPr>
          <p:cNvPr id="13" name="Text 11"/>
          <p:cNvSpPr txBox="1"/>
          <p:nvPr/>
        </p:nvSpPr>
        <p:spPr>
          <a:xfrm>
            <a:off x="1353312" y="3383280"/>
            <a:ext cx="5449824" cy="694944"/>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buzzes_o (Site 3) for validation, buzzes_tb (Site 2) for test, 229 clips for training. The test site is geographically separated from training.</a:t>
            </a:r>
            <a:endParaRPr lang="en-US" sz="1250" dirty="0"/>
          </a:p>
        </p:txBody>
      </p:sp>
      <p:sp>
        <p:nvSpPr>
          <p:cNvPr id="14" name="Shape 12"/>
          <p:cNvSpPr/>
          <p:nvPr/>
        </p:nvSpPr>
        <p:spPr>
          <a:xfrm>
            <a:off x="566928" y="4297680"/>
            <a:ext cx="6492240" cy="1243584"/>
          </a:xfrm>
          <a:prstGeom prst="roundRect">
            <a:avLst>
              <a:gd name="adj" fmla="val 5147"/>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15" name="Shape 13"/>
          <p:cNvSpPr/>
          <p:nvPr/>
        </p:nvSpPr>
        <p:spPr>
          <a:xfrm>
            <a:off x="804672" y="4480560"/>
            <a:ext cx="384048" cy="384048"/>
          </a:xfrm>
          <a:prstGeom prst="ellipse">
            <a:avLst/>
          </a:prstGeom>
          <a:solidFill>
            <a:srgbClr val="1E7A70"/>
          </a:solidFill>
          <a:ln/>
        </p:spPr>
      </p:sp>
      <p:sp>
        <p:nvSpPr>
          <p:cNvPr id="16" name="Text 14"/>
          <p:cNvSpPr txBox="1"/>
          <p:nvPr/>
        </p:nvSpPr>
        <p:spPr>
          <a:xfrm>
            <a:off x="804672" y="4480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353312" y="4443984"/>
            <a:ext cx="5449824" cy="274320"/>
          </a:xfrm>
          <a:prstGeom prst="rect">
            <a:avLst/>
          </a:prstGeom>
          <a:noFill/>
          <a:ln/>
        </p:spPr>
        <p:txBody>
          <a:bodyPr wrap="square" lIns="0" tIns="0" rIns="0" bIns="0" rtlCol="0" anchor="ctr"/>
          <a:lstStyle/>
          <a:p>
            <a:pPr indent="0" marL="0">
              <a:buNone/>
            </a:pPr>
            <a:r>
              <a:rPr lang="en-US" sz="1400" b="1" dirty="0">
                <a:solidFill>
                  <a:srgbClr val="0E1B33"/>
                </a:solidFill>
                <a:latin typeface="Calibri" pitchFamily="34" charset="0"/>
                <a:ea typeface="Calibri" pitchFamily="34" charset="-122"/>
                <a:cs typeface="Calibri" pitchFamily="34" charset="-120"/>
              </a:rPr>
              <a:t>Leave-one-folder-out ×6</a:t>
            </a:r>
            <a:endParaRPr lang="en-US" sz="1400" dirty="0"/>
          </a:p>
        </p:txBody>
      </p:sp>
      <p:sp>
        <p:nvSpPr>
          <p:cNvPr id="18" name="Text 16"/>
          <p:cNvSpPr txBox="1"/>
          <p:nvPr/>
        </p:nvSpPr>
        <p:spPr>
          <a:xfrm>
            <a:off x="1353312" y="4773168"/>
            <a:ext cx="5449824" cy="694944"/>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Each folder held out in turn; scaler and detector refitted inside every round. Mean, SD and worst-folder F1 summarise the variation.</a:t>
            </a:r>
            <a:endParaRPr lang="en-US" sz="1250" dirty="0"/>
          </a:p>
        </p:txBody>
      </p:sp>
      <p:sp>
        <p:nvSpPr>
          <p:cNvPr id="19" name="Shape 17"/>
          <p:cNvSpPr/>
          <p:nvPr/>
        </p:nvSpPr>
        <p:spPr>
          <a:xfrm>
            <a:off x="7443216" y="1517904"/>
            <a:ext cx="4181551" cy="2560320"/>
          </a:xfrm>
          <a:prstGeom prst="roundRect">
            <a:avLst>
              <a:gd name="adj" fmla="val 2500"/>
            </a:avLst>
          </a:prstGeom>
          <a:solidFill>
            <a:srgbClr val="0E1B33"/>
          </a:solidFill>
          <a:ln w="9525">
            <a:solidFill>
              <a:srgbClr val="0E1B33"/>
            </a:solidFill>
            <a:prstDash val="solid"/>
          </a:ln>
        </p:spPr>
      </p:sp>
      <p:sp>
        <p:nvSpPr>
          <p:cNvPr id="20" name="Text 18"/>
          <p:cNvSpPr txBox="1"/>
          <p:nvPr/>
        </p:nvSpPr>
        <p:spPr>
          <a:xfrm>
            <a:off x="7699248" y="1700784"/>
            <a:ext cx="3669487" cy="274320"/>
          </a:xfrm>
          <a:prstGeom prst="rect">
            <a:avLst/>
          </a:prstGeom>
          <a:noFill/>
          <a:ln/>
        </p:spPr>
        <p:txBody>
          <a:bodyPr wrap="square" lIns="0" tIns="0" rIns="0" bIns="0" rtlCol="0" anchor="ctr"/>
          <a:lstStyle/>
          <a:p>
            <a:pPr indent="0" marL="0">
              <a:buNone/>
            </a:pPr>
            <a:r>
              <a:rPr lang="en-US" sz="1400" b="1" dirty="0">
                <a:solidFill>
                  <a:srgbClr val="F2A541"/>
                </a:solidFill>
                <a:latin typeface="Calibri" pitchFamily="34" charset="0"/>
                <a:ea typeface="Calibri" pitchFamily="34" charset="-122"/>
                <a:cs typeface="Calibri" pitchFamily="34" charset="-120"/>
              </a:rPr>
              <a:t>Site-aware retrieval  (RQ2)</a:t>
            </a:r>
            <a:endParaRPr lang="en-US" sz="1400" dirty="0"/>
          </a:p>
        </p:txBody>
      </p:sp>
      <p:sp>
        <p:nvSpPr>
          <p:cNvPr id="21" name="Text 19"/>
          <p:cNvSpPr txBox="1"/>
          <p:nvPr/>
        </p:nvSpPr>
        <p:spPr>
          <a:xfrm>
            <a:off x="7699248" y="2066544"/>
            <a:ext cx="3669487" cy="1792224"/>
          </a:xfrm>
          <a:prstGeom prst="rect">
            <a:avLst/>
          </a:prstGeom>
          <a:noFill/>
          <a:ln/>
        </p:spPr>
        <p:txBody>
          <a:bodyPr wrap="square" rtlCol="0" anchor="t"/>
          <a:lstStyle/>
          <a:p>
            <a:pPr marL="342900" indent="-342900">
              <a:lnSpc>
                <a:spcPts val="1600"/>
              </a:lnSpc>
              <a:spcAft>
                <a:spcPts val="600"/>
              </a:spcAft>
              <a:buSzPct val="100000"/>
              <a:buChar char="•"/>
            </a:pPr>
            <a:r>
              <a:rPr lang="en-US" sz="1150" dirty="0">
                <a:solidFill>
                  <a:srgbClr val="DCE5F1"/>
                </a:solidFill>
                <a:latin typeface="Calibri" pitchFamily="34" charset="0"/>
                <a:ea typeface="Calibri" pitchFamily="34" charset="-122"/>
                <a:cs typeface="Calibri" pitchFamily="34" charset="-120"/>
              </a:rPr>
              <a:t>All 158 buzz clips used as queries</a:t>
            </a:r>
            <a:endParaRPr lang="en-US" sz="1150" dirty="0"/>
          </a:p>
          <a:p>
            <a:pPr marL="342900" indent="-342900">
              <a:lnSpc>
                <a:spcPts val="1600"/>
              </a:lnSpc>
              <a:spcAft>
                <a:spcPts val="600"/>
              </a:spcAft>
              <a:buSzPct val="100000"/>
              <a:buChar char="•"/>
            </a:pPr>
            <a:r>
              <a:rPr lang="en-US" sz="1150" dirty="0">
                <a:solidFill>
                  <a:srgbClr val="DCE5F1"/>
                </a:solidFill>
                <a:latin typeface="Calibri" pitchFamily="34" charset="0"/>
                <a:ea typeface="Calibri" pitchFamily="34" charset="-122"/>
                <a:cs typeface="Calibri" pitchFamily="34" charset="-120"/>
              </a:rPr>
              <a:t>The query's own folder excluded from the candidate pool</a:t>
            </a:r>
            <a:endParaRPr lang="en-US" sz="1150" dirty="0"/>
          </a:p>
          <a:p>
            <a:pPr marL="342900" indent="-342900">
              <a:lnSpc>
                <a:spcPts val="1600"/>
              </a:lnSpc>
              <a:spcAft>
                <a:spcPts val="600"/>
              </a:spcAft>
              <a:buSzPct val="100000"/>
              <a:buChar char="•"/>
            </a:pPr>
            <a:r>
              <a:rPr lang="en-US" sz="1150" dirty="0">
                <a:solidFill>
                  <a:srgbClr val="DCE5F1"/>
                </a:solidFill>
                <a:latin typeface="Calibri" pitchFamily="34" charset="0"/>
                <a:ea typeface="Calibri" pitchFamily="34" charset="-122"/>
                <a:cs typeface="Calibri" pitchFamily="34" charset="-120"/>
              </a:rPr>
              <a:t>Cross-folder pool scaled and L2-normalised, ranked by cosine similarity</a:t>
            </a:r>
            <a:endParaRPr lang="en-US" sz="1150" dirty="0"/>
          </a:p>
          <a:p>
            <a:pPr marL="342900" indent="-342900">
              <a:lnSpc>
                <a:spcPts val="1600"/>
              </a:lnSpc>
              <a:spcAft>
                <a:spcPts val="600"/>
              </a:spcAft>
              <a:buSzPct val="100000"/>
              <a:buChar char="•"/>
            </a:pPr>
            <a:r>
              <a:rPr lang="en-US" sz="1150" dirty="0">
                <a:solidFill>
                  <a:srgbClr val="DCE5F1"/>
                </a:solidFill>
                <a:latin typeface="Calibri" pitchFamily="34" charset="0"/>
                <a:ea typeface="Calibri" pitchFamily="34" charset="-122"/>
                <a:cs typeface="Calibri" pitchFamily="34" charset="-120"/>
              </a:rPr>
              <a:t>100 seeded random permutations = an unguided reviewer</a:t>
            </a:r>
            <a:endParaRPr lang="en-US" sz="1150" dirty="0"/>
          </a:p>
        </p:txBody>
      </p:sp>
      <p:sp>
        <p:nvSpPr>
          <p:cNvPr id="22" name="Shape 20"/>
          <p:cNvSpPr/>
          <p:nvPr/>
        </p:nvSpPr>
        <p:spPr>
          <a:xfrm>
            <a:off x="7443216" y="4261104"/>
            <a:ext cx="4181551" cy="1408176"/>
          </a:xfrm>
          <a:prstGeom prst="roundRect">
            <a:avLst>
              <a:gd name="adj" fmla="val 4545"/>
            </a:avLst>
          </a:prstGeom>
          <a:solidFill>
            <a:srgbClr val="FFFFFF"/>
          </a:solidFill>
          <a:ln w="9525">
            <a:solidFill>
              <a:srgbClr val="E76F51"/>
            </a:solidFill>
            <a:prstDash val="solid"/>
          </a:ln>
        </p:spPr>
      </p:sp>
      <p:sp>
        <p:nvSpPr>
          <p:cNvPr id="23" name="Text 21"/>
          <p:cNvSpPr txBox="1"/>
          <p:nvPr/>
        </p:nvSpPr>
        <p:spPr>
          <a:xfrm>
            <a:off x="7699248" y="4389120"/>
            <a:ext cx="3669487" cy="274320"/>
          </a:xfrm>
          <a:prstGeom prst="rect">
            <a:avLst/>
          </a:prstGeom>
          <a:noFill/>
          <a:ln/>
        </p:spPr>
        <p:txBody>
          <a:bodyPr wrap="square" lIns="0" tIns="0" rIns="0" bIns="0" rtlCol="0" anchor="ctr"/>
          <a:lstStyle/>
          <a:p>
            <a:pPr indent="0" marL="0">
              <a:buNone/>
            </a:pPr>
            <a:r>
              <a:rPr lang="en-US" sz="1350" b="1" dirty="0">
                <a:solidFill>
                  <a:srgbClr val="E76F51"/>
                </a:solidFill>
                <a:latin typeface="Calibri" pitchFamily="34" charset="0"/>
                <a:ea typeface="Calibri" pitchFamily="34" charset="-122"/>
                <a:cs typeface="Calibri" pitchFamily="34" charset="-120"/>
              </a:rPr>
              <a:t>Stated up front</a:t>
            </a:r>
            <a:endParaRPr lang="en-US" sz="1350" dirty="0"/>
          </a:p>
        </p:txBody>
      </p:sp>
      <p:sp>
        <p:nvSpPr>
          <p:cNvPr id="24" name="Text 22"/>
          <p:cNvSpPr txBox="1"/>
          <p:nvPr/>
        </p:nvSpPr>
        <p:spPr>
          <a:xfrm>
            <a:off x="7699248" y="4718304"/>
            <a:ext cx="3669487" cy="804672"/>
          </a:xfrm>
          <a:prstGeom prst="rect">
            <a:avLst/>
          </a:prstGeom>
          <a:noFill/>
          <a:ln/>
        </p:spPr>
        <p:txBody>
          <a:bodyPr wrap="square" lIns="0" tIns="0" rIns="0" bIns="0" rtlCol="0" anchor="t"/>
          <a:lstStyle/>
          <a:p>
            <a:pPr indent="0" marL="0">
              <a:lnSpc>
                <a:spcPts val="1600"/>
              </a:lnSpc>
              <a:buNone/>
            </a:pPr>
            <a:r>
              <a:rPr lang="en-US" sz="1150" dirty="0">
                <a:solidFill>
                  <a:srgbClr val="22314D"/>
                </a:solidFill>
                <a:latin typeface="Calibri" pitchFamily="34" charset="0"/>
                <a:ea typeface="Calibri" pitchFamily="34" charset="-122"/>
                <a:cs typeface="Calibri" pitchFamily="34" charset="-120"/>
              </a:rPr>
              <a:t>buzzes_sp and buzzes_spmylu are both Site 4 — so LOFO and retrieval measure folder-level robustness, not five-location isolation.</a:t>
            </a:r>
            <a:endParaRPr lang="en-US" sz="1150" dirty="0"/>
          </a:p>
        </p:txBody>
      </p:sp>
      <p:sp>
        <p:nvSpPr>
          <p:cNvPr id="25" name="Text 23"/>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Evaluation design</a:t>
            </a:r>
            <a:endParaRPr lang="en-US" sz="950" dirty="0"/>
          </a:p>
        </p:txBody>
      </p:sp>
      <p:sp>
        <p:nvSpPr>
          <p:cNvPr id="26" name="Text 24"/>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RESULTS · RQ1</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Not just better on average — more stable</a:t>
            </a:r>
            <a:endParaRPr lang="en-US" sz="3000" dirty="0"/>
          </a:p>
        </p:txBody>
      </p:sp>
      <p:graphicFrame>
        <p:nvGraphicFramePr>
          <p:cNvPr id="4" name="Chart 0" descr=""/>
          <p:cNvGraphicFramePr/>
          <p:nvPr/>
        </p:nvGraphicFramePr>
        <p:xfrm>
          <a:off x="475488" y="1499616"/>
          <a:ext cx="7040880" cy="413308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54112" y="1627632"/>
            <a:ext cx="3870655" cy="1243584"/>
          </a:xfrm>
          <a:prstGeom prst="roundRect">
            <a:avLst>
              <a:gd name="adj" fmla="val 5147"/>
            </a:avLst>
          </a:prstGeom>
          <a:solidFill>
            <a:srgbClr val="FFFFFF"/>
          </a:solidFill>
          <a:ln w="9525">
            <a:solidFill>
              <a:srgbClr val="D5DEEA"/>
            </a:solidFill>
            <a:prstDash val="solid"/>
          </a:ln>
        </p:spPr>
      </p:sp>
      <p:sp>
        <p:nvSpPr>
          <p:cNvPr id="6" name="Text 3"/>
          <p:cNvSpPr txBox="1"/>
          <p:nvPr/>
        </p:nvSpPr>
        <p:spPr>
          <a:xfrm>
            <a:off x="7973568" y="1773936"/>
            <a:ext cx="3431743" cy="292608"/>
          </a:xfrm>
          <a:prstGeom prst="rect">
            <a:avLst/>
          </a:prstGeom>
          <a:noFill/>
          <a:ln/>
        </p:spPr>
        <p:txBody>
          <a:bodyPr wrap="square" lIns="0" tIns="0" rIns="0" bIns="0" rtlCol="0" anchor="ctr"/>
          <a:lstStyle/>
          <a:p>
            <a:pPr indent="0" marL="0">
              <a:buNone/>
            </a:pPr>
            <a:r>
              <a:rPr lang="en-US" sz="1300" b="1" dirty="0">
                <a:solidFill>
                  <a:srgbClr val="0E1B33"/>
                </a:solidFill>
                <a:latin typeface="Calibri" pitchFamily="34" charset="0"/>
                <a:ea typeface="Calibri" pitchFamily="34" charset="-122"/>
                <a:cs typeface="Calibri" pitchFamily="34" charset="-120"/>
              </a:rPr>
              <a:t>The grouped-site test was easy</a:t>
            </a:r>
            <a:endParaRPr lang="en-US" sz="1300" dirty="0"/>
          </a:p>
        </p:txBody>
      </p:sp>
      <p:sp>
        <p:nvSpPr>
          <p:cNvPr id="7" name="Text 4"/>
          <p:cNvSpPr txBox="1"/>
          <p:nvPr/>
        </p:nvSpPr>
        <p:spPr>
          <a:xfrm>
            <a:off x="7973568" y="2121408"/>
            <a:ext cx="3431743" cy="658368"/>
          </a:xfrm>
          <a:prstGeom prst="rect">
            <a:avLst/>
          </a:prstGeom>
          <a:noFill/>
          <a:ln/>
        </p:spPr>
        <p:txBody>
          <a:bodyPr wrap="square" lIns="0" tIns="0" rIns="0" bIns="0" rtlCol="0" anchor="t"/>
          <a:lstStyle/>
          <a:p>
            <a:pPr indent="0" marL="0">
              <a:lnSpc>
                <a:spcPts val="1600"/>
              </a:lnSpc>
              <a:buNone/>
            </a:pPr>
            <a:r>
              <a:rPr lang="en-US" sz="1200" dirty="0">
                <a:solidFill>
                  <a:srgbClr val="22314D"/>
                </a:solidFill>
                <a:latin typeface="Calibri" pitchFamily="34" charset="0"/>
                <a:ea typeface="Calibri" pitchFamily="34" charset="-122"/>
                <a:cs typeface="Calibri" pitchFamily="34" charset="-120"/>
              </a:rPr>
              <a:t>All three representations reached F1 = 1.000 — that split did not discriminate between them.</a:t>
            </a:r>
            <a:endParaRPr lang="en-US" sz="1200" dirty="0"/>
          </a:p>
        </p:txBody>
      </p:sp>
      <p:sp>
        <p:nvSpPr>
          <p:cNvPr id="8" name="Shape 5"/>
          <p:cNvSpPr/>
          <p:nvPr/>
        </p:nvSpPr>
        <p:spPr>
          <a:xfrm>
            <a:off x="7754112" y="3017520"/>
            <a:ext cx="3870655" cy="1243584"/>
          </a:xfrm>
          <a:prstGeom prst="roundRect">
            <a:avLst>
              <a:gd name="adj" fmla="val 5147"/>
            </a:avLst>
          </a:prstGeom>
          <a:solidFill>
            <a:srgbClr val="F2F5F9"/>
          </a:solidFill>
          <a:ln w="9525">
            <a:solidFill>
              <a:srgbClr val="2A9D8F"/>
            </a:solidFill>
            <a:prstDash val="solid"/>
          </a:ln>
        </p:spPr>
      </p:sp>
      <p:sp>
        <p:nvSpPr>
          <p:cNvPr id="9" name="Text 6"/>
          <p:cNvSpPr txBox="1"/>
          <p:nvPr/>
        </p:nvSpPr>
        <p:spPr>
          <a:xfrm>
            <a:off x="7973568" y="3163824"/>
            <a:ext cx="3431743" cy="292608"/>
          </a:xfrm>
          <a:prstGeom prst="rect">
            <a:avLst/>
          </a:prstGeom>
          <a:noFill/>
          <a:ln/>
        </p:spPr>
        <p:txBody>
          <a:bodyPr wrap="square" lIns="0" tIns="0" rIns="0" bIns="0" rtlCol="0" anchor="ctr"/>
          <a:lstStyle/>
          <a:p>
            <a:pPr indent="0" marL="0">
              <a:buNone/>
            </a:pPr>
            <a:r>
              <a:rPr lang="en-US" sz="1300" b="1" dirty="0">
                <a:solidFill>
                  <a:srgbClr val="0E1B33"/>
                </a:solidFill>
                <a:latin typeface="Calibri" pitchFamily="34" charset="0"/>
                <a:ea typeface="Calibri" pitchFamily="34" charset="-122"/>
                <a:cs typeface="Calibri" pitchFamily="34" charset="-120"/>
              </a:rPr>
              <a:t>Perch is stable across folders</a:t>
            </a:r>
            <a:endParaRPr lang="en-US" sz="1300" dirty="0"/>
          </a:p>
        </p:txBody>
      </p:sp>
      <p:sp>
        <p:nvSpPr>
          <p:cNvPr id="10" name="Text 7"/>
          <p:cNvSpPr txBox="1"/>
          <p:nvPr/>
        </p:nvSpPr>
        <p:spPr>
          <a:xfrm>
            <a:off x="7973568" y="3511296"/>
            <a:ext cx="3431743" cy="658368"/>
          </a:xfrm>
          <a:prstGeom prst="rect">
            <a:avLst/>
          </a:prstGeom>
          <a:noFill/>
          <a:ln/>
        </p:spPr>
        <p:txBody>
          <a:bodyPr wrap="square" lIns="0" tIns="0" rIns="0" bIns="0" rtlCol="0" anchor="t"/>
          <a:lstStyle/>
          <a:p>
            <a:pPr indent="0" marL="0">
              <a:lnSpc>
                <a:spcPts val="1600"/>
              </a:lnSpc>
              <a:buNone/>
            </a:pPr>
            <a:r>
              <a:rPr lang="en-US" sz="1200" dirty="0">
                <a:solidFill>
                  <a:srgbClr val="22314D"/>
                </a:solidFill>
                <a:latin typeface="Calibri" pitchFamily="34" charset="0"/>
                <a:ea typeface="Calibri" pitchFamily="34" charset="-122"/>
                <a:cs typeface="Calibri" pitchFamily="34" charset="-120"/>
              </a:rPr>
              <a:t>LOFO SD 0.020, against 0.101 and 0.114. Worst folder 0.950, against 0.727 and 0.691.</a:t>
            </a:r>
            <a:endParaRPr lang="en-US" sz="1200" dirty="0"/>
          </a:p>
        </p:txBody>
      </p:sp>
      <p:sp>
        <p:nvSpPr>
          <p:cNvPr id="11" name="Shape 8"/>
          <p:cNvSpPr/>
          <p:nvPr/>
        </p:nvSpPr>
        <p:spPr>
          <a:xfrm>
            <a:off x="7754112" y="4407408"/>
            <a:ext cx="3870655" cy="1243584"/>
          </a:xfrm>
          <a:prstGeom prst="roundRect">
            <a:avLst>
              <a:gd name="adj" fmla="val 5147"/>
            </a:avLst>
          </a:prstGeom>
          <a:solidFill>
            <a:srgbClr val="FFFFFF"/>
          </a:solidFill>
          <a:ln w="9525">
            <a:solidFill>
              <a:srgbClr val="D5DEEA"/>
            </a:solidFill>
            <a:prstDash val="solid"/>
          </a:ln>
        </p:spPr>
      </p:sp>
      <p:sp>
        <p:nvSpPr>
          <p:cNvPr id="12" name="Text 9"/>
          <p:cNvSpPr txBox="1"/>
          <p:nvPr/>
        </p:nvSpPr>
        <p:spPr>
          <a:xfrm>
            <a:off x="7973568" y="4553712"/>
            <a:ext cx="3431743" cy="292608"/>
          </a:xfrm>
          <a:prstGeom prst="rect">
            <a:avLst/>
          </a:prstGeom>
          <a:noFill/>
          <a:ln/>
        </p:spPr>
        <p:txBody>
          <a:bodyPr wrap="square" lIns="0" tIns="0" rIns="0" bIns="0" rtlCol="0" anchor="ctr"/>
          <a:lstStyle/>
          <a:p>
            <a:pPr indent="0" marL="0">
              <a:buNone/>
            </a:pPr>
            <a:r>
              <a:rPr lang="en-US" sz="1300" b="1" dirty="0">
                <a:solidFill>
                  <a:srgbClr val="0E1B33"/>
                </a:solidFill>
                <a:latin typeface="Calibri" pitchFamily="34" charset="0"/>
                <a:ea typeface="Calibri" pitchFamily="34" charset="-122"/>
                <a:cs typeface="Calibri" pitchFamily="34" charset="-120"/>
              </a:rPr>
              <a:t>More features is not better</a:t>
            </a:r>
            <a:endParaRPr lang="en-US" sz="1300" dirty="0"/>
          </a:p>
        </p:txBody>
      </p:sp>
      <p:sp>
        <p:nvSpPr>
          <p:cNvPr id="13" name="Text 10"/>
          <p:cNvSpPr txBox="1"/>
          <p:nvPr/>
        </p:nvSpPr>
        <p:spPr>
          <a:xfrm>
            <a:off x="7973568" y="4901184"/>
            <a:ext cx="3431743" cy="658368"/>
          </a:xfrm>
          <a:prstGeom prst="rect">
            <a:avLst/>
          </a:prstGeom>
          <a:noFill/>
          <a:ln/>
        </p:spPr>
        <p:txBody>
          <a:bodyPr wrap="square" lIns="0" tIns="0" rIns="0" bIns="0" rtlCol="0" anchor="t"/>
          <a:lstStyle/>
          <a:p>
            <a:pPr indent="0" marL="0">
              <a:lnSpc>
                <a:spcPts val="1600"/>
              </a:lnSpc>
              <a:buNone/>
            </a:pPr>
            <a:r>
              <a:rPr lang="en-US" sz="1200" dirty="0">
                <a:solidFill>
                  <a:srgbClr val="22314D"/>
                </a:solidFill>
                <a:latin typeface="Calibri" pitchFamily="34" charset="0"/>
                <a:ea typeface="Calibri" pitchFamily="34" charset="-122"/>
                <a:cs typeface="Calibri" pitchFamily="34" charset="-120"/>
              </a:rPr>
              <a:t>199-d compact matched the 1,543-d baseline to within 0.002 F1 — one-eighth of the dimensions.</a:t>
            </a:r>
            <a:endParaRPr lang="en-US" sz="1200" dirty="0"/>
          </a:p>
        </p:txBody>
      </p:sp>
      <p:sp>
        <p:nvSpPr>
          <p:cNvPr id="14" name="Text 11"/>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Detection performance</a:t>
            </a:r>
            <a:endParaRPr lang="en-US" sz="950" dirty="0"/>
          </a:p>
        </p:txBody>
      </p:sp>
      <p:sp>
        <p:nvSpPr>
          <p:cNvPr id="15" name="Text 12"/>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RESULTS · RQ2</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The same ranking, without a threshold</a:t>
            </a:r>
            <a:endParaRPr lang="en-US" sz="3000" dirty="0"/>
          </a:p>
        </p:txBody>
      </p:sp>
      <p:graphicFrame>
        <p:nvGraphicFramePr>
          <p:cNvPr id="4" name="Chart 0" descr=""/>
          <p:cNvGraphicFramePr/>
          <p:nvPr/>
        </p:nvGraphicFramePr>
        <p:xfrm>
          <a:off x="475488" y="1499616"/>
          <a:ext cx="7040880" cy="413308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54112" y="1554480"/>
            <a:ext cx="3870655" cy="1737360"/>
          </a:xfrm>
          <a:prstGeom prst="roundRect">
            <a:avLst>
              <a:gd name="adj" fmla="val 3684"/>
            </a:avLst>
          </a:prstGeom>
          <a:solidFill>
            <a:srgbClr val="0E1B33"/>
          </a:solidFill>
          <a:ln w="9525">
            <a:solidFill>
              <a:srgbClr val="0E1B33"/>
            </a:solidFill>
            <a:prstDash val="solid"/>
          </a:ln>
        </p:spPr>
      </p:sp>
      <p:sp>
        <p:nvSpPr>
          <p:cNvPr id="6" name="Text 3"/>
          <p:cNvSpPr txBox="1"/>
          <p:nvPr/>
        </p:nvSpPr>
        <p:spPr>
          <a:xfrm>
            <a:off x="7973568" y="1719072"/>
            <a:ext cx="3431743" cy="256032"/>
          </a:xfrm>
          <a:prstGeom prst="rect">
            <a:avLst/>
          </a:prstGeom>
          <a:noFill/>
          <a:ln/>
        </p:spPr>
        <p:txBody>
          <a:bodyPr wrap="square" lIns="0" tIns="0" rIns="0" bIns="0" rtlCol="0" anchor="ctr"/>
          <a:lstStyle/>
          <a:p>
            <a:pPr indent="0" marL="0">
              <a:buNone/>
            </a:pPr>
            <a:r>
              <a:rPr lang="en-US" sz="1250" b="1" spc="80" kern="0" dirty="0">
                <a:solidFill>
                  <a:srgbClr val="F2A541"/>
                </a:solidFill>
                <a:latin typeface="Calibri" pitchFamily="34" charset="0"/>
                <a:ea typeface="Calibri" pitchFamily="34" charset="-122"/>
                <a:cs typeface="Calibri" pitchFamily="34" charset="-120"/>
              </a:rPr>
              <a:t>Average Precision</a:t>
            </a:r>
            <a:endParaRPr lang="en-US" sz="1250" dirty="0"/>
          </a:p>
        </p:txBody>
      </p:sp>
      <p:sp>
        <p:nvSpPr>
          <p:cNvPr id="7" name="Text 4"/>
          <p:cNvSpPr txBox="1"/>
          <p:nvPr/>
        </p:nvSpPr>
        <p:spPr>
          <a:xfrm>
            <a:off x="7973568" y="1993392"/>
            <a:ext cx="3431743" cy="512064"/>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0.879</a:t>
            </a:r>
            <a:pPr indent="0" marL="0">
              <a:buNone/>
            </a:pPr>
            <a:r>
              <a:rPr lang="en-US" sz="1300" dirty="0">
                <a:solidFill>
                  <a:srgbClr val="B3C4DC"/>
                </a:solidFill>
                <a:latin typeface="Calibri" pitchFamily="34" charset="0"/>
                <a:ea typeface="Calibri" pitchFamily="34" charset="-122"/>
                <a:cs typeface="Calibri" pitchFamily="34" charset="-120"/>
              </a:rPr>
              <a:t>  Perch v2</a:t>
            </a:r>
            <a:endParaRPr lang="en-US" sz="3000" dirty="0"/>
          </a:p>
        </p:txBody>
      </p:sp>
      <p:sp>
        <p:nvSpPr>
          <p:cNvPr id="8" name="Text 5"/>
          <p:cNvSpPr txBox="1"/>
          <p:nvPr/>
        </p:nvSpPr>
        <p:spPr>
          <a:xfrm>
            <a:off x="7973568" y="2523744"/>
            <a:ext cx="3431743" cy="256032"/>
          </a:xfrm>
          <a:prstGeom prst="rect">
            <a:avLst/>
          </a:prstGeom>
          <a:noFill/>
          <a:ln/>
        </p:spPr>
        <p:txBody>
          <a:bodyPr wrap="square" lIns="0" tIns="0" rIns="0" bIns="0" rtlCol="0" anchor="ctr"/>
          <a:lstStyle/>
          <a:p>
            <a:pPr indent="0" marL="0">
              <a:buNone/>
            </a:pPr>
            <a:r>
              <a:rPr lang="en-US" sz="1250" dirty="0">
                <a:solidFill>
                  <a:srgbClr val="B3C4DC"/>
                </a:solidFill>
                <a:latin typeface="Calibri" pitchFamily="34" charset="0"/>
                <a:ea typeface="Calibri" pitchFamily="34" charset="-122"/>
                <a:cs typeface="Calibri" pitchFamily="34" charset="-120"/>
              </a:rPr>
              <a:t>Baseline 0.770  ·  Compact 0.771</a:t>
            </a:r>
            <a:endParaRPr lang="en-US" sz="1250" dirty="0"/>
          </a:p>
        </p:txBody>
      </p:sp>
      <p:sp>
        <p:nvSpPr>
          <p:cNvPr id="9" name="Text 6"/>
          <p:cNvSpPr txBox="1"/>
          <p:nvPr/>
        </p:nvSpPr>
        <p:spPr>
          <a:xfrm>
            <a:off x="7973568" y="2798064"/>
            <a:ext cx="3431743" cy="420624"/>
          </a:xfrm>
          <a:prstGeom prst="rect">
            <a:avLst/>
          </a:prstGeom>
          <a:noFill/>
          <a:ln/>
        </p:spPr>
        <p:txBody>
          <a:bodyPr wrap="square" lIns="0" tIns="0" rIns="0" bIns="0" rtlCol="0" anchor="t"/>
          <a:lstStyle/>
          <a:p>
            <a:pPr indent="0" marL="0">
              <a:lnSpc>
                <a:spcPts val="1500"/>
              </a:lnSpc>
              <a:buNone/>
            </a:pPr>
            <a:r>
              <a:rPr lang="en-US" sz="1150" i="1" dirty="0">
                <a:solidFill>
                  <a:srgbClr val="8FA5C4"/>
                </a:solidFill>
                <a:latin typeface="Calibri" pitchFamily="34" charset="0"/>
                <a:ea typeface="Calibri" pitchFamily="34" charset="-122"/>
                <a:cs typeface="Calibri" pitchFamily="34" charset="-120"/>
              </a:rPr>
              <a:t>Below its own top-k precision — the separation sits near the top of the ranking.</a:t>
            </a:r>
            <a:endParaRPr lang="en-US" sz="1150" dirty="0"/>
          </a:p>
        </p:txBody>
      </p:sp>
      <p:sp>
        <p:nvSpPr>
          <p:cNvPr id="10" name="Shape 7"/>
          <p:cNvSpPr/>
          <p:nvPr/>
        </p:nvSpPr>
        <p:spPr>
          <a:xfrm>
            <a:off x="7754112" y="3474720"/>
            <a:ext cx="3870655" cy="1097280"/>
          </a:xfrm>
          <a:prstGeom prst="roundRect">
            <a:avLst>
              <a:gd name="adj" fmla="val 5833"/>
            </a:avLst>
          </a:prstGeom>
          <a:solidFill>
            <a:srgbClr val="FFFFFF"/>
          </a:solidFill>
          <a:ln w="9525">
            <a:solidFill>
              <a:srgbClr val="D5DEEA"/>
            </a:solidFill>
            <a:prstDash val="solid"/>
          </a:ln>
        </p:spPr>
      </p:sp>
      <p:sp>
        <p:nvSpPr>
          <p:cNvPr id="11" name="Text 8"/>
          <p:cNvSpPr txBox="1"/>
          <p:nvPr/>
        </p:nvSpPr>
        <p:spPr>
          <a:xfrm>
            <a:off x="7973568" y="3602736"/>
            <a:ext cx="3431743" cy="274320"/>
          </a:xfrm>
          <a:prstGeom prst="rect">
            <a:avLst/>
          </a:prstGeom>
          <a:noFill/>
          <a:ln/>
        </p:spPr>
        <p:txBody>
          <a:bodyPr wrap="square" lIns="0" tIns="0" rIns="0" bIns="0" rtlCol="0" anchor="ctr"/>
          <a:lstStyle/>
          <a:p>
            <a:pPr indent="0" marL="0">
              <a:buNone/>
            </a:pPr>
            <a:r>
              <a:rPr lang="en-US" sz="1250" b="1" dirty="0">
                <a:solidFill>
                  <a:srgbClr val="0E1B33"/>
                </a:solidFill>
                <a:latin typeface="Calibri" pitchFamily="34" charset="0"/>
                <a:ea typeface="Calibri" pitchFamily="34" charset="-122"/>
                <a:cs typeface="Calibri" pitchFamily="34" charset="-120"/>
              </a:rPr>
              <a:t>That shape suits a review workflow</a:t>
            </a:r>
            <a:endParaRPr lang="en-US" sz="1250" dirty="0"/>
          </a:p>
        </p:txBody>
      </p:sp>
      <p:sp>
        <p:nvSpPr>
          <p:cNvPr id="12" name="Text 9"/>
          <p:cNvSpPr txBox="1"/>
          <p:nvPr/>
        </p:nvSpPr>
        <p:spPr>
          <a:xfrm>
            <a:off x="7973568" y="3931920"/>
            <a:ext cx="3431743" cy="585216"/>
          </a:xfrm>
          <a:prstGeom prst="rect">
            <a:avLst/>
          </a:prstGeom>
          <a:noFill/>
          <a:ln/>
        </p:spPr>
        <p:txBody>
          <a:bodyPr wrap="square" lIns="0" tIns="0" rIns="0" bIns="0" rtlCol="0" anchor="t"/>
          <a:lstStyle/>
          <a:p>
            <a:pPr indent="0" marL="0">
              <a:lnSpc>
                <a:spcPts val="1500"/>
              </a:lnSpc>
              <a:buNone/>
            </a:pPr>
            <a:r>
              <a:rPr lang="en-US" sz="1150" dirty="0">
                <a:solidFill>
                  <a:srgbClr val="22314D"/>
                </a:solidFill>
                <a:latin typeface="Calibri" pitchFamily="34" charset="0"/>
                <a:ea typeface="Calibri" pitchFamily="34" charset="-122"/>
                <a:cs typeface="Calibri" pitchFamily="34" charset="-120"/>
              </a:rPr>
              <a:t>An annotator inspects the highest-ranked candidates first, so precision at the top of the list is what saves time.</a:t>
            </a:r>
            <a:endParaRPr lang="en-US" sz="1150" dirty="0"/>
          </a:p>
        </p:txBody>
      </p:sp>
      <p:sp>
        <p:nvSpPr>
          <p:cNvPr id="13" name="Shape 10"/>
          <p:cNvSpPr/>
          <p:nvPr/>
        </p:nvSpPr>
        <p:spPr>
          <a:xfrm>
            <a:off x="7754112" y="4736592"/>
            <a:ext cx="3870655" cy="1097280"/>
          </a:xfrm>
          <a:prstGeom prst="roundRect">
            <a:avLst>
              <a:gd name="adj" fmla="val 5833"/>
            </a:avLst>
          </a:prstGeom>
          <a:solidFill>
            <a:srgbClr val="FFFFFF"/>
          </a:solidFill>
          <a:ln w="9525">
            <a:solidFill>
              <a:srgbClr val="E76F51"/>
            </a:solidFill>
            <a:prstDash val="solid"/>
          </a:ln>
        </p:spPr>
      </p:sp>
      <p:sp>
        <p:nvSpPr>
          <p:cNvPr id="14" name="Text 11"/>
          <p:cNvSpPr txBox="1"/>
          <p:nvPr/>
        </p:nvSpPr>
        <p:spPr>
          <a:xfrm>
            <a:off x="7973568" y="4864608"/>
            <a:ext cx="3431743" cy="274320"/>
          </a:xfrm>
          <a:prstGeom prst="rect">
            <a:avLst/>
          </a:prstGeom>
          <a:noFill/>
          <a:ln/>
        </p:spPr>
        <p:txBody>
          <a:bodyPr wrap="square" lIns="0" tIns="0" rIns="0" bIns="0" rtlCol="0" anchor="ctr"/>
          <a:lstStyle/>
          <a:p>
            <a:pPr indent="0" marL="0">
              <a:buNone/>
            </a:pPr>
            <a:r>
              <a:rPr lang="en-US" sz="1250" b="1" dirty="0">
                <a:solidFill>
                  <a:srgbClr val="E76F51"/>
                </a:solidFill>
                <a:latin typeface="Calibri" pitchFamily="34" charset="0"/>
                <a:ea typeface="Calibri" pitchFamily="34" charset="-122"/>
                <a:cs typeface="Calibri" pitchFamily="34" charset="-120"/>
              </a:rPr>
              <a:t>An easier problem than the field</a:t>
            </a:r>
            <a:endParaRPr lang="en-US" sz="1250" dirty="0"/>
          </a:p>
        </p:txBody>
      </p:sp>
      <p:sp>
        <p:nvSpPr>
          <p:cNvPr id="15" name="Text 12"/>
          <p:cNvSpPr txBox="1"/>
          <p:nvPr/>
        </p:nvSpPr>
        <p:spPr>
          <a:xfrm>
            <a:off x="7973568" y="5193792"/>
            <a:ext cx="3431743" cy="585216"/>
          </a:xfrm>
          <a:prstGeom prst="rect">
            <a:avLst/>
          </a:prstGeom>
          <a:noFill/>
          <a:ln/>
        </p:spPr>
        <p:txBody>
          <a:bodyPr wrap="square" lIns="0" tIns="0" rIns="0" bIns="0" rtlCol="0" anchor="t"/>
          <a:lstStyle/>
          <a:p>
            <a:pPr indent="0" marL="0">
              <a:lnSpc>
                <a:spcPts val="1500"/>
              </a:lnSpc>
              <a:buNone/>
            </a:pPr>
            <a:r>
              <a:rPr lang="en-US" sz="1150" dirty="0">
                <a:solidFill>
                  <a:srgbClr val="22314D"/>
                </a:solidFill>
                <a:latin typeface="Calibri" pitchFamily="34" charset="0"/>
                <a:ea typeface="Calibri" pitchFamily="34" charset="-122"/>
                <a:cs typeface="Calibri" pitchFamily="34" charset="-120"/>
              </a:rPr>
              <a:t>The balanced candidate pool puts random Precision@10 at 0.500. Buzzes are far rarer in continuous PAM data.</a:t>
            </a:r>
            <a:endParaRPr lang="en-US" sz="1150" dirty="0"/>
          </a:p>
        </p:txBody>
      </p:sp>
      <p:sp>
        <p:nvSpPr>
          <p:cNvPr id="16" name="Text 13"/>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Similarity retrieval</a:t>
            </a:r>
            <a:endParaRPr lang="en-US" sz="950" dirty="0"/>
          </a:p>
        </p:txBody>
      </p:sp>
      <p:sp>
        <p:nvSpPr>
          <p:cNvPr id="17" name="Text 14"/>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RESULTS · RQ3</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Field candidate discovery in Kenya</a:t>
            </a:r>
            <a:endParaRPr lang="en-US" sz="3000" dirty="0"/>
          </a:p>
        </p:txBody>
      </p:sp>
      <p:graphicFrame>
        <p:nvGraphicFramePr>
          <p:cNvPr id="4" name="Chart 0" descr=""/>
          <p:cNvGraphicFramePr/>
          <p:nvPr/>
        </p:nvGraphicFramePr>
        <p:xfrm>
          <a:off x="475488" y="1499616"/>
          <a:ext cx="5943600" cy="3749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66928" y="5285232"/>
            <a:ext cx="5760720" cy="457200"/>
          </a:xfrm>
          <a:prstGeom prst="rect">
            <a:avLst/>
          </a:prstGeom>
          <a:noFill/>
          <a:ln/>
        </p:spPr>
        <p:txBody>
          <a:bodyPr wrap="square" lIns="0" tIns="0" rIns="0" bIns="0" rtlCol="0" anchor="ctr"/>
          <a:lstStyle/>
          <a:p>
            <a:pPr indent="0" marL="0">
              <a:lnSpc>
                <a:spcPts val="1500"/>
              </a:lnSpc>
              <a:buNone/>
            </a:pPr>
            <a:r>
              <a:rPr lang="en-US" sz="1100" i="1" dirty="0">
                <a:solidFill>
                  <a:srgbClr val="5F718C"/>
                </a:solidFill>
                <a:latin typeface="Calibri" pitchFamily="34" charset="0"/>
                <a:ea typeface="Calibri" pitchFamily="34" charset="-122"/>
                <a:cs typeface="Calibri" pitchFamily="34" charset="-120"/>
              </a:rPr>
              <a:t>Different score scales — this compares how each detector prioritised the same recordings, not its precision.</a:t>
            </a:r>
            <a:endParaRPr lang="en-US" sz="1100" dirty="0"/>
          </a:p>
        </p:txBody>
      </p:sp>
      <p:sp>
        <p:nvSpPr>
          <p:cNvPr id="6" name="Text 3"/>
          <p:cNvSpPr txBox="1"/>
          <p:nvPr/>
        </p:nvSpPr>
        <p:spPr>
          <a:xfrm>
            <a:off x="6711696" y="1517904"/>
            <a:ext cx="4913071" cy="475488"/>
          </a:xfrm>
          <a:prstGeom prst="rect">
            <a:avLst/>
          </a:prstGeom>
          <a:noFill/>
          <a:ln/>
        </p:spPr>
        <p:txBody>
          <a:bodyPr wrap="square" lIns="0" tIns="0" rIns="0" bIns="0" rtlCol="0" anchor="ctr"/>
          <a:lstStyle/>
          <a:p>
            <a:pPr indent="0" marL="0">
              <a:lnSpc>
                <a:spcPts val="1800"/>
              </a:lnSpc>
              <a:buNone/>
            </a:pPr>
            <a:r>
              <a:rPr lang="en-US" sz="1350" b="1" dirty="0">
                <a:solidFill>
                  <a:srgbClr val="0E1B33"/>
                </a:solidFill>
                <a:latin typeface="Calibri" pitchFamily="34" charset="0"/>
                <a:ea typeface="Calibri" pitchFamily="34" charset="-122"/>
                <a:cs typeface="Calibri" pitchFamily="34" charset="-120"/>
              </a:rPr>
              <a:t>Manual review — 69 Perch candidates, each from a different one-minute recording</a:t>
            </a:r>
            <a:endParaRPr lang="en-US" sz="1350" dirty="0"/>
          </a:p>
        </p:txBody>
      </p:sp>
      <p:sp>
        <p:nvSpPr>
          <p:cNvPr id="7" name="Text 4"/>
          <p:cNvSpPr txBox="1"/>
          <p:nvPr/>
        </p:nvSpPr>
        <p:spPr>
          <a:xfrm>
            <a:off x="6711696" y="2157984"/>
            <a:ext cx="1627632" cy="274320"/>
          </a:xfrm>
          <a:prstGeom prst="rect">
            <a:avLst/>
          </a:prstGeom>
          <a:noFill/>
          <a:ln/>
        </p:spPr>
        <p:txBody>
          <a:bodyPr wrap="square" lIns="0" tIns="0" rIns="0" bIns="0" rtlCol="0" anchor="ctr"/>
          <a:lstStyle/>
          <a:p>
            <a:pPr algn="r" indent="0" marL="0">
              <a:buNone/>
            </a:pPr>
            <a:r>
              <a:rPr lang="en-US" sz="1200" dirty="0">
                <a:solidFill>
                  <a:srgbClr val="22314D"/>
                </a:solidFill>
                <a:latin typeface="Calibri" pitchFamily="34" charset="0"/>
                <a:ea typeface="Calibri" pitchFamily="34" charset="-122"/>
                <a:cs typeface="Calibri" pitchFamily="34" charset="-120"/>
              </a:rPr>
              <a:t>Insect-like</a:t>
            </a:r>
            <a:endParaRPr lang="en-US" sz="1200" dirty="0"/>
          </a:p>
        </p:txBody>
      </p:sp>
      <p:sp>
        <p:nvSpPr>
          <p:cNvPr id="8" name="Shape 5"/>
          <p:cNvSpPr/>
          <p:nvPr/>
        </p:nvSpPr>
        <p:spPr>
          <a:xfrm>
            <a:off x="8412480" y="2208276"/>
            <a:ext cx="2212848" cy="173736"/>
          </a:xfrm>
          <a:prstGeom prst="rect">
            <a:avLst/>
          </a:prstGeom>
          <a:solidFill>
            <a:srgbClr val="E7EDF4"/>
          </a:solidFill>
          <a:ln/>
        </p:spPr>
      </p:sp>
      <p:sp>
        <p:nvSpPr>
          <p:cNvPr id="9" name="Shape 6"/>
          <p:cNvSpPr/>
          <p:nvPr/>
        </p:nvSpPr>
        <p:spPr>
          <a:xfrm>
            <a:off x="8412480" y="2208276"/>
            <a:ext cx="2212848" cy="173736"/>
          </a:xfrm>
          <a:prstGeom prst="rect">
            <a:avLst/>
          </a:prstGeom>
          <a:solidFill>
            <a:srgbClr val="E76F51"/>
          </a:solidFill>
          <a:ln/>
        </p:spPr>
      </p:sp>
      <p:sp>
        <p:nvSpPr>
          <p:cNvPr id="10" name="Text 7"/>
          <p:cNvSpPr txBox="1"/>
          <p:nvPr/>
        </p:nvSpPr>
        <p:spPr>
          <a:xfrm>
            <a:off x="10735056" y="2157984"/>
            <a:ext cx="1188720" cy="274320"/>
          </a:xfrm>
          <a:prstGeom prst="rect">
            <a:avLst/>
          </a:prstGeom>
          <a:noFill/>
          <a:ln/>
        </p:spPr>
        <p:txBody>
          <a:bodyPr wrap="square" lIns="0" tIns="0" rIns="0" bIns="0" rtlCol="0" anchor="ctr"/>
          <a:lstStyle/>
          <a:p>
            <a:pPr indent="0" marL="0">
              <a:buNone/>
            </a:pPr>
            <a:r>
              <a:rPr lang="en-US" sz="1150" b="1" dirty="0">
                <a:solidFill>
                  <a:srgbClr val="0E1B33"/>
                </a:solidFill>
                <a:latin typeface="Calibri" pitchFamily="34" charset="0"/>
                <a:ea typeface="Calibri" pitchFamily="34" charset="-122"/>
                <a:cs typeface="Calibri" pitchFamily="34" charset="-120"/>
              </a:rPr>
              <a:t>27   39.1%</a:t>
            </a:r>
            <a:endParaRPr lang="en-US" sz="1150" dirty="0"/>
          </a:p>
        </p:txBody>
      </p:sp>
      <p:sp>
        <p:nvSpPr>
          <p:cNvPr id="11" name="Text 8"/>
          <p:cNvSpPr txBox="1"/>
          <p:nvPr/>
        </p:nvSpPr>
        <p:spPr>
          <a:xfrm>
            <a:off x="6711696" y="2642616"/>
            <a:ext cx="1627632" cy="274320"/>
          </a:xfrm>
          <a:prstGeom prst="rect">
            <a:avLst/>
          </a:prstGeom>
          <a:noFill/>
          <a:ln/>
        </p:spPr>
        <p:txBody>
          <a:bodyPr wrap="square" lIns="0" tIns="0" rIns="0" bIns="0" rtlCol="0" anchor="ctr"/>
          <a:lstStyle/>
          <a:p>
            <a:pPr algn="r" indent="0" marL="0">
              <a:buNone/>
            </a:pPr>
            <a:r>
              <a:rPr lang="en-US" sz="1200" dirty="0">
                <a:solidFill>
                  <a:srgbClr val="22314D"/>
                </a:solidFill>
                <a:latin typeface="Calibri" pitchFamily="34" charset="0"/>
                <a:ea typeface="Calibri" pitchFamily="34" charset="-122"/>
                <a:cs typeface="Calibri" pitchFamily="34" charset="-120"/>
              </a:rPr>
              <a:t>Buzz-like</a:t>
            </a:r>
            <a:endParaRPr lang="en-US" sz="1200" dirty="0"/>
          </a:p>
        </p:txBody>
      </p:sp>
      <p:sp>
        <p:nvSpPr>
          <p:cNvPr id="12" name="Shape 9"/>
          <p:cNvSpPr/>
          <p:nvPr/>
        </p:nvSpPr>
        <p:spPr>
          <a:xfrm>
            <a:off x="8412480" y="2692908"/>
            <a:ext cx="2212848" cy="173736"/>
          </a:xfrm>
          <a:prstGeom prst="rect">
            <a:avLst/>
          </a:prstGeom>
          <a:solidFill>
            <a:srgbClr val="E7EDF4"/>
          </a:solidFill>
          <a:ln/>
        </p:spPr>
      </p:sp>
      <p:sp>
        <p:nvSpPr>
          <p:cNvPr id="13" name="Shape 10"/>
          <p:cNvSpPr/>
          <p:nvPr/>
        </p:nvSpPr>
        <p:spPr>
          <a:xfrm>
            <a:off x="8412480" y="2692908"/>
            <a:ext cx="1557189" cy="173736"/>
          </a:xfrm>
          <a:prstGeom prst="rect">
            <a:avLst/>
          </a:prstGeom>
          <a:solidFill>
            <a:srgbClr val="F2A541"/>
          </a:solidFill>
          <a:ln/>
        </p:spPr>
      </p:sp>
      <p:sp>
        <p:nvSpPr>
          <p:cNvPr id="14" name="Text 11"/>
          <p:cNvSpPr txBox="1"/>
          <p:nvPr/>
        </p:nvSpPr>
        <p:spPr>
          <a:xfrm>
            <a:off x="10735056" y="2642616"/>
            <a:ext cx="1188720" cy="274320"/>
          </a:xfrm>
          <a:prstGeom prst="rect">
            <a:avLst/>
          </a:prstGeom>
          <a:noFill/>
          <a:ln/>
        </p:spPr>
        <p:txBody>
          <a:bodyPr wrap="square" lIns="0" tIns="0" rIns="0" bIns="0" rtlCol="0" anchor="ctr"/>
          <a:lstStyle/>
          <a:p>
            <a:pPr indent="0" marL="0">
              <a:buNone/>
            </a:pPr>
            <a:r>
              <a:rPr lang="en-US" sz="1150" b="1" dirty="0">
                <a:solidFill>
                  <a:srgbClr val="0E1B33"/>
                </a:solidFill>
                <a:latin typeface="Calibri" pitchFamily="34" charset="0"/>
                <a:ea typeface="Calibri" pitchFamily="34" charset="-122"/>
                <a:cs typeface="Calibri" pitchFamily="34" charset="-120"/>
              </a:rPr>
              <a:t>19   27.5%</a:t>
            </a:r>
            <a:endParaRPr lang="en-US" sz="1150" dirty="0"/>
          </a:p>
        </p:txBody>
      </p:sp>
      <p:sp>
        <p:nvSpPr>
          <p:cNvPr id="15" name="Text 12"/>
          <p:cNvSpPr txBox="1"/>
          <p:nvPr/>
        </p:nvSpPr>
        <p:spPr>
          <a:xfrm>
            <a:off x="6711696" y="3127248"/>
            <a:ext cx="1627632" cy="274320"/>
          </a:xfrm>
          <a:prstGeom prst="rect">
            <a:avLst/>
          </a:prstGeom>
          <a:noFill/>
          <a:ln/>
        </p:spPr>
        <p:txBody>
          <a:bodyPr wrap="square" lIns="0" tIns="0" rIns="0" bIns="0" rtlCol="0" anchor="ctr"/>
          <a:lstStyle/>
          <a:p>
            <a:pPr algn="r" indent="0" marL="0">
              <a:buNone/>
            </a:pPr>
            <a:r>
              <a:rPr lang="en-US" sz="1200" dirty="0">
                <a:solidFill>
                  <a:srgbClr val="22314D"/>
                </a:solidFill>
                <a:latin typeface="Calibri" pitchFamily="34" charset="0"/>
                <a:ea typeface="Calibri" pitchFamily="34" charset="-122"/>
                <a:cs typeface="Calibri" pitchFamily="34" charset="-120"/>
              </a:rPr>
              <a:t>Background noise</a:t>
            </a:r>
            <a:endParaRPr lang="en-US" sz="1200" dirty="0"/>
          </a:p>
        </p:txBody>
      </p:sp>
      <p:sp>
        <p:nvSpPr>
          <p:cNvPr id="16" name="Shape 13"/>
          <p:cNvSpPr/>
          <p:nvPr/>
        </p:nvSpPr>
        <p:spPr>
          <a:xfrm>
            <a:off x="8412480" y="3177540"/>
            <a:ext cx="2212848" cy="173736"/>
          </a:xfrm>
          <a:prstGeom prst="rect">
            <a:avLst/>
          </a:prstGeom>
          <a:solidFill>
            <a:srgbClr val="E7EDF4"/>
          </a:solidFill>
          <a:ln/>
        </p:spPr>
      </p:sp>
      <p:sp>
        <p:nvSpPr>
          <p:cNvPr id="17" name="Shape 14"/>
          <p:cNvSpPr/>
          <p:nvPr/>
        </p:nvSpPr>
        <p:spPr>
          <a:xfrm>
            <a:off x="8412480" y="3177540"/>
            <a:ext cx="819573" cy="173736"/>
          </a:xfrm>
          <a:prstGeom prst="rect">
            <a:avLst/>
          </a:prstGeom>
          <a:solidFill>
            <a:srgbClr val="9FB0C8"/>
          </a:solidFill>
          <a:ln/>
        </p:spPr>
      </p:sp>
      <p:sp>
        <p:nvSpPr>
          <p:cNvPr id="18" name="Text 15"/>
          <p:cNvSpPr txBox="1"/>
          <p:nvPr/>
        </p:nvSpPr>
        <p:spPr>
          <a:xfrm>
            <a:off x="10735056" y="3127248"/>
            <a:ext cx="1188720" cy="274320"/>
          </a:xfrm>
          <a:prstGeom prst="rect">
            <a:avLst/>
          </a:prstGeom>
          <a:noFill/>
          <a:ln/>
        </p:spPr>
        <p:txBody>
          <a:bodyPr wrap="square" lIns="0" tIns="0" rIns="0" bIns="0" rtlCol="0" anchor="ctr"/>
          <a:lstStyle/>
          <a:p>
            <a:pPr indent="0" marL="0">
              <a:buNone/>
            </a:pPr>
            <a:r>
              <a:rPr lang="en-US" sz="1150" dirty="0">
                <a:solidFill>
                  <a:srgbClr val="5F718C"/>
                </a:solidFill>
                <a:latin typeface="Calibri" pitchFamily="34" charset="0"/>
                <a:ea typeface="Calibri" pitchFamily="34" charset="-122"/>
                <a:cs typeface="Calibri" pitchFamily="34" charset="-120"/>
              </a:rPr>
              <a:t>10   14.5%</a:t>
            </a:r>
            <a:endParaRPr lang="en-US" sz="1150" dirty="0"/>
          </a:p>
        </p:txBody>
      </p:sp>
      <p:sp>
        <p:nvSpPr>
          <p:cNvPr id="19" name="Text 16"/>
          <p:cNvSpPr txBox="1"/>
          <p:nvPr/>
        </p:nvSpPr>
        <p:spPr>
          <a:xfrm>
            <a:off x="6711696" y="3611880"/>
            <a:ext cx="1627632" cy="274320"/>
          </a:xfrm>
          <a:prstGeom prst="rect">
            <a:avLst/>
          </a:prstGeom>
          <a:noFill/>
          <a:ln/>
        </p:spPr>
        <p:txBody>
          <a:bodyPr wrap="square" lIns="0" tIns="0" rIns="0" bIns="0" rtlCol="0" anchor="ctr"/>
          <a:lstStyle/>
          <a:p>
            <a:pPr algn="r" indent="0" marL="0">
              <a:buNone/>
            </a:pPr>
            <a:r>
              <a:rPr lang="en-US" sz="1200" dirty="0">
                <a:solidFill>
                  <a:srgbClr val="22314D"/>
                </a:solidFill>
                <a:latin typeface="Calibri" pitchFamily="34" charset="0"/>
                <a:ea typeface="Calibri" pitchFamily="34" charset="-122"/>
                <a:cs typeface="Calibri" pitchFamily="34" charset="-120"/>
              </a:rPr>
              <a:t>Recording artefact</a:t>
            </a:r>
            <a:endParaRPr lang="en-US" sz="1200" dirty="0"/>
          </a:p>
        </p:txBody>
      </p:sp>
      <p:sp>
        <p:nvSpPr>
          <p:cNvPr id="20" name="Shape 17"/>
          <p:cNvSpPr/>
          <p:nvPr/>
        </p:nvSpPr>
        <p:spPr>
          <a:xfrm>
            <a:off x="8412480" y="3662172"/>
            <a:ext cx="2212848" cy="173736"/>
          </a:xfrm>
          <a:prstGeom prst="rect">
            <a:avLst/>
          </a:prstGeom>
          <a:solidFill>
            <a:srgbClr val="E7EDF4"/>
          </a:solidFill>
          <a:ln/>
        </p:spPr>
      </p:sp>
      <p:sp>
        <p:nvSpPr>
          <p:cNvPr id="21" name="Shape 18"/>
          <p:cNvSpPr/>
          <p:nvPr/>
        </p:nvSpPr>
        <p:spPr>
          <a:xfrm>
            <a:off x="8412480" y="3662172"/>
            <a:ext cx="737616" cy="173736"/>
          </a:xfrm>
          <a:prstGeom prst="rect">
            <a:avLst/>
          </a:prstGeom>
          <a:solidFill>
            <a:srgbClr val="9FB0C8"/>
          </a:solidFill>
          <a:ln/>
        </p:spPr>
      </p:sp>
      <p:sp>
        <p:nvSpPr>
          <p:cNvPr id="22" name="Text 19"/>
          <p:cNvSpPr txBox="1"/>
          <p:nvPr/>
        </p:nvSpPr>
        <p:spPr>
          <a:xfrm>
            <a:off x="10735056" y="3611880"/>
            <a:ext cx="1188720" cy="274320"/>
          </a:xfrm>
          <a:prstGeom prst="rect">
            <a:avLst/>
          </a:prstGeom>
          <a:noFill/>
          <a:ln/>
        </p:spPr>
        <p:txBody>
          <a:bodyPr wrap="square" lIns="0" tIns="0" rIns="0" bIns="0" rtlCol="0" anchor="ctr"/>
          <a:lstStyle/>
          <a:p>
            <a:pPr indent="0" marL="0">
              <a:buNone/>
            </a:pPr>
            <a:r>
              <a:rPr lang="en-US" sz="1150" dirty="0">
                <a:solidFill>
                  <a:srgbClr val="5F718C"/>
                </a:solidFill>
                <a:latin typeface="Calibri" pitchFamily="34" charset="0"/>
                <a:ea typeface="Calibri" pitchFamily="34" charset="-122"/>
                <a:cs typeface="Calibri" pitchFamily="34" charset="-120"/>
              </a:rPr>
              <a:t>9   13.0%</a:t>
            </a:r>
            <a:endParaRPr lang="en-US" sz="1150" dirty="0"/>
          </a:p>
        </p:txBody>
      </p:sp>
      <p:sp>
        <p:nvSpPr>
          <p:cNvPr id="23" name="Text 20"/>
          <p:cNvSpPr txBox="1"/>
          <p:nvPr/>
        </p:nvSpPr>
        <p:spPr>
          <a:xfrm>
            <a:off x="6711696" y="4096512"/>
            <a:ext cx="1627632" cy="274320"/>
          </a:xfrm>
          <a:prstGeom prst="rect">
            <a:avLst/>
          </a:prstGeom>
          <a:noFill/>
          <a:ln/>
        </p:spPr>
        <p:txBody>
          <a:bodyPr wrap="square" lIns="0" tIns="0" rIns="0" bIns="0" rtlCol="0" anchor="ctr"/>
          <a:lstStyle/>
          <a:p>
            <a:pPr algn="r" indent="0" marL="0">
              <a:buNone/>
            </a:pPr>
            <a:r>
              <a:rPr lang="en-US" sz="1200" dirty="0">
                <a:solidFill>
                  <a:srgbClr val="22314D"/>
                </a:solidFill>
                <a:latin typeface="Calibri" pitchFamily="34" charset="0"/>
                <a:ea typeface="Calibri" pitchFamily="34" charset="-122"/>
                <a:cs typeface="Calibri" pitchFamily="34" charset="-120"/>
              </a:rPr>
              <a:t>Single click</a:t>
            </a:r>
            <a:endParaRPr lang="en-US" sz="1200" dirty="0"/>
          </a:p>
        </p:txBody>
      </p:sp>
      <p:sp>
        <p:nvSpPr>
          <p:cNvPr id="24" name="Shape 21"/>
          <p:cNvSpPr/>
          <p:nvPr/>
        </p:nvSpPr>
        <p:spPr>
          <a:xfrm>
            <a:off x="8412480" y="4146804"/>
            <a:ext cx="2212848" cy="173736"/>
          </a:xfrm>
          <a:prstGeom prst="rect">
            <a:avLst/>
          </a:prstGeom>
          <a:solidFill>
            <a:srgbClr val="E7EDF4"/>
          </a:solidFill>
          <a:ln/>
        </p:spPr>
      </p:sp>
      <p:sp>
        <p:nvSpPr>
          <p:cNvPr id="25" name="Shape 22"/>
          <p:cNvSpPr/>
          <p:nvPr/>
        </p:nvSpPr>
        <p:spPr>
          <a:xfrm>
            <a:off x="8412480" y="4146804"/>
            <a:ext cx="245872" cy="173736"/>
          </a:xfrm>
          <a:prstGeom prst="rect">
            <a:avLst/>
          </a:prstGeom>
          <a:solidFill>
            <a:srgbClr val="9FB0C8"/>
          </a:solidFill>
          <a:ln/>
        </p:spPr>
      </p:sp>
      <p:sp>
        <p:nvSpPr>
          <p:cNvPr id="26" name="Text 23"/>
          <p:cNvSpPr txBox="1"/>
          <p:nvPr/>
        </p:nvSpPr>
        <p:spPr>
          <a:xfrm>
            <a:off x="10735056" y="4096512"/>
            <a:ext cx="1188720" cy="274320"/>
          </a:xfrm>
          <a:prstGeom prst="rect">
            <a:avLst/>
          </a:prstGeom>
          <a:noFill/>
          <a:ln/>
        </p:spPr>
        <p:txBody>
          <a:bodyPr wrap="square" lIns="0" tIns="0" rIns="0" bIns="0" rtlCol="0" anchor="ctr"/>
          <a:lstStyle/>
          <a:p>
            <a:pPr indent="0" marL="0">
              <a:buNone/>
            </a:pPr>
            <a:r>
              <a:rPr lang="en-US" sz="1150" dirty="0">
                <a:solidFill>
                  <a:srgbClr val="5F718C"/>
                </a:solidFill>
                <a:latin typeface="Calibri" pitchFamily="34" charset="0"/>
                <a:ea typeface="Calibri" pitchFamily="34" charset="-122"/>
                <a:cs typeface="Calibri" pitchFamily="34" charset="-120"/>
              </a:rPr>
              <a:t>3   4.3%</a:t>
            </a:r>
            <a:endParaRPr lang="en-US" sz="1150" dirty="0"/>
          </a:p>
        </p:txBody>
      </p:sp>
      <p:sp>
        <p:nvSpPr>
          <p:cNvPr id="27" name="Text 24"/>
          <p:cNvSpPr txBox="1"/>
          <p:nvPr/>
        </p:nvSpPr>
        <p:spPr>
          <a:xfrm>
            <a:off x="6711696" y="4581144"/>
            <a:ext cx="1627632" cy="274320"/>
          </a:xfrm>
          <a:prstGeom prst="rect">
            <a:avLst/>
          </a:prstGeom>
          <a:noFill/>
          <a:ln/>
        </p:spPr>
        <p:txBody>
          <a:bodyPr wrap="square" lIns="0" tIns="0" rIns="0" bIns="0" rtlCol="0" anchor="ctr"/>
          <a:lstStyle/>
          <a:p>
            <a:pPr algn="r" indent="0" marL="0">
              <a:buNone/>
            </a:pPr>
            <a:r>
              <a:rPr lang="en-US" sz="1200" dirty="0">
                <a:solidFill>
                  <a:srgbClr val="22314D"/>
                </a:solidFill>
                <a:latin typeface="Calibri" pitchFamily="34" charset="0"/>
                <a:ea typeface="Calibri" pitchFamily="34" charset="-122"/>
                <a:cs typeface="Calibri" pitchFamily="34" charset="-120"/>
              </a:rPr>
              <a:t>Unclear</a:t>
            </a:r>
            <a:endParaRPr lang="en-US" sz="1200" dirty="0"/>
          </a:p>
        </p:txBody>
      </p:sp>
      <p:sp>
        <p:nvSpPr>
          <p:cNvPr id="28" name="Shape 25"/>
          <p:cNvSpPr/>
          <p:nvPr/>
        </p:nvSpPr>
        <p:spPr>
          <a:xfrm>
            <a:off x="8412480" y="4631436"/>
            <a:ext cx="2212848" cy="173736"/>
          </a:xfrm>
          <a:prstGeom prst="rect">
            <a:avLst/>
          </a:prstGeom>
          <a:solidFill>
            <a:srgbClr val="E7EDF4"/>
          </a:solidFill>
          <a:ln/>
        </p:spPr>
      </p:sp>
      <p:sp>
        <p:nvSpPr>
          <p:cNvPr id="29" name="Shape 26"/>
          <p:cNvSpPr/>
          <p:nvPr/>
        </p:nvSpPr>
        <p:spPr>
          <a:xfrm>
            <a:off x="8412480" y="4631436"/>
            <a:ext cx="81957" cy="173736"/>
          </a:xfrm>
          <a:prstGeom prst="rect">
            <a:avLst/>
          </a:prstGeom>
          <a:solidFill>
            <a:srgbClr val="9FB0C8"/>
          </a:solidFill>
          <a:ln/>
        </p:spPr>
      </p:sp>
      <p:sp>
        <p:nvSpPr>
          <p:cNvPr id="30" name="Text 27"/>
          <p:cNvSpPr txBox="1"/>
          <p:nvPr/>
        </p:nvSpPr>
        <p:spPr>
          <a:xfrm>
            <a:off x="10735056" y="4581144"/>
            <a:ext cx="1188720" cy="274320"/>
          </a:xfrm>
          <a:prstGeom prst="rect">
            <a:avLst/>
          </a:prstGeom>
          <a:noFill/>
          <a:ln/>
        </p:spPr>
        <p:txBody>
          <a:bodyPr wrap="square" lIns="0" tIns="0" rIns="0" bIns="0" rtlCol="0" anchor="ctr"/>
          <a:lstStyle/>
          <a:p>
            <a:pPr indent="0" marL="0">
              <a:buNone/>
            </a:pPr>
            <a:r>
              <a:rPr lang="en-US" sz="1150" dirty="0">
                <a:solidFill>
                  <a:srgbClr val="5F718C"/>
                </a:solidFill>
                <a:latin typeface="Calibri" pitchFamily="34" charset="0"/>
                <a:ea typeface="Calibri" pitchFamily="34" charset="-122"/>
                <a:cs typeface="Calibri" pitchFamily="34" charset="-120"/>
              </a:rPr>
              <a:t>1   1.4%</a:t>
            </a:r>
            <a:endParaRPr lang="en-US" sz="1150" dirty="0"/>
          </a:p>
        </p:txBody>
      </p:sp>
      <p:sp>
        <p:nvSpPr>
          <p:cNvPr id="31" name="Shape 28"/>
          <p:cNvSpPr/>
          <p:nvPr/>
        </p:nvSpPr>
        <p:spPr>
          <a:xfrm>
            <a:off x="6711696" y="5084064"/>
            <a:ext cx="4913071" cy="859536"/>
          </a:xfrm>
          <a:prstGeom prst="roundRect">
            <a:avLst>
              <a:gd name="adj" fmla="val 7447"/>
            </a:avLst>
          </a:prstGeom>
          <a:solidFill>
            <a:srgbClr val="F2F5F9"/>
          </a:solidFill>
          <a:ln w="9525">
            <a:solidFill>
              <a:srgbClr val="D5DEEA"/>
            </a:solidFill>
            <a:prstDash val="solid"/>
          </a:ln>
        </p:spPr>
      </p:sp>
      <p:sp>
        <p:nvSpPr>
          <p:cNvPr id="32" name="Text 29"/>
          <p:cNvSpPr txBox="1"/>
          <p:nvPr/>
        </p:nvSpPr>
        <p:spPr>
          <a:xfrm>
            <a:off x="6931152" y="5212080"/>
            <a:ext cx="4474159" cy="640080"/>
          </a:xfrm>
          <a:prstGeom prst="rect">
            <a:avLst/>
          </a:prstGeom>
          <a:noFill/>
          <a:ln/>
        </p:spPr>
        <p:txBody>
          <a:bodyPr wrap="square" lIns="0" tIns="0" rIns="0" bIns="0" rtlCol="0" anchor="t"/>
          <a:lstStyle/>
          <a:p>
            <a:pPr indent="0" marL="0">
              <a:lnSpc>
                <a:spcPts val="1500"/>
              </a:lnSpc>
              <a:buNone/>
            </a:pPr>
            <a:r>
              <a:rPr lang="en-US" sz="1150" i="1" dirty="0">
                <a:solidFill>
                  <a:srgbClr val="22314D"/>
                </a:solidFill>
                <a:latin typeface="Calibri" pitchFamily="34" charset="0"/>
                <a:ea typeface="Calibri" pitchFamily="34" charset="-122"/>
                <a:cs typeface="Calibri" pitchFamily="34" charset="-120"/>
              </a:rPr>
              <a:t>Selected by Perch score — these proportions describe the reviewed candidates, not buzz prevalence across all 270,156 windows.</a:t>
            </a:r>
            <a:endParaRPr lang="en-US" sz="1150" dirty="0"/>
          </a:p>
        </p:txBody>
      </p:sp>
      <p:sp>
        <p:nvSpPr>
          <p:cNvPr id="33" name="Text 30"/>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Kenya field application</a:t>
            </a:r>
            <a:endParaRPr lang="en-US" sz="950" dirty="0"/>
          </a:p>
        </p:txBody>
      </p:sp>
      <p:sp>
        <p:nvSpPr>
          <p:cNvPr id="34" name="Text 31"/>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B33"/>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2A9D8F"/>
                </a:solidFill>
                <a:latin typeface="Calibri" pitchFamily="34" charset="0"/>
                <a:ea typeface="Calibri" pitchFamily="34" charset="-122"/>
                <a:cs typeface="Calibri" pitchFamily="34" charset="-120"/>
              </a:rPr>
              <a:t>RESULTS · WHAT THE REVIEW TAUGHT ME</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Inside 0.25 s, these look alike</a:t>
            </a:r>
            <a:endParaRPr lang="en-US" sz="3000" dirty="0"/>
          </a:p>
        </p:txBody>
      </p:sp>
      <p:pic>
        <p:nvPicPr>
          <p:cNvPr id="4" name="Image 0" descr="/home/user/valentown/docs/thesis-defence/build/spec_buzz.png">    </p:cNvPr>
          <p:cNvPicPr>
            <a:picLocks noChangeAspect="1"/>
          </p:cNvPicPr>
          <p:nvPr/>
        </p:nvPicPr>
        <p:blipFill>
          <a:blip r:embed="rId1"/>
          <a:stretch>
            <a:fillRect/>
          </a:stretch>
        </p:blipFill>
        <p:spPr>
          <a:xfrm>
            <a:off x="566928" y="1883664"/>
            <a:ext cx="5358384" cy="1527048"/>
          </a:xfrm>
          <a:prstGeom prst="rect">
            <a:avLst/>
          </a:prstGeom>
        </p:spPr>
      </p:pic>
      <p:sp>
        <p:nvSpPr>
          <p:cNvPr id="5" name="Shape 2"/>
          <p:cNvSpPr/>
          <p:nvPr/>
        </p:nvSpPr>
        <p:spPr>
          <a:xfrm>
            <a:off x="566928" y="1883664"/>
            <a:ext cx="5358384" cy="1527048"/>
          </a:xfrm>
          <a:prstGeom prst="rect">
            <a:avLst/>
          </a:prstGeom>
          <a:ln w="15875">
            <a:solidFill>
              <a:srgbClr val="F2A541"/>
            </a:solidFill>
            <a:prstDash val="solid"/>
          </a:ln>
        </p:spPr>
      </p:sp>
      <p:pic>
        <p:nvPicPr>
          <p:cNvPr id="6" name="Image 1" descr="/home/user/valentown/docs/thesis-defence/build/bat_amber.png">    </p:cNvPr>
          <p:cNvPicPr>
            <a:picLocks noChangeAspect="1"/>
          </p:cNvPicPr>
          <p:nvPr/>
        </p:nvPicPr>
        <p:blipFill>
          <a:blip r:embed="rId2"/>
          <a:stretch>
            <a:fillRect/>
          </a:stretch>
        </p:blipFill>
        <p:spPr>
          <a:xfrm>
            <a:off x="566928" y="3602736"/>
            <a:ext cx="932688" cy="210312"/>
          </a:xfrm>
          <a:prstGeom prst="rect">
            <a:avLst/>
          </a:prstGeom>
        </p:spPr>
      </p:pic>
      <p:sp>
        <p:nvSpPr>
          <p:cNvPr id="7" name="Text 3"/>
          <p:cNvSpPr txBox="1"/>
          <p:nvPr/>
        </p:nvSpPr>
        <p:spPr>
          <a:xfrm>
            <a:off x="1645920" y="3529584"/>
            <a:ext cx="4261104" cy="310896"/>
          </a:xfrm>
          <a:prstGeom prst="rect">
            <a:avLst/>
          </a:prstGeom>
          <a:noFill/>
          <a:ln/>
        </p:spPr>
        <p:txBody>
          <a:bodyPr wrap="square" lIns="0" tIns="0" rIns="0" bIns="0" rtlCol="0" anchor="ctr"/>
          <a:lstStyle/>
          <a:p>
            <a:pPr indent="0" marL="0">
              <a:buNone/>
            </a:pPr>
            <a:r>
              <a:rPr lang="en-US" sz="1500" b="1" dirty="0">
                <a:solidFill>
                  <a:srgbClr val="F2A541"/>
                </a:solidFill>
                <a:latin typeface="Calibri" pitchFamily="34" charset="0"/>
                <a:ea typeface="Calibri" pitchFamily="34" charset="-122"/>
                <a:cs typeface="Calibri" pitchFamily="34" charset="-120"/>
              </a:rPr>
              <a:t>Buzz-like</a:t>
            </a:r>
            <a:endParaRPr lang="en-US" sz="1500" dirty="0"/>
          </a:p>
        </p:txBody>
      </p:sp>
      <p:sp>
        <p:nvSpPr>
          <p:cNvPr id="8" name="Text 4"/>
          <p:cNvSpPr txBox="1"/>
          <p:nvPr/>
        </p:nvSpPr>
        <p:spPr>
          <a:xfrm>
            <a:off x="566928" y="3931920"/>
            <a:ext cx="5358384" cy="694944"/>
          </a:xfrm>
          <a:prstGeom prst="rect">
            <a:avLst/>
          </a:prstGeom>
          <a:noFill/>
          <a:ln/>
        </p:spPr>
        <p:txBody>
          <a:bodyPr wrap="square" lIns="0" tIns="0" rIns="0" bIns="0" rtlCol="0" anchor="t"/>
          <a:lstStyle/>
          <a:p>
            <a:pPr indent="0" marL="0">
              <a:lnSpc>
                <a:spcPts val="1800"/>
              </a:lnSpc>
              <a:buNone/>
            </a:pPr>
            <a:r>
              <a:rPr lang="en-US" sz="1300" dirty="0">
                <a:solidFill>
                  <a:srgbClr val="C3D2E8"/>
                </a:solidFill>
                <a:latin typeface="Calibri" pitchFamily="34" charset="0"/>
                <a:ea typeface="Calibri" pitchFamily="34" charset="-122"/>
                <a:cs typeface="Calibri" pitchFamily="34" charset="-120"/>
              </a:rPr>
              <a:t>Intervals compress into a terminal buzz and the sequence stops. Short, and changing rapidly.</a:t>
            </a:r>
            <a:endParaRPr lang="en-US" sz="1300" dirty="0"/>
          </a:p>
        </p:txBody>
      </p:sp>
      <p:pic>
        <p:nvPicPr>
          <p:cNvPr id="9" name="Image 2" descr="/home/user/valentown/docs/thesis-defence/build/spec_insect.png">    </p:cNvPr>
          <p:cNvPicPr>
            <a:picLocks noChangeAspect="1"/>
          </p:cNvPicPr>
          <p:nvPr/>
        </p:nvPicPr>
        <p:blipFill>
          <a:blip r:embed="rId3"/>
          <a:stretch>
            <a:fillRect/>
          </a:stretch>
        </p:blipFill>
        <p:spPr>
          <a:xfrm>
            <a:off x="6266383" y="1883664"/>
            <a:ext cx="5358384" cy="1527048"/>
          </a:xfrm>
          <a:prstGeom prst="rect">
            <a:avLst/>
          </a:prstGeom>
        </p:spPr>
      </p:pic>
      <p:sp>
        <p:nvSpPr>
          <p:cNvPr id="10" name="Shape 5"/>
          <p:cNvSpPr/>
          <p:nvPr/>
        </p:nvSpPr>
        <p:spPr>
          <a:xfrm>
            <a:off x="6266383" y="1883664"/>
            <a:ext cx="5358384" cy="1527048"/>
          </a:xfrm>
          <a:prstGeom prst="rect">
            <a:avLst/>
          </a:prstGeom>
          <a:ln w="15875">
            <a:solidFill>
              <a:srgbClr val="E76F51"/>
            </a:solidFill>
            <a:prstDash val="solid"/>
          </a:ln>
        </p:spPr>
      </p:sp>
      <p:pic>
        <p:nvPicPr>
          <p:cNvPr id="11" name="Image 3" descr="/home/user/valentown/docs/thesis-defence/build/insect_coral.png">    </p:cNvPr>
          <p:cNvPicPr>
            <a:picLocks noChangeAspect="1"/>
          </p:cNvPicPr>
          <p:nvPr/>
        </p:nvPicPr>
        <p:blipFill>
          <a:blip r:embed="rId4"/>
          <a:stretch>
            <a:fillRect/>
          </a:stretch>
        </p:blipFill>
        <p:spPr>
          <a:xfrm>
            <a:off x="6266383" y="3474720"/>
            <a:ext cx="475488" cy="475488"/>
          </a:xfrm>
          <a:prstGeom prst="rect">
            <a:avLst/>
          </a:prstGeom>
        </p:spPr>
      </p:pic>
      <p:sp>
        <p:nvSpPr>
          <p:cNvPr id="12" name="Text 6"/>
          <p:cNvSpPr txBox="1"/>
          <p:nvPr/>
        </p:nvSpPr>
        <p:spPr>
          <a:xfrm>
            <a:off x="6869887" y="3529584"/>
            <a:ext cx="4261104" cy="310896"/>
          </a:xfrm>
          <a:prstGeom prst="rect">
            <a:avLst/>
          </a:prstGeom>
          <a:noFill/>
          <a:ln/>
        </p:spPr>
        <p:txBody>
          <a:bodyPr wrap="square" lIns="0" tIns="0" rIns="0" bIns="0" rtlCol="0" anchor="ctr"/>
          <a:lstStyle/>
          <a:p>
            <a:pPr indent="0" marL="0">
              <a:buNone/>
            </a:pPr>
            <a:r>
              <a:rPr lang="en-US" sz="1500" b="1" dirty="0">
                <a:solidFill>
                  <a:srgbClr val="E76F51"/>
                </a:solidFill>
                <a:latin typeface="Calibri" pitchFamily="34" charset="0"/>
                <a:ea typeface="Calibri" pitchFamily="34" charset="-122"/>
                <a:cs typeface="Calibri" pitchFamily="34" charset="-120"/>
              </a:rPr>
              <a:t>Insect-like</a:t>
            </a:r>
            <a:endParaRPr lang="en-US" sz="1500" dirty="0"/>
          </a:p>
        </p:txBody>
      </p:sp>
      <p:sp>
        <p:nvSpPr>
          <p:cNvPr id="13" name="Text 7"/>
          <p:cNvSpPr txBox="1"/>
          <p:nvPr/>
        </p:nvSpPr>
        <p:spPr>
          <a:xfrm>
            <a:off x="6266383" y="3931920"/>
            <a:ext cx="5358384" cy="694944"/>
          </a:xfrm>
          <a:prstGeom prst="rect">
            <a:avLst/>
          </a:prstGeom>
          <a:noFill/>
          <a:ln/>
        </p:spPr>
        <p:txBody>
          <a:bodyPr wrap="square" lIns="0" tIns="0" rIns="0" bIns="0" rtlCol="0" anchor="t"/>
          <a:lstStyle/>
          <a:p>
            <a:pPr indent="0" marL="0">
              <a:lnSpc>
                <a:spcPts val="1800"/>
              </a:lnSpc>
              <a:buNone/>
            </a:pPr>
            <a:r>
              <a:rPr lang="en-US" sz="1300" dirty="0">
                <a:solidFill>
                  <a:srgbClr val="C3D2E8"/>
                </a:solidFill>
                <a:latin typeface="Calibri" pitchFamily="34" charset="0"/>
                <a:ea typeface="Calibri" pitchFamily="34" charset="-122"/>
                <a:cs typeface="Calibri" pitchFamily="34" charset="-120"/>
              </a:rPr>
              <a:t>Metronomic intervals that continue for far longer than a buzz ever does. Regular, and persistent.</a:t>
            </a:r>
            <a:endParaRPr lang="en-US" sz="1300" dirty="0"/>
          </a:p>
        </p:txBody>
      </p:sp>
      <p:sp>
        <p:nvSpPr>
          <p:cNvPr id="14" name="Text 8"/>
          <p:cNvSpPr txBox="1"/>
          <p:nvPr/>
        </p:nvSpPr>
        <p:spPr>
          <a:xfrm>
            <a:off x="566928" y="1572768"/>
            <a:ext cx="11057839" cy="256032"/>
          </a:xfrm>
          <a:prstGeom prst="rect">
            <a:avLst/>
          </a:prstGeom>
          <a:noFill/>
          <a:ln/>
        </p:spPr>
        <p:txBody>
          <a:bodyPr wrap="square" lIns="0" tIns="0" rIns="0" bIns="0" rtlCol="0" anchor="ctr"/>
          <a:lstStyle/>
          <a:p>
            <a:pPr indent="0" marL="0">
              <a:buNone/>
            </a:pPr>
            <a:r>
              <a:rPr lang="en-US" sz="1100" i="1" dirty="0">
                <a:solidFill>
                  <a:srgbClr val="6E819F"/>
                </a:solidFill>
                <a:latin typeface="Calibri" pitchFamily="34" charset="0"/>
                <a:ea typeface="Calibri" pitchFamily="34" charset="-122"/>
                <a:cs typeface="Calibri" pitchFamily="34" charset="-120"/>
              </a:rPr>
              <a:t>Schematic illustrations of the two patterns</a:t>
            </a:r>
            <a:endParaRPr lang="en-US" sz="1100" dirty="0"/>
          </a:p>
        </p:txBody>
      </p:sp>
      <p:sp>
        <p:nvSpPr>
          <p:cNvPr id="15" name="Shape 9"/>
          <p:cNvSpPr/>
          <p:nvPr/>
        </p:nvSpPr>
        <p:spPr>
          <a:xfrm>
            <a:off x="566928" y="4718304"/>
            <a:ext cx="11057839" cy="1170432"/>
          </a:xfrm>
          <a:prstGeom prst="roundRect">
            <a:avLst>
              <a:gd name="adj" fmla="val 5469"/>
            </a:avLst>
          </a:prstGeom>
          <a:solidFill>
            <a:srgbClr val="17294A"/>
          </a:solidFill>
          <a:ln w="9525">
            <a:solidFill>
              <a:srgbClr val="17294A"/>
            </a:solidFill>
            <a:prstDash val="solid"/>
          </a:ln>
        </p:spPr>
      </p:sp>
      <p:sp>
        <p:nvSpPr>
          <p:cNvPr id="16" name="Text 10"/>
          <p:cNvSpPr txBox="1"/>
          <p:nvPr/>
        </p:nvSpPr>
        <p:spPr>
          <a:xfrm>
            <a:off x="841248" y="4882896"/>
            <a:ext cx="10509199" cy="859536"/>
          </a:xfrm>
          <a:prstGeom prst="rect">
            <a:avLst/>
          </a:prstGeom>
          <a:noFill/>
          <a:ln/>
        </p:spPr>
        <p:txBody>
          <a:bodyPr wrap="square" lIns="0" tIns="0" rIns="0" bIns="0" rtlCol="0" anchor="t"/>
          <a:lstStyle/>
          <a:p>
            <a:pPr indent="0" marL="0">
              <a:lnSpc>
                <a:spcPts val="1900"/>
              </a:lnSpc>
              <a:buNone/>
            </a:pPr>
            <a:r>
              <a:rPr lang="en-US" sz="1350" b="1" dirty="0">
                <a:solidFill>
                  <a:srgbClr val="FFFFFF"/>
                </a:solidFill>
                <a:latin typeface="Calibri" pitchFamily="34" charset="0"/>
                <a:ea typeface="Calibri" pitchFamily="34" charset="-122"/>
                <a:cs typeface="Calibri" pitchFamily="34" charset="-120"/>
              </a:rPr>
              <a:t>It is the surrounding second that separates them. </a:t>
            </a:r>
            <a:pPr indent="0" marL="0">
              <a:lnSpc>
                <a:spcPts val="1900"/>
              </a:lnSpc>
              <a:buNone/>
            </a:pPr>
            <a:r>
              <a:rPr lang="en-US" sz="1350" dirty="0">
                <a:solidFill>
                  <a:srgbClr val="C3D2E8"/>
                </a:solidFill>
                <a:latin typeface="Calibri" pitchFamily="34" charset="0"/>
                <a:ea typeface="Calibri" pitchFamily="34" charset="-122"/>
                <a:cs typeface="Calibri" pitchFamily="34" charset="-120"/>
              </a:rPr>
              <a:t>Future detectors would benefit from wider contextual windows, or a second-stage model that examines the temporal neighbourhood around a high-scoring short window. The 27 insect-like candidates are ready-made hard negatives for an active-learning cycle.</a:t>
            </a:r>
            <a:endParaRPr lang="en-US" sz="1350" dirty="0"/>
          </a:p>
        </p:txBody>
      </p:sp>
      <p:sp>
        <p:nvSpPr>
          <p:cNvPr id="17" name="Text 11"/>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6E819F"/>
                </a:solidFill>
                <a:latin typeface="Calibri" pitchFamily="34" charset="0"/>
                <a:ea typeface="Calibri" pitchFamily="34" charset="-122"/>
                <a:cs typeface="Calibri" pitchFamily="34" charset="-120"/>
              </a:rPr>
              <a:t>Buzz-like versus insect-like</a:t>
            </a:r>
            <a:endParaRPr lang="en-US" sz="950" dirty="0"/>
          </a:p>
        </p:txBody>
      </p:sp>
      <p:sp>
        <p:nvSpPr>
          <p:cNvPr id="18" name="Text 12"/>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6E819F"/>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LIMITATIONS</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What I would ask about this work</a:t>
            </a:r>
            <a:endParaRPr lang="en-US" sz="3000" dirty="0"/>
          </a:p>
        </p:txBody>
      </p:sp>
      <p:sp>
        <p:nvSpPr>
          <p:cNvPr id="4" name="Shape 2"/>
          <p:cNvSpPr/>
          <p:nvPr/>
        </p:nvSpPr>
        <p:spPr>
          <a:xfrm>
            <a:off x="566928" y="1517904"/>
            <a:ext cx="5364328" cy="2103120"/>
          </a:xfrm>
          <a:prstGeom prst="roundRect">
            <a:avLst>
              <a:gd name="adj" fmla="val 3043"/>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5" name="Shape 3"/>
          <p:cNvSpPr/>
          <p:nvPr/>
        </p:nvSpPr>
        <p:spPr>
          <a:xfrm>
            <a:off x="804672" y="1719072"/>
            <a:ext cx="384048" cy="384048"/>
          </a:xfrm>
          <a:prstGeom prst="ellipse">
            <a:avLst/>
          </a:prstGeom>
          <a:solidFill>
            <a:srgbClr val="E76F51"/>
          </a:solidFill>
          <a:ln/>
        </p:spPr>
      </p:sp>
      <p:sp>
        <p:nvSpPr>
          <p:cNvPr id="6" name="Text 4"/>
          <p:cNvSpPr txBox="1"/>
          <p:nvPr/>
        </p:nvSpPr>
        <p:spPr>
          <a:xfrm>
            <a:off x="804672"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53312" y="1682496"/>
            <a:ext cx="4340200" cy="310896"/>
          </a:xfrm>
          <a:prstGeom prst="rect">
            <a:avLst/>
          </a:prstGeom>
          <a:noFill/>
          <a:ln/>
        </p:spPr>
        <p:txBody>
          <a:bodyPr wrap="square" lIns="0" tIns="0" rIns="0" bIns="0" rtlCol="0" anchor="ctr"/>
          <a:lstStyle/>
          <a:p>
            <a:pPr indent="0" marL="0">
              <a:buNone/>
            </a:pPr>
            <a:r>
              <a:rPr lang="en-US" sz="1400" b="1" dirty="0">
                <a:solidFill>
                  <a:srgbClr val="0E1B33"/>
                </a:solidFill>
                <a:latin typeface="Calibri" pitchFamily="34" charset="0"/>
                <a:ea typeface="Calibri" pitchFamily="34" charset="-122"/>
                <a:cs typeface="Calibri" pitchFamily="34" charset="-120"/>
              </a:rPr>
              <a:t>Site 4 folder pairing</a:t>
            </a:r>
            <a:endParaRPr lang="en-US" sz="1400" dirty="0"/>
          </a:p>
        </p:txBody>
      </p:sp>
      <p:sp>
        <p:nvSpPr>
          <p:cNvPr id="8" name="Text 6"/>
          <p:cNvSpPr txBox="1"/>
          <p:nvPr/>
        </p:nvSpPr>
        <p:spPr>
          <a:xfrm>
            <a:off x="804672" y="2157984"/>
            <a:ext cx="4888840" cy="1005840"/>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buzzes_sp and buzzes_spmylu are the same location, so LOFO and retrieval never fully isolated geography. These values may be optimistic relative to a strict five-location rerun.</a:t>
            </a:r>
            <a:endParaRPr lang="en-US" sz="1250" dirty="0"/>
          </a:p>
        </p:txBody>
      </p:sp>
      <p:sp>
        <p:nvSpPr>
          <p:cNvPr id="9" name="Text 7"/>
          <p:cNvSpPr txBox="1"/>
          <p:nvPr/>
        </p:nvSpPr>
        <p:spPr>
          <a:xfrm>
            <a:off x="804672" y="3182112"/>
            <a:ext cx="4888840" cy="384048"/>
          </a:xfrm>
          <a:prstGeom prst="rect">
            <a:avLst/>
          </a:prstGeom>
          <a:noFill/>
          <a:ln/>
        </p:spPr>
        <p:txBody>
          <a:bodyPr wrap="square" lIns="0" tIns="0" rIns="0" bIns="0" rtlCol="0" anchor="t"/>
          <a:lstStyle/>
          <a:p>
            <a:pPr indent="0" marL="0">
              <a:lnSpc>
                <a:spcPts val="1500"/>
              </a:lnSpc>
              <a:buNone/>
            </a:pPr>
            <a:r>
              <a:rPr lang="en-US" sz="1150" i="1" dirty="0">
                <a:solidFill>
                  <a:srgbClr val="1E7A70"/>
                </a:solidFill>
                <a:latin typeface="Calibri" pitchFamily="34" charset="0"/>
                <a:ea typeface="Calibri" pitchFamily="34" charset="-122"/>
                <a:cs typeface="Calibri" pitchFamily="34" charset="-120"/>
              </a:rPr>
              <a:t>The grouped-site test on buzzes_tb does remain geographically isolated.</a:t>
            </a:r>
            <a:endParaRPr lang="en-US" sz="1150" dirty="0"/>
          </a:p>
        </p:txBody>
      </p:sp>
      <p:sp>
        <p:nvSpPr>
          <p:cNvPr id="10" name="Shape 8"/>
          <p:cNvSpPr/>
          <p:nvPr/>
        </p:nvSpPr>
        <p:spPr>
          <a:xfrm>
            <a:off x="6260440" y="1517904"/>
            <a:ext cx="5364328" cy="2103120"/>
          </a:xfrm>
          <a:prstGeom prst="roundRect">
            <a:avLst>
              <a:gd name="adj" fmla="val 3043"/>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11" name="Shape 9"/>
          <p:cNvSpPr/>
          <p:nvPr/>
        </p:nvSpPr>
        <p:spPr>
          <a:xfrm>
            <a:off x="6498184" y="1719072"/>
            <a:ext cx="384048" cy="384048"/>
          </a:xfrm>
          <a:prstGeom prst="ellipse">
            <a:avLst/>
          </a:prstGeom>
          <a:solidFill>
            <a:srgbClr val="E76F51"/>
          </a:solidFill>
          <a:ln/>
        </p:spPr>
      </p:sp>
      <p:sp>
        <p:nvSpPr>
          <p:cNvPr id="12" name="Text 10"/>
          <p:cNvSpPr txBox="1"/>
          <p:nvPr/>
        </p:nvSpPr>
        <p:spPr>
          <a:xfrm>
            <a:off x="6498184" y="1719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7046824" y="1682496"/>
            <a:ext cx="4340200" cy="310896"/>
          </a:xfrm>
          <a:prstGeom prst="rect">
            <a:avLst/>
          </a:prstGeom>
          <a:noFill/>
          <a:ln/>
        </p:spPr>
        <p:txBody>
          <a:bodyPr wrap="square" lIns="0" tIns="0" rIns="0" bIns="0" rtlCol="0" anchor="ctr"/>
          <a:lstStyle/>
          <a:p>
            <a:pPr indent="0" marL="0">
              <a:buNone/>
            </a:pPr>
            <a:r>
              <a:rPr lang="en-US" sz="1400" b="1" dirty="0">
                <a:solidFill>
                  <a:srgbClr val="0E1B33"/>
                </a:solidFill>
                <a:latin typeface="Calibri" pitchFamily="34" charset="0"/>
                <a:ea typeface="Calibri" pitchFamily="34" charset="-122"/>
                <a:cs typeface="Calibri" pitchFamily="34" charset="-120"/>
              </a:rPr>
              <a:t>A duration / padding shortcut</a:t>
            </a:r>
            <a:endParaRPr lang="en-US" sz="1400" dirty="0"/>
          </a:p>
        </p:txBody>
      </p:sp>
      <p:sp>
        <p:nvSpPr>
          <p:cNvPr id="14" name="Text 12"/>
          <p:cNvSpPr txBox="1"/>
          <p:nvPr/>
        </p:nvSpPr>
        <p:spPr>
          <a:xfrm>
            <a:off x="6498184" y="2157984"/>
            <a:ext cx="4888840" cy="1005840"/>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At a 0.50 s window, class label aligned perfectly with padded-vs-cropped. I chose 0.25 s to weaken that, but 127 buzz clips were still padded while all non-buzz clips were cropped.</a:t>
            </a:r>
            <a:endParaRPr lang="en-US" sz="1250" dirty="0"/>
          </a:p>
        </p:txBody>
      </p:sp>
      <p:sp>
        <p:nvSpPr>
          <p:cNvPr id="15" name="Text 13"/>
          <p:cNvSpPr txBox="1"/>
          <p:nvPr/>
        </p:nvSpPr>
        <p:spPr>
          <a:xfrm>
            <a:off x="6498184" y="3182112"/>
            <a:ext cx="4888840" cy="384048"/>
          </a:xfrm>
          <a:prstGeom prst="rect">
            <a:avLst/>
          </a:prstGeom>
          <a:noFill/>
          <a:ln/>
        </p:spPr>
        <p:txBody>
          <a:bodyPr wrap="square" lIns="0" tIns="0" rIns="0" bIns="0" rtlCol="0" anchor="t"/>
          <a:lstStyle/>
          <a:p>
            <a:pPr indent="0" marL="0">
              <a:lnSpc>
                <a:spcPts val="1500"/>
              </a:lnSpc>
              <a:buNone/>
            </a:pPr>
            <a:r>
              <a:rPr lang="en-US" sz="1150" i="1" dirty="0">
                <a:solidFill>
                  <a:srgbClr val="1E7A70"/>
                </a:solidFill>
                <a:latin typeface="Calibri" pitchFamily="34" charset="0"/>
                <a:ea typeface="Calibri" pitchFamily="34" charset="-122"/>
                <a:cs typeface="Calibri" pitchFamily="34" charset="-120"/>
              </a:rPr>
              <a:t>Perch is not immune just because its features are pretrained.</a:t>
            </a:r>
            <a:endParaRPr lang="en-US" sz="1150" dirty="0"/>
          </a:p>
        </p:txBody>
      </p:sp>
      <p:sp>
        <p:nvSpPr>
          <p:cNvPr id="16" name="Shape 14"/>
          <p:cNvSpPr/>
          <p:nvPr/>
        </p:nvSpPr>
        <p:spPr>
          <a:xfrm>
            <a:off x="566928" y="3895344"/>
            <a:ext cx="5364328" cy="2103120"/>
          </a:xfrm>
          <a:prstGeom prst="roundRect">
            <a:avLst>
              <a:gd name="adj" fmla="val 3043"/>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17" name="Shape 15"/>
          <p:cNvSpPr/>
          <p:nvPr/>
        </p:nvSpPr>
        <p:spPr>
          <a:xfrm>
            <a:off x="804672" y="4096512"/>
            <a:ext cx="384048" cy="384048"/>
          </a:xfrm>
          <a:prstGeom prst="ellipse">
            <a:avLst/>
          </a:prstGeom>
          <a:solidFill>
            <a:srgbClr val="E76F51"/>
          </a:solidFill>
          <a:ln/>
        </p:spPr>
      </p:sp>
      <p:sp>
        <p:nvSpPr>
          <p:cNvPr id="18" name="Text 16"/>
          <p:cNvSpPr txBox="1"/>
          <p:nvPr/>
        </p:nvSpPr>
        <p:spPr>
          <a:xfrm>
            <a:off x="804672"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353312" y="4059936"/>
            <a:ext cx="4340200" cy="310896"/>
          </a:xfrm>
          <a:prstGeom prst="rect">
            <a:avLst/>
          </a:prstGeom>
          <a:noFill/>
          <a:ln/>
        </p:spPr>
        <p:txBody>
          <a:bodyPr wrap="square" lIns="0" tIns="0" rIns="0" bIns="0" rtlCol="0" anchor="ctr"/>
          <a:lstStyle/>
          <a:p>
            <a:pPr indent="0" marL="0">
              <a:buNone/>
            </a:pPr>
            <a:r>
              <a:rPr lang="en-US" sz="1400" b="1" dirty="0">
                <a:solidFill>
                  <a:srgbClr val="0E1B33"/>
                </a:solidFill>
                <a:latin typeface="Calibri" pitchFamily="34" charset="0"/>
                <a:ea typeface="Calibri" pitchFamily="34" charset="-122"/>
                <a:cs typeface="Calibri" pitchFamily="34" charset="-120"/>
              </a:rPr>
              <a:t>Pipelines, not architectures</a:t>
            </a:r>
            <a:endParaRPr lang="en-US" sz="1400" dirty="0"/>
          </a:p>
        </p:txBody>
      </p:sp>
      <p:sp>
        <p:nvSpPr>
          <p:cNvPr id="20" name="Text 18"/>
          <p:cNvSpPr txBox="1"/>
          <p:nvPr/>
        </p:nvSpPr>
        <p:spPr>
          <a:xfrm>
            <a:off x="804672" y="4535424"/>
            <a:ext cx="4888840" cy="1005840"/>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Only the Perch route carries the 384→320 kHz conversion and tenfold expansion, so the comparison cannot attribute the gain to the embedding alone.</a:t>
            </a:r>
            <a:endParaRPr lang="en-US" sz="1250" dirty="0"/>
          </a:p>
        </p:txBody>
      </p:sp>
      <p:sp>
        <p:nvSpPr>
          <p:cNvPr id="21" name="Text 19"/>
          <p:cNvSpPr txBox="1"/>
          <p:nvPr/>
        </p:nvSpPr>
        <p:spPr>
          <a:xfrm>
            <a:off x="804672" y="5559552"/>
            <a:ext cx="4888840" cy="384048"/>
          </a:xfrm>
          <a:prstGeom prst="rect">
            <a:avLst/>
          </a:prstGeom>
          <a:noFill/>
          <a:ln/>
        </p:spPr>
        <p:txBody>
          <a:bodyPr wrap="square" lIns="0" tIns="0" rIns="0" bIns="0" rtlCol="0" anchor="t"/>
          <a:lstStyle/>
          <a:p>
            <a:pPr indent="0" marL="0">
              <a:lnSpc>
                <a:spcPts val="1500"/>
              </a:lnSpc>
              <a:buNone/>
            </a:pPr>
            <a:r>
              <a:rPr lang="en-US" sz="1150" i="1" dirty="0">
                <a:solidFill>
                  <a:srgbClr val="1E7A70"/>
                </a:solidFill>
                <a:latin typeface="Calibri" pitchFamily="34" charset="0"/>
                <a:ea typeface="Calibri" pitchFamily="34" charset="-122"/>
                <a:cs typeface="Calibri" pitchFamily="34" charset="-120"/>
              </a:rPr>
              <a:t>A duration-matched benchmark would separate the two.</a:t>
            </a:r>
            <a:endParaRPr lang="en-US" sz="1150" dirty="0"/>
          </a:p>
        </p:txBody>
      </p:sp>
      <p:sp>
        <p:nvSpPr>
          <p:cNvPr id="22" name="Shape 20"/>
          <p:cNvSpPr/>
          <p:nvPr/>
        </p:nvSpPr>
        <p:spPr>
          <a:xfrm>
            <a:off x="6260440" y="3895344"/>
            <a:ext cx="5364328" cy="2103120"/>
          </a:xfrm>
          <a:prstGeom prst="roundRect">
            <a:avLst>
              <a:gd name="adj" fmla="val 3043"/>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23" name="Shape 21"/>
          <p:cNvSpPr/>
          <p:nvPr/>
        </p:nvSpPr>
        <p:spPr>
          <a:xfrm>
            <a:off x="6498184" y="4096512"/>
            <a:ext cx="384048" cy="384048"/>
          </a:xfrm>
          <a:prstGeom prst="ellipse">
            <a:avLst/>
          </a:prstGeom>
          <a:solidFill>
            <a:srgbClr val="E76F51"/>
          </a:solidFill>
          <a:ln/>
        </p:spPr>
      </p:sp>
      <p:sp>
        <p:nvSpPr>
          <p:cNvPr id="24" name="Text 22"/>
          <p:cNvSpPr txBox="1"/>
          <p:nvPr/>
        </p:nvSpPr>
        <p:spPr>
          <a:xfrm>
            <a:off x="6498184"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7046824" y="4059936"/>
            <a:ext cx="4340200" cy="310896"/>
          </a:xfrm>
          <a:prstGeom prst="rect">
            <a:avLst/>
          </a:prstGeom>
          <a:noFill/>
          <a:ln/>
        </p:spPr>
        <p:txBody>
          <a:bodyPr wrap="square" lIns="0" tIns="0" rIns="0" bIns="0" rtlCol="0" anchor="ctr"/>
          <a:lstStyle/>
          <a:p>
            <a:pPr indent="0" marL="0">
              <a:buNone/>
            </a:pPr>
            <a:r>
              <a:rPr lang="en-US" sz="1400" b="1" dirty="0">
                <a:solidFill>
                  <a:srgbClr val="0E1B33"/>
                </a:solidFill>
                <a:latin typeface="Calibri" pitchFamily="34" charset="0"/>
                <a:ea typeface="Calibri" pitchFamily="34" charset="-122"/>
                <a:cs typeface="Calibri" pitchFamily="34" charset="-120"/>
              </a:rPr>
              <a:t>Kenya has no ground truth</a:t>
            </a:r>
            <a:endParaRPr lang="en-US" sz="1400" dirty="0"/>
          </a:p>
        </p:txBody>
      </p:sp>
      <p:sp>
        <p:nvSpPr>
          <p:cNvPr id="26" name="Text 24"/>
          <p:cNvSpPr txBox="1"/>
          <p:nvPr/>
        </p:nvSpPr>
        <p:spPr>
          <a:xfrm>
            <a:off x="6498184" y="4535424"/>
            <a:ext cx="4888840" cy="1005840"/>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The 69 reviewed candidates were selected by Perch score, so the review proportions are descriptive. No event-level precision or recall can be computed.</a:t>
            </a:r>
            <a:endParaRPr lang="en-US" sz="1250" dirty="0"/>
          </a:p>
        </p:txBody>
      </p:sp>
      <p:sp>
        <p:nvSpPr>
          <p:cNvPr id="27" name="Text 25"/>
          <p:cNvSpPr txBox="1"/>
          <p:nvPr/>
        </p:nvSpPr>
        <p:spPr>
          <a:xfrm>
            <a:off x="6498184" y="5559552"/>
            <a:ext cx="4888840" cy="384048"/>
          </a:xfrm>
          <a:prstGeom prst="rect">
            <a:avLst/>
          </a:prstGeom>
          <a:noFill/>
          <a:ln/>
        </p:spPr>
        <p:txBody>
          <a:bodyPr wrap="square" lIns="0" tIns="0" rIns="0" bIns="0" rtlCol="0" anchor="t"/>
          <a:lstStyle/>
          <a:p>
            <a:pPr indent="0" marL="0">
              <a:lnSpc>
                <a:spcPts val="1500"/>
              </a:lnSpc>
              <a:buNone/>
            </a:pPr>
            <a:r>
              <a:rPr lang="en-US" sz="1150" i="1" dirty="0">
                <a:solidFill>
                  <a:srgbClr val="1E7A70"/>
                </a:solidFill>
                <a:latin typeface="Calibri" pitchFamily="34" charset="0"/>
                <a:ea typeface="Calibri" pitchFamily="34" charset="-122"/>
                <a:cs typeface="Calibri" pitchFamily="34" charset="-120"/>
              </a:rPr>
              <a:t>Category labels are descriptive, not verified ground truth.</a:t>
            </a:r>
            <a:endParaRPr lang="en-US" sz="1150" dirty="0"/>
          </a:p>
        </p:txBody>
      </p:sp>
      <p:sp>
        <p:nvSpPr>
          <p:cNvPr id="28" name="Text 26"/>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Limitations</a:t>
            </a:r>
            <a:endParaRPr lang="en-US" sz="950" dirty="0"/>
          </a:p>
        </p:txBody>
      </p:sp>
      <p:sp>
        <p:nvSpPr>
          <p:cNvPr id="29" name="Text 27"/>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CONCLUSIONS</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Representation matters, but is not enough</a:t>
            </a:r>
            <a:endParaRPr lang="en-US" sz="3000" dirty="0"/>
          </a:p>
        </p:txBody>
      </p:sp>
      <p:sp>
        <p:nvSpPr>
          <p:cNvPr id="4" name="Shape 2"/>
          <p:cNvSpPr/>
          <p:nvPr/>
        </p:nvSpPr>
        <p:spPr>
          <a:xfrm>
            <a:off x="566928" y="1481328"/>
            <a:ext cx="3466490" cy="2395728"/>
          </a:xfrm>
          <a:prstGeom prst="roundRect">
            <a:avLst>
              <a:gd name="adj" fmla="val 2672"/>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5" name="Text 3"/>
          <p:cNvSpPr txBox="1"/>
          <p:nvPr/>
        </p:nvSpPr>
        <p:spPr>
          <a:xfrm>
            <a:off x="804672" y="1627632"/>
            <a:ext cx="2991002" cy="256032"/>
          </a:xfrm>
          <a:prstGeom prst="rect">
            <a:avLst/>
          </a:prstGeom>
          <a:noFill/>
          <a:ln/>
        </p:spPr>
        <p:txBody>
          <a:bodyPr wrap="square" lIns="0" tIns="0" rIns="0" bIns="0" rtlCol="0" anchor="ctr"/>
          <a:lstStyle/>
          <a:p>
            <a:pPr indent="0" marL="0">
              <a:buNone/>
            </a:pPr>
            <a:r>
              <a:rPr lang="en-US" sz="1100" b="1" spc="160" kern="0" dirty="0">
                <a:solidFill>
                  <a:srgbClr val="1E7A70"/>
                </a:solidFill>
                <a:latin typeface="Calibri" pitchFamily="34" charset="0"/>
                <a:ea typeface="Calibri" pitchFamily="34" charset="-122"/>
                <a:cs typeface="Calibri" pitchFamily="34" charset="-120"/>
              </a:rPr>
              <a:t>RQ1</a:t>
            </a:r>
            <a:endParaRPr lang="en-US" sz="1100" dirty="0"/>
          </a:p>
        </p:txBody>
      </p:sp>
      <p:sp>
        <p:nvSpPr>
          <p:cNvPr id="6" name="Text 4"/>
          <p:cNvSpPr txBox="1"/>
          <p:nvPr/>
        </p:nvSpPr>
        <p:spPr>
          <a:xfrm>
            <a:off x="804672" y="1901952"/>
            <a:ext cx="2991002" cy="603504"/>
          </a:xfrm>
          <a:prstGeom prst="rect">
            <a:avLst/>
          </a:prstGeom>
          <a:noFill/>
          <a:ln/>
        </p:spPr>
        <p:txBody>
          <a:bodyPr wrap="square" lIns="0" tIns="0" rIns="0" bIns="0" rtlCol="0" anchor="t"/>
          <a:lstStyle/>
          <a:p>
            <a:pPr indent="0" marL="0">
              <a:lnSpc>
                <a:spcPts val="2200"/>
              </a:lnSpc>
              <a:buNone/>
            </a:pPr>
            <a:r>
              <a:rPr lang="en-US" sz="1800" b="1" dirty="0">
                <a:solidFill>
                  <a:srgbClr val="0E1B33"/>
                </a:solidFill>
                <a:latin typeface="Cambria" pitchFamily="34" charset="0"/>
                <a:ea typeface="Cambria" pitchFamily="34" charset="-122"/>
                <a:cs typeface="Cambria" pitchFamily="34" charset="-120"/>
              </a:rPr>
              <a:t>Perch v2 generalised best</a:t>
            </a:r>
            <a:endParaRPr lang="en-US" sz="1800" dirty="0"/>
          </a:p>
        </p:txBody>
      </p:sp>
      <p:sp>
        <p:nvSpPr>
          <p:cNvPr id="7" name="Text 5"/>
          <p:cNvSpPr txBox="1"/>
          <p:nvPr/>
        </p:nvSpPr>
        <p:spPr>
          <a:xfrm>
            <a:off x="804672" y="2560320"/>
            <a:ext cx="2991002" cy="1188720"/>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After tenfold time expansion, frozen embeddings reached mean LOFO F1 = 0.989 with an SD of 0.020 and a worst folder of 0.950.</a:t>
            </a:r>
            <a:endParaRPr lang="en-US" sz="1250" dirty="0"/>
          </a:p>
        </p:txBody>
      </p:sp>
      <p:sp>
        <p:nvSpPr>
          <p:cNvPr id="8" name="Shape 6"/>
          <p:cNvSpPr/>
          <p:nvPr/>
        </p:nvSpPr>
        <p:spPr>
          <a:xfrm>
            <a:off x="4362602" y="1481328"/>
            <a:ext cx="3466490" cy="2395728"/>
          </a:xfrm>
          <a:prstGeom prst="roundRect">
            <a:avLst>
              <a:gd name="adj" fmla="val 2672"/>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9" name="Text 7"/>
          <p:cNvSpPr txBox="1"/>
          <p:nvPr/>
        </p:nvSpPr>
        <p:spPr>
          <a:xfrm>
            <a:off x="4600346" y="1627632"/>
            <a:ext cx="2991002" cy="256032"/>
          </a:xfrm>
          <a:prstGeom prst="rect">
            <a:avLst/>
          </a:prstGeom>
          <a:noFill/>
          <a:ln/>
        </p:spPr>
        <p:txBody>
          <a:bodyPr wrap="square" lIns="0" tIns="0" rIns="0" bIns="0" rtlCol="0" anchor="ctr"/>
          <a:lstStyle/>
          <a:p>
            <a:pPr indent="0" marL="0">
              <a:buNone/>
            </a:pPr>
            <a:r>
              <a:rPr lang="en-US" sz="1100" b="1" spc="160" kern="0" dirty="0">
                <a:solidFill>
                  <a:srgbClr val="1E7A70"/>
                </a:solidFill>
                <a:latin typeface="Calibri" pitchFamily="34" charset="0"/>
                <a:ea typeface="Calibri" pitchFamily="34" charset="-122"/>
                <a:cs typeface="Calibri" pitchFamily="34" charset="-120"/>
              </a:rPr>
              <a:t>RQ2</a:t>
            </a:r>
            <a:endParaRPr lang="en-US" sz="1100" dirty="0"/>
          </a:p>
        </p:txBody>
      </p:sp>
      <p:sp>
        <p:nvSpPr>
          <p:cNvPr id="10" name="Text 8"/>
          <p:cNvSpPr txBox="1"/>
          <p:nvPr/>
        </p:nvSpPr>
        <p:spPr>
          <a:xfrm>
            <a:off x="4600346" y="1901952"/>
            <a:ext cx="2991002" cy="603504"/>
          </a:xfrm>
          <a:prstGeom prst="rect">
            <a:avLst/>
          </a:prstGeom>
          <a:noFill/>
          <a:ln/>
        </p:spPr>
        <p:txBody>
          <a:bodyPr wrap="square" lIns="0" tIns="0" rIns="0" bIns="0" rtlCol="0" anchor="t"/>
          <a:lstStyle/>
          <a:p>
            <a:pPr indent="0" marL="0">
              <a:lnSpc>
                <a:spcPts val="2200"/>
              </a:lnSpc>
              <a:buNone/>
            </a:pPr>
            <a:r>
              <a:rPr lang="en-US" sz="1800" b="1" dirty="0">
                <a:solidFill>
                  <a:srgbClr val="0E1B33"/>
                </a:solidFill>
                <a:latin typeface="Cambria" pitchFamily="34" charset="0"/>
                <a:ea typeface="Cambria" pitchFamily="34" charset="-122"/>
                <a:cs typeface="Cambria" pitchFamily="34" charset="-120"/>
              </a:rPr>
              <a:t>And retrieved best</a:t>
            </a:r>
            <a:endParaRPr lang="en-US" sz="1800" dirty="0"/>
          </a:p>
        </p:txBody>
      </p:sp>
      <p:sp>
        <p:nvSpPr>
          <p:cNvPr id="11" name="Text 9"/>
          <p:cNvSpPr txBox="1"/>
          <p:nvPr/>
        </p:nvSpPr>
        <p:spPr>
          <a:xfrm>
            <a:off x="4600346" y="2560320"/>
            <a:ext cx="2991002" cy="1188720"/>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Precision@10 = 0.984 against 0.831 and 0.830, with separation concentrated at the top of the ranking, where reviewers actually look.</a:t>
            </a:r>
            <a:endParaRPr lang="en-US" sz="1250" dirty="0"/>
          </a:p>
        </p:txBody>
      </p:sp>
      <p:sp>
        <p:nvSpPr>
          <p:cNvPr id="12" name="Shape 10"/>
          <p:cNvSpPr/>
          <p:nvPr/>
        </p:nvSpPr>
        <p:spPr>
          <a:xfrm>
            <a:off x="8158277" y="1481328"/>
            <a:ext cx="3466490" cy="2395728"/>
          </a:xfrm>
          <a:prstGeom prst="roundRect">
            <a:avLst>
              <a:gd name="adj" fmla="val 2672"/>
            </a:avLst>
          </a:prstGeom>
          <a:solidFill>
            <a:srgbClr val="F2F5F9"/>
          </a:solidFill>
          <a:ln w="9525">
            <a:solidFill>
              <a:srgbClr val="2A9D8F"/>
            </a:solidFill>
            <a:prstDash val="solid"/>
          </a:ln>
        </p:spPr>
      </p:sp>
      <p:sp>
        <p:nvSpPr>
          <p:cNvPr id="13" name="Text 11"/>
          <p:cNvSpPr txBox="1"/>
          <p:nvPr/>
        </p:nvSpPr>
        <p:spPr>
          <a:xfrm>
            <a:off x="8396021" y="1627632"/>
            <a:ext cx="2991002" cy="256032"/>
          </a:xfrm>
          <a:prstGeom prst="rect">
            <a:avLst/>
          </a:prstGeom>
          <a:noFill/>
          <a:ln/>
        </p:spPr>
        <p:txBody>
          <a:bodyPr wrap="square" lIns="0" tIns="0" rIns="0" bIns="0" rtlCol="0" anchor="ctr"/>
          <a:lstStyle/>
          <a:p>
            <a:pPr indent="0" marL="0">
              <a:buNone/>
            </a:pPr>
            <a:r>
              <a:rPr lang="en-US" sz="1100" b="1" spc="160" kern="0" dirty="0">
                <a:solidFill>
                  <a:srgbClr val="1E7A70"/>
                </a:solidFill>
                <a:latin typeface="Calibri" pitchFamily="34" charset="0"/>
                <a:ea typeface="Calibri" pitchFamily="34" charset="-122"/>
                <a:cs typeface="Calibri" pitchFamily="34" charset="-120"/>
              </a:rPr>
              <a:t>RQ3</a:t>
            </a:r>
            <a:endParaRPr lang="en-US" sz="1100" dirty="0"/>
          </a:p>
        </p:txBody>
      </p:sp>
      <p:sp>
        <p:nvSpPr>
          <p:cNvPr id="14" name="Text 12"/>
          <p:cNvSpPr txBox="1"/>
          <p:nvPr/>
        </p:nvSpPr>
        <p:spPr>
          <a:xfrm>
            <a:off x="8396021" y="1901952"/>
            <a:ext cx="2991002" cy="603504"/>
          </a:xfrm>
          <a:prstGeom prst="rect">
            <a:avLst/>
          </a:prstGeom>
          <a:noFill/>
          <a:ln/>
        </p:spPr>
        <p:txBody>
          <a:bodyPr wrap="square" lIns="0" tIns="0" rIns="0" bIns="0" rtlCol="0" anchor="t"/>
          <a:lstStyle/>
          <a:p>
            <a:pPr indent="0" marL="0">
              <a:lnSpc>
                <a:spcPts val="2200"/>
              </a:lnSpc>
              <a:buNone/>
            </a:pPr>
            <a:r>
              <a:rPr lang="en-US" sz="1800" b="1" dirty="0">
                <a:solidFill>
                  <a:srgbClr val="0E1B33"/>
                </a:solidFill>
                <a:latin typeface="Cambria" pitchFamily="34" charset="0"/>
                <a:ea typeface="Cambria" pitchFamily="34" charset="-122"/>
                <a:cs typeface="Cambria" pitchFamily="34" charset="-120"/>
              </a:rPr>
              <a:t>But the field needs more</a:t>
            </a:r>
            <a:endParaRPr lang="en-US" sz="1800" dirty="0"/>
          </a:p>
        </p:txBody>
      </p:sp>
      <p:sp>
        <p:nvSpPr>
          <p:cNvPr id="15" name="Text 13"/>
          <p:cNvSpPr txBox="1"/>
          <p:nvPr/>
        </p:nvSpPr>
        <p:spPr>
          <a:xfrm>
            <a:off x="8396021" y="2560320"/>
            <a:ext cx="2991002" cy="1188720"/>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Perch surfaced buzz-like sequences across many recordings, but insect-like pulse trains were the largest reviewed category. Context and human review still do essential work.</a:t>
            </a:r>
            <a:endParaRPr lang="en-US" sz="1250" dirty="0"/>
          </a:p>
        </p:txBody>
      </p:sp>
      <p:sp>
        <p:nvSpPr>
          <p:cNvPr id="16" name="Shape 14"/>
          <p:cNvSpPr/>
          <p:nvPr/>
        </p:nvSpPr>
        <p:spPr>
          <a:xfrm>
            <a:off x="566928" y="4059936"/>
            <a:ext cx="11057839" cy="768096"/>
          </a:xfrm>
          <a:prstGeom prst="roundRect">
            <a:avLst>
              <a:gd name="adj" fmla="val 8333"/>
            </a:avLst>
          </a:prstGeom>
          <a:solidFill>
            <a:srgbClr val="FFFFFF"/>
          </a:solidFill>
          <a:ln w="9525">
            <a:solidFill>
              <a:srgbClr val="D5DEEA"/>
            </a:solidFill>
            <a:prstDash val="solid"/>
          </a:ln>
        </p:spPr>
      </p:sp>
      <p:sp>
        <p:nvSpPr>
          <p:cNvPr id="17" name="Text 15"/>
          <p:cNvSpPr txBox="1"/>
          <p:nvPr/>
        </p:nvSpPr>
        <p:spPr>
          <a:xfrm>
            <a:off x="822960" y="4187952"/>
            <a:ext cx="10545775" cy="530352"/>
          </a:xfrm>
          <a:prstGeom prst="rect">
            <a:avLst/>
          </a:prstGeom>
          <a:noFill/>
          <a:ln/>
        </p:spPr>
        <p:txBody>
          <a:bodyPr wrap="square" lIns="0" tIns="0" rIns="0" bIns="0" rtlCol="0" anchor="t"/>
          <a:lstStyle/>
          <a:p>
            <a:pPr indent="0" marL="0">
              <a:lnSpc>
                <a:spcPts val="1800"/>
              </a:lnSpc>
              <a:buNone/>
            </a:pPr>
            <a:r>
              <a:rPr lang="en-US" sz="1350" b="1" dirty="0">
                <a:solidFill>
                  <a:srgbClr val="0E1B33"/>
                </a:solidFill>
                <a:latin typeface="Calibri" pitchFamily="34" charset="0"/>
                <a:ea typeface="Calibri" pitchFamily="34" charset="-122"/>
                <a:cs typeface="Calibri" pitchFamily="34" charset="-120"/>
              </a:rPr>
              <a:t>A secondary result:  </a:t>
            </a:r>
            <a:pPr indent="0" marL="0">
              <a:lnSpc>
                <a:spcPts val="1800"/>
              </a:lnSpc>
              <a:buNone/>
            </a:pPr>
            <a:r>
              <a:rPr lang="en-US" sz="1350" dirty="0">
                <a:solidFill>
                  <a:srgbClr val="22314D"/>
                </a:solidFill>
                <a:latin typeface="Calibri" pitchFamily="34" charset="0"/>
                <a:ea typeface="Calibri" pitchFamily="34" charset="-122"/>
                <a:cs typeface="Calibri" pitchFamily="34" charset="-120"/>
              </a:rPr>
              <a:t>199 compact dimensions matched 1,543 baseline dimensions to within 0.002 F1 and 0.001 Precision@10. More hand-crafted features are not automatically better.</a:t>
            </a:r>
            <a:endParaRPr lang="en-US" sz="1350" dirty="0"/>
          </a:p>
        </p:txBody>
      </p:sp>
      <p:sp>
        <p:nvSpPr>
          <p:cNvPr id="18" name="Shape 16"/>
          <p:cNvSpPr/>
          <p:nvPr/>
        </p:nvSpPr>
        <p:spPr>
          <a:xfrm>
            <a:off x="566928" y="4974336"/>
            <a:ext cx="11057839" cy="1005840"/>
          </a:xfrm>
          <a:prstGeom prst="roundRect">
            <a:avLst>
              <a:gd name="adj" fmla="val 6364"/>
            </a:avLst>
          </a:prstGeom>
          <a:solidFill>
            <a:srgbClr val="0E1B33"/>
          </a:solidFill>
          <a:ln w="9525">
            <a:solidFill>
              <a:srgbClr val="0E1B33"/>
            </a:solidFill>
            <a:prstDash val="solid"/>
          </a:ln>
        </p:spPr>
      </p:sp>
      <p:sp>
        <p:nvSpPr>
          <p:cNvPr id="19" name="Text 17"/>
          <p:cNvSpPr txBox="1"/>
          <p:nvPr/>
        </p:nvSpPr>
        <p:spPr>
          <a:xfrm>
            <a:off x="841248" y="5120640"/>
            <a:ext cx="1280160" cy="274320"/>
          </a:xfrm>
          <a:prstGeom prst="rect">
            <a:avLst/>
          </a:prstGeom>
          <a:noFill/>
          <a:ln/>
        </p:spPr>
        <p:txBody>
          <a:bodyPr wrap="square" lIns="0" tIns="0" rIns="0" bIns="0" rtlCol="0" anchor="ctr"/>
          <a:lstStyle/>
          <a:p>
            <a:pPr indent="0" marL="0">
              <a:buNone/>
            </a:pPr>
            <a:r>
              <a:rPr lang="en-US" sz="1200" b="1" spc="140" kern="0" dirty="0">
                <a:solidFill>
                  <a:srgbClr val="F2A541"/>
                </a:solidFill>
                <a:latin typeface="Calibri" pitchFamily="34" charset="0"/>
                <a:ea typeface="Calibri" pitchFamily="34" charset="-122"/>
                <a:cs typeface="Calibri" pitchFamily="34" charset="-120"/>
              </a:rPr>
              <a:t>Next step</a:t>
            </a:r>
            <a:endParaRPr lang="en-US" sz="1200" dirty="0"/>
          </a:p>
        </p:txBody>
      </p:sp>
      <p:sp>
        <p:nvSpPr>
          <p:cNvPr id="20" name="Text 18"/>
          <p:cNvSpPr txBox="1"/>
          <p:nvPr/>
        </p:nvSpPr>
        <p:spPr>
          <a:xfrm>
            <a:off x="2267712" y="5102352"/>
            <a:ext cx="9082735" cy="768096"/>
          </a:xfrm>
          <a:prstGeom prst="rect">
            <a:avLst/>
          </a:prstGeom>
          <a:noFill/>
          <a:ln/>
        </p:spPr>
        <p:txBody>
          <a:bodyPr wrap="square" lIns="0" tIns="0" rIns="0" bIns="0" rtlCol="0" anchor="t"/>
          <a:lstStyle/>
          <a:p>
            <a:pPr indent="0" marL="0">
              <a:lnSpc>
                <a:spcPts val="1800"/>
              </a:lnSpc>
              <a:buNone/>
            </a:pPr>
            <a:r>
              <a:rPr lang="en-US" sz="1350" dirty="0">
                <a:solidFill>
                  <a:srgbClr val="DCE5F1"/>
                </a:solidFill>
                <a:latin typeface="Calibri" pitchFamily="34" charset="0"/>
                <a:ea typeface="Calibri" pitchFamily="34" charset="-122"/>
                <a:cs typeface="Calibri" pitchFamily="34" charset="-120"/>
              </a:rPr>
              <a:t>An independently sampled, exhaustively reviewed Kenya subset — it would give event-level precision and recall, let both detectors be compared on the same confirmed events, and turn those insect-like candidates into hard negatives for retraining.</a:t>
            </a:r>
            <a:endParaRPr lang="en-US" sz="1350" dirty="0"/>
          </a:p>
        </p:txBody>
      </p:sp>
      <p:sp>
        <p:nvSpPr>
          <p:cNvPr id="21" name="Text 19"/>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Conclusions and next steps</a:t>
            </a:r>
            <a:endParaRPr lang="en-US" sz="950" dirty="0"/>
          </a:p>
        </p:txBody>
      </p:sp>
      <p:sp>
        <p:nvSpPr>
          <p:cNvPr id="22" name="Text 20"/>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B33"/>
        </a:solidFill>
      </p:bgPr>
    </p:bg>
    <p:spTree>
      <p:nvGrpSpPr>
        <p:cNvPr id="1" name=""/>
        <p:cNvGrpSpPr/>
        <p:nvPr/>
      </p:nvGrpSpPr>
      <p:grpSpPr>
        <a:xfrm>
          <a:off x="0" y="0"/>
          <a:ext cx="0" cy="0"/>
          <a:chOff x="0" y="0"/>
          <a:chExt cx="0" cy="0"/>
        </a:xfrm>
      </p:grpSpPr>
      <p:pic>
        <p:nvPicPr>
          <p:cNvPr id="2" name="Image 0" descr="/home/user/valentown/docs/thesis-defence/build/spec_strip.png">    </p:cNvPr>
          <p:cNvPicPr>
            <a:picLocks noChangeAspect="1"/>
          </p:cNvPicPr>
          <p:nvPr/>
        </p:nvPicPr>
        <p:blipFill>
          <a:blip r:embed="rId1"/>
          <a:stretch>
            <a:fillRect/>
          </a:stretch>
        </p:blipFill>
        <p:spPr>
          <a:xfrm>
            <a:off x="0" y="4663440"/>
            <a:ext cx="12191695" cy="1188720"/>
          </a:xfrm>
          <a:prstGeom prst="rect">
            <a:avLst/>
          </a:prstGeom>
        </p:spPr>
      </p:pic>
      <p:pic>
        <p:nvPicPr>
          <p:cNvPr id="3" name="Image 1" descr="/home/user/valentown/docs/thesis-defence/build/bat_white_bones.png">    </p:cNvPr>
          <p:cNvPicPr>
            <a:picLocks noChangeAspect="1"/>
          </p:cNvPicPr>
          <p:nvPr/>
        </p:nvPicPr>
        <p:blipFill>
          <a:blip r:embed="rId2">
            <a:alphaModFix amt="80000"/>
          </a:blip>
          <a:stretch>
            <a:fillRect/>
          </a:stretch>
        </p:blipFill>
        <p:spPr>
          <a:xfrm>
            <a:off x="566928" y="5029200"/>
            <a:ext cx="1408176" cy="318211"/>
          </a:xfrm>
          <a:prstGeom prst="rect">
            <a:avLst/>
          </a:prstGeom>
        </p:spPr>
      </p:pic>
      <p:pic>
        <p:nvPicPr>
          <p:cNvPr id="4" name="Image 2" descr="/home/user/valentown/docs/thesis-defence/build/bat_white.png">    </p:cNvPr>
          <p:cNvPicPr>
            <a:picLocks noChangeAspect="1"/>
          </p:cNvPicPr>
          <p:nvPr/>
        </p:nvPicPr>
        <p:blipFill>
          <a:blip r:embed="rId3">
            <a:alphaModFix amt="8000"/>
          </a:blip>
          <a:stretch>
            <a:fillRect/>
          </a:stretch>
        </p:blipFill>
        <p:spPr>
          <a:xfrm>
            <a:off x="8101584" y="1883664"/>
            <a:ext cx="3511296" cy="792785"/>
          </a:xfrm>
          <a:prstGeom prst="rect">
            <a:avLst/>
          </a:prstGeom>
        </p:spPr>
      </p:pic>
      <p:sp>
        <p:nvSpPr>
          <p:cNvPr id="5" name="Text 0"/>
          <p:cNvSpPr txBox="1"/>
          <p:nvPr/>
        </p:nvSpPr>
        <p:spPr>
          <a:xfrm>
            <a:off x="822960" y="1883664"/>
            <a:ext cx="1051560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6" name="Text 1"/>
          <p:cNvSpPr txBox="1"/>
          <p:nvPr/>
        </p:nvSpPr>
        <p:spPr>
          <a:xfrm>
            <a:off x="822960" y="2852928"/>
            <a:ext cx="10515600" cy="457200"/>
          </a:xfrm>
          <a:prstGeom prst="rect">
            <a:avLst/>
          </a:prstGeom>
          <a:noFill/>
          <a:ln/>
        </p:spPr>
        <p:txBody>
          <a:bodyPr wrap="square" lIns="0" tIns="0" rIns="0" bIns="0" rtlCol="0" anchor="ctr"/>
          <a:lstStyle/>
          <a:p>
            <a:pPr indent="0" marL="0">
              <a:buNone/>
            </a:pPr>
            <a:r>
              <a:rPr lang="en-US" sz="1900" dirty="0">
                <a:solidFill>
                  <a:srgbClr val="F2A541"/>
                </a:solidFill>
                <a:latin typeface="Calibri" pitchFamily="34" charset="0"/>
                <a:ea typeface="Calibri" pitchFamily="34" charset="-122"/>
                <a:cs typeface="Calibri" pitchFamily="34" charset="-120"/>
              </a:rPr>
              <a:t>Questions welcome</a:t>
            </a:r>
            <a:endParaRPr lang="en-US" sz="1900" dirty="0"/>
          </a:p>
        </p:txBody>
      </p:sp>
      <p:sp>
        <p:nvSpPr>
          <p:cNvPr id="7" name="Text 2"/>
          <p:cNvSpPr txBox="1"/>
          <p:nvPr/>
        </p:nvSpPr>
        <p:spPr>
          <a:xfrm>
            <a:off x="822960" y="3529584"/>
            <a:ext cx="7863840" cy="731520"/>
          </a:xfrm>
          <a:prstGeom prst="rect">
            <a:avLst/>
          </a:prstGeom>
          <a:noFill/>
          <a:ln/>
        </p:spPr>
        <p:txBody>
          <a:bodyPr wrap="square" lIns="0" tIns="0" rIns="0" bIns="0" rtlCol="0" anchor="ctr"/>
          <a:lstStyle/>
          <a:p>
            <a:pPr indent="0" marL="0">
              <a:lnSpc>
                <a:spcPts val="1900"/>
              </a:lnSpc>
              <a:buNone/>
            </a:pPr>
            <a:r>
              <a:rPr lang="en-US" sz="1300" dirty="0">
                <a:solidFill>
                  <a:srgbClr val="AFC0D8"/>
                </a:solidFill>
                <a:latin typeface="Calibri" pitchFamily="34" charset="0"/>
                <a:ea typeface="Calibri" pitchFamily="34" charset="-122"/>
                <a:cs typeface="Calibri" pitchFamily="34" charset="-120"/>
              </a:rPr>
              <a:t>With thanks to Santiago Martinez Balvanera and Kate Jones for their supervision, and to the researchers who collected and shared the Kenya recordings.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BACKUP 1</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Detection — full metric set</a:t>
            </a:r>
            <a:endParaRPr lang="en-US" sz="3000" dirty="0"/>
          </a:p>
        </p:txBody>
      </p:sp>
      <p:sp>
        <p:nvSpPr>
          <p:cNvPr id="4" name="Text 2"/>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Backup slide — not presented</a:t>
            </a:r>
            <a:endParaRPr lang="en-US" sz="950" dirty="0"/>
          </a:p>
        </p:txBody>
      </p:sp>
      <p:sp>
        <p:nvSpPr>
          <p:cNvPr id="5" name="Text 3"/>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B1</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7839" cy="914400"/>
        </p:xfrm>
        <a:graphic>
          <a:graphicData uri="http://schemas.openxmlformats.org/drawingml/2006/table">
            <a:tbl>
              <a:tblPr/>
              <a:tblGrid>
                <a:gridCol w="2331720"/>
                <a:gridCol w="1051560"/>
                <a:gridCol w="1417320"/>
                <a:gridCol w="1280160"/>
                <a:gridCol w="960120"/>
                <a:gridCol w="1188720"/>
                <a:gridCol w="1005840"/>
                <a:gridCol w="960120"/>
                <a:gridCol w="896112"/>
              </a:tblGrid>
              <a:tr h="2926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Representation</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Random F1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Grouped-site F1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LOFO mean F1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LOFO SD</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Worst folder</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Mean acc.</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ROC-AUC</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AP</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r>
              <a:tr h="292608">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Baseline (1,543-d)</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0.930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0.872</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0.101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0.727</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0.883</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0.9728</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0.9744</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r>
              <a:tr h="292608">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Compact (199-d)</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0.905</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0.870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0.114</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0.691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0.881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0.9716</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0.9737</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Perch v2 (1,536-d)</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0.989</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0.020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0.950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0.990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0.9997</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0.9996</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r>
            </a:tbl>
          </a:graphicData>
        </a:graphic>
      </p:graphicFrame>
      <p:sp>
        <p:nvSpPr>
          <p:cNvPr id="7" name="Shape 4"/>
          <p:cNvSpPr/>
          <p:nvPr/>
        </p:nvSpPr>
        <p:spPr>
          <a:xfrm>
            <a:off x="566928" y="3145536"/>
            <a:ext cx="11057839" cy="1133856"/>
          </a:xfrm>
          <a:prstGeom prst="roundRect">
            <a:avLst>
              <a:gd name="adj" fmla="val 5645"/>
            </a:avLst>
          </a:prstGeom>
          <a:solidFill>
            <a:srgbClr val="F2F5F9"/>
          </a:solidFill>
          <a:ln w="9525">
            <a:solidFill>
              <a:srgbClr val="D5DEEA"/>
            </a:solidFill>
            <a:prstDash val="solid"/>
          </a:ln>
        </p:spPr>
      </p:sp>
      <p:sp>
        <p:nvSpPr>
          <p:cNvPr id="8" name="Text 5"/>
          <p:cNvSpPr txBox="1"/>
          <p:nvPr/>
        </p:nvSpPr>
        <p:spPr>
          <a:xfrm>
            <a:off x="822960" y="3273552"/>
            <a:ext cx="10545775" cy="292608"/>
          </a:xfrm>
          <a:prstGeom prst="rect">
            <a:avLst/>
          </a:prstGeom>
          <a:noFill/>
          <a:ln/>
        </p:spPr>
        <p:txBody>
          <a:bodyPr wrap="square" lIns="0" tIns="0" rIns="0" bIns="0" rtlCol="0" anchor="t"/>
          <a:lstStyle/>
          <a:p>
            <a:pPr indent="0" marL="0">
              <a:buNone/>
            </a:pPr>
            <a:r>
              <a:rPr lang="en-US" sz="1300" b="1" dirty="0">
                <a:solidFill>
                  <a:srgbClr val="0E1B33"/>
                </a:solidFill>
                <a:latin typeface="Calibri" pitchFamily="34" charset="0"/>
                <a:ea typeface="Calibri" pitchFamily="34" charset="-122"/>
                <a:cs typeface="Calibri" pitchFamily="34" charset="-120"/>
              </a:rPr>
              <a:t>LOFO mean precision / recall:  </a:t>
            </a:r>
            <a:pPr indent="0" marL="0">
              <a:buNone/>
            </a:pPr>
            <a:r>
              <a:rPr lang="en-US" sz="1300" dirty="0">
                <a:solidFill>
                  <a:srgbClr val="22314D"/>
                </a:solidFill>
                <a:latin typeface="Calibri" pitchFamily="34" charset="0"/>
                <a:ea typeface="Calibri" pitchFamily="34" charset="-122"/>
                <a:cs typeface="Calibri" pitchFamily="34" charset="-120"/>
              </a:rPr>
              <a:t>0.910 / 0.857 (baseline) · 0.910 / 0.851 (compact) · 0.994 / 0.984 (Perch).</a:t>
            </a:r>
            <a:endParaRPr lang="en-US" sz="1300" dirty="0"/>
          </a:p>
        </p:txBody>
      </p:sp>
      <p:sp>
        <p:nvSpPr>
          <p:cNvPr id="9" name="Text 6"/>
          <p:cNvSpPr txBox="1"/>
          <p:nvPr/>
        </p:nvSpPr>
        <p:spPr>
          <a:xfrm>
            <a:off x="822960" y="3621024"/>
            <a:ext cx="10545775" cy="548640"/>
          </a:xfrm>
          <a:prstGeom prst="rect">
            <a:avLst/>
          </a:prstGeom>
          <a:noFill/>
          <a:ln/>
        </p:spPr>
        <p:txBody>
          <a:bodyPr wrap="square" lIns="0" tIns="0" rIns="0" bIns="0" rtlCol="0" anchor="t"/>
          <a:lstStyle/>
          <a:p>
            <a:pPr indent="0" marL="0">
              <a:lnSpc>
                <a:spcPts val="1800"/>
              </a:lnSpc>
              <a:buNone/>
            </a:pPr>
            <a:r>
              <a:rPr lang="en-US" sz="1300" b="1" dirty="0">
                <a:solidFill>
                  <a:srgbClr val="0E1B33"/>
                </a:solidFill>
                <a:latin typeface="Calibri" pitchFamily="34" charset="0"/>
                <a:ea typeface="Calibri" pitchFamily="34" charset="-122"/>
                <a:cs typeface="Calibri" pitchFamily="34" charset="-120"/>
              </a:rPr>
              <a:t>Folder-level range:  </a:t>
            </a:r>
            <a:pPr indent="0" marL="0">
              <a:lnSpc>
                <a:spcPts val="1800"/>
              </a:lnSpc>
              <a:buNone/>
            </a:pPr>
            <a:r>
              <a:rPr lang="en-US" sz="1300" dirty="0">
                <a:solidFill>
                  <a:srgbClr val="22314D"/>
                </a:solidFill>
                <a:latin typeface="Calibri" pitchFamily="34" charset="0"/>
                <a:ea typeface="Calibri" pitchFamily="34" charset="-122"/>
                <a:cs typeface="Calibri" pitchFamily="34" charset="-120"/>
              </a:rPr>
              <a:t>baseline F1 0.727 (buzzes_sp) → 1.000 (buzzes_tb); compact low 0.691 (buzzes_sp); Perch 0.950 (buzzes_o), 0.983 (buzzes_sp) and 1.000 in the remaining four rounds.</a:t>
            </a:r>
            <a:endParaRPr lang="en-US" sz="1300" dirty="0"/>
          </a:p>
        </p:txBody>
      </p:sp>
      <p:sp>
        <p:nvSpPr>
          <p:cNvPr id="10" name="Shape 7"/>
          <p:cNvSpPr/>
          <p:nvPr/>
        </p:nvSpPr>
        <p:spPr>
          <a:xfrm>
            <a:off x="566928" y="4517136"/>
            <a:ext cx="11057839" cy="1243584"/>
          </a:xfrm>
          <a:prstGeom prst="roundRect">
            <a:avLst>
              <a:gd name="adj" fmla="val 5147"/>
            </a:avLst>
          </a:prstGeom>
          <a:solidFill>
            <a:srgbClr val="FFFFFF"/>
          </a:solidFill>
          <a:ln w="9525">
            <a:solidFill>
              <a:srgbClr val="D5DEEA"/>
            </a:solidFill>
            <a:prstDash val="solid"/>
          </a:ln>
        </p:spPr>
      </p:sp>
      <p:sp>
        <p:nvSpPr>
          <p:cNvPr id="11" name="Text 8"/>
          <p:cNvSpPr txBox="1"/>
          <p:nvPr/>
        </p:nvSpPr>
        <p:spPr>
          <a:xfrm>
            <a:off x="822960" y="4645152"/>
            <a:ext cx="10545775" cy="274320"/>
          </a:xfrm>
          <a:prstGeom prst="rect">
            <a:avLst/>
          </a:prstGeom>
          <a:noFill/>
          <a:ln/>
        </p:spPr>
        <p:txBody>
          <a:bodyPr wrap="square" lIns="0" tIns="0" rIns="0" bIns="0" rtlCol="0" anchor="ctr"/>
          <a:lstStyle/>
          <a:p>
            <a:pPr indent="0" marL="0">
              <a:buNone/>
            </a:pPr>
            <a:r>
              <a:rPr lang="en-US" sz="1300" b="1" dirty="0">
                <a:solidFill>
                  <a:srgbClr val="1E7A70"/>
                </a:solidFill>
                <a:latin typeface="Calibri" pitchFamily="34" charset="0"/>
                <a:ea typeface="Calibri" pitchFamily="34" charset="-122"/>
                <a:cs typeface="Calibri" pitchFamily="34" charset="-120"/>
              </a:rPr>
              <a:t>Splits</a:t>
            </a:r>
            <a:endParaRPr lang="en-US" sz="1300" dirty="0"/>
          </a:p>
        </p:txBody>
      </p:sp>
      <p:sp>
        <p:nvSpPr>
          <p:cNvPr id="12" name="Text 9"/>
          <p:cNvSpPr txBox="1"/>
          <p:nvPr/>
        </p:nvSpPr>
        <p:spPr>
          <a:xfrm>
            <a:off x="822960" y="4937760"/>
            <a:ext cx="10545775" cy="768096"/>
          </a:xfrm>
          <a:prstGeom prst="rect">
            <a:avLst/>
          </a:prstGeom>
          <a:noFill/>
          <a:ln/>
        </p:spPr>
        <p:txBody>
          <a:bodyPr wrap="square" lIns="0" tIns="0" rIns="0" bIns="0" rtlCol="0" anchor="t"/>
          <a:lstStyle/>
          <a:p>
            <a:pPr indent="0" marL="0">
              <a:lnSpc>
                <a:spcPts val="1800"/>
              </a:lnSpc>
              <a:buNone/>
            </a:pPr>
            <a:r>
              <a:rPr lang="en-US" sz="1250" dirty="0">
                <a:solidFill>
                  <a:srgbClr val="22314D"/>
                </a:solidFill>
                <a:latin typeface="Calibri" pitchFamily="34" charset="0"/>
                <a:ea typeface="Calibri" pitchFamily="34" charset="-122"/>
                <a:cs typeface="Calibri" pitchFamily="34" charset="-120"/>
              </a:rPr>
              <a:t>Random: 222 train / 48 validation / 46 test, stratified.   Grouped-site: buzzes_o (Site 3) validation, buzzes_tb (Site 2) test, 229 train.   LOFO: six rounds, scaler and detector refitted inside each round. Representation definitions, detector settings and the 0.5 threshold were fixed independently of the reserved validation set.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BACKUP 2</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Retrieval — full metric set</a:t>
            </a:r>
            <a:endParaRPr lang="en-US" sz="3000" dirty="0"/>
          </a:p>
        </p:txBody>
      </p:sp>
      <p:sp>
        <p:nvSpPr>
          <p:cNvPr id="4" name="Text 2"/>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Backup slide — not presented</a:t>
            </a:r>
            <a:endParaRPr lang="en-US" sz="950" dirty="0"/>
          </a:p>
        </p:txBody>
      </p:sp>
      <p:sp>
        <p:nvSpPr>
          <p:cNvPr id="5" name="Text 3"/>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B2</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8595360" cy="914400"/>
        </p:xfrm>
        <a:graphic>
          <a:graphicData uri="http://schemas.openxmlformats.org/drawingml/2006/table">
            <a:tbl>
              <a:tblPr/>
              <a:tblGrid>
                <a:gridCol w="2377440"/>
                <a:gridCol w="1554480"/>
                <a:gridCol w="1645920"/>
                <a:gridCol w="1645920"/>
                <a:gridCol w="1371600"/>
              </a:tblGrid>
              <a:tr h="2926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Representation</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Precision@5</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Precision@10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Precision@20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Average Precision</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r>
              <a:tr h="292608">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Baseline</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0.834</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0.831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0.822</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0.770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r>
              <a:tr h="292608">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Compact</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0.839</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0.830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0.821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0.771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Perch v2</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0.988</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0.984</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0.968</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0.879</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r>
              <a:tr h="292608">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Random ranking</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0.500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0.500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0.501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0.510</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7" name="Shape 4"/>
          <p:cNvSpPr/>
          <p:nvPr/>
        </p:nvSpPr>
        <p:spPr>
          <a:xfrm>
            <a:off x="566928" y="3493008"/>
            <a:ext cx="11057839" cy="2340864"/>
          </a:xfrm>
          <a:prstGeom prst="roundRect">
            <a:avLst>
              <a:gd name="adj" fmla="val 2734"/>
            </a:avLst>
          </a:prstGeom>
          <a:solidFill>
            <a:srgbClr val="FFFFFF"/>
          </a:solidFill>
          <a:ln w="9525">
            <a:solidFill>
              <a:srgbClr val="D5DEEA"/>
            </a:solidFill>
            <a:prstDash val="solid"/>
          </a:ln>
        </p:spPr>
      </p:sp>
      <p:sp>
        <p:nvSpPr>
          <p:cNvPr id="8" name="Text 5"/>
          <p:cNvSpPr txBox="1"/>
          <p:nvPr/>
        </p:nvSpPr>
        <p:spPr>
          <a:xfrm>
            <a:off x="822960" y="3675888"/>
            <a:ext cx="10545775" cy="2011680"/>
          </a:xfrm>
          <a:prstGeom prst="rect">
            <a:avLst/>
          </a:prstGeom>
          <a:noFill/>
          <a:ln/>
        </p:spPr>
        <p:txBody>
          <a:bodyPr wrap="square" rtlCol="0" anchor="t"/>
          <a:lstStyle/>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All 158 labelled buzz clips used as queries; every clip from the query's own folder excluded from the candidate pool.</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StandardScaler fitted on the cross-folder candidate pool only, then applied to both pool and query; vectors L2-normalised and ranked by cosine similarity.</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Folder-level values macro-averaged so that folders with more queries do not dominate.</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Perch Precision@10 ranged 0.948 (buzzes_o queries) to 1.000 (buzzes_tb); folder-level AP ranged 0.750 to 0.955.</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Random baseline: 100 seeded permutations per query (seed 42), generator advancing between repetitions.</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Roughly balanced pools put random Precision@10 at ≈ 0.500 — easier than naturally rare field events.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BACKUP 3</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Preprocessing sensitivity</a:t>
            </a:r>
            <a:endParaRPr lang="en-US" sz="3000" dirty="0"/>
          </a:p>
        </p:txBody>
      </p:sp>
      <p:sp>
        <p:nvSpPr>
          <p:cNvPr id="4" name="Text 2"/>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Backup slide — not presented</a:t>
            </a:r>
            <a:endParaRPr lang="en-US" sz="950" dirty="0"/>
          </a:p>
        </p:txBody>
      </p:sp>
      <p:sp>
        <p:nvSpPr>
          <p:cNvPr id="5" name="Text 3"/>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B3</a:t>
            </a:r>
            <a:endParaRPr lang="en-US" sz="950" dirty="0"/>
          </a:p>
        </p:txBody>
      </p:sp>
      <p:sp>
        <p:nvSpPr>
          <p:cNvPr id="6" name="Text 4"/>
          <p:cNvSpPr txBox="1"/>
          <p:nvPr/>
        </p:nvSpPr>
        <p:spPr>
          <a:xfrm>
            <a:off x="566928" y="1481328"/>
            <a:ext cx="7040880" cy="292608"/>
          </a:xfrm>
          <a:prstGeom prst="rect">
            <a:avLst/>
          </a:prstGeom>
          <a:noFill/>
          <a:ln/>
        </p:spPr>
        <p:txBody>
          <a:bodyPr wrap="square" lIns="0" tIns="0" rIns="0" bIns="0" rtlCol="0" anchor="ctr"/>
          <a:lstStyle/>
          <a:p>
            <a:pPr indent="0" marL="0">
              <a:buNone/>
            </a:pPr>
            <a:r>
              <a:rPr lang="en-US" sz="1350" b="1" dirty="0">
                <a:solidFill>
                  <a:srgbClr val="0E1B33"/>
                </a:solidFill>
                <a:latin typeface="Calibri" pitchFamily="34" charset="0"/>
                <a:ea typeface="Calibri" pitchFamily="34" charset="-122"/>
                <a:cs typeface="Calibri" pitchFamily="34" charset="-120"/>
              </a:rPr>
              <a:t>Analysis-window duration (spectral-statistics detector)</a:t>
            </a:r>
            <a:endParaRPr lang="en-US" sz="1350" dirty="0"/>
          </a:p>
        </p:txBody>
      </p:sp>
      <p:graphicFrame>
        <p:nvGraphicFramePr>
          <p:cNvPr id="7" name="Chart 0" descr=""/>
          <p:cNvGraphicFramePr/>
          <p:nvPr/>
        </p:nvGraphicFramePr>
        <p:xfrm>
          <a:off x="475488" y="1828800"/>
          <a:ext cx="7040880" cy="28346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66928" y="4718304"/>
            <a:ext cx="7040880" cy="950976"/>
          </a:xfrm>
          <a:prstGeom prst="rect">
            <a:avLst/>
          </a:prstGeom>
          <a:noFill/>
          <a:ln/>
        </p:spPr>
        <p:txBody>
          <a:bodyPr wrap="square" lIns="0" tIns="0" rIns="0" bIns="0" rtlCol="0" anchor="ctr"/>
          <a:lstStyle/>
          <a:p>
            <a:pPr indent="0" marL="0">
              <a:lnSpc>
                <a:spcPts val="1600"/>
              </a:lnSpc>
              <a:buNone/>
            </a:pPr>
            <a:r>
              <a:rPr lang="en-US" sz="1200" i="1" dirty="0">
                <a:solidFill>
                  <a:srgbClr val="5F718C"/>
                </a:solidFill>
                <a:latin typeface="Calibri" pitchFamily="34" charset="0"/>
                <a:ea typeface="Calibri" pitchFamily="34" charset="-122"/>
                <a:cs typeface="Calibri" pitchFamily="34" charset="-120"/>
              </a:rPr>
              <a:t>0.50 s scores highest — and is exactly where the padding shortcut is total: all 158 buzz clips padded, all 158 non-buzz clips cropped. 0.25 s was retained as the compromise (127 buzz clips padded, 189 clips cropped). At 0.10 s, random-test F1 was 0.979 but worst-folder F1 collapsed to 0.050.</a:t>
            </a:r>
            <a:endParaRPr lang="en-US" sz="1200" dirty="0"/>
          </a:p>
        </p:txBody>
      </p:sp>
      <p:sp>
        <p:nvSpPr>
          <p:cNvPr id="9" name="Shape 6"/>
          <p:cNvSpPr/>
          <p:nvPr/>
        </p:nvSpPr>
        <p:spPr>
          <a:xfrm>
            <a:off x="7845552" y="1481328"/>
            <a:ext cx="3779215" cy="1956816"/>
          </a:xfrm>
          <a:prstGeom prst="roundRect">
            <a:avLst>
              <a:gd name="adj" fmla="val 3271"/>
            </a:avLst>
          </a:prstGeom>
          <a:solidFill>
            <a:srgbClr val="F2F5F9"/>
          </a:solidFill>
          <a:ln w="9525">
            <a:solidFill>
              <a:srgbClr val="D5DEEA"/>
            </a:solidFill>
            <a:prstDash val="solid"/>
          </a:ln>
        </p:spPr>
      </p:sp>
      <p:sp>
        <p:nvSpPr>
          <p:cNvPr id="10" name="Text 7"/>
          <p:cNvSpPr txBox="1"/>
          <p:nvPr/>
        </p:nvSpPr>
        <p:spPr>
          <a:xfrm>
            <a:off x="8065008" y="1627632"/>
            <a:ext cx="3340303" cy="274320"/>
          </a:xfrm>
          <a:prstGeom prst="rect">
            <a:avLst/>
          </a:prstGeom>
          <a:noFill/>
          <a:ln/>
        </p:spPr>
        <p:txBody>
          <a:bodyPr wrap="square" lIns="0" tIns="0" rIns="0" bIns="0" rtlCol="0" anchor="ctr"/>
          <a:lstStyle/>
          <a:p>
            <a:pPr indent="0" marL="0">
              <a:buNone/>
            </a:pPr>
            <a:r>
              <a:rPr lang="en-US" sz="1300" b="1" dirty="0">
                <a:solidFill>
                  <a:srgbClr val="0E1B33"/>
                </a:solidFill>
                <a:latin typeface="Calibri" pitchFamily="34" charset="0"/>
                <a:ea typeface="Calibri" pitchFamily="34" charset="-122"/>
                <a:cs typeface="Calibri" pitchFamily="34" charset="-120"/>
              </a:rPr>
              <a:t>Spectrogram resolution</a:t>
            </a:r>
            <a:endParaRPr lang="en-US" sz="1300" dirty="0"/>
          </a:p>
        </p:txBody>
      </p:sp>
      <p:sp>
        <p:nvSpPr>
          <p:cNvPr id="11" name="Text 8"/>
          <p:cNvSpPr txBox="1"/>
          <p:nvPr/>
        </p:nvSpPr>
        <p:spPr>
          <a:xfrm>
            <a:off x="8065008" y="2011680"/>
            <a:ext cx="3340303" cy="1335024"/>
          </a:xfrm>
          <a:prstGeom prst="rect">
            <a:avLst/>
          </a:prstGeom>
          <a:noFill/>
          <a:ln/>
        </p:spPr>
        <p:txBody>
          <a:bodyPr wrap="square" rtlCol="0" anchor="t"/>
          <a:lstStyle/>
          <a:p>
            <a:pPr marL="342900" indent="-342900">
              <a:lnSpc>
                <a:spcPts val="1600"/>
              </a:lnSpc>
              <a:spcAft>
                <a:spcPts val="500"/>
              </a:spcAft>
              <a:buSzPct val="100000"/>
              <a:buChar char="•"/>
            </a:pPr>
            <a:r>
              <a:rPr lang="en-US" sz="1200" dirty="0">
                <a:solidFill>
                  <a:srgbClr val="22314D"/>
                </a:solidFill>
                <a:latin typeface="Calibri" pitchFamily="34" charset="0"/>
                <a:ea typeface="Calibri" pitchFamily="34" charset="-122"/>
                <a:cs typeface="Calibri" pitchFamily="34" charset="-120"/>
              </a:rPr>
              <a:t>1024 / 512 (used): LOFO mean 0.872, worst 0.727</a:t>
            </a:r>
            <a:endParaRPr lang="en-US" sz="1200" dirty="0"/>
          </a:p>
          <a:p>
            <a:pPr marL="342900" indent="-342900">
              <a:lnSpc>
                <a:spcPts val="1600"/>
              </a:lnSpc>
              <a:spcAft>
                <a:spcPts val="500"/>
              </a:spcAft>
              <a:buSzPct val="100000"/>
              <a:buChar char="•"/>
            </a:pPr>
            <a:r>
              <a:rPr lang="en-US" sz="1200" dirty="0">
                <a:solidFill>
                  <a:srgbClr val="22314D"/>
                </a:solidFill>
                <a:latin typeface="Calibri" pitchFamily="34" charset="0"/>
                <a:ea typeface="Calibri" pitchFamily="34" charset="-122"/>
                <a:cs typeface="Calibri" pitchFamily="34" charset="-120"/>
              </a:rPr>
              <a:t>256 / 128: LOFO mean 0.881, worst 0.714</a:t>
            </a:r>
            <a:endParaRPr lang="en-US" sz="1200" dirty="0"/>
          </a:p>
          <a:p>
            <a:pPr marL="342900" indent="-342900">
              <a:lnSpc>
                <a:spcPts val="1600"/>
              </a:lnSpc>
              <a:spcAft>
                <a:spcPts val="500"/>
              </a:spcAft>
              <a:buSzPct val="100000"/>
              <a:buChar char="•"/>
            </a:pPr>
            <a:r>
              <a:rPr lang="en-US" sz="1200" dirty="0">
                <a:solidFill>
                  <a:srgbClr val="22314D"/>
                </a:solidFill>
                <a:latin typeface="Calibri" pitchFamily="34" charset="0"/>
                <a:ea typeface="Calibri" pitchFamily="34" charset="-122"/>
                <a:cs typeface="Calibri" pitchFamily="34" charset="-120"/>
              </a:rPr>
              <a:t>1024 / 900: LOFO mean 0.864, worst 0.691</a:t>
            </a:r>
            <a:endParaRPr lang="en-US" sz="1200" dirty="0"/>
          </a:p>
        </p:txBody>
      </p:sp>
      <p:sp>
        <p:nvSpPr>
          <p:cNvPr id="12" name="Shape 9"/>
          <p:cNvSpPr/>
          <p:nvPr/>
        </p:nvSpPr>
        <p:spPr>
          <a:xfrm>
            <a:off x="7845552" y="3675888"/>
            <a:ext cx="3779215" cy="2322576"/>
          </a:xfrm>
          <a:prstGeom prst="roundRect">
            <a:avLst>
              <a:gd name="adj" fmla="val 2756"/>
            </a:avLst>
          </a:prstGeom>
          <a:solidFill>
            <a:srgbClr val="FFFFFF"/>
          </a:solidFill>
          <a:ln w="9525">
            <a:solidFill>
              <a:srgbClr val="D5DEEA"/>
            </a:solidFill>
            <a:prstDash val="solid"/>
          </a:ln>
        </p:spPr>
      </p:sp>
      <p:sp>
        <p:nvSpPr>
          <p:cNvPr id="13" name="Text 10"/>
          <p:cNvSpPr txBox="1"/>
          <p:nvPr/>
        </p:nvSpPr>
        <p:spPr>
          <a:xfrm>
            <a:off x="8065008" y="3822192"/>
            <a:ext cx="3340303" cy="274320"/>
          </a:xfrm>
          <a:prstGeom prst="rect">
            <a:avLst/>
          </a:prstGeom>
          <a:noFill/>
          <a:ln/>
        </p:spPr>
        <p:txBody>
          <a:bodyPr wrap="square" lIns="0" tIns="0" rIns="0" bIns="0" rtlCol="0" anchor="ctr"/>
          <a:lstStyle/>
          <a:p>
            <a:pPr indent="0" marL="0">
              <a:buNone/>
            </a:pPr>
            <a:r>
              <a:rPr lang="en-US" sz="1300" b="1" dirty="0">
                <a:solidFill>
                  <a:srgbClr val="0E1B33"/>
                </a:solidFill>
                <a:latin typeface="Calibri" pitchFamily="34" charset="0"/>
                <a:ea typeface="Calibri" pitchFamily="34" charset="-122"/>
                <a:cs typeface="Calibri" pitchFamily="34" charset="-120"/>
              </a:rPr>
              <a:t>Settings used throughout</a:t>
            </a:r>
            <a:endParaRPr lang="en-US" sz="1300" dirty="0"/>
          </a:p>
        </p:txBody>
      </p:sp>
      <p:sp>
        <p:nvSpPr>
          <p:cNvPr id="14" name="Text 11"/>
          <p:cNvSpPr txBox="1"/>
          <p:nvPr/>
        </p:nvSpPr>
        <p:spPr>
          <a:xfrm>
            <a:off x="8065008" y="4242816"/>
            <a:ext cx="3340303" cy="1572768"/>
          </a:xfrm>
          <a:prstGeom prst="rect">
            <a:avLst/>
          </a:prstGeom>
          <a:noFill/>
          <a:ln/>
        </p:spPr>
        <p:txBody>
          <a:bodyPr wrap="square" rtlCol="0" anchor="t"/>
          <a:lstStyle/>
          <a:p>
            <a:pPr marL="342900" indent="-342900">
              <a:lnSpc>
                <a:spcPts val="1600"/>
              </a:lnSpc>
              <a:spcAft>
                <a:spcPts val="500"/>
              </a:spcAft>
              <a:buSzPct val="100000"/>
              <a:buChar char="•"/>
            </a:pPr>
            <a:r>
              <a:rPr lang="en-US" sz="1200" dirty="0">
                <a:solidFill>
                  <a:srgbClr val="22314D"/>
                </a:solidFill>
                <a:latin typeface="Calibri" pitchFamily="34" charset="0"/>
                <a:ea typeface="Calibri" pitchFamily="34" charset="-122"/>
                <a:cs typeface="Calibri" pitchFamily="34" charset="-120"/>
              </a:rPr>
              <a:t>Periodic Tukey window (α = 0.25), nfft = 1024</a:t>
            </a:r>
            <a:endParaRPr lang="en-US" sz="1200" dirty="0"/>
          </a:p>
          <a:p>
            <a:pPr marL="342900" indent="-342900">
              <a:lnSpc>
                <a:spcPts val="1600"/>
              </a:lnSpc>
              <a:spcAft>
                <a:spcPts val="500"/>
              </a:spcAft>
              <a:buSzPct val="100000"/>
              <a:buChar char="•"/>
            </a:pPr>
            <a:r>
              <a:rPr lang="en-US" sz="1200" dirty="0">
                <a:solidFill>
                  <a:srgbClr val="22314D"/>
                </a:solidFill>
                <a:latin typeface="Calibri" pitchFamily="34" charset="0"/>
                <a:ea typeface="Calibri" pitchFamily="34" charset="-122"/>
                <a:cs typeface="Calibri" pitchFamily="34" charset="-120"/>
              </a:rPr>
              <a:t>513 frequency bins × 186 time bins per clip</a:t>
            </a:r>
            <a:endParaRPr lang="en-US" sz="1200" dirty="0"/>
          </a:p>
          <a:p>
            <a:pPr marL="342900" indent="-342900">
              <a:lnSpc>
                <a:spcPts val="1600"/>
              </a:lnSpc>
              <a:spcAft>
                <a:spcPts val="500"/>
              </a:spcAft>
              <a:buSzPct val="100000"/>
              <a:buChar char="•"/>
            </a:pPr>
            <a:r>
              <a:rPr lang="en-US" sz="1200" dirty="0">
                <a:solidFill>
                  <a:srgbClr val="22314D"/>
                </a:solidFill>
                <a:latin typeface="Calibri" pitchFamily="34" charset="0"/>
                <a:ea typeface="Calibri" pitchFamily="34" charset="-122"/>
                <a:cs typeface="Calibri" pitchFamily="34" charset="-120"/>
              </a:rPr>
              <a:t>log10(magnitude + 1e-10) applied first</a:t>
            </a:r>
            <a:endParaRPr lang="en-US" sz="1200" dirty="0"/>
          </a:p>
          <a:p>
            <a:pPr marL="342900" indent="-342900">
              <a:lnSpc>
                <a:spcPts val="1600"/>
              </a:lnSpc>
              <a:spcAft>
                <a:spcPts val="500"/>
              </a:spcAft>
              <a:buSzPct val="100000"/>
              <a:buChar char="•"/>
            </a:pPr>
            <a:r>
              <a:rPr lang="en-US" sz="1200" dirty="0">
                <a:solidFill>
                  <a:srgbClr val="22314D"/>
                </a:solidFill>
                <a:latin typeface="Calibri" pitchFamily="34" charset="0"/>
                <a:ea typeface="Calibri" pitchFamily="34" charset="-122"/>
                <a:cs typeface="Calibri" pitchFamily="34" charset="-120"/>
              </a:rPr>
              <a:t>Crop position gave the same pattern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BACKUP 4</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Kenya — thresholds, coverage and timing</a:t>
            </a:r>
            <a:endParaRPr lang="en-US" sz="3000" dirty="0"/>
          </a:p>
        </p:txBody>
      </p:sp>
      <p:sp>
        <p:nvSpPr>
          <p:cNvPr id="4" name="Text 2"/>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Backup slide — not presented</a:t>
            </a:r>
            <a:endParaRPr lang="en-US" sz="950" dirty="0"/>
          </a:p>
        </p:txBody>
      </p:sp>
      <p:sp>
        <p:nvSpPr>
          <p:cNvPr id="5" name="Text 3"/>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B4</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11057839" cy="914400"/>
        </p:xfrm>
        <a:graphic>
          <a:graphicData uri="http://schemas.openxmlformats.org/drawingml/2006/table">
            <a:tbl>
              <a:tblPr/>
              <a:tblGrid>
                <a:gridCol w="2103120"/>
                <a:gridCol w="2331720"/>
                <a:gridCol w="2331720"/>
                <a:gridCol w="2331720"/>
                <a:gridCol w="1956816"/>
              </a:tblGrid>
              <a:tr h="2926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Detector</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 0.50 windows</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 0.80 windows</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 0.95 windows</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Files with ≥ 0.95</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0E1B33"/>
                    </a:solidFill>
                  </a:tcPr>
                </a:tc>
              </a:tr>
              <a:tr h="292608">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Baseline</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59,741  (22.11%)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36,110  (13.37%)</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11,978  (4.43%)</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c>
                  <a:txBody>
                    <a:bodyPr/>
                    <a:lstStyle/>
                    <a:p>
                      <a:pPr algn="l" indent="0" marL="0">
                        <a:buNone/>
                      </a:pPr>
                      <a:r>
                        <a:rPr lang="en-US" sz="1150" dirty="0">
                          <a:solidFill>
                            <a:srgbClr val="22314D"/>
                          </a:solidFill>
                          <a:latin typeface="Calibri" pitchFamily="34" charset="0"/>
                          <a:ea typeface="Calibri" pitchFamily="34" charset="-122"/>
                          <a:cs typeface="Calibri" pitchFamily="34" charset="-120"/>
                        </a:rPr>
                        <a:t>161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2F5F9"/>
                    </a:solidFill>
                  </a:tcPr>
                </a:tc>
              </a:tr>
              <a:tr h="292608">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Perch v2</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43,130  (15.96%)</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17,692  (6.55%)</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5,774  (2.14%)</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150" b="1" dirty="0">
                          <a:solidFill>
                            <a:srgbClr val="22314D"/>
                          </a:solidFill>
                          <a:latin typeface="Calibri" pitchFamily="34" charset="0"/>
                          <a:ea typeface="Calibri" pitchFamily="34" charset="-122"/>
                          <a:cs typeface="Calibri" pitchFamily="34" charset="-120"/>
                        </a:rPr>
                        <a:t>121</a:t>
                      </a:r>
                      <a:endParaRPr lang="en-US" sz="1150" dirty="0">
                        <a:latin typeface="Calibri" charset="0"/>
                        <a:ea typeface="Calibri" charset="0"/>
                        <a:cs typeface="Calibri" charset="0"/>
                      </a:endParaRPr>
                    </a:p>
                  </a:txBody>
                  <a:tcPr marL="76200" marR="76200" marT="76200" marB="7620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7" name="Shape 4"/>
          <p:cNvSpPr/>
          <p:nvPr/>
        </p:nvSpPr>
        <p:spPr>
          <a:xfrm>
            <a:off x="566928" y="2615184"/>
            <a:ext cx="5760720" cy="1481328"/>
          </a:xfrm>
          <a:prstGeom prst="roundRect">
            <a:avLst>
              <a:gd name="adj" fmla="val 4321"/>
            </a:avLst>
          </a:prstGeom>
          <a:solidFill>
            <a:srgbClr val="F2F5F9"/>
          </a:solidFill>
          <a:ln w="9525">
            <a:solidFill>
              <a:srgbClr val="D5DEEA"/>
            </a:solidFill>
            <a:prstDash val="solid"/>
          </a:ln>
        </p:spPr>
      </p:sp>
      <p:sp>
        <p:nvSpPr>
          <p:cNvPr id="8" name="Text 5"/>
          <p:cNvSpPr txBox="1"/>
          <p:nvPr/>
        </p:nvSpPr>
        <p:spPr>
          <a:xfrm>
            <a:off x="804672" y="2743200"/>
            <a:ext cx="5285232" cy="274320"/>
          </a:xfrm>
          <a:prstGeom prst="rect">
            <a:avLst/>
          </a:prstGeom>
          <a:noFill/>
          <a:ln/>
        </p:spPr>
        <p:txBody>
          <a:bodyPr wrap="square" lIns="0" tIns="0" rIns="0" bIns="0" rtlCol="0" anchor="ctr"/>
          <a:lstStyle/>
          <a:p>
            <a:pPr indent="0" marL="0">
              <a:buNone/>
            </a:pPr>
            <a:r>
              <a:rPr lang="en-US" sz="1300" b="1" dirty="0">
                <a:solidFill>
                  <a:srgbClr val="0E1B33"/>
                </a:solidFill>
                <a:latin typeface="Calibri" pitchFamily="34" charset="0"/>
                <a:ea typeface="Calibri" pitchFamily="34" charset="-122"/>
                <a:cs typeface="Calibri" pitchFamily="34" charset="-120"/>
              </a:rPr>
              <a:t>Spread across recordings</a:t>
            </a:r>
            <a:endParaRPr lang="en-US" sz="1300" dirty="0"/>
          </a:p>
        </p:txBody>
      </p:sp>
      <p:sp>
        <p:nvSpPr>
          <p:cNvPr id="9" name="Text 6"/>
          <p:cNvSpPr txBox="1"/>
          <p:nvPr/>
        </p:nvSpPr>
        <p:spPr>
          <a:xfrm>
            <a:off x="804672" y="3035808"/>
            <a:ext cx="5285232" cy="914400"/>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At the lower two thresholds, Perch windows were spread across more recordings despite being fewer in total — 466 files vs 343 at ≥ 0.50, and 328 vs 254 at ≥ 0.80.</a:t>
            </a:r>
            <a:endParaRPr lang="en-US" sz="1250" dirty="0"/>
          </a:p>
        </p:txBody>
      </p:sp>
      <p:sp>
        <p:nvSpPr>
          <p:cNvPr id="10" name="Shape 7"/>
          <p:cNvSpPr/>
          <p:nvPr/>
        </p:nvSpPr>
        <p:spPr>
          <a:xfrm>
            <a:off x="6711696" y="2615184"/>
            <a:ext cx="4913071" cy="1481328"/>
          </a:xfrm>
          <a:prstGeom prst="roundRect">
            <a:avLst>
              <a:gd name="adj" fmla="val 4321"/>
            </a:avLst>
          </a:prstGeom>
          <a:solidFill>
            <a:srgbClr val="F2F5F9"/>
          </a:solidFill>
          <a:ln w="9525">
            <a:solidFill>
              <a:srgbClr val="D5DEEA"/>
            </a:solidFill>
            <a:prstDash val="solid"/>
          </a:ln>
        </p:spPr>
      </p:sp>
      <p:sp>
        <p:nvSpPr>
          <p:cNvPr id="11" name="Text 8"/>
          <p:cNvSpPr txBox="1"/>
          <p:nvPr/>
        </p:nvSpPr>
        <p:spPr>
          <a:xfrm>
            <a:off x="6949440" y="2743200"/>
            <a:ext cx="4437583" cy="274320"/>
          </a:xfrm>
          <a:prstGeom prst="rect">
            <a:avLst/>
          </a:prstGeom>
          <a:noFill/>
          <a:ln/>
        </p:spPr>
        <p:txBody>
          <a:bodyPr wrap="square" lIns="0" tIns="0" rIns="0" bIns="0" rtlCol="0" anchor="ctr"/>
          <a:lstStyle/>
          <a:p>
            <a:pPr indent="0" marL="0">
              <a:buNone/>
            </a:pPr>
            <a:r>
              <a:rPr lang="en-US" sz="1300" b="1" dirty="0">
                <a:solidFill>
                  <a:srgbClr val="0E1B33"/>
                </a:solidFill>
                <a:latin typeface="Calibri" pitchFamily="34" charset="0"/>
                <a:ea typeface="Calibri" pitchFamily="34" charset="-122"/>
                <a:cs typeface="Calibri" pitchFamily="34" charset="-120"/>
              </a:rPr>
              <a:t>Temporal pattern (EAT, UTC+3)</a:t>
            </a:r>
            <a:endParaRPr lang="en-US" sz="1300" dirty="0"/>
          </a:p>
        </p:txBody>
      </p:sp>
      <p:sp>
        <p:nvSpPr>
          <p:cNvPr id="12" name="Text 9"/>
          <p:cNvSpPr txBox="1"/>
          <p:nvPr/>
        </p:nvSpPr>
        <p:spPr>
          <a:xfrm>
            <a:off x="6949440" y="3035808"/>
            <a:ext cx="4437583" cy="914400"/>
          </a:xfrm>
          <a:prstGeom prst="rect">
            <a:avLst/>
          </a:prstGeom>
          <a:noFill/>
          <a:ln/>
        </p:spPr>
        <p:txBody>
          <a:bodyPr wrap="square" lIns="0" tIns="0" rIns="0" bIns="0" rtlCol="0" anchor="t"/>
          <a:lstStyle/>
          <a:p>
            <a:pPr indent="0" marL="0">
              <a:lnSpc>
                <a:spcPts val="1700"/>
              </a:lnSpc>
              <a:buNone/>
            </a:pPr>
            <a:r>
              <a:rPr lang="en-US" sz="1250" dirty="0">
                <a:solidFill>
                  <a:srgbClr val="22314D"/>
                </a:solidFill>
                <a:latin typeface="Calibri" pitchFamily="34" charset="0"/>
                <a:ea typeface="Calibri" pitchFamily="34" charset="-122"/>
                <a:cs typeface="Calibri" pitchFamily="34" charset="-120"/>
              </a:rPr>
              <a:t>Highest rates at 23:00 EAT — 30.14% / 17.57% / 7.71% at the 0.50, 0.80 and 0.95 thresholds. Highest daily rates on 24 October 2019. Hours without recordings are not treated as zero.</a:t>
            </a:r>
            <a:endParaRPr lang="en-US" sz="1250" dirty="0"/>
          </a:p>
        </p:txBody>
      </p:sp>
      <p:sp>
        <p:nvSpPr>
          <p:cNvPr id="13" name="Shape 10"/>
          <p:cNvSpPr/>
          <p:nvPr/>
        </p:nvSpPr>
        <p:spPr>
          <a:xfrm>
            <a:off x="566928" y="4261104"/>
            <a:ext cx="11057839" cy="1517904"/>
          </a:xfrm>
          <a:prstGeom prst="roundRect">
            <a:avLst>
              <a:gd name="adj" fmla="val 4217"/>
            </a:avLst>
          </a:prstGeom>
          <a:solidFill>
            <a:srgbClr val="FFFFFF"/>
          </a:solidFill>
          <a:ln w="9525">
            <a:solidFill>
              <a:srgbClr val="D5DEEA"/>
            </a:solidFill>
            <a:prstDash val="solid"/>
          </a:ln>
        </p:spPr>
      </p:sp>
      <p:sp>
        <p:nvSpPr>
          <p:cNvPr id="14" name="Text 11"/>
          <p:cNvSpPr txBox="1"/>
          <p:nvPr/>
        </p:nvSpPr>
        <p:spPr>
          <a:xfrm>
            <a:off x="822960" y="4389120"/>
            <a:ext cx="10545775" cy="274320"/>
          </a:xfrm>
          <a:prstGeom prst="rect">
            <a:avLst/>
          </a:prstGeom>
          <a:noFill/>
          <a:ln/>
        </p:spPr>
        <p:txBody>
          <a:bodyPr wrap="square" lIns="0" tIns="0" rIns="0" bIns="0" rtlCol="0" anchor="ctr"/>
          <a:lstStyle/>
          <a:p>
            <a:pPr indent="0" marL="0">
              <a:buNone/>
            </a:pPr>
            <a:r>
              <a:rPr lang="en-US" sz="1300" b="1" dirty="0">
                <a:solidFill>
                  <a:srgbClr val="1E7A70"/>
                </a:solidFill>
                <a:latin typeface="Calibri" pitchFamily="34" charset="0"/>
                <a:ea typeface="Calibri" pitchFamily="34" charset="-122"/>
                <a:cs typeface="Calibri" pitchFamily="34" charset="-120"/>
              </a:rPr>
              <a:t>Candidate selection and review</a:t>
            </a:r>
            <a:endParaRPr lang="en-US" sz="1300" dirty="0"/>
          </a:p>
        </p:txBody>
      </p:sp>
      <p:sp>
        <p:nvSpPr>
          <p:cNvPr id="15" name="Text 12"/>
          <p:cNvSpPr txBox="1"/>
          <p:nvPr/>
        </p:nvSpPr>
        <p:spPr>
          <a:xfrm>
            <a:off x="822960" y="4681728"/>
            <a:ext cx="10545775" cy="1042416"/>
          </a:xfrm>
          <a:prstGeom prst="rect">
            <a:avLst/>
          </a:prstGeom>
          <a:noFill/>
          <a:ln/>
        </p:spPr>
        <p:txBody>
          <a:bodyPr wrap="square" lIns="0" tIns="0" rIns="0" bIns="0" rtlCol="0" anchor="t"/>
          <a:lstStyle/>
          <a:p>
            <a:pPr indent="0" marL="0">
              <a:lnSpc>
                <a:spcPts val="1700"/>
              </a:lnSpc>
              <a:buNone/>
            </a:pPr>
            <a:r>
              <a:rPr lang="en-US" sz="1200" dirty="0">
                <a:solidFill>
                  <a:srgbClr val="22314D"/>
                </a:solidFill>
                <a:latin typeface="Calibri" pitchFamily="34" charset="0"/>
                <a:ea typeface="Calibri" pitchFamily="34" charset="-122"/>
                <a:cs typeface="Calibri" pitchFamily="34" charset="-120"/>
              </a:rPr>
              <a:t>Route 1 — top 50 Perch windows, neighbouring high-scoring windows within 1 s grouped into one event, one representative window kept per event.   Route 2 — eight windows sampled from each of four score bands (0.95–1.00, 0.80–0.95, 0.50–0.80, 0.20–0.50).   De-duplicated to one candidate per one-minute recording: 53 retained plus 16 newly reviewed = 69 candidates from 69 distinct recordings. Each reviewed with its 0.25 s spectrogram, 1.25 s of context, pulse-timing structure and time-expanded audio.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ctr"/>
          <a:lstStyle/>
          <a:p>
            <a:pPr indent="0" marL="0">
              <a:buNone/>
            </a:pPr>
            <a:r>
              <a:rPr lang="en-US" sz="1100" b="1" spc="240" kern="0" dirty="0">
                <a:solidFill>
                  <a:srgbClr val="1E7A70"/>
                </a:solidFill>
                <a:latin typeface="Calibri" pitchFamily="34" charset="0"/>
                <a:ea typeface="Calibri" pitchFamily="34" charset="-122"/>
                <a:cs typeface="Calibri" pitchFamily="34" charset="-120"/>
              </a:rPr>
              <a:t>BACKUP 5</a:t>
            </a:r>
            <a:endParaRPr lang="en-US" sz="1100" dirty="0"/>
          </a:p>
        </p:txBody>
      </p:sp>
      <p:sp>
        <p:nvSpPr>
          <p:cNvPr id="3" name="Text 1"/>
          <p:cNvSpPr txBox="1"/>
          <p:nvPr/>
        </p:nvSpPr>
        <p:spPr>
          <a:xfrm>
            <a:off x="566928" y="603504"/>
            <a:ext cx="11057839" cy="841248"/>
          </a:xfrm>
          <a:prstGeom prst="rect">
            <a:avLst/>
          </a:prstGeom>
          <a:noFill/>
          <a:ln/>
        </p:spPr>
        <p:txBody>
          <a:bodyPr wrap="square" lIns="0" tIns="0" rIns="0" bIns="0" rtlCol="0" anchor="t"/>
          <a:lstStyle/>
          <a:p>
            <a:pPr indent="0" marL="0">
              <a:buNone/>
            </a:pPr>
            <a:r>
              <a:rPr lang="en-US" sz="3000" b="1" dirty="0">
                <a:solidFill>
                  <a:srgbClr val="0E1B33"/>
                </a:solidFill>
                <a:latin typeface="Cambria" pitchFamily="34" charset="0"/>
                <a:ea typeface="Cambria" pitchFamily="34" charset="-122"/>
                <a:cs typeface="Cambria" pitchFamily="34" charset="-120"/>
              </a:rPr>
              <a:t>Implementation details</a:t>
            </a:r>
            <a:endParaRPr lang="en-US" sz="3000" dirty="0"/>
          </a:p>
        </p:txBody>
      </p:sp>
      <p:sp>
        <p:nvSpPr>
          <p:cNvPr id="4" name="Text 2"/>
          <p:cNvSpPr txBox="1"/>
          <p:nvPr/>
        </p:nvSpPr>
        <p:spPr>
          <a:xfrm>
            <a:off x="566928" y="6345936"/>
            <a:ext cx="8686800" cy="274320"/>
          </a:xfrm>
          <a:prstGeom prst="rect">
            <a:avLst/>
          </a:prstGeom>
          <a:noFill/>
          <a:ln/>
        </p:spPr>
        <p:txBody>
          <a:bodyPr wrap="square" lIns="0" tIns="0" rIns="0" bIns="0" rtlCol="0" anchor="ctr"/>
          <a:lstStyle/>
          <a:p>
            <a:pPr indent="0" marL="0">
              <a:buNone/>
            </a:pPr>
            <a:r>
              <a:rPr lang="en-US" sz="950" dirty="0">
                <a:solidFill>
                  <a:srgbClr val="5F718C"/>
                </a:solidFill>
                <a:latin typeface="Calibri" pitchFamily="34" charset="0"/>
                <a:ea typeface="Calibri" pitchFamily="34" charset="-122"/>
                <a:cs typeface="Calibri" pitchFamily="34" charset="-120"/>
              </a:rPr>
              <a:t>Backup slide — not presented</a:t>
            </a:r>
            <a:endParaRPr lang="en-US" sz="950" dirty="0"/>
          </a:p>
        </p:txBody>
      </p:sp>
      <p:sp>
        <p:nvSpPr>
          <p:cNvPr id="5" name="Text 3"/>
          <p:cNvSpPr txBox="1"/>
          <p:nvPr/>
        </p:nvSpPr>
        <p:spPr>
          <a:xfrm>
            <a:off x="10527487" y="6345936"/>
            <a:ext cx="1097280" cy="274320"/>
          </a:xfrm>
          <a:prstGeom prst="rect">
            <a:avLst/>
          </a:prstGeom>
          <a:noFill/>
          <a:ln/>
        </p:spPr>
        <p:txBody>
          <a:bodyPr wrap="square" lIns="0" tIns="0" rIns="0" bIns="0" rtlCol="0" anchor="ctr"/>
          <a:lstStyle/>
          <a:p>
            <a:pPr algn="r" indent="0" marL="0">
              <a:buNone/>
            </a:pPr>
            <a:r>
              <a:rPr lang="en-US" sz="950" dirty="0">
                <a:solidFill>
                  <a:srgbClr val="5F718C"/>
                </a:solidFill>
                <a:latin typeface="Calibri" pitchFamily="34" charset="0"/>
                <a:ea typeface="Calibri" pitchFamily="34" charset="-122"/>
                <a:cs typeface="Calibri" pitchFamily="34" charset="-120"/>
              </a:rPr>
              <a:t>B5</a:t>
            </a:r>
            <a:endParaRPr lang="en-US" sz="950" dirty="0"/>
          </a:p>
        </p:txBody>
      </p:sp>
      <p:sp>
        <p:nvSpPr>
          <p:cNvPr id="6" name="Shape 4"/>
          <p:cNvSpPr/>
          <p:nvPr/>
        </p:nvSpPr>
        <p:spPr>
          <a:xfrm>
            <a:off x="566928" y="1481328"/>
            <a:ext cx="3466490" cy="3584448"/>
          </a:xfrm>
          <a:prstGeom prst="roundRect">
            <a:avLst>
              <a:gd name="adj" fmla="val 1846"/>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7" name="Text 5"/>
          <p:cNvSpPr txBox="1"/>
          <p:nvPr/>
        </p:nvSpPr>
        <p:spPr>
          <a:xfrm>
            <a:off x="804672" y="1645920"/>
            <a:ext cx="2991002" cy="292608"/>
          </a:xfrm>
          <a:prstGeom prst="rect">
            <a:avLst/>
          </a:prstGeom>
          <a:noFill/>
          <a:ln/>
        </p:spPr>
        <p:txBody>
          <a:bodyPr wrap="square" lIns="0" tIns="0" rIns="0" bIns="0" rtlCol="0" anchor="ctr"/>
          <a:lstStyle/>
          <a:p>
            <a:pPr indent="0" marL="0">
              <a:buNone/>
            </a:pPr>
            <a:r>
              <a:rPr lang="en-US" sz="1400" b="1" dirty="0">
                <a:solidFill>
                  <a:srgbClr val="1E7A70"/>
                </a:solidFill>
                <a:latin typeface="Calibri" pitchFamily="34" charset="0"/>
                <a:ea typeface="Calibri" pitchFamily="34" charset="-122"/>
                <a:cs typeface="Calibri" pitchFamily="34" charset="-120"/>
              </a:rPr>
              <a:t>Environment</a:t>
            </a:r>
            <a:endParaRPr lang="en-US" sz="1400" dirty="0"/>
          </a:p>
        </p:txBody>
      </p:sp>
      <p:sp>
        <p:nvSpPr>
          <p:cNvPr id="8" name="Text 6"/>
          <p:cNvSpPr txBox="1"/>
          <p:nvPr/>
        </p:nvSpPr>
        <p:spPr>
          <a:xfrm>
            <a:off x="804672" y="1993392"/>
            <a:ext cx="2991002" cy="2889504"/>
          </a:xfrm>
          <a:prstGeom prst="rect">
            <a:avLst/>
          </a:prstGeom>
          <a:noFill/>
          <a:ln/>
        </p:spPr>
        <p:txBody>
          <a:bodyPr wrap="square" rtlCol="0" anchor="t"/>
          <a:lstStyle/>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Python 3.12.13</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SciPy 1.18.0</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scikit-learn 1.9.0</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Perch-Hoplite 1.0.1</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perch_v2_cpu (frozen, no fine-tuning)</a:t>
            </a:r>
            <a:endParaRPr lang="en-US" sz="1250" dirty="0"/>
          </a:p>
        </p:txBody>
      </p:sp>
      <p:sp>
        <p:nvSpPr>
          <p:cNvPr id="9" name="Shape 7"/>
          <p:cNvSpPr/>
          <p:nvPr/>
        </p:nvSpPr>
        <p:spPr>
          <a:xfrm>
            <a:off x="4362602" y="1481328"/>
            <a:ext cx="3466490" cy="3584448"/>
          </a:xfrm>
          <a:prstGeom prst="roundRect">
            <a:avLst>
              <a:gd name="adj" fmla="val 1846"/>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10" name="Text 8"/>
          <p:cNvSpPr txBox="1"/>
          <p:nvPr/>
        </p:nvSpPr>
        <p:spPr>
          <a:xfrm>
            <a:off x="4600346" y="1645920"/>
            <a:ext cx="2991002" cy="292608"/>
          </a:xfrm>
          <a:prstGeom prst="rect">
            <a:avLst/>
          </a:prstGeom>
          <a:noFill/>
          <a:ln/>
        </p:spPr>
        <p:txBody>
          <a:bodyPr wrap="square" lIns="0" tIns="0" rIns="0" bIns="0" rtlCol="0" anchor="ctr"/>
          <a:lstStyle/>
          <a:p>
            <a:pPr indent="0" marL="0">
              <a:buNone/>
            </a:pPr>
            <a:r>
              <a:rPr lang="en-US" sz="1400" b="1" dirty="0">
                <a:solidFill>
                  <a:srgbClr val="1E7A70"/>
                </a:solidFill>
                <a:latin typeface="Calibri" pitchFamily="34" charset="0"/>
                <a:ea typeface="Calibri" pitchFamily="34" charset="-122"/>
                <a:cs typeface="Calibri" pitchFamily="34" charset="-120"/>
              </a:rPr>
              <a:t>Detector</a:t>
            </a:r>
            <a:endParaRPr lang="en-US" sz="1400" dirty="0"/>
          </a:p>
        </p:txBody>
      </p:sp>
      <p:sp>
        <p:nvSpPr>
          <p:cNvPr id="11" name="Text 9"/>
          <p:cNvSpPr txBox="1"/>
          <p:nvPr/>
        </p:nvSpPr>
        <p:spPr>
          <a:xfrm>
            <a:off x="4600346" y="1993392"/>
            <a:ext cx="2991002" cy="2889504"/>
          </a:xfrm>
          <a:prstGeom prst="rect">
            <a:avLst/>
          </a:prstGeom>
          <a:noFill/>
          <a:ln/>
        </p:spPr>
        <p:txBody>
          <a:bodyPr wrap="square" rtlCol="0" anchor="t"/>
          <a:lstStyle/>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StandardScaler, fitted on training data only</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Logistic regression, L2 penalty</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C = 1.0, solver lbfgs</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class_weight = balanced</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random_state = 42, max_iter = 1000</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Decision threshold 0.5</a:t>
            </a:r>
            <a:endParaRPr lang="en-US" sz="1250" dirty="0"/>
          </a:p>
        </p:txBody>
      </p:sp>
      <p:sp>
        <p:nvSpPr>
          <p:cNvPr id="12" name="Shape 10"/>
          <p:cNvSpPr/>
          <p:nvPr/>
        </p:nvSpPr>
        <p:spPr>
          <a:xfrm>
            <a:off x="8158277" y="1481328"/>
            <a:ext cx="3466490" cy="3584448"/>
          </a:xfrm>
          <a:prstGeom prst="roundRect">
            <a:avLst>
              <a:gd name="adj" fmla="val 1846"/>
            </a:avLst>
          </a:prstGeom>
          <a:solidFill>
            <a:srgbClr val="FFFFFF"/>
          </a:solidFill>
          <a:ln w="9525">
            <a:solidFill>
              <a:srgbClr val="D5DEEA"/>
            </a:solidFill>
            <a:prstDash val="solid"/>
          </a:ln>
          <a:effectLst>
            <a:outerShdw sx="100000" sy="100000" kx="0" ky="0" algn="bl" rotWithShape="0" blurRad="127000" dist="25400" dir="5400000">
              <a:srgbClr val="0E1B33">
                <a:alpha val="10000"/>
              </a:srgbClr>
            </a:outerShdw>
          </a:effectLst>
        </p:spPr>
      </p:sp>
      <p:sp>
        <p:nvSpPr>
          <p:cNvPr id="13" name="Text 11"/>
          <p:cNvSpPr txBox="1"/>
          <p:nvPr/>
        </p:nvSpPr>
        <p:spPr>
          <a:xfrm>
            <a:off x="8396021" y="1645920"/>
            <a:ext cx="2991002" cy="292608"/>
          </a:xfrm>
          <a:prstGeom prst="rect">
            <a:avLst/>
          </a:prstGeom>
          <a:noFill/>
          <a:ln/>
        </p:spPr>
        <p:txBody>
          <a:bodyPr wrap="square" lIns="0" tIns="0" rIns="0" bIns="0" rtlCol="0" anchor="ctr"/>
          <a:lstStyle/>
          <a:p>
            <a:pPr indent="0" marL="0">
              <a:buNone/>
            </a:pPr>
            <a:r>
              <a:rPr lang="en-US" sz="1400" b="1" dirty="0">
                <a:solidFill>
                  <a:srgbClr val="1E7A70"/>
                </a:solidFill>
                <a:latin typeface="Calibri" pitchFamily="34" charset="0"/>
                <a:ea typeface="Calibri" pitchFamily="34" charset="-122"/>
                <a:cs typeface="Calibri" pitchFamily="34" charset="-120"/>
              </a:rPr>
              <a:t>Field scoring</a:t>
            </a:r>
            <a:endParaRPr lang="en-US" sz="1400" dirty="0"/>
          </a:p>
        </p:txBody>
      </p:sp>
      <p:sp>
        <p:nvSpPr>
          <p:cNvPr id="14" name="Text 12"/>
          <p:cNvSpPr txBox="1"/>
          <p:nvPr/>
        </p:nvSpPr>
        <p:spPr>
          <a:xfrm>
            <a:off x="8396021" y="1993392"/>
            <a:ext cx="2991002" cy="2889504"/>
          </a:xfrm>
          <a:prstGeom prst="rect">
            <a:avLst/>
          </a:prstGeom>
          <a:noFill/>
          <a:ln/>
        </p:spPr>
        <p:txBody>
          <a:bodyPr wrap="square" rtlCol="0" anchor="t"/>
          <a:lstStyle/>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Every 60 s recording peak-normalised</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0.25 s windows, 0.125 s hop</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479 windows per recording</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564 files → 270,156 windows</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Perch: 384→320 kHz, 80,000 samples per window, read as 2.5 s</a:t>
            </a:r>
            <a:endParaRPr lang="en-US" sz="1250" dirty="0"/>
          </a:p>
          <a:p>
            <a:pPr marL="342900" indent="-342900">
              <a:lnSpc>
                <a:spcPts val="1700"/>
              </a:lnSpc>
              <a:spcAft>
                <a:spcPts val="700"/>
              </a:spcAft>
              <a:buSzPct val="100000"/>
              <a:buChar char="•"/>
            </a:pPr>
            <a:r>
              <a:rPr lang="en-US" sz="1250" dirty="0">
                <a:solidFill>
                  <a:srgbClr val="22314D"/>
                </a:solidFill>
                <a:latin typeface="Calibri" pitchFamily="34" charset="0"/>
                <a:ea typeface="Calibri" pitchFamily="34" charset="-122"/>
                <a:cs typeface="Calibri" pitchFamily="34" charset="-120"/>
              </a:rPr>
              <a:t>Timestamps verified against AudioMoth WAV headers, then converted to EAT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Time-Expanded Perch Embeddings for Feeding-Buzz Detection</dc:title>
  <dc:subject>PptxGenJS Presentation</dc:subject>
  <dc:creator>Candidate WPNS1</dc:creator>
  <cp:lastModifiedBy>Candidate WPNS1</cp:lastModifiedBy>
  <cp:revision>1</cp:revision>
  <dcterms:created xsi:type="dcterms:W3CDTF">2026-08-26T22:42:45Z</dcterms:created>
  <dcterms:modified xsi:type="dcterms:W3CDTF">2026-08-26T22:42:45Z</dcterms:modified>
</cp:coreProperties>
</file>